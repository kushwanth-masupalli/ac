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71" r:id="rId2"/>
    <p:sldId id="339" r:id="rId3"/>
    <p:sldId id="341" r:id="rId4"/>
    <p:sldId id="337" r:id="rId5"/>
    <p:sldId id="340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4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52" r:id="rId26"/>
    <p:sldId id="353" r:id="rId27"/>
    <p:sldId id="338" r:id="rId28"/>
    <p:sldId id="351" r:id="rId29"/>
    <p:sldId id="356" r:id="rId30"/>
    <p:sldId id="357" r:id="rId31"/>
    <p:sldId id="358" r:id="rId32"/>
    <p:sldId id="359" r:id="rId33"/>
    <p:sldId id="360" r:id="rId34"/>
    <p:sldId id="364" r:id="rId35"/>
    <p:sldId id="361" r:id="rId36"/>
    <p:sldId id="365" r:id="rId37"/>
    <p:sldId id="366" r:id="rId38"/>
    <p:sldId id="362" r:id="rId39"/>
    <p:sldId id="368" r:id="rId40"/>
    <p:sldId id="363" r:id="rId41"/>
    <p:sldId id="369" r:id="rId42"/>
    <p:sldId id="370" r:id="rId43"/>
    <p:sldId id="395" r:id="rId44"/>
    <p:sldId id="396" r:id="rId45"/>
    <p:sldId id="397" r:id="rId46"/>
    <p:sldId id="398" r:id="rId47"/>
    <p:sldId id="399" r:id="rId48"/>
    <p:sldId id="400" r:id="rId49"/>
    <p:sldId id="401" r:id="rId50"/>
    <p:sldId id="402" r:id="rId51"/>
  </p:sldIdLst>
  <p:sldSz cx="9144000" cy="5715000" type="screen16x10"/>
  <p:notesSz cx="6645275" cy="91741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90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F3FC"/>
    <a:srgbClr val="FFFFCC"/>
    <a:srgbClr val="FF0000"/>
    <a:srgbClr val="003399"/>
    <a:srgbClr val="C51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AECD18-ED36-4166-8463-DF243F264695}" v="7" dt="2026-01-17T11:48:42.6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3725" autoAdjust="0"/>
  </p:normalViewPr>
  <p:slideViewPr>
    <p:cSldViewPr>
      <p:cViewPr varScale="1">
        <p:scale>
          <a:sx n="88" d="100"/>
          <a:sy n="88" d="100"/>
        </p:scale>
        <p:origin x="1234" y="72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98" y="-90"/>
      </p:cViewPr>
      <p:guideLst>
        <p:guide orient="horz" pos="2890"/>
        <p:guide pos="20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Raju" userId="e287402bcb6f9500" providerId="LiveId" clId="{FD957D8D-96F8-4196-A644-4EACF74703A2}"/>
    <pc:docChg chg="undo custSel addSld delSld modSld">
      <pc:chgData name="Naga Raju" userId="e287402bcb6f9500" providerId="LiveId" clId="{FD957D8D-96F8-4196-A644-4EACF74703A2}" dt="2026-01-17T11:48:42.625" v="262"/>
      <pc:docMkLst>
        <pc:docMk/>
      </pc:docMkLst>
      <pc:sldChg chg="del">
        <pc:chgData name="Naga Raju" userId="e287402bcb6f9500" providerId="LiveId" clId="{FD957D8D-96F8-4196-A644-4EACF74703A2}" dt="2026-01-17T10:41:36.458" v="3" actId="47"/>
        <pc:sldMkLst>
          <pc:docMk/>
          <pc:sldMk cId="610992073" sldId="315"/>
        </pc:sldMkLst>
      </pc:sldChg>
      <pc:sldChg chg="del">
        <pc:chgData name="Naga Raju" userId="e287402bcb6f9500" providerId="LiveId" clId="{FD957D8D-96F8-4196-A644-4EACF74703A2}" dt="2026-01-17T09:31:56.713" v="0" actId="47"/>
        <pc:sldMkLst>
          <pc:docMk/>
          <pc:sldMk cId="847190068" sldId="327"/>
        </pc:sldMkLst>
      </pc:sldChg>
      <pc:sldChg chg="del">
        <pc:chgData name="Naga Raju" userId="e287402bcb6f9500" providerId="LiveId" clId="{FD957D8D-96F8-4196-A644-4EACF74703A2}" dt="2026-01-17T09:31:58.010" v="1" actId="47"/>
        <pc:sldMkLst>
          <pc:docMk/>
          <pc:sldMk cId="1859066059" sldId="335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3125049221" sldId="337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3082709927" sldId="338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3585977695" sldId="339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2875323786" sldId="340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3822452238" sldId="341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977519221" sldId="342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1665214250" sldId="343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3508810854" sldId="344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245348078" sldId="345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680385665" sldId="346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820187589" sldId="347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825014680" sldId="348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2291697031" sldId="349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1603464045" sldId="350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3426785069" sldId="351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1491326486" sldId="352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60924437" sldId="353"/>
        </pc:sldMkLst>
      </pc:sldChg>
      <pc:sldChg chg="add">
        <pc:chgData name="Naga Raju" userId="e287402bcb6f9500" providerId="LiveId" clId="{FD957D8D-96F8-4196-A644-4EACF74703A2}" dt="2026-01-17T11:48:42.625" v="262"/>
        <pc:sldMkLst>
          <pc:docMk/>
          <pc:sldMk cId="2508299991" sldId="354"/>
        </pc:sldMkLst>
      </pc:sldChg>
      <pc:sldChg chg="del">
        <pc:chgData name="Naga Raju" userId="e287402bcb6f9500" providerId="LiveId" clId="{FD957D8D-96F8-4196-A644-4EACF74703A2}" dt="2026-01-17T10:41:34.651" v="2" actId="47"/>
        <pc:sldMkLst>
          <pc:docMk/>
          <pc:sldMk cId="233867746" sldId="355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2174862424" sldId="356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2651723214" sldId="357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3774604538" sldId="358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1365418334" sldId="359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1453035502" sldId="360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558692177" sldId="361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4131631" sldId="362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1832246544" sldId="363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2584183688" sldId="364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155631495" sldId="365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3988962766" sldId="366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2211960532" sldId="368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20096834" sldId="369"/>
        </pc:sldMkLst>
      </pc:sldChg>
      <pc:sldChg chg="add">
        <pc:chgData name="Naga Raju" userId="e287402bcb6f9500" providerId="LiveId" clId="{FD957D8D-96F8-4196-A644-4EACF74703A2}" dt="2026-01-17T11:46:16.824" v="261"/>
        <pc:sldMkLst>
          <pc:docMk/>
          <pc:sldMk cId="1484389087" sldId="370"/>
        </pc:sldMkLst>
      </pc:sldChg>
      <pc:sldChg chg="addSp delSp modSp new mod">
        <pc:chgData name="Naga Raju" userId="e287402bcb6f9500" providerId="LiveId" clId="{FD957D8D-96F8-4196-A644-4EACF74703A2}" dt="2026-01-17T10:44:22.546" v="22" actId="12"/>
        <pc:sldMkLst>
          <pc:docMk/>
          <pc:sldMk cId="4137898025" sldId="395"/>
        </pc:sldMkLst>
        <pc:spChg chg="del">
          <ac:chgData name="Naga Raju" userId="e287402bcb6f9500" providerId="LiveId" clId="{FD957D8D-96F8-4196-A644-4EACF74703A2}" dt="2026-01-17T10:43:10.459" v="6" actId="478"/>
          <ac:spMkLst>
            <pc:docMk/>
            <pc:sldMk cId="4137898025" sldId="395"/>
            <ac:spMk id="2" creationId="{5FAA55B0-1FD2-C9B8-9DAB-350B29EAB5D9}"/>
          </ac:spMkLst>
        </pc:spChg>
        <pc:spChg chg="del">
          <ac:chgData name="Naga Raju" userId="e287402bcb6f9500" providerId="LiveId" clId="{FD957D8D-96F8-4196-A644-4EACF74703A2}" dt="2026-01-17T10:43:12.499" v="7" actId="478"/>
          <ac:spMkLst>
            <pc:docMk/>
            <pc:sldMk cId="4137898025" sldId="395"/>
            <ac:spMk id="3" creationId="{AC8E695C-CEBD-0EB6-BE13-5ED238D9C6B9}"/>
          </ac:spMkLst>
        </pc:spChg>
        <pc:spChg chg="add mod">
          <ac:chgData name="Naga Raju" userId="e287402bcb6f9500" providerId="LiveId" clId="{FD957D8D-96F8-4196-A644-4EACF74703A2}" dt="2026-01-17T10:44:22.546" v="22" actId="12"/>
          <ac:spMkLst>
            <pc:docMk/>
            <pc:sldMk cId="4137898025" sldId="395"/>
            <ac:spMk id="8" creationId="{C9F65A40-7956-D364-2EB4-D6E247C9ED2E}"/>
          </ac:spMkLst>
        </pc:spChg>
      </pc:sldChg>
      <pc:sldChg chg="addSp delSp modSp new mod">
        <pc:chgData name="Naga Raju" userId="e287402bcb6f9500" providerId="LiveId" clId="{FD957D8D-96F8-4196-A644-4EACF74703A2}" dt="2026-01-17T10:46:43.430" v="39" actId="3626"/>
        <pc:sldMkLst>
          <pc:docMk/>
          <pc:sldMk cId="1851984959" sldId="396"/>
        </pc:sldMkLst>
        <pc:spChg chg="del">
          <ac:chgData name="Naga Raju" userId="e287402bcb6f9500" providerId="LiveId" clId="{FD957D8D-96F8-4196-A644-4EACF74703A2}" dt="2026-01-17T10:45:16.577" v="23" actId="478"/>
          <ac:spMkLst>
            <pc:docMk/>
            <pc:sldMk cId="1851984959" sldId="396"/>
            <ac:spMk id="2" creationId="{411BA30A-8A88-4436-25A1-CE1BFF5F1148}"/>
          </ac:spMkLst>
        </pc:spChg>
        <pc:spChg chg="del">
          <ac:chgData name="Naga Raju" userId="e287402bcb6f9500" providerId="LiveId" clId="{FD957D8D-96F8-4196-A644-4EACF74703A2}" dt="2026-01-17T10:45:18.659" v="24" actId="478"/>
          <ac:spMkLst>
            <pc:docMk/>
            <pc:sldMk cId="1851984959" sldId="396"/>
            <ac:spMk id="3" creationId="{9C99F8E1-F9CF-9CAA-9181-2803751842DA}"/>
          </ac:spMkLst>
        </pc:spChg>
        <pc:spChg chg="add mod">
          <ac:chgData name="Naga Raju" userId="e287402bcb6f9500" providerId="LiveId" clId="{FD957D8D-96F8-4196-A644-4EACF74703A2}" dt="2026-01-17T10:46:43.430" v="39" actId="3626"/>
          <ac:spMkLst>
            <pc:docMk/>
            <pc:sldMk cId="1851984959" sldId="396"/>
            <ac:spMk id="8" creationId="{143E5F91-1255-A9E1-FB65-EE0E0A7EF8D8}"/>
          </ac:spMkLst>
        </pc:spChg>
      </pc:sldChg>
      <pc:sldChg chg="addSp delSp modSp new mod">
        <pc:chgData name="Naga Raju" userId="e287402bcb6f9500" providerId="LiveId" clId="{FD957D8D-96F8-4196-A644-4EACF74703A2}" dt="2026-01-17T10:57:01.728" v="91" actId="14100"/>
        <pc:sldMkLst>
          <pc:docMk/>
          <pc:sldMk cId="3467838300" sldId="397"/>
        </pc:sldMkLst>
        <pc:spChg chg="del">
          <ac:chgData name="Naga Raju" userId="e287402bcb6f9500" providerId="LiveId" clId="{FD957D8D-96F8-4196-A644-4EACF74703A2}" dt="2026-01-17T10:53:10.718" v="46" actId="478"/>
          <ac:spMkLst>
            <pc:docMk/>
            <pc:sldMk cId="3467838300" sldId="397"/>
            <ac:spMk id="2" creationId="{40414236-4BD6-7B7D-54A6-35BF5A85D723}"/>
          </ac:spMkLst>
        </pc:spChg>
        <pc:spChg chg="del">
          <ac:chgData name="Naga Raju" userId="e287402bcb6f9500" providerId="LiveId" clId="{FD957D8D-96F8-4196-A644-4EACF74703A2}" dt="2026-01-17T10:53:12.836" v="47" actId="478"/>
          <ac:spMkLst>
            <pc:docMk/>
            <pc:sldMk cId="3467838300" sldId="397"/>
            <ac:spMk id="3" creationId="{BFEC814B-1F73-D751-E772-4F487E169038}"/>
          </ac:spMkLst>
        </pc:spChg>
        <pc:spChg chg="add mod">
          <ac:chgData name="Naga Raju" userId="e287402bcb6f9500" providerId="LiveId" clId="{FD957D8D-96F8-4196-A644-4EACF74703A2}" dt="2026-01-17T10:56:53.529" v="90" actId="1076"/>
          <ac:spMkLst>
            <pc:docMk/>
            <pc:sldMk cId="3467838300" sldId="397"/>
            <ac:spMk id="8" creationId="{75C5FED1-B52E-4466-462B-DEA0911D813B}"/>
          </ac:spMkLst>
        </pc:spChg>
        <pc:spChg chg="add mod">
          <ac:chgData name="Naga Raju" userId="e287402bcb6f9500" providerId="LiveId" clId="{FD957D8D-96F8-4196-A644-4EACF74703A2}" dt="2026-01-17T10:56:27.307" v="74" actId="113"/>
          <ac:spMkLst>
            <pc:docMk/>
            <pc:sldMk cId="3467838300" sldId="397"/>
            <ac:spMk id="11" creationId="{B8D32A5A-6136-51B7-728B-7442C13D82F3}"/>
          </ac:spMkLst>
        </pc:spChg>
        <pc:spChg chg="add mod">
          <ac:chgData name="Naga Raju" userId="e287402bcb6f9500" providerId="LiveId" clId="{FD957D8D-96F8-4196-A644-4EACF74703A2}" dt="2026-01-17T10:56:43.531" v="89" actId="20577"/>
          <ac:spMkLst>
            <pc:docMk/>
            <pc:sldMk cId="3467838300" sldId="397"/>
            <ac:spMk id="12" creationId="{A720EA27-38A0-DD94-DFFE-149AF93624B9}"/>
          </ac:spMkLst>
        </pc:spChg>
        <pc:picChg chg="add mod">
          <ac:chgData name="Naga Raju" userId="e287402bcb6f9500" providerId="LiveId" clId="{FD957D8D-96F8-4196-A644-4EACF74703A2}" dt="2026-01-17T10:57:01.728" v="91" actId="14100"/>
          <ac:picMkLst>
            <pc:docMk/>
            <pc:sldMk cId="3467838300" sldId="397"/>
            <ac:picMk id="10" creationId="{F389D714-5503-3F0C-000D-6DD979CD0837}"/>
          </ac:picMkLst>
        </pc:picChg>
      </pc:sldChg>
      <pc:sldChg chg="addSp delSp modSp new mod">
        <pc:chgData name="Naga Raju" userId="e287402bcb6f9500" providerId="LiveId" clId="{FD957D8D-96F8-4196-A644-4EACF74703A2}" dt="2026-01-17T10:59:14.101" v="109" actId="12"/>
        <pc:sldMkLst>
          <pc:docMk/>
          <pc:sldMk cId="914999805" sldId="398"/>
        </pc:sldMkLst>
        <pc:spChg chg="del">
          <ac:chgData name="Naga Raju" userId="e287402bcb6f9500" providerId="LiveId" clId="{FD957D8D-96F8-4196-A644-4EACF74703A2}" dt="2026-01-17T10:58:05.436" v="92" actId="478"/>
          <ac:spMkLst>
            <pc:docMk/>
            <pc:sldMk cId="914999805" sldId="398"/>
            <ac:spMk id="2" creationId="{CF1A62F9-CA8C-E336-F912-8EB6A7189F99}"/>
          </ac:spMkLst>
        </pc:spChg>
        <pc:spChg chg="del">
          <ac:chgData name="Naga Raju" userId="e287402bcb6f9500" providerId="LiveId" clId="{FD957D8D-96F8-4196-A644-4EACF74703A2}" dt="2026-01-17T10:58:07.394" v="93" actId="478"/>
          <ac:spMkLst>
            <pc:docMk/>
            <pc:sldMk cId="914999805" sldId="398"/>
            <ac:spMk id="3" creationId="{365F7FDD-5DFF-B9E7-0459-A8DCF72A655D}"/>
          </ac:spMkLst>
        </pc:spChg>
        <pc:spChg chg="add mod">
          <ac:chgData name="Naga Raju" userId="e287402bcb6f9500" providerId="LiveId" clId="{FD957D8D-96F8-4196-A644-4EACF74703A2}" dt="2026-01-17T10:59:14.101" v="109" actId="12"/>
          <ac:spMkLst>
            <pc:docMk/>
            <pc:sldMk cId="914999805" sldId="398"/>
            <ac:spMk id="8" creationId="{D35D58E9-E9E5-A282-AB6E-476BD9C7D41C}"/>
          </ac:spMkLst>
        </pc:spChg>
      </pc:sldChg>
      <pc:sldChg chg="addSp delSp modSp new mod">
        <pc:chgData name="Naga Raju" userId="e287402bcb6f9500" providerId="LiveId" clId="{FD957D8D-96F8-4196-A644-4EACF74703A2}" dt="2026-01-17T11:00:42.062" v="124" actId="15"/>
        <pc:sldMkLst>
          <pc:docMk/>
          <pc:sldMk cId="3670129347" sldId="399"/>
        </pc:sldMkLst>
        <pc:spChg chg="del">
          <ac:chgData name="Naga Raju" userId="e287402bcb6f9500" providerId="LiveId" clId="{FD957D8D-96F8-4196-A644-4EACF74703A2}" dt="2026-01-17T10:59:44.448" v="111" actId="478"/>
          <ac:spMkLst>
            <pc:docMk/>
            <pc:sldMk cId="3670129347" sldId="399"/>
            <ac:spMk id="2" creationId="{01715FB8-40B1-B7EC-2611-A660C4BE10D9}"/>
          </ac:spMkLst>
        </pc:spChg>
        <pc:spChg chg="del">
          <ac:chgData name="Naga Raju" userId="e287402bcb6f9500" providerId="LiveId" clId="{FD957D8D-96F8-4196-A644-4EACF74703A2}" dt="2026-01-17T10:59:41.661" v="110" actId="478"/>
          <ac:spMkLst>
            <pc:docMk/>
            <pc:sldMk cId="3670129347" sldId="399"/>
            <ac:spMk id="3" creationId="{CA030E08-B215-8FD2-741F-5D9B1CEC2D48}"/>
          </ac:spMkLst>
        </pc:spChg>
        <pc:spChg chg="add mod">
          <ac:chgData name="Naga Raju" userId="e287402bcb6f9500" providerId="LiveId" clId="{FD957D8D-96F8-4196-A644-4EACF74703A2}" dt="2026-01-17T11:00:42.062" v="124" actId="15"/>
          <ac:spMkLst>
            <pc:docMk/>
            <pc:sldMk cId="3670129347" sldId="399"/>
            <ac:spMk id="8" creationId="{3C794F41-32E7-B26E-F0E6-7FE4A7A11925}"/>
          </ac:spMkLst>
        </pc:spChg>
      </pc:sldChg>
      <pc:sldChg chg="addSp delSp modSp new mod">
        <pc:chgData name="Naga Raju" userId="e287402bcb6f9500" providerId="LiveId" clId="{FD957D8D-96F8-4196-A644-4EACF74703A2}" dt="2026-01-17T11:07:56.132" v="145" actId="1076"/>
        <pc:sldMkLst>
          <pc:docMk/>
          <pc:sldMk cId="1743601478" sldId="400"/>
        </pc:sldMkLst>
        <pc:spChg chg="del">
          <ac:chgData name="Naga Raju" userId="e287402bcb6f9500" providerId="LiveId" clId="{FD957D8D-96F8-4196-A644-4EACF74703A2}" dt="2026-01-17T11:06:09.275" v="125" actId="478"/>
          <ac:spMkLst>
            <pc:docMk/>
            <pc:sldMk cId="1743601478" sldId="400"/>
            <ac:spMk id="2" creationId="{7A52766F-E7A9-D48A-9D56-DA8C71AAF38E}"/>
          </ac:spMkLst>
        </pc:spChg>
        <pc:spChg chg="del">
          <ac:chgData name="Naga Raju" userId="e287402bcb6f9500" providerId="LiveId" clId="{FD957D8D-96F8-4196-A644-4EACF74703A2}" dt="2026-01-17T11:06:11.509" v="126" actId="478"/>
          <ac:spMkLst>
            <pc:docMk/>
            <pc:sldMk cId="1743601478" sldId="400"/>
            <ac:spMk id="3" creationId="{81606CC6-5E21-4DA3-9793-673777334E8B}"/>
          </ac:spMkLst>
        </pc:spChg>
        <pc:spChg chg="add mod">
          <ac:chgData name="Naga Raju" userId="e287402bcb6f9500" providerId="LiveId" clId="{FD957D8D-96F8-4196-A644-4EACF74703A2}" dt="2026-01-17T11:06:44.322" v="133" actId="1076"/>
          <ac:spMkLst>
            <pc:docMk/>
            <pc:sldMk cId="1743601478" sldId="400"/>
            <ac:spMk id="8" creationId="{9BBC06E2-1A51-B4CB-5E48-AC7EBEB506D8}"/>
          </ac:spMkLst>
        </pc:spChg>
        <pc:spChg chg="add mod">
          <ac:chgData name="Naga Raju" userId="e287402bcb6f9500" providerId="LiveId" clId="{FD957D8D-96F8-4196-A644-4EACF74703A2}" dt="2026-01-17T11:07:41.246" v="143" actId="1036"/>
          <ac:spMkLst>
            <pc:docMk/>
            <pc:sldMk cId="1743601478" sldId="400"/>
            <ac:spMk id="11" creationId="{445E276D-B947-9A79-E16F-BA27D5D51773}"/>
          </ac:spMkLst>
        </pc:spChg>
        <pc:spChg chg="add mod">
          <ac:chgData name="Naga Raju" userId="e287402bcb6f9500" providerId="LiveId" clId="{FD957D8D-96F8-4196-A644-4EACF74703A2}" dt="2026-01-17T11:07:56.132" v="145" actId="1076"/>
          <ac:spMkLst>
            <pc:docMk/>
            <pc:sldMk cId="1743601478" sldId="400"/>
            <ac:spMk id="12" creationId="{A98CB7A4-E8D7-D0C9-B293-B0AA7B1EEBA0}"/>
          </ac:spMkLst>
        </pc:spChg>
        <pc:picChg chg="add mod">
          <ac:chgData name="Naga Raju" userId="e287402bcb6f9500" providerId="LiveId" clId="{FD957D8D-96F8-4196-A644-4EACF74703A2}" dt="2026-01-17T11:07:25.962" v="138" actId="1076"/>
          <ac:picMkLst>
            <pc:docMk/>
            <pc:sldMk cId="1743601478" sldId="400"/>
            <ac:picMk id="10" creationId="{7DD4BD49-AF28-77BE-BEC3-17EFDD436321}"/>
          </ac:picMkLst>
        </pc:picChg>
      </pc:sldChg>
      <pc:sldChg chg="addSp delSp modSp new mod">
        <pc:chgData name="Naga Raju" userId="e287402bcb6f9500" providerId="LiveId" clId="{FD957D8D-96F8-4196-A644-4EACF74703A2}" dt="2026-01-17T11:40:28.355" v="158" actId="123"/>
        <pc:sldMkLst>
          <pc:docMk/>
          <pc:sldMk cId="3005039194" sldId="401"/>
        </pc:sldMkLst>
        <pc:spChg chg="del">
          <ac:chgData name="Naga Raju" userId="e287402bcb6f9500" providerId="LiveId" clId="{FD957D8D-96F8-4196-A644-4EACF74703A2}" dt="2026-01-17T11:39:28.437" v="146" actId="478"/>
          <ac:spMkLst>
            <pc:docMk/>
            <pc:sldMk cId="3005039194" sldId="401"/>
            <ac:spMk id="2" creationId="{DEFEC7AD-35E4-2C11-6119-58DC2D82E752}"/>
          </ac:spMkLst>
        </pc:spChg>
        <pc:spChg chg="del">
          <ac:chgData name="Naga Raju" userId="e287402bcb6f9500" providerId="LiveId" clId="{FD957D8D-96F8-4196-A644-4EACF74703A2}" dt="2026-01-17T11:39:31.156" v="147" actId="478"/>
          <ac:spMkLst>
            <pc:docMk/>
            <pc:sldMk cId="3005039194" sldId="401"/>
            <ac:spMk id="3" creationId="{0F12048D-D21D-863C-C77A-55859DBCC464}"/>
          </ac:spMkLst>
        </pc:spChg>
        <pc:spChg chg="add mod">
          <ac:chgData name="Naga Raju" userId="e287402bcb6f9500" providerId="LiveId" clId="{FD957D8D-96F8-4196-A644-4EACF74703A2}" dt="2026-01-17T11:40:28.355" v="158" actId="123"/>
          <ac:spMkLst>
            <pc:docMk/>
            <pc:sldMk cId="3005039194" sldId="401"/>
            <ac:spMk id="8" creationId="{55E74CB4-8DE4-80F6-DC43-0F6F0A7A2E79}"/>
          </ac:spMkLst>
        </pc:spChg>
      </pc:sldChg>
      <pc:sldChg chg="addSp delSp modSp new mod">
        <pc:chgData name="Naga Raju" userId="e287402bcb6f9500" providerId="LiveId" clId="{FD957D8D-96F8-4196-A644-4EACF74703A2}" dt="2026-01-17T11:43:51.946" v="260" actId="1035"/>
        <pc:sldMkLst>
          <pc:docMk/>
          <pc:sldMk cId="3055166063" sldId="402"/>
        </pc:sldMkLst>
        <pc:spChg chg="del">
          <ac:chgData name="Naga Raju" userId="e287402bcb6f9500" providerId="LiveId" clId="{FD957D8D-96F8-4196-A644-4EACF74703A2}" dt="2026-01-17T11:41:00.194" v="159" actId="478"/>
          <ac:spMkLst>
            <pc:docMk/>
            <pc:sldMk cId="3055166063" sldId="402"/>
            <ac:spMk id="2" creationId="{4B7EBE27-7381-0310-68AA-D6F07E29918D}"/>
          </ac:spMkLst>
        </pc:spChg>
        <pc:spChg chg="del">
          <ac:chgData name="Naga Raju" userId="e287402bcb6f9500" providerId="LiveId" clId="{FD957D8D-96F8-4196-A644-4EACF74703A2}" dt="2026-01-17T11:41:03.034" v="160" actId="478"/>
          <ac:spMkLst>
            <pc:docMk/>
            <pc:sldMk cId="3055166063" sldId="402"/>
            <ac:spMk id="3" creationId="{CA1528B5-80AC-F63A-AFEE-CABFF86F3B9A}"/>
          </ac:spMkLst>
        </pc:spChg>
        <pc:spChg chg="add mod">
          <ac:chgData name="Naga Raju" userId="e287402bcb6f9500" providerId="LiveId" clId="{FD957D8D-96F8-4196-A644-4EACF74703A2}" dt="2026-01-17T11:43:40.705" v="255" actId="1076"/>
          <ac:spMkLst>
            <pc:docMk/>
            <pc:sldMk cId="3055166063" sldId="402"/>
            <ac:spMk id="8" creationId="{187D5471-44E5-400B-C7FA-24F8B9C66F3F}"/>
          </ac:spMkLst>
        </pc:spChg>
        <pc:spChg chg="add mod">
          <ac:chgData name="Naga Raju" userId="e287402bcb6f9500" providerId="LiveId" clId="{FD957D8D-96F8-4196-A644-4EACF74703A2}" dt="2026-01-17T11:43:51.946" v="260" actId="1035"/>
          <ac:spMkLst>
            <pc:docMk/>
            <pc:sldMk cId="3055166063" sldId="402"/>
            <ac:spMk id="9" creationId="{516AF27F-212A-5DE9-1582-EC47B856C8E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3073400" y="86883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algn="r" defTabSz="835025">
              <a:defRPr sz="1000" b="1"/>
            </a:lvl1pPr>
          </a:lstStyle>
          <a:p>
            <a:pPr>
              <a:defRPr/>
            </a:pPr>
            <a:r>
              <a:rPr lang="en-IN"/>
              <a:t>DC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953125" y="8688388"/>
            <a:ext cx="6207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defTabSz="835025">
              <a:defRPr sz="1000" b="1"/>
            </a:lvl1pPr>
          </a:lstStyle>
          <a:p>
            <a:pPr>
              <a:defRPr/>
            </a:pPr>
            <a:fld id="{73B4E500-E37F-4B0E-96AA-0E2483706BB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cxnSp>
        <p:nvCxnSpPr>
          <p:cNvPr id="6" name="Straight Connector 5"/>
          <p:cNvCxnSpPr/>
          <p:nvPr/>
        </p:nvCxnSpPr>
        <p:spPr>
          <a:xfrm rot="5400000">
            <a:off x="6261894" y="10052844"/>
            <a:ext cx="200025" cy="1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989" name="Picture 2" descr="D:\Design Images\pic\search-bar-bg.jpg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4463"/>
            <a:ext cx="20796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158750"/>
            <a:ext cx="6645275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marL="176213" defTabSz="835025">
              <a:defRPr sz="1100" b="1"/>
            </a:lvl1pPr>
          </a:lstStyle>
          <a:p>
            <a:pPr>
              <a:defRPr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7749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763963" y="0"/>
            <a:ext cx="28797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>
            <a:lvl1pPr algn="r"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255D118-8232-4825-B18F-F0CD1BEB431D}" type="datetime1">
              <a:rPr lang="en-US"/>
              <a:pPr>
                <a:defRPr/>
              </a:pPr>
              <a:t>1/17/2026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8975"/>
            <a:ext cx="5502275" cy="3438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63575" y="4357688"/>
            <a:ext cx="5318125" cy="412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IN"/>
              <a:t>DC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763963" y="8713788"/>
            <a:ext cx="2879725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388" tIns="45194" rIns="90388" bIns="45194" numCol="1" anchor="b" anchorCtr="0" compatLnSpc="1">
            <a:prstTxWarp prst="textNoShape">
              <a:avLst/>
            </a:prstTxWarp>
          </a:bodyPr>
          <a:lstStyle>
            <a:lvl1pPr algn="r" defTabSz="8350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6F143FB-66E5-4E47-8069-3C3B0CBB9B7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8291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573088" y="688975"/>
            <a:ext cx="5499100" cy="343852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IN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CD1C9B-69BB-40ED-88E4-C0F9C29B81B8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39941" name="Footer Placeholder 4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IN"/>
              <a:t>DC Meeting</a:t>
            </a:r>
          </a:p>
        </p:txBody>
      </p:sp>
      <p:sp>
        <p:nvSpPr>
          <p:cNvPr id="39942" name="Header Placeholder 5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42875"/>
            <a:ext cx="9144000" cy="642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28575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6858000" y="5286375"/>
            <a:ext cx="28575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9" name="Rectangle 49"/>
          <p:cNvSpPr>
            <a:spLocks noChangeArrowheads="1"/>
          </p:cNvSpPr>
          <p:nvPr userDrawn="1"/>
        </p:nvSpPr>
        <p:spPr bwMode="auto">
          <a:xfrm>
            <a:off x="0" y="4189413"/>
            <a:ext cx="9144000" cy="365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06" y="4786326"/>
            <a:ext cx="9072594" cy="468638"/>
          </a:xfrm>
        </p:spPr>
        <p:txBody>
          <a:bodyPr>
            <a:normAutofit/>
          </a:bodyPr>
          <a:lstStyle>
            <a:lvl1pPr algn="r">
              <a:defRPr sz="2400" b="1">
                <a:solidFill>
                  <a:srgbClr val="003399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06" y="5252831"/>
            <a:ext cx="9072594" cy="357190"/>
          </a:xfrm>
        </p:spPr>
        <p:txBody>
          <a:bodyPr>
            <a:noAutofit/>
          </a:bodyPr>
          <a:lstStyle>
            <a:lvl1pPr marL="0" indent="0" algn="r">
              <a:buNone/>
              <a:defRPr sz="1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3" y="142875"/>
            <a:ext cx="2386224" cy="7388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7" y="337220"/>
            <a:ext cx="1728191" cy="417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58204" cy="52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74709-785F-457C-9429-4E3DA889C601}" type="datetime3">
              <a:rPr lang="en-US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16FC18-A483-43BC-83D0-C7F7814867A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28674"/>
            <a:ext cx="4038600" cy="4214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28674"/>
            <a:ext cx="4038600" cy="421484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210CE-E9BF-439F-887E-E5FC4510379A}" type="datetime3">
              <a:rPr lang="en-US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8C114-B763-4CBF-B5DD-49D2D8823C4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52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28674"/>
            <a:ext cx="4040188" cy="53313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0178"/>
            <a:ext cx="4040188" cy="37147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928674"/>
            <a:ext cx="4041775" cy="533135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0178"/>
            <a:ext cx="4041775" cy="371477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B9085-2344-4D33-ABA8-34A6022C206F}" type="datetime3">
              <a:rPr lang="en-US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66475-10CE-487A-A234-748010D13EC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5BE3B-6E56-4DBB-8503-D66D5865FAEA}" type="datetime3">
              <a:rPr lang="en-US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88A24-15B2-4014-B454-8406F43B342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C778C-E472-459B-A199-6D1A098CE9FE}" type="datetime3">
              <a:rPr lang="en-US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E58E4-4C09-4B68-AA89-9B519AD825D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58175" cy="5222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00125"/>
            <a:ext cx="8229600" cy="41052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85099-9D73-4FF5-824F-18922298BE49}" type="datetime3">
              <a:rPr lang="en-US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75163-F4B9-4804-9087-CAD0DE4888D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58175" cy="5222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00125"/>
            <a:ext cx="403860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00125"/>
            <a:ext cx="4038600" cy="4105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3C916-84AC-49A4-BA95-C87AE8C788FC}" type="datetime3">
              <a:rPr lang="en-US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36D7-947C-46F4-AAB0-A4F6E570EC1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161756"/>
            <a:ext cx="1584176" cy="4904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5269912"/>
            <a:ext cx="1135873" cy="27417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42875"/>
            <a:ext cx="9144000" cy="6429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28575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6858000" y="5286375"/>
            <a:ext cx="285750" cy="428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9" name="Rectangle 49"/>
          <p:cNvSpPr>
            <a:spLocks noChangeArrowheads="1"/>
          </p:cNvSpPr>
          <p:nvPr userDrawn="1"/>
        </p:nvSpPr>
        <p:spPr bwMode="auto">
          <a:xfrm>
            <a:off x="0" y="4189413"/>
            <a:ext cx="9144000" cy="365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06" y="5252831"/>
            <a:ext cx="9072594" cy="357190"/>
          </a:xfrm>
        </p:spPr>
        <p:txBody>
          <a:bodyPr>
            <a:noAutofit/>
          </a:bodyPr>
          <a:lstStyle>
            <a:lvl1pPr marL="0" indent="0" algn="r">
              <a:buNone/>
              <a:defRPr sz="1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3" y="142875"/>
            <a:ext cx="2386224" cy="7388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7" y="337220"/>
            <a:ext cx="1728191" cy="4171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715375" y="238125"/>
            <a:ext cx="428625" cy="4968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000125"/>
            <a:ext cx="822960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875" y="5297488"/>
            <a:ext cx="1674813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5123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8B9D937-9D35-46BF-A1AD-A550A037BCB7}" type="datetime3">
              <a:rPr lang="en-US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05275" y="5297488"/>
            <a:ext cx="2895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b="1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r>
              <a:rPr lang="en-IN" dirty="0"/>
              <a:t>CSE4004 WT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375" y="274638"/>
            <a:ext cx="428625" cy="428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1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C63BC23E-C0FD-44A0-8393-5A086AC36B3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58175" cy="5222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42875" cy="5724525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 rot="5400000">
            <a:off x="6910388" y="5456238"/>
            <a:ext cx="179387" cy="158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9" r:id="rId9"/>
  </p:sldLayoutIdLst>
  <p:transition>
    <p:wipe dir="r"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 kern="1200">
          <a:solidFill>
            <a:srgbClr val="003399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accent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grid-template-rows" TargetMode="External"/><Relationship Id="rId2" Type="http://schemas.openxmlformats.org/officeDocument/2006/relationships/hyperlink" Target="https://developer.mozilla.org/en-US/docs/Web/CSS/grid-template-column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row-gap" TargetMode="External"/><Relationship Id="rId2" Type="http://schemas.openxmlformats.org/officeDocument/2006/relationships/hyperlink" Target="https://developer.mozilla.org/en-US/docs/Web/CSS/column-gap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684213" y="1920875"/>
            <a:ext cx="788828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hangingPunct="0"/>
            <a:r>
              <a:rPr lang="en-US" sz="2400" b="1" dirty="0">
                <a:solidFill>
                  <a:srgbClr val="003399"/>
                </a:solidFill>
                <a:ea typeface="Arial Unicode MS" pitchFamily="34" charset="-128"/>
                <a:cs typeface="Arial Unicode MS" pitchFamily="34" charset="-128"/>
              </a:rPr>
              <a:t>CSE4004 – Web Technologies</a:t>
            </a:r>
          </a:p>
          <a:p>
            <a:pPr hangingPunct="0"/>
            <a:r>
              <a:rPr lang="en-US" sz="2400" b="1" dirty="0"/>
              <a:t>					</a:t>
            </a:r>
          </a:p>
          <a:p>
            <a:r>
              <a:rPr lang="en-US" sz="2400" b="1" dirty="0"/>
              <a:t>					 HTML &amp; CSS </a:t>
            </a:r>
          </a:p>
          <a:p>
            <a:r>
              <a:rPr lang="en-US" sz="2400" dirty="0"/>
              <a:t>		</a:t>
            </a:r>
            <a:endParaRPr lang="en-US" sz="2400" b="1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A816B5-60BD-45FA-87F6-29A1E57CF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– Cascading Style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73325"/>
            <a:ext cx="8229600" cy="3024336"/>
          </a:xfrm>
        </p:spPr>
        <p:txBody>
          <a:bodyPr/>
          <a:lstStyle/>
          <a:p>
            <a:r>
              <a:rPr lang="en-US" b="1" dirty="0"/>
              <a:t>a </a:t>
            </a:r>
            <a:r>
              <a:rPr lang="en-US" b="1" dirty="0">
                <a:solidFill>
                  <a:srgbClr val="C00000"/>
                </a:solidFill>
              </a:rPr>
              <a:t>language</a:t>
            </a:r>
            <a:r>
              <a:rPr lang="en-US" b="1" dirty="0"/>
              <a:t> that describes the </a:t>
            </a:r>
            <a:r>
              <a:rPr lang="en-US" b="1" dirty="0">
                <a:solidFill>
                  <a:srgbClr val="C00000"/>
                </a:solidFill>
              </a:rPr>
              <a:t>style</a:t>
            </a:r>
            <a:r>
              <a:rPr lang="en-US" b="1" dirty="0"/>
              <a:t> of an HTML document without compromising its structure.</a:t>
            </a:r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r>
              <a:rPr lang="en-US" b="1" dirty="0"/>
              <a:t>It allows you to </a:t>
            </a:r>
            <a:r>
              <a:rPr lang="en-US" b="1" dirty="0">
                <a:solidFill>
                  <a:srgbClr val="C00000"/>
                </a:solidFill>
              </a:rPr>
              <a:t>separate visual design elements </a:t>
            </a:r>
            <a:r>
              <a:rPr lang="en-US" b="1" dirty="0"/>
              <a:t>(layout, fonts, colors, margins, and so on) from the contents of a Web page. </a:t>
            </a:r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r>
              <a:rPr lang="en-US" b="1" dirty="0"/>
              <a:t>Allows for </a:t>
            </a:r>
            <a:r>
              <a:rPr lang="en-US" b="1" dirty="0">
                <a:solidFill>
                  <a:srgbClr val="C00000"/>
                </a:solidFill>
              </a:rPr>
              <a:t>faster downloads, streamlined site maintenance, and global control of design attributes </a:t>
            </a:r>
            <a:r>
              <a:rPr lang="en-US" b="1" dirty="0"/>
              <a:t>across multiple pages. 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977695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CSS can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73324"/>
            <a:ext cx="8229600" cy="324036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/>
              <a:t>Control of </a:t>
            </a:r>
            <a:r>
              <a:rPr lang="en-US" b="1" dirty="0">
                <a:solidFill>
                  <a:srgbClr val="C00000"/>
                </a:solidFill>
              </a:rPr>
              <a:t>backgrounds</a:t>
            </a:r>
            <a:r>
              <a:rPr lang="en-US" b="1" dirty="0"/>
              <a:t>.</a:t>
            </a:r>
          </a:p>
          <a:p>
            <a:pPr>
              <a:lnSpc>
                <a:spcPct val="80000"/>
              </a:lnSpc>
            </a:pPr>
            <a:endParaRPr lang="en-US" b="1" dirty="0"/>
          </a:p>
          <a:p>
            <a:pPr>
              <a:lnSpc>
                <a:spcPct val="80000"/>
              </a:lnSpc>
            </a:pPr>
            <a:r>
              <a:rPr lang="en-US" b="1" dirty="0"/>
              <a:t>Set </a:t>
            </a:r>
            <a:r>
              <a:rPr lang="en-US" b="1" dirty="0">
                <a:solidFill>
                  <a:srgbClr val="C00000"/>
                </a:solidFill>
              </a:rPr>
              <a:t>font size </a:t>
            </a:r>
            <a:r>
              <a:rPr lang="en-US" b="1" dirty="0"/>
              <a:t>to the exact height you want.</a:t>
            </a:r>
          </a:p>
          <a:p>
            <a:pPr>
              <a:lnSpc>
                <a:spcPct val="80000"/>
              </a:lnSpc>
            </a:pPr>
            <a:endParaRPr lang="en-US" b="1" dirty="0"/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C00000"/>
                </a:solidFill>
              </a:rPr>
              <a:t>Highlight</a:t>
            </a:r>
            <a:r>
              <a:rPr lang="en-US" b="1" dirty="0"/>
              <a:t> words, entire paragraphs, headings or even individual letters </a:t>
            </a:r>
            <a:r>
              <a:rPr lang="en-US" b="1" dirty="0">
                <a:solidFill>
                  <a:srgbClr val="C00000"/>
                </a:solidFill>
              </a:rPr>
              <a:t>with background colors</a:t>
            </a:r>
            <a:r>
              <a:rPr lang="en-US" b="1" dirty="0"/>
              <a:t>. </a:t>
            </a:r>
          </a:p>
          <a:p>
            <a:pPr>
              <a:lnSpc>
                <a:spcPct val="80000"/>
              </a:lnSpc>
            </a:pPr>
            <a:endParaRPr lang="en-US" b="1" dirty="0"/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C00000"/>
                </a:solidFill>
              </a:rPr>
              <a:t>Precise positioning.</a:t>
            </a:r>
          </a:p>
          <a:p>
            <a:pPr>
              <a:lnSpc>
                <a:spcPct val="80000"/>
              </a:lnSpc>
            </a:pPr>
            <a:endParaRPr lang="en-US" b="1" dirty="0">
              <a:solidFill>
                <a:srgbClr val="C0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C00000"/>
                </a:solidFill>
              </a:rPr>
              <a:t>Linked style sheets </a:t>
            </a:r>
            <a:r>
              <a:rPr lang="en-US" b="1" dirty="0"/>
              <a:t>to control the look of a whole website from one single location.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452238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1557337"/>
            <a:ext cx="6419850" cy="299085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049221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Inline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 define an inline CSS style, we simply add the </a:t>
            </a:r>
            <a:r>
              <a:rPr lang="en-US" b="1" dirty="0">
                <a:solidFill>
                  <a:srgbClr val="C00000"/>
                </a:solidFill>
              </a:rPr>
              <a:t>style attribute </a:t>
            </a:r>
            <a:r>
              <a:rPr lang="en-US" b="1" dirty="0"/>
              <a:t>to an HTML element with the CSS declaration as the attribute value: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5</a:t>
            </a:fld>
            <a:endParaRPr lang="en-IN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42722" y="1777380"/>
            <a:ext cx="8077200" cy="6286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&lt;h2 </a:t>
            </a: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style="</a:t>
            </a:r>
            <a:r>
              <a:rPr lang="en-US" sz="1400" b="1" dirty="0" err="1">
                <a:solidFill>
                  <a:srgbClr val="FF0066"/>
                </a:solidFill>
                <a:latin typeface="Courier New" pitchFamily="49" charset="0"/>
              </a:rPr>
              <a:t>color:red</a:t>
            </a: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;"</a:t>
            </a:r>
            <a:r>
              <a:rPr lang="en-US" sz="1400" b="1" dirty="0">
                <a:latin typeface="Courier New" pitchFamily="49" charset="0"/>
              </a:rPr>
              <a:t>&gt;CAUTION: Icy Road Conditions&lt;/h2&gt;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&lt;h2&gt;Please Slow Down!&lt;/h2&gt;</a:t>
            </a:r>
          </a:p>
        </p:txBody>
      </p:sp>
      <p:pic>
        <p:nvPicPr>
          <p:cNvPr id="8" name="Picture 13" descr="CSS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23" y="2641476"/>
            <a:ext cx="3021165" cy="178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946848" y="2641476"/>
            <a:ext cx="3657600" cy="176530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An inline style declaration is highly specific and formats just </a:t>
            </a:r>
            <a:r>
              <a:rPr lang="en-US" dirty="0">
                <a:solidFill>
                  <a:srgbClr val="C00000"/>
                </a:solidFill>
              </a:rPr>
              <a:t>one element on the page</a:t>
            </a:r>
            <a:r>
              <a:rPr lang="en-US" dirty="0"/>
              <a:t>.  No other elements, including other &lt;h2&gt; elements on the page, will be affected by this CSS style.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33400" y="4483323"/>
            <a:ext cx="8077200" cy="606425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Since inline styles have limited scope and do not separate content from presentation, their use is generally discouraged.  We won't be using inline styles much in this class.</a:t>
            </a:r>
          </a:p>
        </p:txBody>
      </p:sp>
    </p:spTree>
    <p:extLst>
      <p:ext uri="{BB962C8B-B14F-4D97-AF65-F5344CB8AC3E}">
        <p14:creationId xmlns:p14="http://schemas.microsoft.com/office/powerpoint/2010/main" val="2875323786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Style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Selector string</a:t>
            </a:r>
          </a:p>
          <a:p>
            <a:pPr lvl="1"/>
            <a:r>
              <a:rPr lang="en-US" b="1" dirty="0"/>
              <a:t>HTML element tags </a:t>
            </a:r>
            <a:br>
              <a:rPr lang="en-US" b="1" dirty="0"/>
            </a:br>
            <a:r>
              <a:rPr lang="en-US" b="1" dirty="0"/>
              <a:t>(examples: p, h2, body, </a:t>
            </a:r>
            <a:r>
              <a:rPr lang="en-US" b="1" dirty="0" err="1"/>
              <a:t>img</a:t>
            </a:r>
            <a:r>
              <a:rPr lang="en-US" b="1" dirty="0"/>
              <a:t>, table)</a:t>
            </a:r>
          </a:p>
          <a:p>
            <a:pPr lvl="1"/>
            <a:r>
              <a:rPr lang="en-US" b="1" dirty="0"/>
              <a:t>class and ID names</a:t>
            </a:r>
          </a:p>
          <a:p>
            <a:r>
              <a:rPr lang="en-US" b="1" dirty="0">
                <a:solidFill>
                  <a:srgbClr val="C00000"/>
                </a:solidFill>
              </a:rPr>
              <a:t>Property names</a:t>
            </a:r>
            <a:r>
              <a:rPr lang="en-US" b="1" dirty="0"/>
              <a:t> (examples: color, font-size)</a:t>
            </a:r>
          </a:p>
          <a:p>
            <a:r>
              <a:rPr lang="en-US" b="1" dirty="0">
                <a:solidFill>
                  <a:srgbClr val="C00000"/>
                </a:solidFill>
              </a:rPr>
              <a:t>Value</a:t>
            </a:r>
            <a:r>
              <a:rPr lang="en-US" b="1" dirty="0"/>
              <a:t> (examples: red, 14pt)</a:t>
            </a:r>
          </a:p>
          <a:p>
            <a:r>
              <a:rPr lang="en-US" b="1" dirty="0"/>
              <a:t>Notice the </a:t>
            </a:r>
            <a:r>
              <a:rPr lang="en-US" b="1" dirty="0">
                <a:solidFill>
                  <a:srgbClr val="C00000"/>
                </a:solidFill>
              </a:rPr>
              <a:t>{ } </a:t>
            </a:r>
            <a:r>
              <a:rPr lang="en-US" b="1" dirty="0"/>
              <a:t>around the rule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: </a:t>
            </a:r>
            <a:r>
              <a:rPr lang="en-US" b="1" dirty="0"/>
              <a:t>before each value and </a:t>
            </a:r>
          </a:p>
          <a:p>
            <a:pPr marL="0" indent="0">
              <a:buNone/>
            </a:pPr>
            <a:r>
              <a:rPr lang="en-US" b="1" dirty="0"/>
              <a:t>      </a:t>
            </a:r>
            <a:r>
              <a:rPr lang="en-US" b="1" dirty="0">
                <a:solidFill>
                  <a:srgbClr val="C00000"/>
                </a:solidFill>
              </a:rPr>
              <a:t>;</a:t>
            </a:r>
            <a:r>
              <a:rPr lang="en-US" b="1" dirty="0"/>
              <a:t> between properties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6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2579694"/>
            <a:ext cx="4896544" cy="233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19221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6870"/>
            <a:ext cx="8229600" cy="4105275"/>
          </a:xfrm>
        </p:spPr>
        <p:txBody>
          <a:bodyPr/>
          <a:lstStyle/>
          <a:p>
            <a:r>
              <a:rPr lang="en-US" b="1" dirty="0"/>
              <a:t>To use an internal CSS style sheet, we add a </a:t>
            </a:r>
            <a:r>
              <a:rPr lang="en-US" b="1" dirty="0">
                <a:solidFill>
                  <a:srgbClr val="C00000"/>
                </a:solidFill>
              </a:rPr>
              <a:t>&lt;style&gt; section within the &lt;head&gt; of the page</a:t>
            </a:r>
            <a:r>
              <a:rPr lang="en-US" b="1" dirty="0"/>
              <a:t>.  All our CSS declarations go within this section:</a:t>
            </a:r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7</a:t>
            </a:fld>
            <a:endParaRPr lang="en-IN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28653" y="1596008"/>
            <a:ext cx="4343400" cy="26670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&lt;head&gt;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  ...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  </a:t>
            </a: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&lt;style type="text/</a:t>
            </a:r>
            <a:r>
              <a:rPr lang="en-US" sz="1400" b="1" dirty="0" err="1">
                <a:solidFill>
                  <a:srgbClr val="FF0066"/>
                </a:solidFill>
                <a:latin typeface="Courier New" pitchFamily="49" charset="0"/>
              </a:rPr>
              <a:t>css</a:t>
            </a: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"&gt;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    h2 {</a:t>
            </a:r>
            <a:r>
              <a:rPr lang="en-US" sz="1400" b="1" dirty="0" err="1">
                <a:latin typeface="Courier New" pitchFamily="49" charset="0"/>
              </a:rPr>
              <a:t>color:red</a:t>
            </a:r>
            <a:r>
              <a:rPr lang="en-US" sz="1400" b="1" dirty="0">
                <a:latin typeface="Courier New" pitchFamily="49" charset="0"/>
              </a:rPr>
              <a:t>;}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  </a:t>
            </a: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&lt;/style&gt;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&lt;/head&gt;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&lt;body&gt;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  &lt;h2&gt;CAUTION: Icy Road Conditions&lt;/h2&gt;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  &lt;h2&gt;Please Slow Down!&lt;/h2&gt;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&lt;/body&gt;</a:t>
            </a:r>
          </a:p>
        </p:txBody>
      </p:sp>
      <p:pic>
        <p:nvPicPr>
          <p:cNvPr id="8" name="Picture 10" descr="CSS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561356"/>
            <a:ext cx="3657600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042311" y="2785492"/>
            <a:ext cx="3822576" cy="1477328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Styles declared in the internal style sheet affect all matching elements on the page.  In this example, all &lt;h2&gt; page elements are displayed in the color red.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27777" y="4310856"/>
            <a:ext cx="8237109" cy="85090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Since formatting declarations are entirely in the </a:t>
            </a:r>
            <a:r>
              <a:rPr lang="en-US" sz="1600" dirty="0">
                <a:solidFill>
                  <a:srgbClr val="C00000"/>
                </a:solidFill>
              </a:rPr>
              <a:t>&lt;head&gt; section</a:t>
            </a:r>
            <a:r>
              <a:rPr lang="en-US" sz="1600" dirty="0"/>
              <a:t>, away from the actual page content, internal CSS style sheets do a much better job than inline styles at separating content from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65214250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391" y="769268"/>
            <a:ext cx="8229600" cy="4105275"/>
          </a:xfrm>
        </p:spPr>
        <p:txBody>
          <a:bodyPr/>
          <a:lstStyle/>
          <a:p>
            <a:r>
              <a:rPr lang="en-US" b="1" dirty="0"/>
              <a:t>To use an external CSS style sheet, we create </a:t>
            </a:r>
            <a:r>
              <a:rPr lang="en-US" b="1" dirty="0">
                <a:solidFill>
                  <a:srgbClr val="C00000"/>
                </a:solidFill>
              </a:rPr>
              <a:t>a new file </a:t>
            </a:r>
            <a:r>
              <a:rPr lang="en-US" b="1" dirty="0"/>
              <a:t>(with a .</a:t>
            </a:r>
            <a:r>
              <a:rPr lang="en-US" b="1" dirty="0" err="1"/>
              <a:t>css</a:t>
            </a:r>
            <a:r>
              <a:rPr lang="en-US" b="1" dirty="0"/>
              <a:t> extension) and write our style declarations into this file. We then add a </a:t>
            </a:r>
            <a:r>
              <a:rPr lang="en-US" b="1" dirty="0">
                <a:solidFill>
                  <a:srgbClr val="C00000"/>
                </a:solidFill>
              </a:rPr>
              <a:t>&lt;link&gt; element </a:t>
            </a:r>
            <a:r>
              <a:rPr lang="en-US" b="1" dirty="0"/>
              <a:t>into our HTML file, right </a:t>
            </a:r>
            <a:r>
              <a:rPr lang="en-US" b="1" dirty="0">
                <a:solidFill>
                  <a:srgbClr val="C00000"/>
                </a:solidFill>
              </a:rPr>
              <a:t>after the opening &lt;head&gt; tag</a:t>
            </a:r>
            <a:r>
              <a:rPr lang="en-US" b="1" dirty="0"/>
              <a:t>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220072" y="2065412"/>
            <a:ext cx="324036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h2 {</a:t>
            </a:r>
            <a:r>
              <a:rPr lang="en-US" sz="1400" b="1" dirty="0" err="1">
                <a:latin typeface="Courier New" pitchFamily="49" charset="0"/>
              </a:rPr>
              <a:t>color:red</a:t>
            </a:r>
            <a:r>
              <a:rPr lang="en-US" sz="1400" b="1" dirty="0">
                <a:latin typeface="Courier New" pitchFamily="49" charset="0"/>
              </a:rPr>
              <a:t>;}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5145963" y="1777380"/>
            <a:ext cx="319403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style.css (separate file):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07368" y="2065412"/>
            <a:ext cx="4495800" cy="23622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&lt;head&gt;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  &lt;link </a:t>
            </a:r>
            <a:r>
              <a:rPr lang="en-US" sz="1400" b="1" dirty="0" err="1">
                <a:solidFill>
                  <a:srgbClr val="FF0066"/>
                </a:solidFill>
                <a:latin typeface="Courier New" pitchFamily="49" charset="0"/>
              </a:rPr>
              <a:t>rel</a:t>
            </a: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="</a:t>
            </a:r>
            <a:r>
              <a:rPr lang="en-US" sz="1400" b="1" dirty="0" err="1">
                <a:solidFill>
                  <a:srgbClr val="FF0066"/>
                </a:solidFill>
                <a:latin typeface="Courier New" pitchFamily="49" charset="0"/>
              </a:rPr>
              <a:t>stylesheet</a:t>
            </a: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" type="text/</a:t>
            </a:r>
            <a:r>
              <a:rPr lang="en-US" sz="1400" b="1" dirty="0" err="1">
                <a:solidFill>
                  <a:srgbClr val="FF0066"/>
                </a:solidFill>
                <a:latin typeface="Courier New" pitchFamily="49" charset="0"/>
              </a:rPr>
              <a:t>css</a:t>
            </a: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" </a:t>
            </a:r>
            <a:r>
              <a:rPr lang="en-US" sz="1400" b="1" dirty="0" err="1">
                <a:solidFill>
                  <a:srgbClr val="FF0066"/>
                </a:solidFill>
                <a:latin typeface="Courier New" pitchFamily="49" charset="0"/>
              </a:rPr>
              <a:t>href</a:t>
            </a:r>
            <a:r>
              <a:rPr lang="en-US" sz="1400" b="1" dirty="0">
                <a:solidFill>
                  <a:srgbClr val="FF0066"/>
                </a:solidFill>
                <a:latin typeface="Courier New" pitchFamily="49" charset="0"/>
              </a:rPr>
              <a:t>="style.css" /&gt;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  ...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&lt;/head&gt;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&lt;body&gt;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  &lt;h2&gt;CAUTION: Icy Road Conditions&lt;/h2&gt;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  &lt;h2&gt;Please Slow Down!&lt;/h2&gt;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sz="1400" b="1" dirty="0">
                <a:latin typeface="Courier New" pitchFamily="49" charset="0"/>
              </a:rPr>
              <a:t>&lt;/body&gt;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683568" y="1777380"/>
            <a:ext cx="3657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example.html file:</a:t>
            </a:r>
          </a:p>
        </p:txBody>
      </p:sp>
      <p:pic>
        <p:nvPicPr>
          <p:cNvPr id="11" name="Picture 15" descr="CSS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307" y="2425452"/>
            <a:ext cx="3228125" cy="1952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621935" y="4513684"/>
            <a:ext cx="7982513" cy="666750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&lt;link&gt; element instructs the browser to load the external file specified by the </a:t>
            </a:r>
            <a:r>
              <a:rPr lang="en-US" dirty="0" err="1">
                <a:solidFill>
                  <a:srgbClr val="C00000"/>
                </a:solidFill>
              </a:rPr>
              <a:t>href</a:t>
            </a:r>
            <a:r>
              <a:rPr lang="en-US" dirty="0">
                <a:solidFill>
                  <a:srgbClr val="C00000"/>
                </a:solidFill>
              </a:rPr>
              <a:t> attribute </a:t>
            </a:r>
            <a:r>
              <a:rPr lang="en-US" dirty="0"/>
              <a:t>and to apply the CSS style declarations contained there.</a:t>
            </a:r>
          </a:p>
        </p:txBody>
      </p:sp>
    </p:spTree>
    <p:extLst>
      <p:ext uri="{BB962C8B-B14F-4D97-AF65-F5344CB8AC3E}">
        <p14:creationId xmlns:p14="http://schemas.microsoft.com/office/powerpoint/2010/main" val="3508810854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External Style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real power of using an external style sheet is that multiple web pages on our site can link to the same style sheet: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9</a:t>
            </a:fld>
            <a:endParaRPr lang="en-IN"/>
          </a:p>
        </p:txBody>
      </p:sp>
      <p:grpSp>
        <p:nvGrpSpPr>
          <p:cNvPr id="21" name="Group 20"/>
          <p:cNvGrpSpPr/>
          <p:nvPr/>
        </p:nvGrpSpPr>
        <p:grpSpPr>
          <a:xfrm>
            <a:off x="944835" y="1732779"/>
            <a:ext cx="6867525" cy="2514600"/>
            <a:chOff x="523875" y="2114550"/>
            <a:chExt cx="8162925" cy="3295650"/>
          </a:xfrm>
        </p:grpSpPr>
        <p:sp>
          <p:nvSpPr>
            <p:cNvPr id="22" name="Text Box 7"/>
            <p:cNvSpPr txBox="1">
              <a:spLocks noChangeArrowheads="1"/>
            </p:cNvSpPr>
            <p:nvPr/>
          </p:nvSpPr>
          <p:spPr bwMode="auto">
            <a:xfrm>
              <a:off x="2667000" y="2114550"/>
              <a:ext cx="3657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/>
                <a:t>style.css :</a:t>
              </a: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523875" y="2133600"/>
              <a:ext cx="8162925" cy="3276600"/>
              <a:chOff x="523875" y="2133600"/>
              <a:chExt cx="8162925" cy="3276600"/>
            </a:xfrm>
          </p:grpSpPr>
          <p:sp>
            <p:nvSpPr>
              <p:cNvPr id="24" name="Text Box 9"/>
              <p:cNvSpPr txBox="1">
                <a:spLocks noChangeArrowheads="1"/>
              </p:cNvSpPr>
              <p:nvPr/>
            </p:nvSpPr>
            <p:spPr bwMode="auto">
              <a:xfrm>
                <a:off x="2667000" y="3171825"/>
                <a:ext cx="1447800" cy="44371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/>
                  <a:t>page1.html</a:t>
                </a:r>
              </a:p>
            </p:txBody>
          </p:sp>
          <p:sp>
            <p:nvSpPr>
              <p:cNvPr id="25" name="Rectangle 3"/>
              <p:cNvSpPr>
                <a:spLocks noChangeArrowheads="1"/>
              </p:cNvSpPr>
              <p:nvPr/>
            </p:nvSpPr>
            <p:spPr bwMode="auto">
              <a:xfrm>
                <a:off x="2743200" y="2451100"/>
                <a:ext cx="4191000" cy="3048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342900" indent="-342900" eaLnBrk="1" hangingPunct="1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itchFamily="2" charset="2"/>
                  <a:buNone/>
                </a:pPr>
                <a:r>
                  <a:rPr lang="en-US" sz="1400" b="1">
                    <a:latin typeface="Courier New" pitchFamily="49" charset="0"/>
                  </a:rPr>
                  <a:t>h2 {color:red;}</a:t>
                </a:r>
              </a:p>
            </p:txBody>
          </p:sp>
          <p:sp>
            <p:nvSpPr>
              <p:cNvPr id="26" name="Text Box 12"/>
              <p:cNvSpPr txBox="1">
                <a:spLocks noChangeArrowheads="1"/>
              </p:cNvSpPr>
              <p:nvPr/>
            </p:nvSpPr>
            <p:spPr bwMode="auto">
              <a:xfrm>
                <a:off x="4114800" y="3171825"/>
                <a:ext cx="1447800" cy="44371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/>
                  <a:t>page2.html</a:t>
                </a:r>
              </a:p>
            </p:txBody>
          </p:sp>
          <p:sp>
            <p:nvSpPr>
              <p:cNvPr id="27" name="Rectangle 14"/>
              <p:cNvSpPr>
                <a:spLocks noChangeArrowheads="1"/>
              </p:cNvSpPr>
              <p:nvPr/>
            </p:nvSpPr>
            <p:spPr bwMode="auto">
              <a:xfrm>
                <a:off x="2514600" y="2133600"/>
                <a:ext cx="4572000" cy="762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15"/>
              <p:cNvSpPr>
                <a:spLocks noChangeShapeType="1"/>
              </p:cNvSpPr>
              <p:nvPr/>
            </p:nvSpPr>
            <p:spPr bwMode="auto">
              <a:xfrm flipV="1">
                <a:off x="4724400" y="2895600"/>
                <a:ext cx="0" cy="2762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Box 13"/>
              <p:cNvSpPr txBox="1">
                <a:spLocks noChangeArrowheads="1"/>
              </p:cNvSpPr>
              <p:nvPr/>
            </p:nvSpPr>
            <p:spPr bwMode="auto">
              <a:xfrm>
                <a:off x="5562600" y="3171825"/>
                <a:ext cx="1524000" cy="44371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dirty="0"/>
                  <a:t>page3.html</a:t>
                </a:r>
              </a:p>
            </p:txBody>
          </p:sp>
          <p:pic>
            <p:nvPicPr>
              <p:cNvPr id="30" name="Picture 17" descr="CSS4a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3875" y="3892550"/>
                <a:ext cx="2600325" cy="1517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18" descr="CSS4b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52800" y="3886200"/>
                <a:ext cx="2514600" cy="14271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19" descr="CSS4c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0" y="3886200"/>
                <a:ext cx="2590800" cy="15113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Line 20"/>
              <p:cNvSpPr>
                <a:spLocks noChangeShapeType="1"/>
              </p:cNvSpPr>
              <p:nvPr/>
            </p:nvSpPr>
            <p:spPr bwMode="auto">
              <a:xfrm flipH="1">
                <a:off x="2133600" y="3505200"/>
                <a:ext cx="5334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21"/>
              <p:cNvSpPr>
                <a:spLocks noChangeShapeType="1"/>
              </p:cNvSpPr>
              <p:nvPr/>
            </p:nvSpPr>
            <p:spPr bwMode="auto">
              <a:xfrm>
                <a:off x="6781800" y="3505200"/>
                <a:ext cx="45720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22"/>
              <p:cNvSpPr>
                <a:spLocks noChangeShapeType="1"/>
              </p:cNvSpPr>
              <p:nvPr/>
            </p:nvSpPr>
            <p:spPr bwMode="auto">
              <a:xfrm>
                <a:off x="4724400" y="3514725"/>
                <a:ext cx="0" cy="381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24"/>
              <p:cNvSpPr>
                <a:spLocks noChangeShapeType="1"/>
              </p:cNvSpPr>
              <p:nvPr/>
            </p:nvSpPr>
            <p:spPr bwMode="auto">
              <a:xfrm flipV="1">
                <a:off x="3276600" y="2895600"/>
                <a:ext cx="0" cy="2762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7" name="Line 15"/>
          <p:cNvSpPr>
            <a:spLocks noChangeShapeType="1"/>
          </p:cNvSpPr>
          <p:nvPr/>
        </p:nvSpPr>
        <p:spPr bwMode="auto">
          <a:xfrm flipV="1">
            <a:off x="5724128" y="2338283"/>
            <a:ext cx="0" cy="2107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11560" y="4228020"/>
            <a:ext cx="8077200" cy="941387"/>
          </a:xfrm>
          <a:prstGeom prst="rect">
            <a:avLst/>
          </a:prstGeom>
          <a:solidFill>
            <a:srgbClr val="99CC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Styles declared in an external style sheet will affect all matching elements on </a:t>
            </a:r>
            <a:r>
              <a:rPr lang="en-US" dirty="0">
                <a:solidFill>
                  <a:srgbClr val="C00000"/>
                </a:solidFill>
              </a:rPr>
              <a:t>all web pages that link to the style sheet</a:t>
            </a:r>
            <a:r>
              <a:rPr lang="en-US" dirty="0"/>
              <a:t>.  By editing the external style sheet, we can make site-wide changes (even to hundreds of pages) instantly.</a:t>
            </a:r>
          </a:p>
        </p:txBody>
      </p:sp>
    </p:spTree>
    <p:extLst>
      <p:ext uri="{BB962C8B-B14F-4D97-AF65-F5344CB8AC3E}">
        <p14:creationId xmlns:p14="http://schemas.microsoft.com/office/powerpoint/2010/main" val="245348078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Text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The following properties can be specified for </a:t>
            </a:r>
            <a:r>
              <a:rPr lang="en-US" b="1" dirty="0">
                <a:solidFill>
                  <a:srgbClr val="C00000"/>
                </a:solidFill>
              </a:rPr>
              <a:t>any element that contains text</a:t>
            </a:r>
            <a:r>
              <a:rPr lang="en-US" b="1" dirty="0"/>
              <a:t>, such as &lt;h1&gt; through &lt;h6&gt;, &lt;p&gt;, &lt;</a:t>
            </a:r>
            <a:r>
              <a:rPr lang="en-US" b="1" dirty="0" err="1"/>
              <a:t>ol</a:t>
            </a:r>
            <a:r>
              <a:rPr lang="en-US" b="1" dirty="0"/>
              <a:t>&gt;, &lt;</a:t>
            </a:r>
            <a:r>
              <a:rPr lang="en-US" b="1" dirty="0" err="1"/>
              <a:t>ul</a:t>
            </a:r>
            <a:r>
              <a:rPr lang="en-US" b="1" dirty="0"/>
              <a:t>&gt;, and &lt;a&gt;:</a:t>
            </a:r>
          </a:p>
          <a:p>
            <a:pPr marL="400050" lvl="1" indent="0" eaLnBrk="1" hangingPunct="1">
              <a:buNone/>
            </a:pPr>
            <a:endParaRPr lang="en-US" b="1" u="sng" dirty="0">
              <a:solidFill>
                <a:srgbClr val="0070C0"/>
              </a:solidFill>
              <a:cs typeface="Arial" charset="0"/>
            </a:endParaRPr>
          </a:p>
          <a:p>
            <a:pPr marL="400050" lvl="1" indent="0" eaLnBrk="1" hangingPunct="1">
              <a:buNone/>
            </a:pPr>
            <a:r>
              <a:rPr lang="en-US" b="1" u="sng" dirty="0">
                <a:solidFill>
                  <a:srgbClr val="0070C0"/>
                </a:solidFill>
                <a:cs typeface="Arial" charset="0"/>
              </a:rPr>
              <a:t>Property</a:t>
            </a:r>
            <a:r>
              <a:rPr lang="en-US" b="1" dirty="0">
                <a:solidFill>
                  <a:srgbClr val="0070C0"/>
                </a:solidFill>
                <a:cs typeface="Arial" charset="0"/>
              </a:rPr>
              <a:t>		</a:t>
            </a:r>
            <a:r>
              <a:rPr lang="en-US" b="1" u="sng" dirty="0">
                <a:solidFill>
                  <a:srgbClr val="0070C0"/>
                </a:solidFill>
                <a:cs typeface="Arial" charset="0"/>
              </a:rPr>
              <a:t>Some Possible Values</a:t>
            </a:r>
          </a:p>
          <a:p>
            <a:pPr eaLnBrk="1" hangingPunct="1"/>
            <a:endParaRPr lang="en-US" sz="800" b="1" dirty="0">
              <a:cs typeface="Arial" charset="0"/>
            </a:endParaRPr>
          </a:p>
          <a:p>
            <a:pPr marL="400050" lvl="1" indent="0" eaLnBrk="1" hangingPunct="1">
              <a:buNone/>
            </a:pPr>
            <a:r>
              <a:rPr lang="en-US" b="1" dirty="0">
                <a:cs typeface="Arial" charset="0"/>
              </a:rPr>
              <a:t>text-align:      	center, left, right, justify</a:t>
            </a:r>
          </a:p>
          <a:p>
            <a:pPr marL="400050" lvl="1" indent="0" eaLnBrk="1" hangingPunct="1">
              <a:buNone/>
            </a:pPr>
            <a:r>
              <a:rPr lang="en-US" b="1" dirty="0">
                <a:cs typeface="Arial" charset="0"/>
              </a:rPr>
              <a:t>text-decoration:	underline, line-through, blink</a:t>
            </a:r>
          </a:p>
          <a:p>
            <a:pPr marL="400050" lvl="1" indent="0" eaLnBrk="1" hangingPunct="1">
              <a:buNone/>
            </a:pPr>
            <a:r>
              <a:rPr lang="en-US" b="1" dirty="0">
                <a:cs typeface="Arial" charset="0"/>
              </a:rPr>
              <a:t>color:		blue, green, yellow, red, white, etc.</a:t>
            </a:r>
          </a:p>
          <a:p>
            <a:pPr marL="400050" lvl="1" indent="0" eaLnBrk="1" hangingPunct="1">
              <a:buNone/>
            </a:pPr>
            <a:r>
              <a:rPr lang="en-US" b="1" dirty="0">
                <a:cs typeface="Arial" charset="0"/>
              </a:rPr>
              <a:t>font-family:		Arial, Verdana, "Times New Roman"</a:t>
            </a:r>
          </a:p>
          <a:p>
            <a:pPr marL="400050" lvl="1" indent="0" eaLnBrk="1" hangingPunct="1">
              <a:buNone/>
            </a:pPr>
            <a:r>
              <a:rPr lang="en-US" b="1" dirty="0">
                <a:cs typeface="Arial" charset="0"/>
              </a:rPr>
              <a:t>font-size:		large, 120%, 20px (pixels) 	         </a:t>
            </a:r>
          </a:p>
          <a:p>
            <a:pPr marL="400050" lvl="1" indent="0" eaLnBrk="1" hangingPunct="1">
              <a:buNone/>
            </a:pPr>
            <a:r>
              <a:rPr lang="en-US" b="1" dirty="0">
                <a:cs typeface="Arial" charset="0"/>
              </a:rPr>
              <a:t>font-weight:		bold, normal</a:t>
            </a:r>
          </a:p>
          <a:p>
            <a:pPr marL="400050" lvl="1" indent="0" eaLnBrk="1" hangingPunct="1">
              <a:buNone/>
            </a:pPr>
            <a:r>
              <a:rPr lang="en-US" b="1" dirty="0">
                <a:cs typeface="Arial" charset="0"/>
              </a:rPr>
              <a:t>font-style:		italic, normal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385665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 Selector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With a class selector you can </a:t>
            </a:r>
            <a:r>
              <a:rPr lang="en-US" b="1" dirty="0">
                <a:solidFill>
                  <a:srgbClr val="C00000"/>
                </a:solidFill>
              </a:rPr>
              <a:t>define different styles for the same type of HTML element </a:t>
            </a:r>
          </a:p>
          <a:p>
            <a:r>
              <a:rPr lang="en-US" b="1" dirty="0">
                <a:solidFill>
                  <a:srgbClr val="C00000"/>
                </a:solidFill>
              </a:rPr>
              <a:t>Examples:</a:t>
            </a:r>
          </a:p>
          <a:p>
            <a:pPr>
              <a:buFontTx/>
              <a:buNone/>
            </a:pPr>
            <a:r>
              <a:rPr lang="en-US" b="1" dirty="0">
                <a:solidFill>
                  <a:srgbClr val="006600"/>
                </a:solidFill>
              </a:rPr>
              <a:t>	</a:t>
            </a:r>
            <a:r>
              <a:rPr lang="en-US" b="1" dirty="0">
                <a:solidFill>
                  <a:srgbClr val="0070C0"/>
                </a:solidFill>
              </a:rPr>
              <a:t>First define the class:</a:t>
            </a:r>
          </a:p>
          <a:p>
            <a:pPr lvl="1">
              <a:buFontTx/>
              <a:buNone/>
            </a:pPr>
            <a:r>
              <a:rPr lang="en-US" b="1" dirty="0"/>
              <a:t>	</a:t>
            </a:r>
            <a:r>
              <a:rPr lang="en-US" b="1" dirty="0" err="1"/>
              <a:t>p</a:t>
            </a:r>
            <a:r>
              <a:rPr lang="en-US" b="1" dirty="0" err="1">
                <a:solidFill>
                  <a:srgbClr val="CC0000"/>
                </a:solidFill>
              </a:rPr>
              <a:t>.right</a:t>
            </a:r>
            <a:r>
              <a:rPr lang="en-US" b="1" dirty="0"/>
              <a:t> {text-align: right; color: red; font-style: italic}</a:t>
            </a:r>
          </a:p>
          <a:p>
            <a:pPr lvl="1">
              <a:buFontTx/>
              <a:buNone/>
            </a:pPr>
            <a:r>
              <a:rPr lang="en-US" b="1" dirty="0"/>
              <a:t>	</a:t>
            </a:r>
            <a:r>
              <a:rPr lang="en-US" b="1" dirty="0" err="1"/>
              <a:t>p</a:t>
            </a:r>
            <a:r>
              <a:rPr lang="en-US" b="1" dirty="0" err="1">
                <a:solidFill>
                  <a:srgbClr val="CC0000"/>
                </a:solidFill>
              </a:rPr>
              <a:t>.blue</a:t>
            </a:r>
            <a:r>
              <a:rPr lang="en-US" b="1" dirty="0"/>
              <a:t> {text-align: center; </a:t>
            </a:r>
            <a:r>
              <a:rPr lang="en-US" b="1" dirty="0" err="1"/>
              <a:t>color:blue</a:t>
            </a:r>
            <a:r>
              <a:rPr lang="en-US" b="1" dirty="0"/>
              <a:t>}</a:t>
            </a:r>
          </a:p>
          <a:p>
            <a:pPr>
              <a:buFontTx/>
              <a:buNone/>
            </a:pPr>
            <a:r>
              <a:rPr lang="en-US" b="1" dirty="0">
                <a:solidFill>
                  <a:srgbClr val="006600"/>
                </a:solidFill>
              </a:rPr>
              <a:t>	</a:t>
            </a:r>
            <a:r>
              <a:rPr lang="en-US" b="1" dirty="0">
                <a:solidFill>
                  <a:srgbClr val="0070C0"/>
                </a:solidFill>
              </a:rPr>
              <a:t>Then use the class in your HTML  code :</a:t>
            </a:r>
          </a:p>
          <a:p>
            <a:pPr lvl="1">
              <a:buFontTx/>
              <a:buNone/>
            </a:pPr>
            <a:r>
              <a:rPr lang="en-US" b="1" dirty="0"/>
              <a:t>	&lt;p class="</a:t>
            </a:r>
            <a:r>
              <a:rPr lang="en-US" b="1" dirty="0">
                <a:solidFill>
                  <a:srgbClr val="CC0000"/>
                </a:solidFill>
              </a:rPr>
              <a:t>right</a:t>
            </a:r>
            <a:r>
              <a:rPr lang="en-US" b="1" dirty="0"/>
              <a:t>"&gt; This paragraph will be right-aligned, italic, and red. &lt;/p&gt;</a:t>
            </a:r>
          </a:p>
          <a:p>
            <a:pPr lvl="1">
              <a:buFontTx/>
              <a:buNone/>
            </a:pPr>
            <a:r>
              <a:rPr lang="en-US" b="1" dirty="0"/>
              <a:t>	&lt;p class=“</a:t>
            </a:r>
            <a:r>
              <a:rPr lang="en-US" b="1" dirty="0">
                <a:solidFill>
                  <a:srgbClr val="CC0000"/>
                </a:solidFill>
              </a:rPr>
              <a:t>blue</a:t>
            </a:r>
            <a:r>
              <a:rPr lang="en-US" b="1" dirty="0"/>
              <a:t>"&gt; This paragraph will be center-aligned and blue. &lt;/p&gt;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187589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class selector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25"/>
            <a:ext cx="8363272" cy="4105275"/>
          </a:xfrm>
        </p:spPr>
        <p:txBody>
          <a:bodyPr/>
          <a:lstStyle/>
          <a:p>
            <a:r>
              <a:rPr lang="en-US" b="1" dirty="0"/>
              <a:t>You can also omit the tag name in the selector to define a style that will be </a:t>
            </a:r>
            <a:r>
              <a:rPr lang="en-US" b="1" dirty="0">
                <a:solidFill>
                  <a:srgbClr val="C00000"/>
                </a:solidFill>
              </a:rPr>
              <a:t>used by all HTML elements </a:t>
            </a:r>
            <a:r>
              <a:rPr lang="en-US" b="1" dirty="0"/>
              <a:t>that have this class.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Example:</a:t>
            </a:r>
          </a:p>
          <a:p>
            <a:pPr>
              <a:buFontTx/>
              <a:buNone/>
            </a:pPr>
            <a:r>
              <a:rPr lang="en-US" b="1" dirty="0"/>
              <a:t>	 </a:t>
            </a:r>
            <a:r>
              <a:rPr lang="en-US" b="1" dirty="0">
                <a:solidFill>
                  <a:srgbClr val="CC0000"/>
                </a:solidFill>
              </a:rPr>
              <a:t>.poem</a:t>
            </a:r>
            <a:r>
              <a:rPr lang="en-US" b="1" dirty="0"/>
              <a:t> {text-align: center; </a:t>
            </a:r>
            <a:r>
              <a:rPr lang="en-US" b="1" dirty="0" err="1"/>
              <a:t>font-style:italic</a:t>
            </a:r>
            <a:r>
              <a:rPr lang="en-US" b="1" dirty="0"/>
              <a:t>} </a:t>
            </a:r>
          </a:p>
          <a:p>
            <a:pPr>
              <a:buFontTx/>
              <a:buNone/>
            </a:pPr>
            <a:endParaRPr lang="en-US" b="1" dirty="0"/>
          </a:p>
          <a:p>
            <a:pPr>
              <a:buFontTx/>
              <a:buNone/>
            </a:pPr>
            <a:r>
              <a:rPr lang="en-US" b="1" dirty="0"/>
              <a:t>	Any HTML element with class=“</a:t>
            </a:r>
            <a:r>
              <a:rPr lang="en-US" b="1" dirty="0">
                <a:solidFill>
                  <a:srgbClr val="CC0000"/>
                </a:solidFill>
              </a:rPr>
              <a:t>poem</a:t>
            </a:r>
            <a:r>
              <a:rPr lang="en-US" b="1" dirty="0"/>
              <a:t>" will be center-aligned and italic.</a:t>
            </a:r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b="1" dirty="0"/>
              <a:t>Both elements below will follow the rules in the "</a:t>
            </a:r>
            <a:r>
              <a:rPr lang="en-US" b="1" dirty="0">
                <a:solidFill>
                  <a:srgbClr val="CC0000"/>
                </a:solidFill>
              </a:rPr>
              <a:t>.poem</a:t>
            </a:r>
            <a:r>
              <a:rPr lang="en-US" b="1" dirty="0"/>
              <a:t>“ class:  </a:t>
            </a:r>
          </a:p>
          <a:p>
            <a:pPr lvl="1">
              <a:buFontTx/>
              <a:buNone/>
            </a:pPr>
            <a:r>
              <a:rPr lang="en-US" b="1" dirty="0"/>
              <a:t>	&lt;h1 class=“</a:t>
            </a:r>
            <a:r>
              <a:rPr lang="en-US" b="1" dirty="0">
                <a:solidFill>
                  <a:srgbClr val="CC0000"/>
                </a:solidFill>
              </a:rPr>
              <a:t>poem</a:t>
            </a:r>
            <a:r>
              <a:rPr lang="en-US" b="1" dirty="0"/>
              <a:t>"&gt; This heading will be center-aligned and italic &lt;/h1&gt;</a:t>
            </a:r>
          </a:p>
          <a:p>
            <a:pPr lvl="1">
              <a:buFontTx/>
              <a:buNone/>
            </a:pPr>
            <a:r>
              <a:rPr lang="en-US" b="1" dirty="0"/>
              <a:t>	&lt;p class=“</a:t>
            </a:r>
            <a:r>
              <a:rPr lang="en-US" b="1" dirty="0">
                <a:solidFill>
                  <a:srgbClr val="CC0000"/>
                </a:solidFill>
              </a:rPr>
              <a:t>poem</a:t>
            </a:r>
            <a:r>
              <a:rPr lang="en-US" b="1" dirty="0"/>
              <a:t>"&gt; This paragraph will also be center-aligned and italic. &lt;/p&gt;</a:t>
            </a:r>
          </a:p>
          <a:p>
            <a:pPr>
              <a:buFontTx/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014680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styles to portion of the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&lt;div&gt;</a:t>
            </a:r>
          </a:p>
          <a:p>
            <a:pPr lvl="1"/>
            <a:r>
              <a:rPr lang="en-US" b="1" dirty="0"/>
              <a:t>A division tag: to </a:t>
            </a:r>
            <a:r>
              <a:rPr lang="en-US" b="1" dirty="0">
                <a:solidFill>
                  <a:srgbClr val="C00000"/>
                </a:solidFill>
              </a:rPr>
              <a:t>“package” a block of document </a:t>
            </a:r>
            <a:r>
              <a:rPr lang="en-US" b="1" dirty="0"/>
              <a:t>into one unit. It defines a block element.</a:t>
            </a:r>
          </a:p>
          <a:p>
            <a:pPr lvl="1"/>
            <a:r>
              <a:rPr lang="en-US" b="1" dirty="0"/>
              <a:t>Causes a line break, like &lt;</a:t>
            </a:r>
            <a:r>
              <a:rPr lang="en-US" b="1" dirty="0" err="1"/>
              <a:t>br</a:t>
            </a:r>
            <a:r>
              <a:rPr lang="en-US" b="1" dirty="0"/>
              <a:t>&gt; and &lt;p&gt;. 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b="1" dirty="0"/>
              <a:t>&lt;div class="foo"&gt; </a:t>
            </a:r>
          </a:p>
          <a:p>
            <a:pPr>
              <a:buFontTx/>
              <a:buNone/>
            </a:pPr>
            <a:r>
              <a:rPr lang="en-US" b="1" dirty="0"/>
              <a:t>	&lt;p&gt;The "foo" style will be applied to this text, and to </a:t>
            </a:r>
          </a:p>
          <a:p>
            <a:pPr>
              <a:buFontTx/>
              <a:buNone/>
            </a:pPr>
            <a:r>
              <a:rPr lang="en-US" b="1" dirty="0"/>
              <a:t>	&lt;a </a:t>
            </a:r>
            <a:r>
              <a:rPr lang="en-US" b="1" dirty="0" err="1"/>
              <a:t>href</a:t>
            </a:r>
            <a:r>
              <a:rPr lang="en-US" b="1" dirty="0"/>
              <a:t>="page.html"&gt;this text&lt;/a&gt; as well. &lt;/p&gt;</a:t>
            </a:r>
            <a:br>
              <a:rPr lang="en-US" b="1" dirty="0"/>
            </a:br>
            <a:r>
              <a:rPr lang="en-US" b="1" dirty="0"/>
              <a:t>&lt;/div&gt; 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697031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styles to portion of the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&lt;span&gt;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C00000"/>
                </a:solidFill>
              </a:rPr>
              <a:t>“Wraps” a portion of text into a unit</a:t>
            </a:r>
            <a:r>
              <a:rPr lang="en-US" b="1" dirty="0"/>
              <a:t>,  but doesn't cause a line break. Allows styles to be applied to an 'elemental' region (such as a portion of a paragraph).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&lt;p&gt;&lt;span class="foo"&gt;This text is rendered as foo-style&lt;/span&gt; 	and this is not.  &lt;/p&gt;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464045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Inheritance: which style prevails when several are present?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Inline</a:t>
            </a:r>
            <a:r>
              <a:rPr lang="en-US" b="1" dirty="0"/>
              <a:t> (local) overrides </a:t>
            </a:r>
            <a:r>
              <a:rPr lang="en-US" b="1" dirty="0">
                <a:solidFill>
                  <a:srgbClr val="C00000"/>
                </a:solidFill>
              </a:rPr>
              <a:t>internal</a:t>
            </a:r>
            <a:r>
              <a:rPr lang="en-US" b="1" dirty="0"/>
              <a:t> (global)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Internal</a:t>
            </a:r>
            <a:r>
              <a:rPr lang="en-US" b="1" dirty="0"/>
              <a:t> (global) overrides </a:t>
            </a:r>
            <a:r>
              <a:rPr lang="en-US" b="1" dirty="0">
                <a:solidFill>
                  <a:srgbClr val="C00000"/>
                </a:solidFill>
              </a:rPr>
              <a:t>external</a:t>
            </a:r>
            <a:r>
              <a:rPr lang="en-US" b="1" dirty="0"/>
              <a:t> (linked)</a:t>
            </a:r>
          </a:p>
          <a:p>
            <a:endParaRPr lang="en-US" b="1" dirty="0"/>
          </a:p>
          <a:p>
            <a:r>
              <a:rPr lang="en-US" b="1" dirty="0"/>
              <a:t>An </a:t>
            </a:r>
            <a:r>
              <a:rPr lang="en-US" b="1" dirty="0">
                <a:solidFill>
                  <a:srgbClr val="C00000"/>
                </a:solidFill>
              </a:rPr>
              <a:t>inline style</a:t>
            </a:r>
            <a:r>
              <a:rPr lang="en-US" b="1" dirty="0"/>
              <a:t> (inside an HTML element) </a:t>
            </a:r>
            <a:r>
              <a:rPr lang="en-US" b="1" dirty="0">
                <a:solidFill>
                  <a:srgbClr val="C00000"/>
                </a:solidFill>
              </a:rPr>
              <a:t>has the highest priority</a:t>
            </a:r>
            <a:r>
              <a:rPr lang="en-US" b="1" dirty="0"/>
              <a:t>, which means that it will override every style declared inside the &lt;head&gt; tag, in an external style sheet, and in the browser (default value).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299991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 grid </a:t>
            </a:r>
            <a:r>
              <a:rPr lang="en-US" b="1" dirty="0"/>
              <a:t>is an intersecting set of horizontal and vertical lines</a:t>
            </a:r>
            <a:r>
              <a:rPr lang="en-US" dirty="0"/>
              <a:t> </a:t>
            </a:r>
          </a:p>
          <a:p>
            <a:r>
              <a:rPr lang="en-US" b="1" dirty="0">
                <a:solidFill>
                  <a:srgbClr val="C00000"/>
                </a:solidFill>
              </a:rPr>
              <a:t>The Grid container</a:t>
            </a:r>
          </a:p>
          <a:p>
            <a:pPr lvl="1"/>
            <a:r>
              <a:rPr lang="en-US" b="1" dirty="0"/>
              <a:t>We create a </a:t>
            </a:r>
            <a:r>
              <a:rPr lang="en-US" b="1" i="1" dirty="0"/>
              <a:t>grid container</a:t>
            </a:r>
            <a:r>
              <a:rPr lang="en-US" b="1" dirty="0"/>
              <a:t> by declaring </a:t>
            </a:r>
            <a:r>
              <a:rPr lang="en-US" b="1" dirty="0">
                <a:solidFill>
                  <a:srgbClr val="C00000"/>
                </a:solidFill>
              </a:rPr>
              <a:t>display: grid</a:t>
            </a:r>
            <a:r>
              <a:rPr lang="en-US" b="1" dirty="0"/>
              <a:t> or </a:t>
            </a:r>
            <a:r>
              <a:rPr lang="en-US" b="1" dirty="0">
                <a:solidFill>
                  <a:srgbClr val="C00000"/>
                </a:solidFill>
              </a:rPr>
              <a:t>display: inline-grid </a:t>
            </a:r>
            <a:r>
              <a:rPr lang="en-US" b="1" dirty="0"/>
              <a:t>on an element. </a:t>
            </a:r>
          </a:p>
          <a:p>
            <a:pPr lvl="1"/>
            <a:r>
              <a:rPr lang="en-US" b="1" dirty="0"/>
              <a:t>As soon as we do this, all </a:t>
            </a:r>
            <a:r>
              <a:rPr lang="en-US" b="1" i="1" dirty="0">
                <a:solidFill>
                  <a:srgbClr val="C00000"/>
                </a:solidFill>
              </a:rPr>
              <a:t>direct children</a:t>
            </a:r>
            <a:r>
              <a:rPr lang="en-US" b="1" dirty="0"/>
              <a:t> of that element become </a:t>
            </a:r>
            <a:r>
              <a:rPr lang="en-US" b="1" i="1" dirty="0"/>
              <a:t>grid items</a:t>
            </a:r>
            <a:r>
              <a:rPr lang="en-US" b="1" dirty="0"/>
              <a:t>.</a:t>
            </a:r>
          </a:p>
          <a:p>
            <a:pPr marL="1257300" lvl="3" indent="0">
              <a:buNone/>
            </a:pPr>
            <a:r>
              <a:rPr lang="en-US" b="1" dirty="0"/>
              <a:t>&lt;div class="wrapper"&gt; </a:t>
            </a:r>
          </a:p>
          <a:p>
            <a:pPr marL="1714500" lvl="4" indent="0">
              <a:buNone/>
            </a:pPr>
            <a:r>
              <a:rPr lang="en-US" b="1" dirty="0"/>
              <a:t>&lt;div&gt;One&lt;/div&gt; </a:t>
            </a:r>
          </a:p>
          <a:p>
            <a:pPr marL="1714500" lvl="4" indent="0">
              <a:buNone/>
            </a:pPr>
            <a:r>
              <a:rPr lang="en-US" b="1" dirty="0"/>
              <a:t>&lt;div&gt;Two&lt;/div&gt; </a:t>
            </a:r>
          </a:p>
          <a:p>
            <a:pPr marL="1714500" lvl="4" indent="0">
              <a:buNone/>
            </a:pPr>
            <a:r>
              <a:rPr lang="en-US" b="1" dirty="0"/>
              <a:t>&lt;div&gt;Three&lt;/div&gt; </a:t>
            </a:r>
          </a:p>
          <a:p>
            <a:pPr marL="1257300" lvl="3" indent="0">
              <a:buNone/>
            </a:pPr>
            <a:r>
              <a:rPr lang="en-US" b="1" dirty="0"/>
              <a:t>&lt;/div&gt;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046298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.wrapper { display: grid;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17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993"/>
          <a:stretch/>
        </p:blipFill>
        <p:spPr bwMode="auto">
          <a:xfrm>
            <a:off x="1495425" y="1777380"/>
            <a:ext cx="6153150" cy="167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9857712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Grid Tracks</a:t>
            </a:r>
          </a:p>
          <a:p>
            <a:pPr lvl="1"/>
            <a:r>
              <a:rPr lang="en-US" b="1" dirty="0"/>
              <a:t>We define rows and columns on our grid with the </a:t>
            </a:r>
            <a:r>
              <a:rPr lang="en-US" b="1" dirty="0">
                <a:hlinkClick r:id="rId2" tooltip="The grid-template-columns CSS property defines the line names and track sizing functions of the grid columns."/>
              </a:rPr>
              <a:t>grid-template-columns</a:t>
            </a:r>
            <a:r>
              <a:rPr lang="en-US" b="1" dirty="0"/>
              <a:t> and </a:t>
            </a:r>
            <a:r>
              <a:rPr lang="en-US" b="1" dirty="0">
                <a:hlinkClick r:id="rId3" tooltip="The grid-template-rows CSS property defines the line names and track sizing functions of the grid rows."/>
              </a:rPr>
              <a:t>grid-template-rows</a:t>
            </a:r>
            <a:r>
              <a:rPr lang="en-US" b="1" dirty="0"/>
              <a:t> properties. </a:t>
            </a:r>
          </a:p>
          <a:p>
            <a:pPr lvl="1"/>
            <a:r>
              <a:rPr lang="en-US" b="1" dirty="0"/>
              <a:t>These define </a:t>
            </a:r>
            <a:r>
              <a:rPr lang="en-US" b="1" dirty="0">
                <a:solidFill>
                  <a:srgbClr val="C00000"/>
                </a:solidFill>
              </a:rPr>
              <a:t>grid tracks. </a:t>
            </a:r>
          </a:p>
          <a:p>
            <a:pPr lvl="1"/>
            <a:r>
              <a:rPr lang="en-US" b="1" dirty="0"/>
              <a:t>A </a:t>
            </a:r>
            <a:r>
              <a:rPr lang="en-US" b="1" i="1" dirty="0"/>
              <a:t>grid track</a:t>
            </a:r>
            <a:r>
              <a:rPr lang="en-US" b="1" dirty="0"/>
              <a:t> is the space between any two lines on the grid. In the below image you can see a track highlighted – this is the first row track in our grid.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18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2929508"/>
            <a:ext cx="3240360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39710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 have now created a grid with </a:t>
            </a:r>
            <a:r>
              <a:rPr lang="en-US" b="1" dirty="0">
                <a:solidFill>
                  <a:srgbClr val="C00000"/>
                </a:solidFill>
              </a:rPr>
              <a:t>three 200-pixel-wide column tracks</a:t>
            </a:r>
            <a:r>
              <a:rPr lang="en-US" b="1" dirty="0"/>
              <a:t>.</a:t>
            </a:r>
          </a:p>
          <a:p>
            <a:r>
              <a:rPr lang="en-US" b="1" dirty="0"/>
              <a:t>The child items will be laid out on this grid one in each grid cell.</a:t>
            </a:r>
          </a:p>
          <a:p>
            <a:pPr marL="800100" lvl="2" indent="0">
              <a:buNone/>
            </a:pPr>
            <a:r>
              <a:rPr lang="en-US" b="1" dirty="0"/>
              <a:t>&lt;div class="wrapper"&gt; </a:t>
            </a:r>
          </a:p>
          <a:p>
            <a:pPr marL="800100" lvl="2" indent="0">
              <a:buNone/>
            </a:pPr>
            <a:r>
              <a:rPr lang="en-US" b="1" dirty="0"/>
              <a:t>&lt;div&gt;One&lt;/div&gt; </a:t>
            </a:r>
          </a:p>
          <a:p>
            <a:pPr marL="800100" lvl="2" indent="0">
              <a:buNone/>
            </a:pPr>
            <a:r>
              <a:rPr lang="en-US" b="1" dirty="0"/>
              <a:t>&lt;div&gt;Two&lt;/div&gt; </a:t>
            </a:r>
          </a:p>
          <a:p>
            <a:pPr marL="800100" lvl="2" indent="0">
              <a:buNone/>
            </a:pPr>
            <a:r>
              <a:rPr lang="en-US" b="1" dirty="0"/>
              <a:t>&lt;div&gt;Three&lt;/div&gt; </a:t>
            </a:r>
          </a:p>
          <a:p>
            <a:pPr marL="800100" lvl="2" indent="0">
              <a:buNone/>
            </a:pPr>
            <a:r>
              <a:rPr lang="en-US" b="1" dirty="0"/>
              <a:t>&lt;div&gt;Four&lt;/div&gt; </a:t>
            </a:r>
          </a:p>
          <a:p>
            <a:pPr marL="800100" lvl="2" indent="0">
              <a:buNone/>
            </a:pPr>
            <a:r>
              <a:rPr lang="en-US" b="1" dirty="0"/>
              <a:t>&lt;div&gt;Five&lt;/div&gt; </a:t>
            </a:r>
          </a:p>
          <a:p>
            <a:pPr marL="800100" lvl="2" indent="0">
              <a:buNone/>
            </a:pPr>
            <a:r>
              <a:rPr lang="en-US" b="1" dirty="0"/>
              <a:t>&lt;/div&gt;</a:t>
            </a:r>
          </a:p>
          <a:p>
            <a:pPr marL="800100" lvl="2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    .wrapper { display: grid; grid-template-columns: 200px </a:t>
            </a:r>
            <a:r>
              <a:rPr lang="en-US" b="1" dirty="0" err="1"/>
              <a:t>200px</a:t>
            </a:r>
            <a:r>
              <a:rPr lang="en-US" b="1" dirty="0"/>
              <a:t> </a:t>
            </a:r>
            <a:r>
              <a:rPr lang="en-US" b="1" dirty="0" err="1"/>
              <a:t>200px</a:t>
            </a:r>
            <a:r>
              <a:rPr lang="en-US" b="1" dirty="0"/>
              <a:t>;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19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420516"/>
            <a:ext cx="5399849" cy="1085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2366967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new </a:t>
            </a:r>
            <a:r>
              <a:rPr lang="en-US" b="1" dirty="0" err="1">
                <a:solidFill>
                  <a:srgbClr val="C00000"/>
                </a:solidFill>
              </a:rPr>
              <a:t>fr</a:t>
            </a:r>
            <a:r>
              <a:rPr lang="en-US" b="1" dirty="0">
                <a:solidFill>
                  <a:srgbClr val="C00000"/>
                </a:solidFill>
              </a:rPr>
              <a:t> </a:t>
            </a:r>
            <a:r>
              <a:rPr lang="en-US" b="1" dirty="0"/>
              <a:t>unit represents a fraction of the available space in the grid container. </a:t>
            </a:r>
          </a:p>
          <a:p>
            <a:r>
              <a:rPr lang="en-US" b="1" dirty="0"/>
              <a:t>The next grid definition would create three equal width tracks that grow and shrink according to the available space.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.wrapper { display: grid; grid-template-columns: 1fr </a:t>
            </a:r>
            <a:r>
              <a:rPr lang="en-US" b="1" dirty="0" err="1"/>
              <a:t>1fr</a:t>
            </a:r>
            <a:r>
              <a:rPr lang="en-US" b="1" dirty="0"/>
              <a:t> </a:t>
            </a:r>
            <a:r>
              <a:rPr lang="en-US" b="1" dirty="0" err="1"/>
              <a:t>1fr</a:t>
            </a:r>
            <a:r>
              <a:rPr lang="en-US" b="1" dirty="0"/>
              <a:t>;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356930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Grid cells</a:t>
            </a:r>
          </a:p>
          <a:p>
            <a:pPr lvl="1"/>
            <a:r>
              <a:rPr lang="en-US" b="1" dirty="0"/>
              <a:t>A </a:t>
            </a:r>
            <a:r>
              <a:rPr lang="en-US" b="1" i="1" dirty="0"/>
              <a:t>grid cell</a:t>
            </a:r>
            <a:r>
              <a:rPr lang="en-US" b="1" dirty="0"/>
              <a:t> is the smallest unit on a grid. Conceptually it is like a table cell.</a:t>
            </a:r>
          </a:p>
          <a:p>
            <a:r>
              <a:rPr lang="en-US" b="1" dirty="0">
                <a:solidFill>
                  <a:srgbClr val="C00000"/>
                </a:solidFill>
              </a:rPr>
              <a:t>Grid areas</a:t>
            </a:r>
          </a:p>
          <a:p>
            <a:pPr lvl="1"/>
            <a:r>
              <a:rPr lang="en-US" b="1" dirty="0"/>
              <a:t>Items can span one or more cells both by row or by column, and this creates a </a:t>
            </a:r>
            <a:r>
              <a:rPr lang="en-US" b="1" i="1" dirty="0"/>
              <a:t>grid area</a:t>
            </a:r>
            <a:r>
              <a:rPr lang="en-US" b="1" dirty="0"/>
              <a:t>. </a:t>
            </a:r>
          </a:p>
          <a:p>
            <a:pPr lvl="1"/>
            <a:r>
              <a:rPr lang="en-US" b="1" dirty="0"/>
              <a:t>Grid areas must be rectangular – it isn’t possible to create an L-shaped area for example.</a:t>
            </a:r>
          </a:p>
          <a:p>
            <a:r>
              <a:rPr lang="en-US" b="1" dirty="0">
                <a:solidFill>
                  <a:srgbClr val="C00000"/>
                </a:solidFill>
              </a:rPr>
              <a:t>Gutters</a:t>
            </a:r>
          </a:p>
          <a:p>
            <a:pPr lvl="1"/>
            <a:r>
              <a:rPr lang="en-US" b="1" i="1" dirty="0"/>
              <a:t>Gutters</a:t>
            </a:r>
            <a:r>
              <a:rPr lang="en-US" b="1" dirty="0"/>
              <a:t> or </a:t>
            </a:r>
            <a:r>
              <a:rPr lang="en-US" b="1" i="1" dirty="0"/>
              <a:t>alleys</a:t>
            </a:r>
            <a:r>
              <a:rPr lang="en-US" b="1" dirty="0"/>
              <a:t> between grid cells can be created using the </a:t>
            </a:r>
            <a:r>
              <a:rPr lang="en-US" b="1" dirty="0">
                <a:hlinkClick r:id="rId2" tooltip="The column-gap CSS property sets the size of the gap (gutter) between an element's columns."/>
              </a:rPr>
              <a:t>column-gap</a:t>
            </a:r>
            <a:r>
              <a:rPr lang="en-US" b="1" dirty="0"/>
              <a:t> and </a:t>
            </a:r>
            <a:r>
              <a:rPr lang="en-US" b="1" dirty="0">
                <a:hlinkClick r:id="rId3" tooltip="The row-gap CSS property sets the size of the gap (gutter) between an element's grid rows."/>
              </a:rPr>
              <a:t>row-gap</a:t>
            </a: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 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328753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.wrapper { display: grid; grid-template-columns: repeat(3, 1fr); </a:t>
            </a:r>
          </a:p>
          <a:p>
            <a:pPr marL="0" indent="0">
              <a:buNone/>
            </a:pPr>
            <a:r>
              <a:rPr lang="en-US" dirty="0"/>
              <a:t>                column-gap: 10px; row-gap: 1em; 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22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28838"/>
            <a:ext cx="609600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211437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Nesting grids</a:t>
            </a:r>
          </a:p>
          <a:p>
            <a:pPr marL="400050" lvl="1" indent="0">
              <a:buNone/>
            </a:pPr>
            <a:r>
              <a:rPr lang="en-US" b="1" dirty="0"/>
              <a:t>&lt;div class="wrapper"&gt;</a:t>
            </a:r>
          </a:p>
          <a:p>
            <a:pPr marL="400050" lvl="1" indent="0">
              <a:buNone/>
            </a:pPr>
            <a:r>
              <a:rPr lang="en-US" b="1" dirty="0"/>
              <a:t>	 &lt;div class="box box1"&gt; </a:t>
            </a:r>
          </a:p>
          <a:p>
            <a:pPr marL="400050" lvl="1" indent="0">
              <a:buNone/>
            </a:pPr>
            <a:r>
              <a:rPr lang="en-US" b="1" dirty="0"/>
              <a:t>		&lt;div class="nested"&gt;a&lt;/div&gt;</a:t>
            </a:r>
          </a:p>
          <a:p>
            <a:pPr marL="400050" lvl="1" indent="0">
              <a:buNone/>
            </a:pPr>
            <a:r>
              <a:rPr lang="en-US" b="1" dirty="0"/>
              <a:t>		 &lt;div class="nested"&gt;b&lt;/div&gt; </a:t>
            </a:r>
          </a:p>
          <a:p>
            <a:pPr marL="400050" lvl="1" indent="0">
              <a:buNone/>
            </a:pPr>
            <a:r>
              <a:rPr lang="en-US" b="1" dirty="0"/>
              <a:t>		&lt;div class="nested"&gt;c&lt;/div&gt; &lt;/div&gt; </a:t>
            </a:r>
          </a:p>
          <a:p>
            <a:pPr marL="400050" lvl="1" indent="0">
              <a:buNone/>
            </a:pPr>
            <a:r>
              <a:rPr lang="en-US" b="1" dirty="0"/>
              <a:t>	&lt;div class="box box2"&gt;Two&lt;/div&gt; </a:t>
            </a:r>
          </a:p>
          <a:p>
            <a:pPr marL="400050" lvl="1" indent="0">
              <a:buNone/>
            </a:pPr>
            <a:r>
              <a:rPr lang="en-US" b="1" dirty="0"/>
              <a:t>	&lt;div class="box box3"&gt;Three&lt;/div&gt; </a:t>
            </a:r>
          </a:p>
          <a:p>
            <a:pPr marL="400050" lvl="1" indent="0">
              <a:buNone/>
            </a:pPr>
            <a:r>
              <a:rPr lang="en-US" b="1" dirty="0"/>
              <a:t>	&lt;div class="box box4"&gt;Four&lt;/div&gt; </a:t>
            </a:r>
          </a:p>
          <a:p>
            <a:pPr marL="400050" lvl="1" indent="0">
              <a:buNone/>
            </a:pPr>
            <a:r>
              <a:rPr lang="en-US" b="1" dirty="0"/>
              <a:t>	&lt;div class="box box5"&gt;Five&lt;/div&gt; </a:t>
            </a:r>
          </a:p>
          <a:p>
            <a:pPr marL="400050" lvl="1" indent="0">
              <a:buNone/>
            </a:pPr>
            <a:r>
              <a:rPr lang="en-US" b="1" dirty="0"/>
              <a:t>&lt;/div&gt;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788139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24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923925"/>
            <a:ext cx="7067550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2862909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C00000"/>
                </a:solidFill>
              </a:rPr>
              <a:t>background-color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Hex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C00000"/>
                </a:solidFill>
              </a:rPr>
              <a:t>background-image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URL(image.jpg)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C00000"/>
                </a:solidFill>
              </a:rPr>
              <a:t>background-repeat 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No-repeat, repeat-x, repeat-y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C00000"/>
                </a:solidFill>
              </a:rPr>
              <a:t>background-attachment 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Fixed, scroll				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C00000"/>
                </a:solidFill>
              </a:rPr>
              <a:t>background-position </a:t>
            </a:r>
          </a:p>
          <a:p>
            <a:pPr lvl="1">
              <a:lnSpc>
                <a:spcPct val="80000"/>
              </a:lnSpc>
            </a:pPr>
            <a:r>
              <a:rPr lang="en-US" b="1" dirty="0"/>
              <a:t>Top, left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en-US" b="1" dirty="0"/>
              <a:t>p { background-position: 70px 10px; background-repeat: repeat-y; background-image: </a:t>
            </a:r>
            <a:r>
              <a:rPr lang="en-US" b="1" dirty="0" err="1"/>
              <a:t>url</a:t>
            </a:r>
            <a:r>
              <a:rPr lang="en-US" b="1" dirty="0"/>
              <a:t>(background.gif) }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326486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26</a:t>
            </a:fld>
            <a:endParaRPr lang="en-IN"/>
          </a:p>
        </p:txBody>
      </p:sp>
      <p:pic>
        <p:nvPicPr>
          <p:cNvPr id="7" name="Picture 3" descr="FIG7-35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" t="20185" r="1028"/>
          <a:stretch/>
        </p:blipFill>
        <p:spPr>
          <a:xfrm>
            <a:off x="1402772" y="1129308"/>
            <a:ext cx="6553604" cy="401032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924437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</a:rPr>
              <a:t>top - </a:t>
            </a:r>
            <a:r>
              <a:rPr lang="en-US" b="1" dirty="0"/>
              <a:t>&lt;length&gt;, &lt;percentage&gt;, auto 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</a:rPr>
              <a:t>bottom - </a:t>
            </a:r>
            <a:r>
              <a:rPr lang="en-US" b="1" dirty="0"/>
              <a:t>&lt;length&gt;, &lt;percentage&gt;, auto 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</a:rPr>
              <a:t>left - </a:t>
            </a:r>
            <a:r>
              <a:rPr lang="en-US" b="1" dirty="0"/>
              <a:t>&lt;length&gt;, &lt;percentage&gt;, auto 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</a:rPr>
              <a:t>right - </a:t>
            </a:r>
            <a:r>
              <a:rPr lang="en-US" b="1" dirty="0"/>
              <a:t>&lt;length&gt;, &lt;percentage&gt;, auto </a:t>
            </a:r>
          </a:p>
          <a:p>
            <a:pPr>
              <a:lnSpc>
                <a:spcPct val="90000"/>
              </a:lnSpc>
            </a:pPr>
            <a:endParaRPr lang="en-US" b="1" dirty="0"/>
          </a:p>
          <a:p>
            <a:endParaRPr lang="en-US" b="1" dirty="0"/>
          </a:p>
          <a:p>
            <a:r>
              <a:rPr lang="en-US" b="1" dirty="0"/>
              <a:t>Upper left corner corresponds to </a:t>
            </a:r>
            <a:r>
              <a:rPr lang="en-US" b="1" dirty="0">
                <a:solidFill>
                  <a:srgbClr val="C00000"/>
                </a:solidFill>
              </a:rPr>
              <a:t>(0,0)</a:t>
            </a:r>
          </a:p>
          <a:p>
            <a:endParaRPr lang="en-US" b="1" dirty="0"/>
          </a:p>
          <a:p>
            <a:r>
              <a:rPr lang="en-US" b="1" dirty="0"/>
              <a:t>The value of top, bottom, right, left </a:t>
            </a:r>
            <a:br>
              <a:rPr lang="en-US" b="1" dirty="0"/>
            </a:br>
            <a:r>
              <a:rPr lang="en-US" b="1" dirty="0"/>
              <a:t>can be expressed in: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Length</a:t>
            </a:r>
            <a:r>
              <a:rPr lang="en-US" b="1" dirty="0"/>
              <a:t> (measured in </a:t>
            </a:r>
            <a:r>
              <a:rPr lang="en-US" b="1" dirty="0" err="1"/>
              <a:t>px</a:t>
            </a:r>
            <a:r>
              <a:rPr lang="en-US" b="1" dirty="0"/>
              <a:t>, </a:t>
            </a:r>
            <a:r>
              <a:rPr lang="en-US" b="1" dirty="0" err="1"/>
              <a:t>em</a:t>
            </a:r>
            <a:r>
              <a:rPr lang="en-US" b="1" dirty="0"/>
              <a:t>, etc…)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Percentage</a:t>
            </a:r>
            <a:r>
              <a:rPr lang="en-US" b="1" dirty="0"/>
              <a:t> of the parent’s width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709927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</a:rPr>
              <a:t>Z-index - </a:t>
            </a:r>
            <a:r>
              <a:rPr lang="en-US" b="1" dirty="0"/>
              <a:t>&lt;number&gt;, auto </a:t>
            </a:r>
          </a:p>
          <a:p>
            <a:endParaRPr lang="en-US" b="1" dirty="0"/>
          </a:p>
          <a:p>
            <a:r>
              <a:rPr lang="en-US" b="1" dirty="0"/>
              <a:t>stacking order is called the </a:t>
            </a:r>
            <a:r>
              <a:rPr lang="en-US" b="1" dirty="0">
                <a:solidFill>
                  <a:srgbClr val="CC0000"/>
                </a:solidFill>
              </a:rPr>
              <a:t>z-index.</a:t>
            </a:r>
          </a:p>
          <a:p>
            <a:endParaRPr lang="en-US" b="1" dirty="0">
              <a:solidFill>
                <a:srgbClr val="CC0000"/>
              </a:solidFill>
            </a:endParaRPr>
          </a:p>
          <a:p>
            <a:r>
              <a:rPr lang="en-US" b="1" dirty="0"/>
              <a:t>If elements overlap each other, </a:t>
            </a:r>
            <a:r>
              <a:rPr lang="en-US" b="1" dirty="0">
                <a:solidFill>
                  <a:srgbClr val="CC0000"/>
                </a:solidFill>
              </a:rPr>
              <a:t>the one with the higher z-index appears on top.</a:t>
            </a:r>
          </a:p>
          <a:p>
            <a:endParaRPr lang="en-US" b="1" dirty="0">
              <a:solidFill>
                <a:srgbClr val="CC0000"/>
              </a:solidFill>
            </a:endParaRPr>
          </a:p>
          <a:p>
            <a:r>
              <a:rPr lang="en-US" b="1" dirty="0"/>
              <a:t>Example:</a:t>
            </a:r>
          </a:p>
          <a:p>
            <a:pPr lvl="1">
              <a:buFontTx/>
              <a:buNone/>
            </a:pPr>
            <a:r>
              <a:rPr lang="en-US" b="1" dirty="0"/>
              <a:t>.</a:t>
            </a:r>
            <a:r>
              <a:rPr lang="en-US" b="1" dirty="0" err="1"/>
              <a:t>topElement</a:t>
            </a:r>
            <a:r>
              <a:rPr lang="en-US" b="1" dirty="0"/>
              <a:t> {position: absolute; </a:t>
            </a:r>
            <a:r>
              <a:rPr lang="en-US" b="1" dirty="0">
                <a:solidFill>
                  <a:srgbClr val="CC0000"/>
                </a:solidFill>
              </a:rPr>
              <a:t>z-index=2</a:t>
            </a:r>
            <a:r>
              <a:rPr lang="en-US" b="1" dirty="0"/>
              <a:t>; top:0px; left:0px; font-size:36pt; </a:t>
            </a:r>
            <a:r>
              <a:rPr lang="en-US" b="1" dirty="0" err="1"/>
              <a:t>color:red</a:t>
            </a:r>
            <a:r>
              <a:rPr lang="en-US" b="1" dirty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785069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 </a:t>
            </a:r>
            <a:r>
              <a:rPr lang="en-US" b="1" dirty="0">
                <a:solidFill>
                  <a:srgbClr val="C00000"/>
                </a:solidFill>
              </a:rPr>
              <a:t>position</a:t>
            </a:r>
            <a:r>
              <a:rPr lang="en-US" b="1" dirty="0"/>
              <a:t> property specifies the type of positioning method used for an element.</a:t>
            </a:r>
          </a:p>
          <a:p>
            <a:r>
              <a:rPr lang="en-US" b="1" dirty="0"/>
              <a:t>The position property can take five different values: </a:t>
            </a:r>
          </a:p>
          <a:p>
            <a:pPr lvl="1"/>
            <a:r>
              <a:rPr lang="en-US" b="1" dirty="0"/>
              <a:t>static, </a:t>
            </a:r>
          </a:p>
          <a:p>
            <a:pPr lvl="1"/>
            <a:r>
              <a:rPr lang="en-US" b="1" dirty="0"/>
              <a:t>relative, </a:t>
            </a:r>
          </a:p>
          <a:p>
            <a:pPr lvl="1"/>
            <a:r>
              <a:rPr lang="en-US" b="1" dirty="0"/>
              <a:t>absolute,</a:t>
            </a:r>
          </a:p>
          <a:p>
            <a:pPr lvl="1"/>
            <a:r>
              <a:rPr lang="en-US" b="1" dirty="0"/>
              <a:t>fixed, and </a:t>
            </a:r>
          </a:p>
          <a:p>
            <a:pPr lvl="1"/>
            <a:r>
              <a:rPr lang="en-US" b="1" dirty="0"/>
              <a:t>sticky.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862424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static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Position: static is the</a:t>
            </a:r>
            <a:r>
              <a:rPr lang="en-US" b="1" dirty="0">
                <a:solidFill>
                  <a:srgbClr val="C00000"/>
                </a:solidFill>
              </a:rPr>
              <a:t> default </a:t>
            </a:r>
            <a:r>
              <a:rPr lang="en-US" b="1" dirty="0"/>
              <a:t>value that an element will have. </a:t>
            </a:r>
          </a:p>
          <a:p>
            <a:endParaRPr lang="en-US" b="1" dirty="0"/>
          </a:p>
          <a:p>
            <a:r>
              <a:rPr lang="en-US" b="1" dirty="0"/>
              <a:t>Elements that are statically positioned will appear on the page in what we call the </a:t>
            </a:r>
            <a:r>
              <a:rPr lang="en-US" b="1" dirty="0">
                <a:solidFill>
                  <a:srgbClr val="C00000"/>
                </a:solidFill>
              </a:rPr>
              <a:t>normal flow</a:t>
            </a:r>
            <a:r>
              <a:rPr lang="en-US" b="1" dirty="0"/>
              <a:t>. </a:t>
            </a:r>
          </a:p>
          <a:p>
            <a:endParaRPr lang="en-US" b="1" dirty="0"/>
          </a:p>
          <a:p>
            <a:r>
              <a:rPr lang="en-US" b="1" dirty="0"/>
              <a:t>For example, if you have </a:t>
            </a:r>
            <a:r>
              <a:rPr lang="en-US" b="1" dirty="0">
                <a:solidFill>
                  <a:srgbClr val="C00000"/>
                </a:solidFill>
              </a:rPr>
              <a:t>multiple &lt;div&gt; elements </a:t>
            </a:r>
            <a:r>
              <a:rPr lang="en-US" b="1" dirty="0"/>
              <a:t>one after the other, they will appear on the page </a:t>
            </a:r>
            <a:r>
              <a:rPr lang="en-US" b="1" dirty="0">
                <a:solidFill>
                  <a:srgbClr val="C00000"/>
                </a:solidFill>
              </a:rPr>
              <a:t>directly below one another.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/>
              <a:t>The </a:t>
            </a:r>
            <a:r>
              <a:rPr lang="en-US" b="1" dirty="0">
                <a:solidFill>
                  <a:srgbClr val="C00000"/>
                </a:solidFill>
              </a:rPr>
              <a:t>&lt;figure&gt; tag </a:t>
            </a:r>
            <a:r>
              <a:rPr lang="en-US" b="1" dirty="0"/>
              <a:t>specifies self-contained content, like illustrations, diagrams, photos, code listings, etc.</a:t>
            </a: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/>
              <a:t>	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723214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static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31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US" b="1" dirty="0"/>
              <a:t>&lt;div class="box-set"&gt;</a:t>
            </a:r>
          </a:p>
          <a:p>
            <a:pPr marL="400050" lvl="1" indent="0">
              <a:buNone/>
            </a:pPr>
            <a:r>
              <a:rPr lang="en-US" b="1" dirty="0"/>
              <a:t>  &lt;figure class="box"&gt;Box 1&lt;/figure&gt;</a:t>
            </a:r>
          </a:p>
          <a:p>
            <a:pPr marL="400050" lvl="1" indent="0">
              <a:buNone/>
            </a:pPr>
            <a:r>
              <a:rPr lang="en-US" b="1" dirty="0"/>
              <a:t>  &lt;figure class="box"&gt;Box 2&lt;/figure&gt;</a:t>
            </a:r>
          </a:p>
          <a:p>
            <a:pPr marL="400050" lvl="1" indent="0">
              <a:buNone/>
            </a:pPr>
            <a:r>
              <a:rPr lang="en-US" b="1" dirty="0"/>
              <a:t>  &lt;figure class="box"&gt;Box 3&lt;/figure&gt;</a:t>
            </a:r>
          </a:p>
          <a:p>
            <a:pPr marL="400050" lvl="1" indent="0">
              <a:buNone/>
            </a:pPr>
            <a:r>
              <a:rPr lang="en-US" b="1" dirty="0"/>
              <a:t>&lt;/div&gt;</a:t>
            </a:r>
          </a:p>
          <a:p>
            <a:pPr marL="400050" lvl="1" indent="0">
              <a:buNone/>
            </a:pPr>
            <a:endParaRPr lang="en-US" b="1" dirty="0"/>
          </a:p>
          <a:p>
            <a:pPr marL="400050" lvl="1" indent="0">
              <a:buNone/>
            </a:pPr>
            <a:r>
              <a:rPr lang="en-US" dirty="0"/>
              <a:t>.</a:t>
            </a:r>
            <a:r>
              <a:rPr lang="en-US" b="1" dirty="0"/>
              <a:t>box-set {   background: #</a:t>
            </a:r>
            <a:r>
              <a:rPr lang="en-US" b="1" dirty="0" err="1"/>
              <a:t>eaeaed</a:t>
            </a:r>
            <a:r>
              <a:rPr lang="en-US" b="1" dirty="0"/>
              <a:t>; } </a:t>
            </a:r>
          </a:p>
          <a:p>
            <a:pPr marL="400050" lvl="1" indent="0">
              <a:buNone/>
            </a:pPr>
            <a:r>
              <a:rPr lang="en-US" b="1" dirty="0"/>
              <a:t>.box {</a:t>
            </a:r>
          </a:p>
          <a:p>
            <a:pPr marL="400050" lvl="1" indent="0">
              <a:buNone/>
            </a:pPr>
            <a:r>
              <a:rPr lang="en-US" b="1" dirty="0"/>
              <a:t>  background: #2db34a;</a:t>
            </a:r>
          </a:p>
          <a:p>
            <a:pPr marL="400050" lvl="1" indent="0">
              <a:buNone/>
            </a:pPr>
            <a:r>
              <a:rPr lang="en-US" b="1" dirty="0"/>
              <a:t>  height: 1.85%;</a:t>
            </a:r>
          </a:p>
          <a:p>
            <a:pPr marL="400050" lvl="1" indent="0">
              <a:buNone/>
            </a:pPr>
            <a:r>
              <a:rPr lang="en-US" b="1" dirty="0"/>
              <a:t>  width: 29.62%;</a:t>
            </a:r>
          </a:p>
          <a:p>
            <a:pPr marL="400050" lvl="1" indent="0">
              <a:buNone/>
            </a:pPr>
            <a:r>
              <a:rPr lang="en-US" b="1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604538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static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32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057300"/>
            <a:ext cx="5976664" cy="402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5418334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relative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Position: relative is similar to static in that </a:t>
            </a:r>
            <a:r>
              <a:rPr lang="en-US" b="1" dirty="0">
                <a:solidFill>
                  <a:srgbClr val="C00000"/>
                </a:solidFill>
              </a:rPr>
              <a:t>relatively positioned elements</a:t>
            </a:r>
            <a:r>
              <a:rPr lang="en-US" b="1" dirty="0"/>
              <a:t> will follow the normal flow of the webpage. 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&lt;div class=“first purple"&gt;&lt;/div&gt;</a:t>
            </a:r>
          </a:p>
          <a:p>
            <a:pPr marL="0" indent="0">
              <a:buNone/>
            </a:pPr>
            <a:r>
              <a:rPr lang="en-US" b="1" dirty="0"/>
              <a:t>	&lt;div class="another green"&gt;&lt;/div&gt;</a:t>
            </a:r>
          </a:p>
          <a:p>
            <a:pPr marL="0" indent="0">
              <a:buNone/>
            </a:pPr>
            <a:endParaRPr lang="en-US" b="1" dirty="0"/>
          </a:p>
          <a:p>
            <a:pPr marL="800100" lvl="2" indent="0">
              <a:buNone/>
            </a:pPr>
            <a:r>
              <a:rPr lang="en-US" b="1" dirty="0"/>
              <a:t>.first { position: static; } </a:t>
            </a:r>
          </a:p>
          <a:p>
            <a:pPr marL="800100" lvl="2" indent="0">
              <a:buNone/>
            </a:pPr>
            <a:r>
              <a:rPr lang="en-US" b="1" dirty="0"/>
              <a:t>.another { position: relative; top: 50px;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33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337006"/>
            <a:ext cx="2945904" cy="17049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284176"/>
            <a:ext cx="3515544" cy="175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35502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relative (Parent – Child)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US" b="1" dirty="0"/>
              <a:t>&lt;div class="parent purple"&gt; </a:t>
            </a:r>
          </a:p>
          <a:p>
            <a:pPr marL="400050" lvl="1" indent="0">
              <a:buNone/>
            </a:pPr>
            <a:r>
              <a:rPr lang="en-US" b="1" dirty="0"/>
              <a:t>&lt;div class="child magenta"&gt;&lt;/div&gt;</a:t>
            </a:r>
          </a:p>
          <a:p>
            <a:pPr marL="400050" lvl="1" indent="0">
              <a:buNone/>
            </a:pPr>
            <a:r>
              <a:rPr lang="en-US" b="1" dirty="0"/>
              <a:t> &lt;/div&gt;</a:t>
            </a:r>
          </a:p>
          <a:p>
            <a:pPr marL="400050" lvl="1" indent="0">
              <a:buNone/>
            </a:pPr>
            <a:r>
              <a:rPr lang="en-US" b="1" dirty="0"/>
              <a:t>.parent { position: relative; } </a:t>
            </a:r>
          </a:p>
          <a:p>
            <a:pPr marL="400050" lvl="1" indent="0">
              <a:buNone/>
            </a:pPr>
            <a:r>
              <a:rPr lang="en-US" b="1" dirty="0"/>
              <a:t>.child { position: relative; top: 0px; left: 0px;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34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015675"/>
            <a:ext cx="5112568" cy="203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83688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absolute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Position: absolute</a:t>
            </a:r>
            <a:r>
              <a:rPr lang="en-US" b="1" dirty="0"/>
              <a:t> will cause an element to be taken out of that normal flow of the webpage. </a:t>
            </a:r>
          </a:p>
          <a:p>
            <a:pPr marL="400050" lvl="1" indent="0">
              <a:buNone/>
            </a:pPr>
            <a:r>
              <a:rPr lang="en-US" b="1" dirty="0"/>
              <a:t>&lt;div class="parent purple"&gt; </a:t>
            </a:r>
          </a:p>
          <a:p>
            <a:pPr marL="400050" lvl="1" indent="0">
              <a:buNone/>
            </a:pPr>
            <a:r>
              <a:rPr lang="en-US" b="1" dirty="0"/>
              <a:t>&lt;div class="child magenta"&gt;&lt;/div&gt;</a:t>
            </a:r>
          </a:p>
          <a:p>
            <a:pPr marL="400050" lvl="1" indent="0">
              <a:buNone/>
            </a:pPr>
            <a:r>
              <a:rPr lang="en-US" b="1" dirty="0"/>
              <a:t> &lt;/div&gt;</a:t>
            </a:r>
          </a:p>
          <a:p>
            <a:pPr marL="400050" lvl="1" indent="0">
              <a:buNone/>
            </a:pPr>
            <a:r>
              <a:rPr lang="en-US" b="1" dirty="0"/>
              <a:t>.parent { position: relative; } </a:t>
            </a:r>
          </a:p>
          <a:p>
            <a:pPr marL="400050" lvl="1" indent="0">
              <a:buNone/>
            </a:pPr>
            <a:r>
              <a:rPr lang="en-US" b="1" dirty="0"/>
              <a:t>.child { position: absolute; top: 0px; left: 0px; }</a:t>
            </a:r>
          </a:p>
          <a:p>
            <a:pPr marL="400050" lvl="1" indent="0">
              <a:buNone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35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433564"/>
            <a:ext cx="5610200" cy="161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692177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absolute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When you take an element out of the normal flow by using position: absolute, it will look for an </a:t>
            </a:r>
            <a:r>
              <a:rPr lang="en-US" b="1" dirty="0">
                <a:solidFill>
                  <a:srgbClr val="C00000"/>
                </a:solidFill>
              </a:rPr>
              <a:t>ancestor element </a:t>
            </a:r>
            <a:r>
              <a:rPr lang="en-US" b="1" dirty="0"/>
              <a:t>that has its own position set. This is so the child knows what element it should position itself in </a:t>
            </a:r>
            <a:r>
              <a:rPr lang="en-US" b="1" dirty="0">
                <a:solidFill>
                  <a:srgbClr val="C00000"/>
                </a:solidFill>
              </a:rPr>
              <a:t>relation to</a:t>
            </a:r>
            <a:r>
              <a:rPr lang="en-US" b="1" dirty="0"/>
              <a:t>.</a:t>
            </a:r>
          </a:p>
          <a:p>
            <a:r>
              <a:rPr lang="en-US" b="1" dirty="0"/>
              <a:t>So what happens if a child element is absolutely positioned, but the parent element doesn’t have a position set?</a:t>
            </a:r>
          </a:p>
          <a:p>
            <a:pPr marL="400050" lvl="1" indent="0">
              <a:buNone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36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289549"/>
            <a:ext cx="4007401" cy="11521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3326617"/>
            <a:ext cx="3792913" cy="104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1495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absolute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2" indent="0">
              <a:buNone/>
            </a:pPr>
            <a:r>
              <a:rPr lang="en-US" b="1" dirty="0"/>
              <a:t>.parent { // No position set, so it's static } </a:t>
            </a:r>
          </a:p>
          <a:p>
            <a:pPr marL="800100" lvl="2" indent="0">
              <a:buNone/>
            </a:pPr>
            <a:r>
              <a:rPr lang="en-US" b="1" dirty="0"/>
              <a:t>.child { position: absolute; top: 0px; left: 0px; }</a:t>
            </a:r>
          </a:p>
          <a:p>
            <a:pPr marL="800100" lvl="2" indent="0">
              <a:buNone/>
            </a:pPr>
            <a:endParaRPr lang="en-US" b="1" dirty="0"/>
          </a:p>
          <a:p>
            <a:pPr marL="285750"/>
            <a:r>
              <a:rPr lang="en-US" b="1" dirty="0"/>
              <a:t>The child has now </a:t>
            </a:r>
            <a:r>
              <a:rPr lang="en-US" b="1" dirty="0">
                <a:solidFill>
                  <a:srgbClr val="C00000"/>
                </a:solidFill>
              </a:rPr>
              <a:t>escaped the confines of the parent element</a:t>
            </a:r>
            <a:r>
              <a:rPr lang="en-US" b="1" dirty="0"/>
              <a:t>, since the parent has </a:t>
            </a:r>
            <a:r>
              <a:rPr lang="en-US" b="1" dirty="0">
                <a:solidFill>
                  <a:srgbClr val="C00000"/>
                </a:solidFill>
              </a:rPr>
              <a:t>no position set</a:t>
            </a:r>
            <a:r>
              <a:rPr lang="en-US" b="1" dirty="0"/>
              <a:t>. And the child has gone up to </a:t>
            </a:r>
            <a:r>
              <a:rPr lang="en-US" b="1" dirty="0">
                <a:solidFill>
                  <a:srgbClr val="C00000"/>
                </a:solidFill>
              </a:rPr>
              <a:t>the next (grand)parent element</a:t>
            </a:r>
            <a:r>
              <a:rPr lang="en-US" b="1" dirty="0"/>
              <a:t>, in this case the &lt;body&gt; element, which is as far as it can go.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962766"/>
      </p:ext>
    </p:extLst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fixed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Position: fixed</a:t>
            </a:r>
            <a:r>
              <a:rPr lang="en-US" b="1" dirty="0"/>
              <a:t> will take the element out of the normal flow, and also position it in the </a:t>
            </a:r>
            <a:r>
              <a:rPr lang="en-US" b="1" dirty="0">
                <a:solidFill>
                  <a:srgbClr val="C00000"/>
                </a:solidFill>
              </a:rPr>
              <a:t>same place in the viewport </a:t>
            </a:r>
            <a:r>
              <a:rPr lang="en-US" b="1" dirty="0"/>
              <a:t>(what’s visible on screen).</a:t>
            </a:r>
          </a:p>
          <a:p>
            <a:r>
              <a:rPr lang="en-US" b="1" dirty="0"/>
              <a:t>This means that </a:t>
            </a:r>
            <a:r>
              <a:rPr lang="en-US" b="1" dirty="0">
                <a:solidFill>
                  <a:srgbClr val="C00000"/>
                </a:solidFill>
              </a:rPr>
              <a:t>scrolling will not affect </a:t>
            </a:r>
            <a:r>
              <a:rPr lang="en-US" b="1" dirty="0"/>
              <a:t>its position at all.</a:t>
            </a:r>
          </a:p>
          <a:p>
            <a:endParaRPr lang="en-US" b="1" dirty="0"/>
          </a:p>
          <a:p>
            <a:pPr marL="400050" lvl="1" indent="0">
              <a:buNone/>
            </a:pPr>
            <a:r>
              <a:rPr lang="en-US" b="1" dirty="0"/>
              <a:t>&lt;div class="first purple"&gt; </a:t>
            </a:r>
            <a:r>
              <a:rPr lang="en-US" b="1" dirty="0" err="1"/>
              <a:t>Lorem</a:t>
            </a:r>
            <a:r>
              <a:rPr lang="en-US" b="1" dirty="0"/>
              <a:t> </a:t>
            </a:r>
            <a:r>
              <a:rPr lang="en-US" b="1" dirty="0" err="1"/>
              <a:t>ipsum</a:t>
            </a:r>
            <a:r>
              <a:rPr lang="en-US" b="1" dirty="0"/>
              <a:t> dolor sit </a:t>
            </a:r>
            <a:r>
              <a:rPr lang="en-US" b="1" dirty="0" err="1"/>
              <a:t>amet</a:t>
            </a:r>
            <a:r>
              <a:rPr lang="en-US" b="1" dirty="0"/>
              <a:t>, </a:t>
            </a:r>
            <a:r>
              <a:rPr lang="en-US" b="1" dirty="0" err="1"/>
              <a:t>consectetur</a:t>
            </a:r>
            <a:r>
              <a:rPr lang="en-US" b="1" dirty="0"/>
              <a:t> </a:t>
            </a:r>
            <a:r>
              <a:rPr lang="en-US" b="1" dirty="0" err="1"/>
              <a:t>adipiscing</a:t>
            </a:r>
            <a:r>
              <a:rPr lang="en-US" b="1" dirty="0"/>
              <a:t> </a:t>
            </a:r>
            <a:r>
              <a:rPr lang="en-US" b="1" dirty="0" err="1"/>
              <a:t>elit</a:t>
            </a:r>
            <a:r>
              <a:rPr lang="en-US" b="1" dirty="0"/>
              <a:t>.... &lt;/div&gt; </a:t>
            </a:r>
          </a:p>
          <a:p>
            <a:pPr marL="400050" lvl="1" indent="0">
              <a:buNone/>
            </a:pPr>
            <a:r>
              <a:rPr lang="en-US" b="1" dirty="0"/>
              <a:t>&lt;div class="another green"&gt;&lt;/div&gt;</a:t>
            </a:r>
          </a:p>
          <a:p>
            <a:pPr marL="400050" lvl="1" indent="0">
              <a:buNone/>
            </a:pPr>
            <a:endParaRPr lang="en-US" b="1" dirty="0"/>
          </a:p>
          <a:p>
            <a:pPr marL="400050" lvl="1" indent="0">
              <a:buNone/>
            </a:pPr>
            <a:r>
              <a:rPr lang="en-US" b="1" dirty="0"/>
              <a:t>.first { position: relative; } </a:t>
            </a:r>
          </a:p>
          <a:p>
            <a:pPr marL="400050" lvl="1" indent="0">
              <a:buNone/>
            </a:pPr>
            <a:r>
              <a:rPr lang="en-US" b="1" dirty="0"/>
              <a:t>.another { position: fixed; top: 0px; left: 0px;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631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fixed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green fixed element will stay positioned to </a:t>
            </a:r>
            <a:r>
              <a:rPr lang="en-US" b="1" dirty="0">
                <a:solidFill>
                  <a:srgbClr val="C00000"/>
                </a:solidFill>
              </a:rPr>
              <a:t>the top and left corner of the viewport.</a:t>
            </a:r>
          </a:p>
          <a:p>
            <a:r>
              <a:rPr lang="en-US" b="1" dirty="0"/>
              <a:t> And if you scroll, the purple element will scroll up normally, but the </a:t>
            </a:r>
            <a:r>
              <a:rPr lang="en-US" b="1" dirty="0">
                <a:solidFill>
                  <a:srgbClr val="C00000"/>
                </a:solidFill>
              </a:rPr>
              <a:t>green element will remain stuck </a:t>
            </a:r>
            <a:r>
              <a:rPr lang="en-US" b="1" dirty="0"/>
              <a:t>to where we positioned 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39</a:t>
            </a:fld>
            <a:endParaRPr lang="en-IN"/>
          </a:p>
        </p:txBody>
      </p:sp>
      <p:pic>
        <p:nvPicPr>
          <p:cNvPr id="7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96521" y="2217290"/>
            <a:ext cx="4231663" cy="2888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11960532"/>
      </p:ext>
    </p:extLst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sticky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Position: sticky</a:t>
            </a:r>
            <a:r>
              <a:rPr lang="en-US" b="1" dirty="0"/>
              <a:t> elements will initially behave like position: relative elements, but if you keep scrolling, they will get taken out of the normal flow and behave like </a:t>
            </a:r>
            <a:r>
              <a:rPr lang="en-US" b="1" dirty="0">
                <a:solidFill>
                  <a:srgbClr val="C00000"/>
                </a:solidFill>
              </a:rPr>
              <a:t>position: fixed wherever you have positioned</a:t>
            </a:r>
            <a:r>
              <a:rPr lang="en-US" b="1" dirty="0"/>
              <a:t> them.</a:t>
            </a:r>
          </a:p>
          <a:p>
            <a:endParaRPr lang="en-US" b="1" dirty="0"/>
          </a:p>
          <a:p>
            <a:pPr marL="400050" lvl="1" indent="0">
              <a:buNone/>
            </a:pPr>
            <a:r>
              <a:rPr lang="en-US" b="1" dirty="0"/>
              <a:t>&lt;div class="first purple"&gt; </a:t>
            </a:r>
            <a:r>
              <a:rPr lang="en-US" b="1" dirty="0" err="1"/>
              <a:t>Lorem</a:t>
            </a:r>
            <a:r>
              <a:rPr lang="en-US" b="1" dirty="0"/>
              <a:t> </a:t>
            </a:r>
            <a:r>
              <a:rPr lang="en-US" b="1" dirty="0" err="1"/>
              <a:t>ipsum</a:t>
            </a:r>
            <a:r>
              <a:rPr lang="en-US" b="1" dirty="0"/>
              <a:t> dolor sit </a:t>
            </a:r>
            <a:r>
              <a:rPr lang="en-US" b="1" dirty="0" err="1"/>
              <a:t>amet</a:t>
            </a:r>
            <a:r>
              <a:rPr lang="en-US" b="1" dirty="0"/>
              <a:t>, </a:t>
            </a:r>
            <a:r>
              <a:rPr lang="en-US" b="1" dirty="0" err="1"/>
              <a:t>consectetur</a:t>
            </a:r>
            <a:r>
              <a:rPr lang="en-US" b="1" dirty="0"/>
              <a:t> </a:t>
            </a:r>
            <a:r>
              <a:rPr lang="en-US" b="1" dirty="0" err="1"/>
              <a:t>adipiscing</a:t>
            </a:r>
            <a:r>
              <a:rPr lang="en-US" b="1" dirty="0"/>
              <a:t> </a:t>
            </a:r>
            <a:r>
              <a:rPr lang="en-US" b="1" dirty="0" err="1"/>
              <a:t>elit</a:t>
            </a:r>
            <a:r>
              <a:rPr lang="en-US" b="1" dirty="0"/>
              <a:t>.... &lt;/div&gt; </a:t>
            </a:r>
          </a:p>
          <a:p>
            <a:pPr marL="400050" lvl="1" indent="0">
              <a:buNone/>
            </a:pPr>
            <a:r>
              <a:rPr lang="en-US" b="1" dirty="0"/>
              <a:t>&lt;div class="another green"&gt;&lt;/div&gt; </a:t>
            </a:r>
          </a:p>
          <a:p>
            <a:pPr marL="400050" lvl="1" indent="0">
              <a:buNone/>
            </a:pPr>
            <a:endParaRPr lang="en-US" b="1" dirty="0"/>
          </a:p>
          <a:p>
            <a:pPr marL="400050" lvl="1" indent="0">
              <a:buNone/>
            </a:pPr>
            <a:r>
              <a:rPr lang="en-US" b="1" dirty="0"/>
              <a:t>.first { position: relative; }</a:t>
            </a:r>
          </a:p>
          <a:p>
            <a:pPr marL="400050" lvl="1" indent="0">
              <a:buNone/>
            </a:pPr>
            <a:r>
              <a:rPr lang="en-US" b="1" dirty="0"/>
              <a:t> .another { position: sticky; top: 0px; 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246544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sticky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41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As you scroll down the page, when you see the </a:t>
            </a:r>
            <a:r>
              <a:rPr lang="en-US" b="1" dirty="0">
                <a:solidFill>
                  <a:srgbClr val="C00000"/>
                </a:solidFill>
              </a:rPr>
              <a:t>green element </a:t>
            </a:r>
            <a:r>
              <a:rPr lang="en-US" b="1" dirty="0"/>
              <a:t>come into the viewport, it seems like a normal, </a:t>
            </a:r>
            <a:r>
              <a:rPr lang="en-US" b="1" dirty="0">
                <a:solidFill>
                  <a:srgbClr val="C00000"/>
                </a:solidFill>
              </a:rPr>
              <a:t>relatively positioned element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r>
              <a:rPr lang="en-US" b="1" dirty="0"/>
              <a:t>But as you keep scrolling, instead of scrolling off the page, it will </a:t>
            </a:r>
            <a:r>
              <a:rPr lang="en-US" b="1" dirty="0">
                <a:solidFill>
                  <a:srgbClr val="C00000"/>
                </a:solidFill>
              </a:rPr>
              <a:t>become fixed </a:t>
            </a:r>
            <a:r>
              <a:rPr lang="en-US" b="1" dirty="0"/>
              <a:t>and stick to the top of the viewport.</a:t>
            </a:r>
          </a:p>
          <a:p>
            <a:endParaRPr lang="en-US" b="1" dirty="0"/>
          </a:p>
          <a:p>
            <a:r>
              <a:rPr lang="en-US" b="1" dirty="0"/>
              <a:t>Just like fixed elements, a sticky element must </a:t>
            </a:r>
            <a:r>
              <a:rPr lang="en-US" b="1" dirty="0">
                <a:solidFill>
                  <a:srgbClr val="C00000"/>
                </a:solidFill>
              </a:rPr>
              <a:t>have top or bottom set in the CSS</a:t>
            </a:r>
            <a:r>
              <a:rPr lang="en-US" b="1" dirty="0"/>
              <a:t>. </a:t>
            </a:r>
          </a:p>
          <a:p>
            <a:endParaRPr lang="en-US" b="1" dirty="0"/>
          </a:p>
          <a:p>
            <a:r>
              <a:rPr lang="en-US" b="1" dirty="0"/>
              <a:t>If it doesn’t have it, the element will </a:t>
            </a:r>
            <a:r>
              <a:rPr lang="en-US" b="1" dirty="0">
                <a:solidFill>
                  <a:srgbClr val="C00000"/>
                </a:solidFill>
              </a:rPr>
              <a:t>continue to behave as if it was relatively positioned</a:t>
            </a:r>
            <a:r>
              <a:rPr lang="en-US" b="1" dirty="0"/>
              <a:t>, and will never become sticky.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6834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 as sticky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42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129308"/>
            <a:ext cx="5574145" cy="387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89087"/>
      </p:ext>
    </p:extLst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B3187-9025-0AE6-0F86-668A2D998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D39CF-ABD5-9DA3-B1B1-E3C60CEB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27E8D-1FF2-5210-1266-51623A35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43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F65A40-7956-D364-2EB4-D6E247C9ED2E}"/>
              </a:ext>
            </a:extLst>
          </p:cNvPr>
          <p:cNvSpPr txBox="1"/>
          <p:nvPr/>
        </p:nvSpPr>
        <p:spPr>
          <a:xfrm>
            <a:off x="432743" y="488950"/>
            <a:ext cx="849694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FF0000"/>
                </a:solidFill>
                <a:effectLst/>
              </a:rPr>
              <a:t>CSS Margins: 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q"/>
            </a:pPr>
            <a:endParaRPr lang="en-US" b="1" i="0" dirty="0">
              <a:solidFill>
                <a:srgbClr val="FF000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CSS margin properties are used to create space around elements, outside of any defined borders.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Margins define the distance between an element's border and the surrounding elements.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With CSS, you have full control over the margins. CSS has properties for setting the margin for each individual side of an element (top, right, bottom, and left), and a shorthand property for setting all the margin properties in one declaration.</a:t>
            </a:r>
          </a:p>
        </p:txBody>
      </p:sp>
    </p:spTree>
    <p:extLst>
      <p:ext uri="{BB962C8B-B14F-4D97-AF65-F5344CB8AC3E}">
        <p14:creationId xmlns:p14="http://schemas.microsoft.com/office/powerpoint/2010/main" val="4137898025"/>
      </p:ext>
    </p:extLst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82295-D7C6-3875-9E43-419787303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FF400-FEDD-8728-0C78-CEA046AE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C9885-4F31-0443-8CEB-FF9D044C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44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E5F91-1255-A9E1-FB65-EE0E0A7EF8D8}"/>
              </a:ext>
            </a:extLst>
          </p:cNvPr>
          <p:cNvSpPr txBox="1"/>
          <p:nvPr/>
        </p:nvSpPr>
        <p:spPr>
          <a:xfrm>
            <a:off x="827584" y="703263"/>
            <a:ext cx="784810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CSS has properties for specifying the margin for each side of an element: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</a:rPr>
              <a:t>margin-top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sets the top margin of an element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</a:rPr>
              <a:t>margin-right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sets the right margin of an element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</a:rPr>
              <a:t>margin-bottom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sets the bottom margin of an element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</a:rPr>
              <a:t>margin-left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sets the left margin of an element</a:t>
            </a:r>
          </a:p>
          <a:p>
            <a:pPr lvl="3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All the margin properties can have the following values: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auto - the browser calculates the margin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000000"/>
                </a:solidFill>
                <a:effectLst/>
              </a:rPr>
              <a:t>length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specifies a margin in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px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 pt, cm, etc.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000000"/>
                </a:solidFill>
                <a:effectLst/>
              </a:rPr>
              <a:t>%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specifies a margin in % of the width of the containing element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inherit - specifies that the margin should be inherited from the parent element</a:t>
            </a:r>
          </a:p>
        </p:txBody>
      </p:sp>
    </p:spTree>
    <p:extLst>
      <p:ext uri="{BB962C8B-B14F-4D97-AF65-F5344CB8AC3E}">
        <p14:creationId xmlns:p14="http://schemas.microsoft.com/office/powerpoint/2010/main" val="1851984959"/>
      </p:ext>
    </p:extLst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E29DB-E8CC-8577-D28F-F7687754D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062BB-B777-122B-F019-D3A45C4C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9990-52DD-4143-6A3F-E4954050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45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5FED1-B52E-4466-462B-DEA0911D813B}"/>
              </a:ext>
            </a:extLst>
          </p:cNvPr>
          <p:cNvSpPr txBox="1"/>
          <p:nvPr/>
        </p:nvSpPr>
        <p:spPr>
          <a:xfrm>
            <a:off x="572493" y="416114"/>
            <a:ext cx="4752528" cy="529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&lt;!DOCTYPE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html</a:t>
            </a:r>
            <a:r>
              <a:rPr lang="en-IN" sz="1500" b="0" dirty="0">
                <a:solidFill>
                  <a:srgbClr val="800000"/>
                </a:solidFill>
                <a:effectLst/>
              </a:rPr>
              <a:t>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&lt;html&gt;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&lt;head&gt;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&lt;style&gt;</a:t>
            </a:r>
          </a:p>
          <a:p>
            <a:pPr>
              <a:lnSpc>
                <a:spcPts val="1425"/>
              </a:lnSpc>
              <a:buNone/>
            </a:pP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div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border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1px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</a:t>
            </a:r>
            <a:r>
              <a:rPr lang="en-IN" sz="1500" b="0" dirty="0">
                <a:solidFill>
                  <a:srgbClr val="0451A5"/>
                </a:solidFill>
                <a:effectLst/>
              </a:rPr>
              <a:t>solid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</a:t>
            </a:r>
            <a:r>
              <a:rPr lang="en-IN" sz="1500" b="0" dirty="0">
                <a:solidFill>
                  <a:srgbClr val="0451A5"/>
                </a:solidFill>
                <a:effectLst/>
              </a:rPr>
              <a:t>black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margin-top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100px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margin-bottom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100px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margin-right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800px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margin-left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300px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background-</a:t>
            </a:r>
            <a:r>
              <a:rPr lang="en-IN" sz="1500" b="0" dirty="0" err="1">
                <a:solidFill>
                  <a:srgbClr val="E50000"/>
                </a:solidFill>
                <a:effectLst/>
              </a:rPr>
              <a:t>color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 err="1">
                <a:solidFill>
                  <a:srgbClr val="0451A5"/>
                </a:solidFill>
                <a:effectLst/>
              </a:rPr>
              <a:t>lightblue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text-align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 err="1">
                <a:solidFill>
                  <a:srgbClr val="0451A5"/>
                </a:solidFill>
                <a:effectLst/>
              </a:rPr>
              <a:t>center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font-size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50px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&lt;/style&gt;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&lt;/head&gt;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&lt;body&gt;</a:t>
            </a:r>
            <a:br>
              <a:rPr lang="en-IN" sz="1500" b="0" dirty="0">
                <a:solidFill>
                  <a:srgbClr val="000000"/>
                </a:solidFill>
                <a:effectLst/>
              </a:rPr>
            </a:b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&lt;h2&gt;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Using individual margin properties</a:t>
            </a:r>
            <a:r>
              <a:rPr lang="en-IN" sz="1500" b="0" dirty="0">
                <a:solidFill>
                  <a:srgbClr val="800000"/>
                </a:solidFill>
                <a:effectLst/>
              </a:rPr>
              <a:t>&lt;/h2&gt;</a:t>
            </a:r>
            <a:br>
              <a:rPr lang="en-IN" sz="1500" b="0" dirty="0">
                <a:solidFill>
                  <a:srgbClr val="000000"/>
                </a:solidFill>
                <a:effectLst/>
              </a:rPr>
            </a:b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&lt;div&gt;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Hello World!</a:t>
            </a:r>
            <a:r>
              <a:rPr lang="en-IN" sz="1500" b="0" dirty="0">
                <a:solidFill>
                  <a:srgbClr val="800000"/>
                </a:solidFill>
                <a:effectLst/>
              </a:rPr>
              <a:t>&lt;/div&gt;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&lt;/body&gt;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&lt;/html&gt;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br>
              <a:rPr lang="en-IN" sz="1500" b="0" dirty="0">
                <a:solidFill>
                  <a:srgbClr val="000000"/>
                </a:solidFill>
                <a:effectLst/>
              </a:rPr>
            </a:br>
            <a:br>
              <a:rPr lang="en-IN" sz="1500" b="0" dirty="0">
                <a:solidFill>
                  <a:srgbClr val="000000"/>
                </a:solidFill>
                <a:effectLst/>
              </a:rPr>
            </a:br>
            <a:br>
              <a:rPr lang="en-IN" sz="1500" b="0" dirty="0">
                <a:solidFill>
                  <a:srgbClr val="000000"/>
                </a:solidFill>
                <a:effectLst/>
              </a:rPr>
            </a:br>
            <a:endParaRPr lang="en-IN" sz="1500" b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89D714-5503-3F0C-000D-6DD979CD0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409575"/>
            <a:ext cx="3135264" cy="20959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D32A5A-6136-51B7-728B-7442C13D82F3}"/>
              </a:ext>
            </a:extLst>
          </p:cNvPr>
          <p:cNvSpPr txBox="1"/>
          <p:nvPr/>
        </p:nvSpPr>
        <p:spPr>
          <a:xfrm>
            <a:off x="5436096" y="84127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Output: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0EA27-38A0-DD94-DFFE-149AF93624B9}"/>
              </a:ext>
            </a:extLst>
          </p:cNvPr>
          <p:cNvSpPr txBox="1"/>
          <p:nvPr/>
        </p:nvSpPr>
        <p:spPr>
          <a:xfrm>
            <a:off x="323528" y="89972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467838300"/>
      </p:ext>
    </p:extLst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0DC5A-EDD3-178E-C145-2AD7A134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A2F72-FADB-CCF8-E5CF-AD9D1B096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C5D80-B2F7-66B5-7222-7FBDAD0D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46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D58E9-E9E5-A282-AB6E-476BD9C7D41C}"/>
              </a:ext>
            </a:extLst>
          </p:cNvPr>
          <p:cNvSpPr txBox="1"/>
          <p:nvPr/>
        </p:nvSpPr>
        <p:spPr>
          <a:xfrm>
            <a:off x="755576" y="625252"/>
            <a:ext cx="7920112" cy="268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FF0000"/>
                </a:solidFill>
                <a:effectLst/>
              </a:rPr>
              <a:t>CSS Padding: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CSS padding properties are used to generate space around an element's content, inside of any defined borders.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With CSS, you have full control over the padding. 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There are properties for setting the padding for each side of an element (top, right, bottom, and left), and a shorthand property for setting all the padding properties in one declaration.</a:t>
            </a:r>
          </a:p>
        </p:txBody>
      </p:sp>
    </p:spTree>
    <p:extLst>
      <p:ext uri="{BB962C8B-B14F-4D97-AF65-F5344CB8AC3E}">
        <p14:creationId xmlns:p14="http://schemas.microsoft.com/office/powerpoint/2010/main" val="914999805"/>
      </p:ext>
    </p:extLst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00F5D-DDDB-9412-D5EA-97F0DF00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01318-CCAB-FF7D-9F4D-0149B762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35032-2463-B10C-D60E-A50BA999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94F41-32E7-B26E-F0E6-7FE4A7A11925}"/>
              </a:ext>
            </a:extLst>
          </p:cNvPr>
          <p:cNvSpPr txBox="1"/>
          <p:nvPr/>
        </p:nvSpPr>
        <p:spPr>
          <a:xfrm>
            <a:off x="539552" y="488950"/>
            <a:ext cx="80648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CSS has properties for specifying the padding for each side of an element: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</a:rPr>
              <a:t>padding-top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sets the top padding of an element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</a:rPr>
              <a:t>padding-right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sets the right padding of an element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</a:rPr>
              <a:t>padding-bottom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sets the bottom padding of an element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C143C"/>
                </a:solidFill>
                <a:effectLst/>
              </a:rPr>
              <a:t>padding-left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sets the left padding of an element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All the padding properties can have the following values: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000000"/>
                </a:solidFill>
                <a:effectLst/>
              </a:rPr>
              <a:t>length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specifies a padding in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px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 pt, cm, etc.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000000"/>
                </a:solidFill>
                <a:effectLst/>
              </a:rPr>
              <a:t>%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- specifies a padding in % of the width of the containing element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inherit - specifies that the padding should be inherited from the parent element</a:t>
            </a:r>
          </a:p>
        </p:txBody>
      </p:sp>
    </p:spTree>
    <p:extLst>
      <p:ext uri="{BB962C8B-B14F-4D97-AF65-F5344CB8AC3E}">
        <p14:creationId xmlns:p14="http://schemas.microsoft.com/office/powerpoint/2010/main" val="3670129347"/>
      </p:ext>
    </p:extLst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3F7C2-126F-F4F9-1BF2-57260036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11729-8957-C169-F9DF-938263594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D447A-0785-45C3-BE36-055DB85B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BC06E2-1A51-B4CB-5E48-AC7EBEB506D8}"/>
              </a:ext>
            </a:extLst>
          </p:cNvPr>
          <p:cNvSpPr txBox="1"/>
          <p:nvPr/>
        </p:nvSpPr>
        <p:spPr>
          <a:xfrm>
            <a:off x="395536" y="746665"/>
            <a:ext cx="4572000" cy="422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&lt;!DOCTYPE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html</a:t>
            </a:r>
            <a:r>
              <a:rPr lang="en-IN" sz="1500" b="0" dirty="0">
                <a:solidFill>
                  <a:srgbClr val="800000"/>
                </a:solidFill>
                <a:effectLst/>
              </a:rPr>
              <a:t>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&lt;html&gt;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&lt;head&gt;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&lt;style&gt;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div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border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1px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</a:t>
            </a:r>
            <a:r>
              <a:rPr lang="en-IN" sz="1500" b="0" dirty="0">
                <a:solidFill>
                  <a:srgbClr val="0451A5"/>
                </a:solidFill>
                <a:effectLst/>
              </a:rPr>
              <a:t>solid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</a:t>
            </a:r>
            <a:r>
              <a:rPr lang="en-IN" sz="1500" b="0" dirty="0">
                <a:solidFill>
                  <a:srgbClr val="0451A5"/>
                </a:solidFill>
                <a:effectLst/>
              </a:rPr>
              <a:t>black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padding-top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100px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padding-bottom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100px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padding-left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100px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padding-right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100px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background-</a:t>
            </a:r>
            <a:r>
              <a:rPr lang="en-IN" sz="1500" b="0" dirty="0" err="1">
                <a:solidFill>
                  <a:srgbClr val="E50000"/>
                </a:solidFill>
                <a:effectLst/>
              </a:rPr>
              <a:t>color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 err="1">
                <a:solidFill>
                  <a:srgbClr val="0451A5"/>
                </a:solidFill>
                <a:effectLst/>
              </a:rPr>
              <a:t>lightblue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text-align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 err="1">
                <a:solidFill>
                  <a:srgbClr val="0451A5"/>
                </a:solidFill>
                <a:effectLst/>
              </a:rPr>
              <a:t>center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  </a:t>
            </a:r>
            <a:r>
              <a:rPr lang="en-IN" sz="1500" b="0" dirty="0">
                <a:solidFill>
                  <a:srgbClr val="E50000"/>
                </a:solidFill>
                <a:effectLst/>
              </a:rPr>
              <a:t>font-size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: </a:t>
            </a:r>
            <a:r>
              <a:rPr lang="en-IN" sz="1500" b="0" dirty="0">
                <a:solidFill>
                  <a:srgbClr val="098658"/>
                </a:solidFill>
                <a:effectLst/>
              </a:rPr>
              <a:t>30px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000000"/>
                </a:solidFill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&lt;/style&gt;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&lt;/head&gt;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&lt;body&gt;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br>
              <a:rPr lang="en-IN" sz="1500" b="0" dirty="0">
                <a:solidFill>
                  <a:srgbClr val="000000"/>
                </a:solidFill>
                <a:effectLst/>
              </a:rPr>
            </a:br>
            <a:r>
              <a:rPr lang="en-IN" sz="1500" b="0" dirty="0">
                <a:solidFill>
                  <a:srgbClr val="800000"/>
                </a:solidFill>
                <a:effectLst/>
              </a:rPr>
              <a:t>&lt;h2&gt;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Using individual margin properties</a:t>
            </a:r>
            <a:r>
              <a:rPr lang="en-IN" sz="1500" b="0" dirty="0">
                <a:solidFill>
                  <a:srgbClr val="800000"/>
                </a:solidFill>
                <a:effectLst/>
              </a:rPr>
              <a:t>&lt;/h2&gt;</a:t>
            </a:r>
            <a:br>
              <a:rPr lang="en-IN" sz="1500" b="0" dirty="0">
                <a:solidFill>
                  <a:srgbClr val="000000"/>
                </a:solidFill>
                <a:effectLst/>
              </a:rPr>
            </a:b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&lt;div&gt;</a:t>
            </a:r>
            <a:r>
              <a:rPr lang="en-IN" sz="1500" b="0" dirty="0">
                <a:solidFill>
                  <a:srgbClr val="000000"/>
                </a:solidFill>
                <a:effectLst/>
              </a:rPr>
              <a:t> Hello World!</a:t>
            </a:r>
            <a:r>
              <a:rPr lang="en-IN" sz="1500" b="0" dirty="0">
                <a:solidFill>
                  <a:srgbClr val="800000"/>
                </a:solidFill>
                <a:effectLst/>
              </a:rPr>
              <a:t>&lt;/div&gt;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&lt;/body&gt;</a:t>
            </a:r>
            <a:endParaRPr lang="en-IN" sz="1500" b="0" dirty="0">
              <a:solidFill>
                <a:srgbClr val="000000"/>
              </a:solidFill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500" b="0" dirty="0">
                <a:solidFill>
                  <a:srgbClr val="800000"/>
                </a:solidFill>
                <a:effectLst/>
              </a:rPr>
              <a:t>&lt;/html&gt;</a:t>
            </a:r>
            <a:endParaRPr lang="en-IN" sz="1500" b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D4BD49-AF28-77BE-BEC3-17EFDD436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38" y="2569468"/>
            <a:ext cx="4862613" cy="12048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5E276D-B947-9A79-E16F-BA27D5D51773}"/>
              </a:ext>
            </a:extLst>
          </p:cNvPr>
          <p:cNvSpPr txBox="1"/>
          <p:nvPr/>
        </p:nvSpPr>
        <p:spPr>
          <a:xfrm>
            <a:off x="323528" y="32792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8CB7A4-E8D7-D0C9-B293-B0AA7B1EEBA0}"/>
              </a:ext>
            </a:extLst>
          </p:cNvPr>
          <p:cNvSpPr txBox="1"/>
          <p:nvPr/>
        </p:nvSpPr>
        <p:spPr>
          <a:xfrm>
            <a:off x="4105275" y="200771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743601478"/>
      </p:ext>
    </p:extLst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38C90-2422-9728-BC93-DFE757152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177AA-DB47-F0C0-B754-6E159C5A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70028-08BC-02EA-95BE-4CF768E8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49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74CB4-8DE4-80F6-DC43-0F6F0A7A2E79}"/>
              </a:ext>
            </a:extLst>
          </p:cNvPr>
          <p:cNvSpPr txBox="1"/>
          <p:nvPr/>
        </p:nvSpPr>
        <p:spPr>
          <a:xfrm>
            <a:off x="467544" y="409228"/>
            <a:ext cx="8424936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750"/>
              </a:spcBef>
              <a:spcAft>
                <a:spcPts val="750"/>
              </a:spcAft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FF0000"/>
                </a:solidFill>
                <a:effectLst/>
              </a:rPr>
              <a:t>CSS Box Model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In CSS, the term "box model" is used when talking about web design and layout.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CSS box model is essentially a box that wraps around every HTML element.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rgbClr val="000000"/>
                </a:solidFill>
                <a:effectLst/>
              </a:rPr>
              <a:t>Every box consists of four parts: content, padding, borders and margins.</a:t>
            </a:r>
          </a:p>
        </p:txBody>
      </p:sp>
    </p:spTree>
    <p:extLst>
      <p:ext uri="{BB962C8B-B14F-4D97-AF65-F5344CB8AC3E}">
        <p14:creationId xmlns:p14="http://schemas.microsoft.com/office/powerpoint/2010/main" val="3005039194"/>
      </p:ext>
    </p:extLst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A66D2-79BD-91C4-1699-3A288613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774709-785F-457C-9429-4E3DA889C601}" type="datetime3">
              <a:rPr lang="en-US" smtClean="0"/>
              <a:pPr>
                <a:defRPr/>
              </a:pPr>
              <a:t>17 January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0611B-BE7A-300D-507F-F90F944B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CSE4004 WT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25D6F-1B59-D8CD-89B6-9AFBB23A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16FC18-A483-43BC-83D0-C7F7814867AE}" type="slidenum">
              <a:rPr lang="en-IN" smtClean="0"/>
              <a:pPr>
                <a:defRPr/>
              </a:pPr>
              <a:t>50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7D5471-44E5-400B-C7FA-24F8B9C66F3F}"/>
              </a:ext>
            </a:extLst>
          </p:cNvPr>
          <p:cNvSpPr txBox="1"/>
          <p:nvPr/>
        </p:nvSpPr>
        <p:spPr>
          <a:xfrm>
            <a:off x="395536" y="387593"/>
            <a:ext cx="7992888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/>
              <a:t>&lt;!DOCTYPE html&gt;</a:t>
            </a:r>
          </a:p>
          <a:p>
            <a:r>
              <a:rPr lang="en-IN" sz="1500" dirty="0"/>
              <a:t>&lt;html&gt;</a:t>
            </a:r>
          </a:p>
          <a:p>
            <a:r>
              <a:rPr lang="en-IN" sz="1500" dirty="0"/>
              <a:t>&lt;head&gt;</a:t>
            </a:r>
          </a:p>
          <a:p>
            <a:r>
              <a:rPr lang="en-IN" sz="1500" dirty="0"/>
              <a:t>&lt;style&gt;</a:t>
            </a:r>
          </a:p>
          <a:p>
            <a:r>
              <a:rPr lang="en-IN" sz="1500" dirty="0"/>
              <a:t>div {</a:t>
            </a:r>
          </a:p>
          <a:p>
            <a:r>
              <a:rPr lang="en-IN" sz="1500" dirty="0"/>
              <a:t>  background-</a:t>
            </a:r>
            <a:r>
              <a:rPr lang="en-IN" sz="1500" dirty="0" err="1"/>
              <a:t>color</a:t>
            </a:r>
            <a:r>
              <a:rPr lang="en-IN" sz="1500" dirty="0"/>
              <a:t>: </a:t>
            </a:r>
            <a:r>
              <a:rPr lang="en-IN" sz="1500" dirty="0" err="1"/>
              <a:t>lightgrey</a:t>
            </a:r>
            <a:r>
              <a:rPr lang="en-IN" sz="1500" dirty="0"/>
              <a:t>;</a:t>
            </a:r>
          </a:p>
          <a:p>
            <a:r>
              <a:rPr lang="en-IN" sz="1500" dirty="0"/>
              <a:t>  width: 300px;</a:t>
            </a:r>
          </a:p>
          <a:p>
            <a:r>
              <a:rPr lang="en-IN" sz="1500" dirty="0"/>
              <a:t>  border: 15px solid green;</a:t>
            </a:r>
          </a:p>
          <a:p>
            <a:r>
              <a:rPr lang="en-IN" sz="1500" dirty="0"/>
              <a:t>  padding: 50px;</a:t>
            </a:r>
          </a:p>
          <a:p>
            <a:r>
              <a:rPr lang="en-IN" sz="1500" dirty="0"/>
              <a:t>  margin: 20px;</a:t>
            </a:r>
          </a:p>
          <a:p>
            <a:r>
              <a:rPr lang="en-IN" sz="1500" dirty="0"/>
              <a:t>}</a:t>
            </a:r>
          </a:p>
          <a:p>
            <a:r>
              <a:rPr lang="en-IN" sz="1500" dirty="0"/>
              <a:t>&lt;/style&gt;</a:t>
            </a:r>
          </a:p>
          <a:p>
            <a:r>
              <a:rPr lang="en-IN" sz="1500" dirty="0"/>
              <a:t>&lt;/head&gt;</a:t>
            </a:r>
          </a:p>
          <a:p>
            <a:r>
              <a:rPr lang="en-IN" sz="1500" dirty="0"/>
              <a:t>&lt;body&gt;</a:t>
            </a:r>
          </a:p>
          <a:p>
            <a:r>
              <a:rPr lang="en-IN" sz="1500" dirty="0"/>
              <a:t>&lt;h2&gt;Demonstrating the Box Model&lt;/h2&gt;</a:t>
            </a:r>
          </a:p>
          <a:p>
            <a:r>
              <a:rPr lang="en-IN" sz="1500" dirty="0"/>
              <a:t>&lt;p&gt;The CSS box model is essentially a box that wraps around every HTML element.&lt;/p&gt;</a:t>
            </a:r>
          </a:p>
          <a:p>
            <a:r>
              <a:rPr lang="en-IN" sz="1500" dirty="0"/>
              <a:t>&lt;p&gt;It consists of (from innermost part to outermost part): content, padding, border, and margin.&lt;/p&gt;</a:t>
            </a:r>
          </a:p>
          <a:p>
            <a:r>
              <a:rPr lang="en-IN" sz="1500" dirty="0"/>
              <a:t>&lt;div&gt; Hello World! &lt;/div&gt;</a:t>
            </a:r>
          </a:p>
          <a:p>
            <a:r>
              <a:rPr lang="en-IN" sz="1500" dirty="0"/>
              <a:t>&lt;/body&gt;</a:t>
            </a:r>
          </a:p>
          <a:p>
            <a:r>
              <a:rPr lang="en-IN" sz="1500" dirty="0"/>
              <a:t>&lt;/html&gt;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AF27F-212A-5DE9-1582-EC47B856C8E9}"/>
              </a:ext>
            </a:extLst>
          </p:cNvPr>
          <p:cNvSpPr txBox="1"/>
          <p:nvPr/>
        </p:nvSpPr>
        <p:spPr>
          <a:xfrm>
            <a:off x="323528" y="4918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055166063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Cambridge">
      <a:dk1>
        <a:srgbClr val="000000"/>
      </a:dk1>
      <a:lt1>
        <a:srgbClr val="FFFFFF"/>
      </a:lt1>
      <a:dk2>
        <a:srgbClr val="003E72"/>
      </a:dk2>
      <a:lt2>
        <a:srgbClr val="FFFFFF"/>
      </a:lt2>
      <a:accent1>
        <a:srgbClr val="8E258D"/>
      </a:accent1>
      <a:accent2>
        <a:srgbClr val="205867"/>
      </a:accent2>
      <a:accent3>
        <a:srgbClr val="412D5D"/>
      </a:accent3>
      <a:accent4>
        <a:srgbClr val="8064A2"/>
      </a:accent4>
      <a:accent5>
        <a:srgbClr val="58A618"/>
      </a:accent5>
      <a:accent6>
        <a:srgbClr val="C84E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4184</TotalTime>
  <Words>3813</Words>
  <Application>Microsoft Office PowerPoint</Application>
  <PresentationFormat>On-screen Show (16:10)</PresentationFormat>
  <Paragraphs>565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Arial Unicode MS</vt:lpstr>
      <vt:lpstr>Calibri</vt:lpstr>
      <vt:lpstr>Courier New</vt:lpstr>
      <vt:lpstr>Wingdings</vt:lpstr>
      <vt:lpstr>Office Theme</vt:lpstr>
      <vt:lpstr>PowerPoint Presentation</vt:lpstr>
      <vt:lpstr>CSS – Cascading Style Sheet</vt:lpstr>
      <vt:lpstr>What CSS can do?</vt:lpstr>
      <vt:lpstr>CSS</vt:lpstr>
      <vt:lpstr>Inline CSS</vt:lpstr>
      <vt:lpstr>CSS Style Rule</vt:lpstr>
      <vt:lpstr>Internal CSS</vt:lpstr>
      <vt:lpstr>External CSS</vt:lpstr>
      <vt:lpstr>Benefits of External Style Sheet</vt:lpstr>
      <vt:lpstr>CSS Text Properties</vt:lpstr>
      <vt:lpstr>The class Selector</vt:lpstr>
      <vt:lpstr>The class selector</vt:lpstr>
      <vt:lpstr>Applying styles to portion of the document</vt:lpstr>
      <vt:lpstr>Applying styles to portion of the document</vt:lpstr>
      <vt:lpstr>Inheritance: which style prevails when several are present?</vt:lpstr>
      <vt:lpstr>CSS Grids</vt:lpstr>
      <vt:lpstr>CSS Grids</vt:lpstr>
      <vt:lpstr>CSS Grids</vt:lpstr>
      <vt:lpstr>CSS Grids</vt:lpstr>
      <vt:lpstr>CSS Grids</vt:lpstr>
      <vt:lpstr>CSS Grids</vt:lpstr>
      <vt:lpstr>CSS grids</vt:lpstr>
      <vt:lpstr>CSS Grids</vt:lpstr>
      <vt:lpstr>CSS Grids</vt:lpstr>
      <vt:lpstr>Background </vt:lpstr>
      <vt:lpstr>Background</vt:lpstr>
      <vt:lpstr>Positioning</vt:lpstr>
      <vt:lpstr>Positioning</vt:lpstr>
      <vt:lpstr>Positioning</vt:lpstr>
      <vt:lpstr>Position as static</vt:lpstr>
      <vt:lpstr>Position as static</vt:lpstr>
      <vt:lpstr>Position as static</vt:lpstr>
      <vt:lpstr>Position as relative</vt:lpstr>
      <vt:lpstr>Position as relative (Parent – Child)</vt:lpstr>
      <vt:lpstr>Position as absolute</vt:lpstr>
      <vt:lpstr>Position as absolute</vt:lpstr>
      <vt:lpstr>Position as absolute</vt:lpstr>
      <vt:lpstr>Position as fixed</vt:lpstr>
      <vt:lpstr>Position as fixed</vt:lpstr>
      <vt:lpstr>Position as sticky</vt:lpstr>
      <vt:lpstr>Position as sticky</vt:lpstr>
      <vt:lpstr>Position as sticky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M.DEIVAMANI</dc:creator>
  <cp:lastModifiedBy>Naga Raju</cp:lastModifiedBy>
  <cp:revision>314</cp:revision>
  <dcterms:created xsi:type="dcterms:W3CDTF">2010-01-03T09:38:03Z</dcterms:created>
  <dcterms:modified xsi:type="dcterms:W3CDTF">2026-01-17T11:48:53Z</dcterms:modified>
</cp:coreProperties>
</file>