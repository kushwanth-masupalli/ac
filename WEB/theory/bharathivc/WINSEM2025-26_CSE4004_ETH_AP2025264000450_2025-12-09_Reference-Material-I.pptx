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av" ContentType="audio/wav"/>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3"/>
  </p:notesMasterIdLst>
  <p:sldIdLst>
    <p:sldId id="350" r:id="rId2"/>
    <p:sldId id="351" r:id="rId3"/>
    <p:sldId id="359" r:id="rId4"/>
    <p:sldId id="357" r:id="rId5"/>
    <p:sldId id="358" r:id="rId6"/>
    <p:sldId id="338" r:id="rId7"/>
    <p:sldId id="339" r:id="rId8"/>
    <p:sldId id="340" r:id="rId9"/>
    <p:sldId id="341" r:id="rId10"/>
    <p:sldId id="342" r:id="rId11"/>
    <p:sldId id="259" r:id="rId12"/>
    <p:sldId id="331" r:id="rId13"/>
    <p:sldId id="262" r:id="rId14"/>
    <p:sldId id="334" r:id="rId15"/>
    <p:sldId id="333" r:id="rId16"/>
    <p:sldId id="332" r:id="rId17"/>
    <p:sldId id="267" r:id="rId18"/>
    <p:sldId id="269" r:id="rId19"/>
    <p:sldId id="344" r:id="rId20"/>
    <p:sldId id="345" r:id="rId21"/>
    <p:sldId id="348" r:id="rId22"/>
    <p:sldId id="324" r:id="rId23"/>
    <p:sldId id="360" r:id="rId24"/>
    <p:sldId id="362" r:id="rId25"/>
    <p:sldId id="363" r:id="rId26"/>
    <p:sldId id="364" r:id="rId27"/>
    <p:sldId id="365" r:id="rId28"/>
    <p:sldId id="366" r:id="rId29"/>
    <p:sldId id="368" r:id="rId30"/>
    <p:sldId id="369" r:id="rId31"/>
    <p:sldId id="370" r:id="rId32"/>
    <p:sldId id="371" r:id="rId33"/>
    <p:sldId id="372" r:id="rId34"/>
    <p:sldId id="373" r:id="rId35"/>
    <p:sldId id="376" r:id="rId36"/>
    <p:sldId id="377" r:id="rId37"/>
    <p:sldId id="378" r:id="rId38"/>
    <p:sldId id="379" r:id="rId39"/>
    <p:sldId id="380" r:id="rId40"/>
    <p:sldId id="381" r:id="rId41"/>
    <p:sldId id="382" r:id="rId42"/>
    <p:sldId id="383" r:id="rId43"/>
    <p:sldId id="384" r:id="rId44"/>
    <p:sldId id="385" r:id="rId45"/>
    <p:sldId id="386" r:id="rId46"/>
    <p:sldId id="387" r:id="rId47"/>
    <p:sldId id="449" r:id="rId48"/>
    <p:sldId id="450" r:id="rId49"/>
    <p:sldId id="451" r:id="rId50"/>
    <p:sldId id="475" r:id="rId51"/>
    <p:sldId id="399" r:id="rId52"/>
    <p:sldId id="452" r:id="rId53"/>
    <p:sldId id="453" r:id="rId54"/>
    <p:sldId id="454" r:id="rId55"/>
    <p:sldId id="455" r:id="rId56"/>
    <p:sldId id="456" r:id="rId57"/>
    <p:sldId id="457" r:id="rId58"/>
    <p:sldId id="458" r:id="rId59"/>
    <p:sldId id="459" r:id="rId60"/>
    <p:sldId id="460" r:id="rId61"/>
    <p:sldId id="461" r:id="rId62"/>
    <p:sldId id="462" r:id="rId63"/>
    <p:sldId id="463" r:id="rId64"/>
    <p:sldId id="464" r:id="rId65"/>
    <p:sldId id="465" r:id="rId66"/>
    <p:sldId id="466" r:id="rId67"/>
    <p:sldId id="467" r:id="rId68"/>
    <p:sldId id="468" r:id="rId69"/>
    <p:sldId id="469" r:id="rId70"/>
    <p:sldId id="470" r:id="rId71"/>
    <p:sldId id="473" r:id="rId72"/>
    <p:sldId id="474" r:id="rId73"/>
    <p:sldId id="388" r:id="rId74"/>
    <p:sldId id="389" r:id="rId75"/>
    <p:sldId id="390" r:id="rId76"/>
    <p:sldId id="391" r:id="rId77"/>
    <p:sldId id="392" r:id="rId78"/>
    <p:sldId id="393" r:id="rId79"/>
    <p:sldId id="394" r:id="rId80"/>
    <p:sldId id="395" r:id="rId81"/>
    <p:sldId id="396" r:id="rId82"/>
    <p:sldId id="397" r:id="rId83"/>
    <p:sldId id="398" r:id="rId84"/>
    <p:sldId id="476" r:id="rId85"/>
    <p:sldId id="403" r:id="rId86"/>
    <p:sldId id="404" r:id="rId87"/>
    <p:sldId id="405" r:id="rId88"/>
    <p:sldId id="406" r:id="rId89"/>
    <p:sldId id="407" r:id="rId90"/>
    <p:sldId id="408" r:id="rId91"/>
    <p:sldId id="409" r:id="rId92"/>
    <p:sldId id="410" r:id="rId93"/>
    <p:sldId id="411" r:id="rId94"/>
    <p:sldId id="412" r:id="rId95"/>
    <p:sldId id="413" r:id="rId96"/>
    <p:sldId id="414" r:id="rId97"/>
    <p:sldId id="415" r:id="rId98"/>
    <p:sldId id="416" r:id="rId99"/>
    <p:sldId id="417" r:id="rId100"/>
    <p:sldId id="418" r:id="rId101"/>
    <p:sldId id="419" r:id="rId102"/>
    <p:sldId id="420" r:id="rId103"/>
    <p:sldId id="421" r:id="rId104"/>
    <p:sldId id="422" r:id="rId105"/>
    <p:sldId id="423" r:id="rId106"/>
    <p:sldId id="424" r:id="rId107"/>
    <p:sldId id="425" r:id="rId108"/>
    <p:sldId id="426" r:id="rId109"/>
    <p:sldId id="427" r:id="rId110"/>
    <p:sldId id="428" r:id="rId111"/>
    <p:sldId id="429" r:id="rId112"/>
    <p:sldId id="430" r:id="rId113"/>
    <p:sldId id="431" r:id="rId114"/>
    <p:sldId id="432" r:id="rId115"/>
    <p:sldId id="433" r:id="rId116"/>
    <p:sldId id="434" r:id="rId117"/>
    <p:sldId id="435" r:id="rId118"/>
    <p:sldId id="436" r:id="rId119"/>
    <p:sldId id="437" r:id="rId120"/>
    <p:sldId id="438" r:id="rId121"/>
    <p:sldId id="440" r:id="rId122"/>
    <p:sldId id="441" r:id="rId123"/>
    <p:sldId id="442" r:id="rId124"/>
    <p:sldId id="443" r:id="rId125"/>
    <p:sldId id="444" r:id="rId126"/>
    <p:sldId id="445" r:id="rId127"/>
    <p:sldId id="446" r:id="rId128"/>
    <p:sldId id="447" r:id="rId129"/>
    <p:sldId id="448" r:id="rId130"/>
    <p:sldId id="477" r:id="rId131"/>
    <p:sldId id="478" r:id="rId1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80" d="100"/>
          <a:sy n="80" d="100"/>
        </p:scale>
        <p:origin x="691"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D50A02-CE98-45B9-AE2C-14F514193FCE}" type="datetimeFigureOut">
              <a:rPr lang="en-IN" smtClean="0"/>
              <a:t>08-01-2026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CE83B0-E5A4-482A-A3CB-839A0AC1F636}" type="slidenum">
              <a:rPr lang="en-IN" smtClean="0"/>
              <a:t>‹#›</a:t>
            </a:fld>
            <a:endParaRPr lang="en-IN"/>
          </a:p>
        </p:txBody>
      </p:sp>
    </p:spTree>
    <p:extLst>
      <p:ext uri="{BB962C8B-B14F-4D97-AF65-F5344CB8AC3E}">
        <p14:creationId xmlns:p14="http://schemas.microsoft.com/office/powerpoint/2010/main" val="36321260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C81A2F50-AC70-4876-B76D-92863EE537D3}" type="slidenum">
              <a:rPr lang="en-US" smtClean="0"/>
              <a:pPr/>
              <a:t>5</a:t>
            </a:fld>
            <a:endParaRPr lang="en-US"/>
          </a:p>
        </p:txBody>
      </p:sp>
    </p:spTree>
    <p:extLst>
      <p:ext uri="{BB962C8B-B14F-4D97-AF65-F5344CB8AC3E}">
        <p14:creationId xmlns:p14="http://schemas.microsoft.com/office/powerpoint/2010/main" val="1537940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CA829D8-EB2A-496B-B4A8-137A4F01D7D5}" type="slidenum">
              <a:rPr lang="en-US" smtClean="0"/>
              <a:pPr/>
              <a:t>26</a:t>
            </a:fld>
            <a:endParaRPr lang="en-US"/>
          </a:p>
        </p:txBody>
      </p:sp>
    </p:spTree>
    <p:extLst>
      <p:ext uri="{BB962C8B-B14F-4D97-AF65-F5344CB8AC3E}">
        <p14:creationId xmlns:p14="http://schemas.microsoft.com/office/powerpoint/2010/main" val="990899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22738307-99CD-424C-B7D1-79134BCCC75F}" type="datetimeFigureOut">
              <a:rPr lang="en-IN" smtClean="0"/>
              <a:t>08-01-2026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195D414-0F45-455F-82B2-55FE1008A288}" type="slidenum">
              <a:rPr lang="en-IN" smtClean="0"/>
              <a:t>‹#›</a:t>
            </a:fld>
            <a:endParaRPr lang="en-IN"/>
          </a:p>
        </p:txBody>
      </p:sp>
    </p:spTree>
    <p:extLst>
      <p:ext uri="{BB962C8B-B14F-4D97-AF65-F5344CB8AC3E}">
        <p14:creationId xmlns:p14="http://schemas.microsoft.com/office/powerpoint/2010/main" val="11045621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2738307-99CD-424C-B7D1-79134BCCC75F}" type="datetimeFigureOut">
              <a:rPr lang="en-IN" smtClean="0"/>
              <a:t>08-01-2026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195D414-0F45-455F-82B2-55FE1008A288}" type="slidenum">
              <a:rPr lang="en-IN" smtClean="0"/>
              <a:t>‹#›</a:t>
            </a:fld>
            <a:endParaRPr lang="en-IN"/>
          </a:p>
        </p:txBody>
      </p:sp>
    </p:spTree>
    <p:extLst>
      <p:ext uri="{BB962C8B-B14F-4D97-AF65-F5344CB8AC3E}">
        <p14:creationId xmlns:p14="http://schemas.microsoft.com/office/powerpoint/2010/main" val="16613756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2738307-99CD-424C-B7D1-79134BCCC75F}" type="datetimeFigureOut">
              <a:rPr lang="en-IN" smtClean="0"/>
              <a:t>08-01-2026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195D414-0F45-455F-82B2-55FE1008A288}" type="slidenum">
              <a:rPr lang="en-IN" smtClean="0"/>
              <a:t>‹#›</a:t>
            </a:fld>
            <a:endParaRPr lang="en-IN"/>
          </a:p>
        </p:txBody>
      </p:sp>
    </p:spTree>
    <p:extLst>
      <p:ext uri="{BB962C8B-B14F-4D97-AF65-F5344CB8AC3E}">
        <p14:creationId xmlns:p14="http://schemas.microsoft.com/office/powerpoint/2010/main" val="22584197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22738307-99CD-424C-B7D1-79134BCCC75F}" type="datetimeFigureOut">
              <a:rPr lang="en-IN" smtClean="0"/>
              <a:t>08-01-2026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195D414-0F45-455F-82B2-55FE1008A288}" type="slidenum">
              <a:rPr lang="en-IN" smtClean="0"/>
              <a:t>‹#›</a:t>
            </a:fld>
            <a:endParaRPr lang="en-IN"/>
          </a:p>
        </p:txBody>
      </p:sp>
    </p:spTree>
    <p:extLst>
      <p:ext uri="{BB962C8B-B14F-4D97-AF65-F5344CB8AC3E}">
        <p14:creationId xmlns:p14="http://schemas.microsoft.com/office/powerpoint/2010/main" val="1162609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22738307-99CD-424C-B7D1-79134BCCC75F}" type="datetimeFigureOut">
              <a:rPr lang="en-IN" smtClean="0"/>
              <a:t>08-01-2026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195D414-0F45-455F-82B2-55FE1008A288}" type="slidenum">
              <a:rPr lang="en-IN" smtClean="0"/>
              <a:t>‹#›</a:t>
            </a:fld>
            <a:endParaRPr lang="en-IN"/>
          </a:p>
        </p:txBody>
      </p:sp>
    </p:spTree>
    <p:extLst>
      <p:ext uri="{BB962C8B-B14F-4D97-AF65-F5344CB8AC3E}">
        <p14:creationId xmlns:p14="http://schemas.microsoft.com/office/powerpoint/2010/main" val="27922168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22738307-99CD-424C-B7D1-79134BCCC75F}" type="datetimeFigureOut">
              <a:rPr lang="en-IN" smtClean="0"/>
              <a:t>08-01-2026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195D414-0F45-455F-82B2-55FE1008A288}" type="slidenum">
              <a:rPr lang="en-IN" smtClean="0"/>
              <a:t>‹#›</a:t>
            </a:fld>
            <a:endParaRPr lang="en-IN"/>
          </a:p>
        </p:txBody>
      </p:sp>
    </p:spTree>
    <p:extLst>
      <p:ext uri="{BB962C8B-B14F-4D97-AF65-F5344CB8AC3E}">
        <p14:creationId xmlns:p14="http://schemas.microsoft.com/office/powerpoint/2010/main" val="33979413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738307-99CD-424C-B7D1-79134BCCC75F}" type="datetimeFigureOut">
              <a:rPr lang="en-IN" smtClean="0"/>
              <a:t>08-01-2026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195D414-0F45-455F-82B2-55FE1008A288}" type="slidenum">
              <a:rPr lang="en-IN" smtClean="0"/>
              <a:t>‹#›</a:t>
            </a:fld>
            <a:endParaRPr lang="en-IN"/>
          </a:p>
        </p:txBody>
      </p:sp>
    </p:spTree>
    <p:extLst>
      <p:ext uri="{BB962C8B-B14F-4D97-AF65-F5344CB8AC3E}">
        <p14:creationId xmlns:p14="http://schemas.microsoft.com/office/powerpoint/2010/main" val="8140523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2738307-99CD-424C-B7D1-79134BCCC75F}" type="datetimeFigureOut">
              <a:rPr lang="en-IN" smtClean="0"/>
              <a:t>08-01-2026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195D414-0F45-455F-82B2-55FE1008A288}" type="slidenum">
              <a:rPr lang="en-IN" smtClean="0"/>
              <a:t>‹#›</a:t>
            </a:fld>
            <a:endParaRPr lang="en-IN"/>
          </a:p>
        </p:txBody>
      </p:sp>
    </p:spTree>
    <p:extLst>
      <p:ext uri="{BB962C8B-B14F-4D97-AF65-F5344CB8AC3E}">
        <p14:creationId xmlns:p14="http://schemas.microsoft.com/office/powerpoint/2010/main" val="9239999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2738307-99CD-424C-B7D1-79134BCCC75F}" type="datetimeFigureOut">
              <a:rPr lang="en-IN" smtClean="0"/>
              <a:t>08-01-2026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195D414-0F45-455F-82B2-55FE1008A288}" type="slidenum">
              <a:rPr lang="en-IN" smtClean="0"/>
              <a:t>‹#›</a:t>
            </a:fld>
            <a:endParaRPr lang="en-IN"/>
          </a:p>
        </p:txBody>
      </p:sp>
    </p:spTree>
    <p:extLst>
      <p:ext uri="{BB962C8B-B14F-4D97-AF65-F5344CB8AC3E}">
        <p14:creationId xmlns:p14="http://schemas.microsoft.com/office/powerpoint/2010/main" val="345391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2738307-99CD-424C-B7D1-79134BCCC75F}" type="datetimeFigureOut">
              <a:rPr lang="en-IN" smtClean="0"/>
              <a:t>08-01-2026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195D414-0F45-455F-82B2-55FE1008A288}" type="slidenum">
              <a:rPr lang="en-IN" smtClean="0"/>
              <a:t>‹#›</a:t>
            </a:fld>
            <a:endParaRPr lang="en-IN"/>
          </a:p>
        </p:txBody>
      </p:sp>
    </p:spTree>
    <p:extLst>
      <p:ext uri="{BB962C8B-B14F-4D97-AF65-F5344CB8AC3E}">
        <p14:creationId xmlns:p14="http://schemas.microsoft.com/office/powerpoint/2010/main" val="28642949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2738307-99CD-424C-B7D1-79134BCCC75F}" type="datetimeFigureOut">
              <a:rPr lang="en-IN" smtClean="0"/>
              <a:t>08-01-2026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195D414-0F45-455F-82B2-55FE1008A288}" type="slidenum">
              <a:rPr lang="en-IN" smtClean="0"/>
              <a:t>‹#›</a:t>
            </a:fld>
            <a:endParaRPr lang="en-IN"/>
          </a:p>
        </p:txBody>
      </p:sp>
    </p:spTree>
    <p:extLst>
      <p:ext uri="{BB962C8B-B14F-4D97-AF65-F5344CB8AC3E}">
        <p14:creationId xmlns:p14="http://schemas.microsoft.com/office/powerpoint/2010/main" val="42162866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738307-99CD-424C-B7D1-79134BCCC75F}" type="datetimeFigureOut">
              <a:rPr lang="en-IN" smtClean="0"/>
              <a:t>08-01-2026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95D414-0F45-455F-82B2-55FE1008A288}" type="slidenum">
              <a:rPr lang="en-IN" smtClean="0"/>
              <a:t>‹#›</a:t>
            </a:fld>
            <a:endParaRPr lang="en-IN"/>
          </a:p>
        </p:txBody>
      </p:sp>
    </p:spTree>
    <p:extLst>
      <p:ext uri="{BB962C8B-B14F-4D97-AF65-F5344CB8AC3E}">
        <p14:creationId xmlns:p14="http://schemas.microsoft.com/office/powerpoint/2010/main" val="105712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www.computerhope.com/jargon/b/browser.htm" TargetMode="External"/><Relationship Id="rId7" Type="http://schemas.openxmlformats.org/officeDocument/2006/relationships/image" Target="../media/image1.png"/><Relationship Id="rId2" Type="http://schemas.openxmlformats.org/officeDocument/2006/relationships/hyperlink" Target="https://www.computerhope.com/jargon/h/html.htm" TargetMode="External"/><Relationship Id="rId1" Type="http://schemas.openxmlformats.org/officeDocument/2006/relationships/slideLayout" Target="../slideLayouts/slideLayout2.xml"/><Relationship Id="rId6" Type="http://schemas.openxmlformats.org/officeDocument/2006/relationships/hyperlink" Target="https://www.computerhope.com/jargon/h/hyperlink.htm" TargetMode="External"/><Relationship Id="rId5" Type="http://schemas.openxmlformats.org/officeDocument/2006/relationships/hyperlink" Target="https://www.computerhope.com/jargon/a/addrebar.htm" TargetMode="External"/><Relationship Id="rId4" Type="http://schemas.openxmlformats.org/officeDocument/2006/relationships/hyperlink" Target="https://www.computerhope.com/jargon/u/url.htm" TargetMode="External"/></Relationships>
</file>

<file path=ppt/slides/_rels/slide4.xml.rels><?xml version="1.0" encoding="UTF-8" standalone="yes"?>
<Relationships xmlns="http://schemas.openxmlformats.org/package/2006/relationships"><Relationship Id="rId8" Type="http://schemas.openxmlformats.org/officeDocument/2006/relationships/hyperlink" Target="https://www.computerhope.com/history/1991.htm" TargetMode="External"/><Relationship Id="rId3" Type="http://schemas.openxmlformats.org/officeDocument/2006/relationships/hyperlink" Target="https://en.wikipedia.org/wiki/Multimedia" TargetMode="External"/><Relationship Id="rId7" Type="http://schemas.openxmlformats.org/officeDocument/2006/relationships/hyperlink" Target="https://www.computerhope.com/people/tim_berners-lee.htm" TargetMode="External"/><Relationship Id="rId2" Type="http://schemas.openxmlformats.org/officeDocument/2006/relationships/hyperlink" Target="https://en.wikipedia.org/wiki/Web_page" TargetMode="External"/><Relationship Id="rId1" Type="http://schemas.openxmlformats.org/officeDocument/2006/relationships/slideLayout" Target="../slideLayouts/slideLayout2.xml"/><Relationship Id="rId6" Type="http://schemas.openxmlformats.org/officeDocument/2006/relationships/hyperlink" Target="https://www.computerhope.com/jargon/c/cern.htm" TargetMode="External"/><Relationship Id="rId5" Type="http://schemas.openxmlformats.org/officeDocument/2006/relationships/hyperlink" Target="https://en.wikipedia.org/wiki/Web_server" TargetMode="External"/><Relationship Id="rId4" Type="http://schemas.openxmlformats.org/officeDocument/2006/relationships/hyperlink" Target="https://en.wikipedia.org/wiki/Domain_name"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www.britannica.com/technology/computer" TargetMode="External"/><Relationship Id="rId7"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www.britannica.com/technology/server" TargetMode="External"/><Relationship Id="rId5" Type="http://schemas.openxmlformats.org/officeDocument/2006/relationships/hyperlink" Target="https://www.britannica.com/technology/client" TargetMode="External"/><Relationship Id="rId4" Type="http://schemas.openxmlformats.org/officeDocument/2006/relationships/hyperlink" Target="https://www.britannica.com/technology/computer-network"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hyperlink" Target="https://www.w3schools.com/tags/tag_iframe.asp" TargetMode="Externa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hyperlink" Target="https://www.javatpoint.com/css-tutorial" TargetMode="Externa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hyperlink" Target="https://www.javatpoint.com/css-tutorial" TargetMode="Externa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33600" y="137997"/>
            <a:ext cx="7772400" cy="914399"/>
          </a:xfrm>
        </p:spPr>
        <p:txBody>
          <a:bodyPr>
            <a:normAutofit/>
          </a:bodyPr>
          <a:lstStyle/>
          <a:p>
            <a:pPr>
              <a:lnSpc>
                <a:spcPct val="120000"/>
              </a:lnSpc>
            </a:pPr>
            <a:r>
              <a:rPr lang="en-IN" sz="3600" b="1" dirty="0">
                <a:solidFill>
                  <a:srgbClr val="0000FF"/>
                </a:solidFill>
                <a:latin typeface="Calibri" panose="020F0502020204030204" pitchFamily="34" charset="0"/>
                <a:ea typeface="Calibri" panose="020F0502020204030204" pitchFamily="34" charset="0"/>
                <a:cs typeface="Times New Roman" panose="02020603050405020304" pitchFamily="18" charset="0"/>
              </a:rPr>
              <a:t>Module No. 1</a:t>
            </a:r>
          </a:p>
        </p:txBody>
      </p:sp>
      <p:sp>
        <p:nvSpPr>
          <p:cNvPr id="3" name="Subtitle 2"/>
          <p:cNvSpPr>
            <a:spLocks noGrp="1"/>
          </p:cNvSpPr>
          <p:nvPr>
            <p:ph type="subTitle" idx="1"/>
          </p:nvPr>
        </p:nvSpPr>
        <p:spPr>
          <a:xfrm>
            <a:off x="781050" y="2480771"/>
            <a:ext cx="11163300" cy="5663104"/>
          </a:xfrm>
        </p:spPr>
        <p:txBody>
          <a:bodyPr>
            <a:noAutofit/>
          </a:bodyPr>
          <a:lstStyle/>
          <a:p>
            <a:pPr algn="just"/>
            <a:r>
              <a:rPr lang="en-US" dirty="0">
                <a:latin typeface="Times New Roman" panose="02020603050405020304" pitchFamily="18" charset="0"/>
                <a:cs typeface="Times New Roman" panose="02020603050405020304" pitchFamily="18" charset="0"/>
              </a:rPr>
              <a:t>Introduction to HTML 5, syntax, attributes, events, SVG, Web storage, Introduction to Canvas, Audio &amp; Video, </a:t>
            </a:r>
            <a:r>
              <a:rPr lang="en-US" dirty="0" err="1">
                <a:latin typeface="Times New Roman" panose="02020603050405020304" pitchFamily="18" charset="0"/>
                <a:cs typeface="Times New Roman" panose="02020603050405020304" pitchFamily="18" charset="0"/>
              </a:rPr>
              <a:t>Geolocations</a:t>
            </a:r>
            <a:r>
              <a:rPr lang="en-US" dirty="0">
                <a:latin typeface="Times New Roman" panose="02020603050405020304" pitchFamily="18" charset="0"/>
                <a:cs typeface="Times New Roman" panose="02020603050405020304" pitchFamily="18" charset="0"/>
              </a:rPr>
              <a:t>, Drag &amp; Drop, Web workers, working with Fonts, working with other graphics.  </a:t>
            </a:r>
            <a:r>
              <a:rPr lang="en-IN" b="1" dirty="0">
                <a:latin typeface="Times New Roman" panose="02020603050405020304" pitchFamily="18" charset="0"/>
                <a:cs typeface="Times New Roman" panose="02020603050405020304" pitchFamily="18" charset="0"/>
              </a:rPr>
              <a:t>Style sheets: </a:t>
            </a:r>
            <a:r>
              <a:rPr lang="en-IN" dirty="0">
                <a:latin typeface="Times New Roman" panose="02020603050405020304" pitchFamily="18" charset="0"/>
                <a:cs typeface="Times New Roman" panose="02020603050405020304" pitchFamily="18" charset="0"/>
              </a:rPr>
              <a:t>Introduction CSS, Applying CSS to HTML, Selectors, Properties and Values, CSS </a:t>
            </a:r>
            <a:r>
              <a:rPr lang="en-IN" dirty="0" err="1">
                <a:latin typeface="Times New Roman" panose="02020603050405020304" pitchFamily="18" charset="0"/>
                <a:cs typeface="Times New Roman" panose="02020603050405020304" pitchFamily="18" charset="0"/>
              </a:rPr>
              <a:t>Colors</a:t>
            </a:r>
            <a:r>
              <a:rPr lang="en-IN" dirty="0">
                <a:latin typeface="Times New Roman" panose="02020603050405020304" pitchFamily="18" charset="0"/>
                <a:cs typeface="Times New Roman" panose="02020603050405020304" pitchFamily="18" charset="0"/>
              </a:rPr>
              <a:t> and Backgrounds, CSS Box Model, CSS Margins, Padding, and Borders, CSS Text and Font Properties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913035"/>
      </p:ext>
    </p:extLst>
  </p:cSld>
  <p:clrMapOvr>
    <a:masterClrMapping/>
  </p:clrMapOvr>
  <p:transition>
    <p:cut thruBlk="1"/>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33600" y="0"/>
            <a:ext cx="7772400" cy="914399"/>
          </a:xfrm>
        </p:spPr>
        <p:txBody>
          <a:bodyPr>
            <a:normAutofit/>
          </a:bodyPr>
          <a:lstStyle/>
          <a:p>
            <a:r>
              <a:rPr lang="en-US" sz="3600" dirty="0">
                <a:solidFill>
                  <a:srgbClr val="FF0000"/>
                </a:solidFill>
                <a:latin typeface="Times New Roman" panose="02020603050405020304" pitchFamily="18" charset="0"/>
                <a:cs typeface="Times New Roman" panose="02020603050405020304" pitchFamily="18" charset="0"/>
              </a:rPr>
              <a:t>Internet</a:t>
            </a:r>
          </a:p>
        </p:txBody>
      </p:sp>
      <p:sp>
        <p:nvSpPr>
          <p:cNvPr id="3" name="Subtitle 2"/>
          <p:cNvSpPr>
            <a:spLocks noGrp="1"/>
          </p:cNvSpPr>
          <p:nvPr>
            <p:ph type="subTitle" idx="1"/>
          </p:nvPr>
        </p:nvSpPr>
        <p:spPr>
          <a:xfrm>
            <a:off x="923925" y="985346"/>
            <a:ext cx="11182350" cy="5301154"/>
          </a:xfrm>
        </p:spPr>
        <p:txBody>
          <a:bodyPr>
            <a:noAutofit/>
          </a:bodyPr>
          <a:lstStyle/>
          <a:p>
            <a:pPr marL="347472" indent="-347472" algn="just">
              <a:lnSpc>
                <a:spcPct val="120000"/>
              </a:lnSpc>
              <a:buFont typeface="Arial" pitchFamily="34" charset="0"/>
              <a:buChar char="•"/>
            </a:pPr>
            <a:r>
              <a:rPr lang="en-US" sz="2600" dirty="0">
                <a:latin typeface="Times New Roman" panose="02020603050405020304" pitchFamily="18" charset="0"/>
                <a:cs typeface="Times New Roman" panose="02020603050405020304" pitchFamily="18" charset="0"/>
              </a:rPr>
              <a:t>A </a:t>
            </a:r>
            <a:r>
              <a:rPr lang="en-US" sz="2600" dirty="0">
                <a:solidFill>
                  <a:srgbClr val="7030A0"/>
                </a:solidFill>
                <a:latin typeface="Times New Roman" panose="02020603050405020304" pitchFamily="18" charset="0"/>
                <a:cs typeface="Times New Roman" panose="02020603050405020304" pitchFamily="18" charset="0"/>
              </a:rPr>
              <a:t>inter-connected computer networks</a:t>
            </a:r>
            <a:r>
              <a:rPr lang="en-US" sz="2600" dirty="0">
                <a:latin typeface="Times New Roman" panose="02020603050405020304" pitchFamily="18" charset="0"/>
                <a:cs typeface="Times New Roman" panose="02020603050405020304" pitchFamily="18" charset="0"/>
              </a:rPr>
              <a:t>, linked by wires, cables, wireless connections, etc.</a:t>
            </a:r>
          </a:p>
          <a:p>
            <a:pPr marL="347472" indent="-347472" algn="just">
              <a:lnSpc>
                <a:spcPct val="120000"/>
              </a:lnSpc>
              <a:buFont typeface="Arial" pitchFamily="34" charset="0"/>
              <a:buChar char="•"/>
            </a:pPr>
            <a:r>
              <a:rPr lang="en-US" sz="2600" dirty="0">
                <a:latin typeface="Times New Roman" panose="02020603050405020304" pitchFamily="18" charset="0"/>
                <a:cs typeface="Times New Roman" panose="02020603050405020304" pitchFamily="18" charset="0"/>
              </a:rPr>
              <a:t>It is the largest network in the world that connects  thousands of individual networks all over the world.</a:t>
            </a:r>
          </a:p>
          <a:p>
            <a:pPr marL="347472" indent="-347472" algn="just">
              <a:lnSpc>
                <a:spcPct val="120000"/>
              </a:lnSpc>
              <a:buFont typeface="Arial" pitchFamily="34" charset="0"/>
              <a:buChar char="•"/>
            </a:pPr>
            <a:r>
              <a:rPr lang="en-US" sz="2600" dirty="0">
                <a:latin typeface="Times New Roman" panose="02020603050405020304" pitchFamily="18" charset="0"/>
                <a:cs typeface="Times New Roman" panose="02020603050405020304" pitchFamily="18" charset="0"/>
              </a:rPr>
              <a:t>The popular term for the Internet is the “</a:t>
            </a:r>
            <a:r>
              <a:rPr lang="en-US" sz="2600" dirty="0">
                <a:solidFill>
                  <a:srgbClr val="7030A0"/>
                </a:solidFill>
                <a:latin typeface="Times New Roman" panose="02020603050405020304" pitchFamily="18" charset="0"/>
                <a:cs typeface="Times New Roman" panose="02020603050405020304" pitchFamily="18" charset="0"/>
              </a:rPr>
              <a:t>information highway</a:t>
            </a:r>
            <a:r>
              <a:rPr lang="en-US" sz="2600" dirty="0">
                <a:latin typeface="Times New Roman" panose="02020603050405020304" pitchFamily="18" charset="0"/>
                <a:cs typeface="Times New Roman" panose="02020603050405020304" pitchFamily="18" charset="0"/>
              </a:rPr>
              <a:t>”.</a:t>
            </a:r>
          </a:p>
          <a:p>
            <a:pPr algn="just">
              <a:lnSpc>
                <a:spcPct val="120000"/>
              </a:lnSpc>
            </a:pPr>
            <a:r>
              <a:rPr lang="en-US" sz="2600" dirty="0">
                <a:latin typeface="Times New Roman" panose="02020603050405020304" pitchFamily="18" charset="0"/>
                <a:cs typeface="Times New Roman" panose="02020603050405020304" pitchFamily="18" charset="0"/>
              </a:rPr>
              <a:t>• A network may include PCs, and other devices like servers or printers </a:t>
            </a:r>
          </a:p>
          <a:p>
            <a:pPr algn="just">
              <a:lnSpc>
                <a:spcPct val="120000"/>
              </a:lnSpc>
            </a:pPr>
            <a:r>
              <a:rPr lang="en-US" sz="2600" dirty="0">
                <a:latin typeface="Times New Roman" panose="02020603050405020304" pitchFamily="18" charset="0"/>
                <a:cs typeface="Times New Roman" panose="02020603050405020304" pitchFamily="18" charset="0"/>
              </a:rPr>
              <a:t>• A network is connected through a communication channel </a:t>
            </a:r>
          </a:p>
          <a:p>
            <a:pPr algn="just">
              <a:lnSpc>
                <a:spcPct val="120000"/>
              </a:lnSpc>
            </a:pPr>
            <a:endParaRPr lang="en-US" sz="2600" dirty="0">
              <a:latin typeface="Times New Roman" panose="02020603050405020304" pitchFamily="18" charset="0"/>
              <a:cs typeface="Times New Roman" panose="02020603050405020304" pitchFamily="18" charset="0"/>
            </a:endParaRPr>
          </a:p>
          <a:p>
            <a:pPr marL="347472" indent="-347472" algn="just">
              <a:lnSpc>
                <a:spcPct val="120000"/>
              </a:lnSpc>
              <a:buFont typeface="Arial" pitchFamily="34" charset="0"/>
              <a:buChar char="•"/>
            </a:pPr>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4445396"/>
      </p:ext>
    </p:extLst>
  </p:cSld>
  <p:clrMapOvr>
    <a:masterClrMapping/>
  </p:clrMapOvr>
  <p:transition>
    <p:cut thruBlk="1"/>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2450" y="0"/>
            <a:ext cx="10515600" cy="1325563"/>
          </a:xfrm>
        </p:spPr>
        <p:txBody>
          <a:bodyPr/>
          <a:lstStyle/>
          <a:p>
            <a:r>
              <a:rPr lang="en-IN" dirty="0"/>
              <a:t>Web page</a:t>
            </a:r>
          </a:p>
        </p:txBody>
      </p:sp>
      <p:sp>
        <p:nvSpPr>
          <p:cNvPr id="3" name="Content Placeholder 2"/>
          <p:cNvSpPr>
            <a:spLocks noGrp="1"/>
          </p:cNvSpPr>
          <p:nvPr>
            <p:ph idx="1"/>
          </p:nvPr>
        </p:nvSpPr>
        <p:spPr>
          <a:xfrm>
            <a:off x="390525" y="1092200"/>
            <a:ext cx="10515600" cy="4351338"/>
          </a:xfrm>
        </p:spPr>
        <p:txBody>
          <a:bodyPr/>
          <a:lstStyle/>
          <a:p>
            <a:pPr algn="just"/>
            <a:r>
              <a:rPr lang="en-IN" dirty="0">
                <a:latin typeface="Times New Roman" panose="02020603050405020304" pitchFamily="18" charset="0"/>
                <a:cs typeface="Times New Roman" panose="02020603050405020304" pitchFamily="18" charset="0"/>
              </a:rPr>
              <a:t>A </a:t>
            </a:r>
            <a:r>
              <a:rPr lang="en-IN" b="1" dirty="0">
                <a:latin typeface="Times New Roman" panose="02020603050405020304" pitchFamily="18" charset="0"/>
                <a:cs typeface="Times New Roman" panose="02020603050405020304" pitchFamily="18" charset="0"/>
              </a:rPr>
              <a:t>web page</a:t>
            </a:r>
            <a:r>
              <a:rPr lang="en-IN" dirty="0">
                <a:latin typeface="Times New Roman" panose="02020603050405020304" pitchFamily="18" charset="0"/>
                <a:cs typeface="Times New Roman" panose="02020603050405020304" pitchFamily="18" charset="0"/>
              </a:rPr>
              <a:t> or </a:t>
            </a:r>
            <a:r>
              <a:rPr lang="en-IN" b="1" dirty="0">
                <a:latin typeface="Times New Roman" panose="02020603050405020304" pitchFamily="18" charset="0"/>
                <a:cs typeface="Times New Roman" panose="02020603050405020304" pitchFamily="18" charset="0"/>
              </a:rPr>
              <a:t>webpage</a:t>
            </a:r>
            <a:r>
              <a:rPr lang="en-IN" dirty="0">
                <a:latin typeface="Times New Roman" panose="02020603050405020304" pitchFamily="18" charset="0"/>
                <a:cs typeface="Times New Roman" panose="02020603050405020304" pitchFamily="18" charset="0"/>
              </a:rPr>
              <a:t> is a document, commonly written in </a:t>
            </a:r>
            <a:r>
              <a:rPr lang="en-IN" dirty="0">
                <a:latin typeface="Times New Roman" panose="02020603050405020304" pitchFamily="18" charset="0"/>
                <a:cs typeface="Times New Roman" panose="02020603050405020304" pitchFamily="18" charset="0"/>
                <a:hlinkClick r:id="rId2"/>
              </a:rPr>
              <a:t>HTML</a:t>
            </a:r>
            <a:r>
              <a:rPr lang="en-IN" dirty="0">
                <a:latin typeface="Times New Roman" panose="02020603050405020304" pitchFamily="18" charset="0"/>
                <a:cs typeface="Times New Roman" panose="02020603050405020304" pitchFamily="18" charset="0"/>
              </a:rPr>
              <a:t>, that is viewed in an Internet </a:t>
            </a:r>
            <a:r>
              <a:rPr lang="en-IN" dirty="0">
                <a:latin typeface="Times New Roman" panose="02020603050405020304" pitchFamily="18" charset="0"/>
                <a:cs typeface="Times New Roman" panose="02020603050405020304" pitchFamily="18" charset="0"/>
                <a:hlinkClick r:id="rId3"/>
              </a:rPr>
              <a:t>browser</a:t>
            </a:r>
            <a:r>
              <a:rPr lang="en-IN" dirty="0">
                <a:latin typeface="Times New Roman" panose="02020603050405020304" pitchFamily="18" charset="0"/>
                <a:cs typeface="Times New Roman" panose="02020603050405020304" pitchFamily="18" charset="0"/>
              </a:rPr>
              <a:t>. A web page can be accessed by entering a </a:t>
            </a:r>
            <a:r>
              <a:rPr lang="en-IN" dirty="0">
                <a:latin typeface="Times New Roman" panose="02020603050405020304" pitchFamily="18" charset="0"/>
                <a:cs typeface="Times New Roman" panose="02020603050405020304" pitchFamily="18" charset="0"/>
                <a:hlinkClick r:id="rId4"/>
              </a:rPr>
              <a:t>URL</a:t>
            </a:r>
            <a:r>
              <a:rPr lang="en-IN" dirty="0">
                <a:latin typeface="Times New Roman" panose="02020603050405020304" pitchFamily="18" charset="0"/>
                <a:cs typeface="Times New Roman" panose="02020603050405020304" pitchFamily="18" charset="0"/>
              </a:rPr>
              <a:t> address into a browser's </a:t>
            </a:r>
            <a:r>
              <a:rPr lang="en-IN" dirty="0">
                <a:latin typeface="Times New Roman" panose="02020603050405020304" pitchFamily="18" charset="0"/>
                <a:cs typeface="Times New Roman" panose="02020603050405020304" pitchFamily="18" charset="0"/>
                <a:hlinkClick r:id="rId5"/>
              </a:rPr>
              <a:t>address bar</a:t>
            </a:r>
            <a:r>
              <a:rPr lang="en-IN" dirty="0">
                <a:latin typeface="Times New Roman" panose="02020603050405020304" pitchFamily="18" charset="0"/>
                <a:cs typeface="Times New Roman" panose="02020603050405020304" pitchFamily="18" charset="0"/>
              </a:rPr>
              <a:t>. A web page may contain text, graphics, and </a:t>
            </a:r>
            <a:r>
              <a:rPr lang="en-IN" dirty="0">
                <a:latin typeface="Times New Roman" panose="02020603050405020304" pitchFamily="18" charset="0"/>
                <a:cs typeface="Times New Roman" panose="02020603050405020304" pitchFamily="18" charset="0"/>
                <a:hlinkClick r:id="rId6"/>
              </a:rPr>
              <a:t>hyperlinks</a:t>
            </a:r>
            <a:r>
              <a:rPr lang="en-IN" dirty="0">
                <a:latin typeface="Times New Roman" panose="02020603050405020304" pitchFamily="18" charset="0"/>
                <a:cs typeface="Times New Roman" panose="02020603050405020304" pitchFamily="18" charset="0"/>
              </a:rPr>
              <a:t> to other web pages and files.</a:t>
            </a:r>
            <a:r>
              <a:rPr lang="en-US" altLang="zh-CN" dirty="0">
                <a:latin typeface="Times New Roman" panose="02020603050405020304" pitchFamily="18" charset="0"/>
                <a:cs typeface="Times New Roman" panose="02020603050405020304" pitchFamily="18" charset="0"/>
              </a:rPr>
              <a:t>)</a:t>
            </a:r>
          </a:p>
          <a:p>
            <a:pPr>
              <a:buNone/>
            </a:pPr>
            <a:endParaRPr lang="en-US" altLang="zh-CN"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pPr>
              <a:defRPr/>
            </a:pPr>
            <a:fld id="{7C774709-785F-457C-9429-4E3DA889C601}" type="datetime3">
              <a:rPr lang="en-US" smtClean="0"/>
              <a:pPr>
                <a:defRPr/>
              </a:pPr>
              <a:t>8 January 2026</a:t>
            </a:fld>
            <a:endParaRPr lang="en-IN"/>
          </a:p>
        </p:txBody>
      </p:sp>
      <p:sp>
        <p:nvSpPr>
          <p:cNvPr id="5" name="Footer Placeholder 4"/>
          <p:cNvSpPr>
            <a:spLocks noGrp="1"/>
          </p:cNvSpPr>
          <p:nvPr>
            <p:ph type="ftr" sz="quarter" idx="11"/>
          </p:nvPr>
        </p:nvSpPr>
        <p:spPr/>
        <p:txBody>
          <a:bodyPr/>
          <a:lstStyle/>
          <a:p>
            <a:pPr>
              <a:defRPr/>
            </a:pPr>
            <a:r>
              <a:rPr lang="en-IN"/>
              <a:t>CSE4004 WT</a:t>
            </a:r>
            <a:endParaRPr lang="en-IN" dirty="0"/>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3</a:t>
            </a:fld>
            <a:endParaRPr lang="en-IN"/>
          </a:p>
        </p:txBody>
      </p:sp>
      <p:pic>
        <p:nvPicPr>
          <p:cNvPr id="7" name="Picture 6"/>
          <p:cNvPicPr>
            <a:picLocks noChangeAspect="1"/>
          </p:cNvPicPr>
          <p:nvPr/>
        </p:nvPicPr>
        <p:blipFill>
          <a:blip r:embed="rId7"/>
          <a:stretch>
            <a:fillRect/>
          </a:stretch>
        </p:blipFill>
        <p:spPr>
          <a:xfrm>
            <a:off x="657225" y="2847976"/>
            <a:ext cx="8778240" cy="3575050"/>
          </a:xfrm>
          <a:prstGeom prst="rect">
            <a:avLst/>
          </a:prstGeom>
        </p:spPr>
      </p:pic>
    </p:spTree>
    <p:extLst>
      <p:ext uri="{BB962C8B-B14F-4D97-AF65-F5344CB8AC3E}">
        <p14:creationId xmlns:p14="http://schemas.microsoft.com/office/powerpoint/2010/main" val="40186741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229600" cy="838200"/>
          </a:xfrm>
        </p:spPr>
        <p:txBody>
          <a:bodyPr>
            <a:normAutofit/>
          </a:bodyPr>
          <a:lstStyle/>
          <a:p>
            <a:r>
              <a:rPr lang="en-US" sz="3600" dirty="0">
                <a:solidFill>
                  <a:srgbClr val="FF0000"/>
                </a:solidFill>
              </a:rPr>
              <a:t>Website</a:t>
            </a:r>
          </a:p>
        </p:txBody>
      </p:sp>
      <p:sp>
        <p:nvSpPr>
          <p:cNvPr id="3" name="Content Placeholder 2"/>
          <p:cNvSpPr>
            <a:spLocks noGrp="1"/>
          </p:cNvSpPr>
          <p:nvPr>
            <p:ph idx="1"/>
          </p:nvPr>
        </p:nvSpPr>
        <p:spPr>
          <a:xfrm>
            <a:off x="485774" y="866777"/>
            <a:ext cx="11496675" cy="4886324"/>
          </a:xfrm>
        </p:spPr>
        <p:txBody>
          <a:bodyPr>
            <a:noAutofit/>
          </a:bodyPr>
          <a:lstStyle/>
          <a:p>
            <a:pPr algn="just"/>
            <a:r>
              <a:rPr lang="en-US" dirty="0">
                <a:latin typeface="Times New Roman" panose="02020603050405020304" pitchFamily="18" charset="0"/>
                <a:cs typeface="Times New Roman" panose="02020603050405020304" pitchFamily="18" charset="0"/>
              </a:rPr>
              <a:t>A set of related web pages located under a single domain name.</a:t>
            </a:r>
          </a:p>
          <a:p>
            <a:pPr algn="just"/>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website</a:t>
            </a:r>
            <a:r>
              <a:rPr lang="en-US" dirty="0">
                <a:latin typeface="Times New Roman" panose="02020603050405020304" pitchFamily="18" charset="0"/>
                <a:cs typeface="Times New Roman" panose="02020603050405020304" pitchFamily="18" charset="0"/>
              </a:rPr>
              <a:t> is a collection of related </a:t>
            </a:r>
            <a:r>
              <a:rPr lang="en-US" dirty="0">
                <a:latin typeface="Times New Roman" panose="02020603050405020304" pitchFamily="18" charset="0"/>
                <a:cs typeface="Times New Roman" panose="02020603050405020304" pitchFamily="18" charset="0"/>
                <a:hlinkClick r:id="rId2" tooltip="Web page"/>
              </a:rPr>
              <a:t>web pages</a:t>
            </a:r>
            <a:r>
              <a:rPr lang="en-US" dirty="0">
                <a:latin typeface="Times New Roman" panose="02020603050405020304" pitchFamily="18" charset="0"/>
                <a:cs typeface="Times New Roman" panose="02020603050405020304" pitchFamily="18" charset="0"/>
              </a:rPr>
              <a:t>, including </a:t>
            </a:r>
            <a:r>
              <a:rPr lang="en-US" dirty="0">
                <a:latin typeface="Times New Roman" panose="02020603050405020304" pitchFamily="18" charset="0"/>
                <a:cs typeface="Times New Roman" panose="02020603050405020304" pitchFamily="18" charset="0"/>
                <a:hlinkClick r:id="rId3" tooltip="Multimedia"/>
              </a:rPr>
              <a:t>multimedia</a:t>
            </a:r>
            <a:r>
              <a:rPr lang="en-US" dirty="0">
                <a:latin typeface="Times New Roman" panose="02020603050405020304" pitchFamily="18" charset="0"/>
                <a:cs typeface="Times New Roman" panose="02020603050405020304" pitchFamily="18" charset="0"/>
              </a:rPr>
              <a:t> content, typically identified with a common </a:t>
            </a:r>
            <a:r>
              <a:rPr lang="en-US" dirty="0">
                <a:latin typeface="Times New Roman" panose="02020603050405020304" pitchFamily="18" charset="0"/>
                <a:cs typeface="Times New Roman" panose="02020603050405020304" pitchFamily="18" charset="0"/>
                <a:hlinkClick r:id="rId4" tooltip="Domain name"/>
              </a:rPr>
              <a:t>domain name</a:t>
            </a:r>
            <a:r>
              <a:rPr lang="en-US" dirty="0">
                <a:latin typeface="Times New Roman" panose="02020603050405020304" pitchFamily="18" charset="0"/>
                <a:cs typeface="Times New Roman" panose="02020603050405020304" pitchFamily="18" charset="0"/>
              </a:rPr>
              <a:t>, and published on at least one </a:t>
            </a:r>
            <a:r>
              <a:rPr lang="en-US" u="sng" dirty="0">
                <a:latin typeface="Times New Roman" panose="02020603050405020304" pitchFamily="18" charset="0"/>
                <a:cs typeface="Times New Roman" panose="02020603050405020304" pitchFamily="18" charset="0"/>
                <a:hlinkClick r:id="rId5" tooltip="Web server"/>
              </a:rPr>
              <a:t>web server</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first website was built at </a:t>
            </a:r>
            <a:r>
              <a:rPr lang="en-US" dirty="0">
                <a:latin typeface="Times New Roman" panose="02020603050405020304" pitchFamily="18" charset="0"/>
                <a:cs typeface="Times New Roman" panose="02020603050405020304" pitchFamily="18" charset="0"/>
                <a:hlinkClick r:id="rId6"/>
              </a:rPr>
              <a:t>CERN</a:t>
            </a:r>
            <a:r>
              <a:rPr lang="en-US" dirty="0">
                <a:latin typeface="Times New Roman" panose="02020603050405020304" pitchFamily="18" charset="0"/>
                <a:cs typeface="Times New Roman" panose="02020603050405020304" pitchFamily="18" charset="0"/>
              </a:rPr>
              <a:t> by </a:t>
            </a:r>
            <a:r>
              <a:rPr lang="en-US" dirty="0">
                <a:latin typeface="Times New Roman" panose="02020603050405020304" pitchFamily="18" charset="0"/>
                <a:cs typeface="Times New Roman" panose="02020603050405020304" pitchFamily="18" charset="0"/>
                <a:hlinkClick r:id="rId7"/>
              </a:rPr>
              <a:t>Tim Berners-Lee</a:t>
            </a:r>
            <a:r>
              <a:rPr lang="en-US" dirty="0">
                <a:latin typeface="Times New Roman" panose="02020603050405020304" pitchFamily="18" charset="0"/>
                <a:cs typeface="Times New Roman" panose="02020603050405020304" pitchFamily="18" charset="0"/>
              </a:rPr>
              <a:t> and put online August 6, </a:t>
            </a:r>
            <a:r>
              <a:rPr lang="en-US" dirty="0">
                <a:latin typeface="Times New Roman" panose="02020603050405020304" pitchFamily="18" charset="0"/>
                <a:cs typeface="Times New Roman" panose="02020603050405020304" pitchFamily="18" charset="0"/>
                <a:hlinkClick r:id="rId8"/>
              </a:rPr>
              <a:t>1991</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Any business, government, or person can create a website on the Internet. Today, the Internet consists of billions of websites created by billions of different people</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a:solidFill>
                  <a:srgbClr val="7030A0"/>
                </a:solidFill>
                <a:latin typeface="Times New Roman" panose="02020603050405020304" pitchFamily="18" charset="0"/>
                <a:cs typeface="Times New Roman" panose="02020603050405020304" pitchFamily="18" charset="0"/>
              </a:rPr>
              <a:t>Ex: https://www.w3schools.com/</a:t>
            </a:r>
          </a:p>
        </p:txBody>
      </p:sp>
    </p:spTree>
    <p:extLst>
      <p:ext uri="{BB962C8B-B14F-4D97-AF65-F5344CB8AC3E}">
        <p14:creationId xmlns:p14="http://schemas.microsoft.com/office/powerpoint/2010/main" val="80138713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92162"/>
          </a:xfrm>
        </p:spPr>
        <p:txBody>
          <a:bodyPr>
            <a:normAutofit/>
          </a:bodyPr>
          <a:lstStyle/>
          <a:p>
            <a:pPr algn="l"/>
            <a:r>
              <a:rPr lang="en-US" sz="3200" b="1" dirty="0">
                <a:solidFill>
                  <a:srgbClr val="FF0000"/>
                </a:solidFill>
                <a:latin typeface="Times New Roman" pitchFamily="18" charset="0"/>
                <a:cs typeface="Times New Roman" pitchFamily="18" charset="0"/>
              </a:rPr>
              <a:t>Client/Server Architecture</a:t>
            </a:r>
          </a:p>
        </p:txBody>
      </p:sp>
      <p:sp>
        <p:nvSpPr>
          <p:cNvPr id="3" name="Content Placeholder 2"/>
          <p:cNvSpPr>
            <a:spLocks noGrp="1"/>
          </p:cNvSpPr>
          <p:nvPr>
            <p:ph idx="1"/>
          </p:nvPr>
        </p:nvSpPr>
        <p:spPr>
          <a:xfrm>
            <a:off x="533399" y="1019175"/>
            <a:ext cx="10067925" cy="4571999"/>
          </a:xfrm>
        </p:spPr>
        <p:txBody>
          <a:bodyPr>
            <a:normAutofit/>
          </a:bodyPr>
          <a:lstStyle/>
          <a:p>
            <a:pPr algn="just"/>
            <a:r>
              <a:rPr lang="en-US" sz="2400" b="1" dirty="0">
                <a:latin typeface="Times New Roman" panose="02020603050405020304" pitchFamily="18" charset="0"/>
                <a:cs typeface="Times New Roman" panose="02020603050405020304" pitchFamily="18" charset="0"/>
              </a:rPr>
              <a:t>Client-server architecture, </a:t>
            </a:r>
            <a:r>
              <a:rPr lang="en-US" sz="2400" dirty="0">
                <a:latin typeface="Times New Roman" panose="02020603050405020304" pitchFamily="18" charset="0"/>
                <a:cs typeface="Times New Roman" panose="02020603050405020304" pitchFamily="18" charset="0"/>
              </a:rPr>
              <a:t>architecture of a </a:t>
            </a:r>
            <a:r>
              <a:rPr lang="en-US" sz="2400" u="sng" dirty="0">
                <a:latin typeface="Times New Roman" panose="02020603050405020304" pitchFamily="18" charset="0"/>
                <a:cs typeface="Times New Roman" panose="02020603050405020304" pitchFamily="18" charset="0"/>
                <a:hlinkClick r:id="rId3"/>
              </a:rPr>
              <a:t>computer</a:t>
            </a:r>
            <a:r>
              <a:rPr lang="en-US" sz="2400" dirty="0">
                <a:latin typeface="Times New Roman" panose="02020603050405020304" pitchFamily="18" charset="0"/>
                <a:cs typeface="Times New Roman" panose="02020603050405020304" pitchFamily="18" charset="0"/>
              </a:rPr>
              <a:t> </a:t>
            </a:r>
            <a:r>
              <a:rPr lang="en-US" sz="2400" u="sng" dirty="0">
                <a:latin typeface="Times New Roman" panose="02020603050405020304" pitchFamily="18" charset="0"/>
                <a:cs typeface="Times New Roman" panose="02020603050405020304" pitchFamily="18" charset="0"/>
                <a:hlinkClick r:id="rId4"/>
              </a:rPr>
              <a:t>network</a:t>
            </a:r>
            <a:r>
              <a:rPr lang="en-US" sz="2400" dirty="0">
                <a:latin typeface="Times New Roman" panose="02020603050405020304" pitchFamily="18" charset="0"/>
                <a:cs typeface="Times New Roman" panose="02020603050405020304" pitchFamily="18" charset="0"/>
              </a:rPr>
              <a:t> in which many </a:t>
            </a:r>
            <a:r>
              <a:rPr lang="en-US" sz="2400" u="sng" dirty="0">
                <a:latin typeface="Times New Roman" panose="02020603050405020304" pitchFamily="18" charset="0"/>
                <a:cs typeface="Times New Roman" panose="02020603050405020304" pitchFamily="18" charset="0"/>
                <a:hlinkClick r:id="rId5"/>
              </a:rPr>
              <a:t>clients</a:t>
            </a:r>
            <a:r>
              <a:rPr lang="en-US" sz="2400" dirty="0">
                <a:latin typeface="Times New Roman" panose="02020603050405020304" pitchFamily="18" charset="0"/>
                <a:cs typeface="Times New Roman" panose="02020603050405020304" pitchFamily="18" charset="0"/>
              </a:rPr>
              <a:t>  request and receive service from a centralized </a:t>
            </a:r>
            <a:r>
              <a:rPr lang="en-US" sz="2400" u="sng" dirty="0">
                <a:latin typeface="Times New Roman" panose="02020603050405020304" pitchFamily="18" charset="0"/>
                <a:cs typeface="Times New Roman" panose="02020603050405020304" pitchFamily="18" charset="0"/>
                <a:hlinkClick r:id="rId6"/>
              </a:rPr>
              <a:t>server</a:t>
            </a:r>
            <a:r>
              <a:rPr lang="en-US" sz="2400" dirty="0">
                <a:latin typeface="Times New Roman" pitchFamily="18" charset="0"/>
                <a:cs typeface="Times New Roman" pitchFamily="18" charset="0"/>
              </a:rPr>
              <a:t> .</a:t>
            </a:r>
          </a:p>
          <a:p>
            <a:pPr marL="0" indent="0" algn="just">
              <a:buNone/>
            </a:pPr>
            <a:r>
              <a:rPr lang="en-US" sz="2400" dirty="0">
                <a:latin typeface="Times New Roman" pitchFamily="18" charset="0"/>
                <a:cs typeface="Times New Roman" pitchFamily="18" charset="0"/>
              </a:rPr>
              <a:t>Clients : Applications that runs on client computers</a:t>
            </a:r>
          </a:p>
          <a:p>
            <a:pPr marL="0" indent="0" algn="just">
              <a:buNone/>
            </a:pPr>
            <a:r>
              <a:rPr lang="en-US" sz="2400" dirty="0">
                <a:latin typeface="Times New Roman" pitchFamily="18" charset="0"/>
                <a:cs typeface="Times New Roman" pitchFamily="18" charset="0"/>
              </a:rPr>
              <a:t>Servers: Computers or processes that manage resources</a:t>
            </a:r>
          </a:p>
          <a:p>
            <a:pPr marL="0" indent="0" algn="just">
              <a:buNone/>
            </a:pPr>
            <a:r>
              <a:rPr lang="en-US" sz="2400" dirty="0">
                <a:latin typeface="Times New Roman" pitchFamily="18" charset="0"/>
                <a:cs typeface="Times New Roman" pitchFamily="18" charset="0"/>
              </a:rPr>
              <a:t>Communication Networks</a:t>
            </a:r>
          </a:p>
          <a:p>
            <a:pPr algn="just"/>
            <a:endParaRPr lang="en-US" sz="2400" dirty="0">
              <a:latin typeface="Times New Roman" pitchFamily="18" charset="0"/>
              <a:cs typeface="Times New Roman" pitchFamily="18" charset="0"/>
            </a:endParaRPr>
          </a:p>
        </p:txBody>
      </p:sp>
      <p:pic>
        <p:nvPicPr>
          <p:cNvPr id="1026" name="Picture 2" descr="Image result for client server architectur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28800" y="3393455"/>
            <a:ext cx="8229600" cy="28194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025714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8150" y="0"/>
            <a:ext cx="10515600" cy="720725"/>
          </a:xfrm>
        </p:spPr>
        <p:txBody>
          <a:bodyPr/>
          <a:lstStyle/>
          <a:p>
            <a:r>
              <a:rPr lang="en-US" dirty="0">
                <a:latin typeface="Times New Roman" panose="02020603050405020304" pitchFamily="18" charset="0"/>
                <a:cs typeface="Times New Roman" panose="02020603050405020304" pitchFamily="18" charset="0"/>
              </a:rPr>
              <a:t>Internet vs. Web</a:t>
            </a:r>
          </a:p>
        </p:txBody>
      </p:sp>
      <p:sp>
        <p:nvSpPr>
          <p:cNvPr id="3" name="Content Placeholder 2"/>
          <p:cNvSpPr>
            <a:spLocks noGrp="1"/>
          </p:cNvSpPr>
          <p:nvPr>
            <p:ph idx="1"/>
          </p:nvPr>
        </p:nvSpPr>
        <p:spPr>
          <a:xfrm>
            <a:off x="529590" y="720725"/>
            <a:ext cx="10424160" cy="4926330"/>
          </a:xfrm>
        </p:spPr>
        <p:txBody>
          <a:bodyPr>
            <a:normAutofit/>
          </a:bodyPr>
          <a:lstStyle/>
          <a:p>
            <a:pPr algn="just"/>
            <a:r>
              <a:rPr lang="en-US" sz="2600" dirty="0">
                <a:solidFill>
                  <a:srgbClr val="C00000"/>
                </a:solidFill>
                <a:latin typeface="Times New Roman" panose="02020603050405020304" pitchFamily="18" charset="0"/>
                <a:cs typeface="Times New Roman" panose="02020603050405020304" pitchFamily="18" charset="0"/>
              </a:rPr>
              <a:t>The Internet: </a:t>
            </a:r>
            <a:r>
              <a:rPr lang="en-US" sz="2600" dirty="0">
                <a:latin typeface="Times New Roman" panose="02020603050405020304" pitchFamily="18" charset="0"/>
                <a:cs typeface="Times New Roman" panose="02020603050405020304" pitchFamily="18" charset="0"/>
              </a:rPr>
              <a:t>a inter-connected computer networks, linked by wires, cables, wireless connections, etc.</a:t>
            </a:r>
          </a:p>
          <a:p>
            <a:pPr algn="just"/>
            <a:r>
              <a:rPr lang="en-US" sz="2600" dirty="0">
                <a:latin typeface="Times New Roman" panose="02020603050405020304" pitchFamily="18" charset="0"/>
                <a:cs typeface="Times New Roman" panose="02020603050405020304" pitchFamily="18" charset="0"/>
              </a:rPr>
              <a:t> </a:t>
            </a:r>
            <a:r>
              <a:rPr lang="en-US" sz="2600" dirty="0" smtClean="0">
                <a:latin typeface="Times New Roman" panose="02020603050405020304" pitchFamily="18" charset="0"/>
                <a:cs typeface="Times New Roman" panose="02020603050405020304" pitchFamily="18" charset="0"/>
              </a:rPr>
              <a:t>The </a:t>
            </a:r>
            <a:r>
              <a:rPr lang="en-US" sz="2600" dirty="0">
                <a:latin typeface="Times New Roman" panose="02020603050405020304" pitchFamily="18" charset="0"/>
                <a:cs typeface="Times New Roman" panose="02020603050405020304" pitchFamily="18" charset="0"/>
              </a:rPr>
              <a:t>internet was developed by "Advanced </a:t>
            </a:r>
            <a:r>
              <a:rPr lang="en-US" sz="2600" dirty="0" smtClean="0">
                <a:latin typeface="Times New Roman" panose="02020603050405020304" pitchFamily="18" charset="0"/>
                <a:cs typeface="Times New Roman" panose="02020603050405020304" pitchFamily="18" charset="0"/>
              </a:rPr>
              <a:t>Research </a:t>
            </a:r>
            <a:r>
              <a:rPr lang="en-US" sz="2600" dirty="0">
                <a:latin typeface="Times New Roman" panose="02020603050405020304" pitchFamily="18" charset="0"/>
                <a:cs typeface="Times New Roman" panose="02020603050405020304" pitchFamily="18" charset="0"/>
              </a:rPr>
              <a:t>Projects Agency" (ARPA net) department of the United States. And, it was first connected in 1969.</a:t>
            </a:r>
          </a:p>
          <a:p>
            <a:pPr algn="just"/>
            <a:r>
              <a:rPr lang="en-US" sz="2600" dirty="0">
                <a:solidFill>
                  <a:srgbClr val="C00000"/>
                </a:solidFill>
                <a:latin typeface="Times New Roman" panose="02020603050405020304" pitchFamily="18" charset="0"/>
                <a:cs typeface="Times New Roman" panose="02020603050405020304" pitchFamily="18" charset="0"/>
              </a:rPr>
              <a:t>Web: </a:t>
            </a:r>
            <a:r>
              <a:rPr lang="en-US" sz="2600" dirty="0">
                <a:latin typeface="Times New Roman" panose="02020603050405020304" pitchFamily="18" charset="0"/>
                <a:cs typeface="Times New Roman" panose="02020603050405020304" pitchFamily="18" charset="0"/>
              </a:rPr>
              <a:t>a collection of interconnected documents and other resources.</a:t>
            </a:r>
          </a:p>
          <a:p>
            <a:pPr algn="just"/>
            <a:r>
              <a:rPr lang="en-US" sz="2600" dirty="0">
                <a:latin typeface="Times New Roman" panose="02020603050405020304" pitchFamily="18" charset="0"/>
                <a:cs typeface="Times New Roman" panose="02020603050405020304" pitchFamily="18" charset="0"/>
              </a:rPr>
              <a:t>The </a:t>
            </a:r>
            <a:r>
              <a:rPr lang="en-US" sz="2600" dirty="0">
                <a:solidFill>
                  <a:srgbClr val="C00000"/>
                </a:solidFill>
                <a:latin typeface="Times New Roman" panose="02020603050405020304" pitchFamily="18" charset="0"/>
                <a:cs typeface="Times New Roman" panose="02020603050405020304" pitchFamily="18" charset="0"/>
              </a:rPr>
              <a:t>world wide web (WWW) </a:t>
            </a:r>
            <a:r>
              <a:rPr lang="en-US" sz="2600" dirty="0">
                <a:latin typeface="Times New Roman" panose="02020603050405020304" pitchFamily="18" charset="0"/>
                <a:cs typeface="Times New Roman" panose="02020603050405020304" pitchFamily="18" charset="0"/>
              </a:rPr>
              <a:t>is accessible via the Internet, as are many other services including email, file sharing, etc.</a:t>
            </a:r>
          </a:p>
          <a:p>
            <a:pPr algn="just"/>
            <a:endParaRPr lang="en-US" sz="2600" dirty="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2"/>
          <a:stretch>
            <a:fillRect/>
          </a:stretch>
        </p:blipFill>
        <p:spPr>
          <a:xfrm>
            <a:off x="4215138" y="4305300"/>
            <a:ext cx="3053063" cy="2286000"/>
          </a:xfrm>
          <a:prstGeom prst="rect">
            <a:avLst/>
          </a:prstGeom>
        </p:spPr>
      </p:pic>
    </p:spTree>
    <p:extLst>
      <p:ext uri="{BB962C8B-B14F-4D97-AF65-F5344CB8AC3E}">
        <p14:creationId xmlns:p14="http://schemas.microsoft.com/office/powerpoint/2010/main" val="4285814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925" y="0"/>
            <a:ext cx="10515600" cy="1325563"/>
          </a:xfrm>
        </p:spPr>
        <p:txBody>
          <a:bodyPr/>
          <a:lstStyle/>
          <a:p>
            <a:r>
              <a:rPr lang="en-US" dirty="0">
                <a:latin typeface="Times New Roman" panose="02020603050405020304" pitchFamily="18" charset="0"/>
                <a:cs typeface="Times New Roman" panose="02020603050405020304" pitchFamily="18" charset="0"/>
              </a:rPr>
              <a:t>How does the Internet Work?</a:t>
            </a:r>
          </a:p>
        </p:txBody>
      </p:sp>
      <p:sp>
        <p:nvSpPr>
          <p:cNvPr id="3" name="Content Placeholder 2"/>
          <p:cNvSpPr>
            <a:spLocks noGrp="1"/>
          </p:cNvSpPr>
          <p:nvPr>
            <p:ph idx="1"/>
          </p:nvPr>
        </p:nvSpPr>
        <p:spPr/>
        <p:txBody>
          <a:bodyPr>
            <a:normAutofit lnSpcReduction="10000"/>
          </a:bodyPr>
          <a:lstStyle/>
          <a:p>
            <a:pPr algn="just"/>
            <a:r>
              <a:rPr lang="en-US" sz="2880" dirty="0">
                <a:latin typeface="Times New Roman" panose="02020603050405020304" pitchFamily="18" charset="0"/>
                <a:cs typeface="Times New Roman" panose="02020603050405020304" pitchFamily="18" charset="0"/>
              </a:rPr>
              <a:t>Through communication protocols</a:t>
            </a:r>
          </a:p>
          <a:p>
            <a:pPr algn="just"/>
            <a:r>
              <a:rPr lang="en-US" sz="2880" dirty="0">
                <a:latin typeface="Times New Roman" panose="02020603050405020304" pitchFamily="18" charset="0"/>
                <a:cs typeface="Times New Roman" panose="02020603050405020304" pitchFamily="18" charset="0"/>
              </a:rPr>
              <a:t>A communication protocol is a specification of how communication between two computers will be carried out</a:t>
            </a:r>
          </a:p>
          <a:p>
            <a:pPr lvl="1" algn="just"/>
            <a:r>
              <a:rPr lang="en-US" sz="2880" dirty="0">
                <a:solidFill>
                  <a:srgbClr val="C00000"/>
                </a:solidFill>
                <a:latin typeface="Times New Roman" panose="02020603050405020304" pitchFamily="18" charset="0"/>
                <a:cs typeface="Times New Roman" panose="02020603050405020304" pitchFamily="18" charset="0"/>
              </a:rPr>
              <a:t>IP (Internet Protocol): </a:t>
            </a:r>
            <a:r>
              <a:rPr lang="en-US" sz="2880" dirty="0">
                <a:latin typeface="Times New Roman" panose="02020603050405020304" pitchFamily="18" charset="0"/>
                <a:cs typeface="Times New Roman" panose="02020603050405020304" pitchFamily="18" charset="0"/>
              </a:rPr>
              <a:t>defines the packets that carry blocks of data from one node to another</a:t>
            </a:r>
          </a:p>
          <a:p>
            <a:pPr lvl="1" algn="just"/>
            <a:r>
              <a:rPr lang="en-US" sz="2880" dirty="0">
                <a:solidFill>
                  <a:srgbClr val="C00000"/>
                </a:solidFill>
                <a:latin typeface="Times New Roman" panose="02020603050405020304" pitchFamily="18" charset="0"/>
                <a:cs typeface="Times New Roman" panose="02020603050405020304" pitchFamily="18" charset="0"/>
              </a:rPr>
              <a:t>TCP (Transmission Control Protocol) </a:t>
            </a:r>
            <a:r>
              <a:rPr lang="en-US" sz="2880" dirty="0">
                <a:latin typeface="Times New Roman" panose="02020603050405020304" pitchFamily="18" charset="0"/>
                <a:cs typeface="Times New Roman" panose="02020603050405020304" pitchFamily="18" charset="0"/>
              </a:rPr>
              <a:t>and </a:t>
            </a:r>
            <a:r>
              <a:rPr lang="en-US" sz="2880" dirty="0">
                <a:solidFill>
                  <a:srgbClr val="C00000"/>
                </a:solidFill>
                <a:latin typeface="Times New Roman" panose="02020603050405020304" pitchFamily="18" charset="0"/>
                <a:cs typeface="Times New Roman" panose="02020603050405020304" pitchFamily="18" charset="0"/>
              </a:rPr>
              <a:t>UDP (User Datagram Protocol): </a:t>
            </a:r>
            <a:r>
              <a:rPr lang="en-US" sz="2880" dirty="0">
                <a:latin typeface="Times New Roman" panose="02020603050405020304" pitchFamily="18" charset="0"/>
                <a:cs typeface="Times New Roman" panose="02020603050405020304" pitchFamily="18" charset="0"/>
              </a:rPr>
              <a:t>the protocols by which one host sends data to another.</a:t>
            </a:r>
          </a:p>
          <a:p>
            <a:pPr lvl="1" algn="just"/>
            <a:r>
              <a:rPr lang="en-US" sz="2880" dirty="0">
                <a:latin typeface="Times New Roman" panose="02020603050405020304" pitchFamily="18" charset="0"/>
                <a:cs typeface="Times New Roman" panose="02020603050405020304" pitchFamily="18" charset="0"/>
              </a:rPr>
              <a:t>Other </a:t>
            </a:r>
            <a:r>
              <a:rPr lang="en-US" sz="2880" dirty="0">
                <a:solidFill>
                  <a:srgbClr val="C00000"/>
                </a:solidFill>
                <a:latin typeface="Times New Roman" panose="02020603050405020304" pitchFamily="18" charset="0"/>
                <a:cs typeface="Times New Roman" panose="02020603050405020304" pitchFamily="18" charset="0"/>
              </a:rPr>
              <a:t>application protocols</a:t>
            </a:r>
            <a:r>
              <a:rPr lang="en-US" sz="2880" dirty="0">
                <a:latin typeface="Times New Roman" panose="02020603050405020304" pitchFamily="18" charset="0"/>
                <a:cs typeface="Times New Roman" panose="02020603050405020304" pitchFamily="18" charset="0"/>
              </a:rPr>
              <a:t>: DNS (Domain Name Service), SMTP (Simple Mail Transmission Protocol), and FTP (File Transmission Protocol)</a:t>
            </a:r>
          </a:p>
          <a:p>
            <a:pPr algn="just"/>
            <a:endParaRPr lang="en-US" sz="288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7</a:t>
            </a:fld>
            <a:endParaRPr lang="en-IN"/>
          </a:p>
        </p:txBody>
      </p:sp>
    </p:spTree>
    <p:extLst>
      <p:ext uri="{BB962C8B-B14F-4D97-AF65-F5344CB8AC3E}">
        <p14:creationId xmlns:p14="http://schemas.microsoft.com/office/powerpoint/2010/main" val="3253451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The Internet Protocol (IP)</a:t>
            </a:r>
          </a:p>
        </p:txBody>
      </p:sp>
      <p:sp>
        <p:nvSpPr>
          <p:cNvPr id="3" name="Content Placeholder 2"/>
          <p:cNvSpPr>
            <a:spLocks noGrp="1"/>
          </p:cNvSpPr>
          <p:nvPr>
            <p:ph idx="1"/>
          </p:nvPr>
        </p:nvSpPr>
        <p:spPr/>
        <p:txBody>
          <a:bodyPr>
            <a:normAutofit lnSpcReduction="10000"/>
          </a:bodyPr>
          <a:lstStyle/>
          <a:p>
            <a:pPr algn="just"/>
            <a:r>
              <a:rPr lang="en-US" sz="2640" dirty="0">
                <a:latin typeface="Times New Roman" panose="02020603050405020304" pitchFamily="18" charset="0"/>
                <a:cs typeface="Times New Roman" panose="02020603050405020304" pitchFamily="18" charset="0"/>
              </a:rPr>
              <a:t>A key element of IP is IP address, a 32-bit number</a:t>
            </a:r>
          </a:p>
          <a:p>
            <a:pPr algn="just"/>
            <a:r>
              <a:rPr lang="en-US" sz="2640" dirty="0">
                <a:latin typeface="Times New Roman" panose="02020603050405020304" pitchFamily="18" charset="0"/>
                <a:cs typeface="Times New Roman" panose="02020603050405020304" pitchFamily="18" charset="0"/>
              </a:rPr>
              <a:t>The Internet authorities assign ranges of numbers to different organizations</a:t>
            </a:r>
          </a:p>
          <a:p>
            <a:pPr algn="just"/>
            <a:r>
              <a:rPr lang="en-US" sz="2640" dirty="0">
                <a:latin typeface="Times New Roman" panose="02020603050405020304" pitchFamily="18" charset="0"/>
                <a:cs typeface="Times New Roman" panose="02020603050405020304" pitchFamily="18" charset="0"/>
              </a:rPr>
              <a:t>IP is responsible for moving packet of data from node to node</a:t>
            </a:r>
          </a:p>
          <a:p>
            <a:pPr algn="just"/>
            <a:r>
              <a:rPr lang="en-US" sz="2640" dirty="0">
                <a:latin typeface="Times New Roman" panose="02020603050405020304" pitchFamily="18" charset="0"/>
                <a:cs typeface="Times New Roman" panose="02020603050405020304" pitchFamily="18" charset="0"/>
              </a:rPr>
              <a:t>A packet contains information such as the data to be transferred, the source and destination IP addresses, etc.</a:t>
            </a:r>
          </a:p>
          <a:p>
            <a:pPr algn="just"/>
            <a:r>
              <a:rPr lang="en-US" sz="2640" dirty="0">
                <a:latin typeface="Times New Roman" panose="02020603050405020304" pitchFamily="18" charset="0"/>
                <a:cs typeface="Times New Roman" panose="02020603050405020304" pitchFamily="18" charset="0"/>
              </a:rPr>
              <a:t>Packets are sent through different local network through gateways</a:t>
            </a:r>
          </a:p>
          <a:p>
            <a:pPr algn="just"/>
            <a:r>
              <a:rPr lang="en-US" sz="2640" dirty="0">
                <a:latin typeface="Times New Roman" panose="02020603050405020304" pitchFamily="18" charset="0"/>
                <a:cs typeface="Times New Roman" panose="02020603050405020304" pitchFamily="18" charset="0"/>
              </a:rPr>
              <a:t>A checksum is created to ensure the correctness of the data; corrupted packets are discarded</a:t>
            </a:r>
          </a:p>
          <a:p>
            <a:pPr algn="just"/>
            <a:r>
              <a:rPr lang="en-US" sz="2640" dirty="0">
                <a:latin typeface="Times New Roman" panose="02020603050405020304" pitchFamily="18" charset="0"/>
                <a:cs typeface="Times New Roman" panose="02020603050405020304" pitchFamily="18" charset="0"/>
              </a:rPr>
              <a:t>IP-based communication is unreliable</a:t>
            </a:r>
          </a:p>
          <a:p>
            <a:pPr algn="just"/>
            <a:endParaRPr lang="en-US" sz="264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41631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Internet Protocol (IP)</a:t>
            </a:r>
          </a:p>
        </p:txBody>
      </p:sp>
      <p:pic>
        <p:nvPicPr>
          <p:cNvPr id="7" name="Picture 6"/>
          <p:cNvPicPr>
            <a:picLocks noChangeAspect="1"/>
          </p:cNvPicPr>
          <p:nvPr/>
        </p:nvPicPr>
        <p:blipFill>
          <a:blip r:embed="rId2"/>
          <a:stretch>
            <a:fillRect/>
          </a:stretch>
        </p:blipFill>
        <p:spPr>
          <a:xfrm>
            <a:off x="838200" y="689266"/>
            <a:ext cx="10402752" cy="5201376"/>
          </a:xfrm>
          <a:prstGeom prst="rect">
            <a:avLst/>
          </a:prstGeom>
        </p:spPr>
      </p:pic>
    </p:spTree>
    <p:extLst>
      <p:ext uri="{BB962C8B-B14F-4D97-AF65-F5344CB8AC3E}">
        <p14:creationId xmlns:p14="http://schemas.microsoft.com/office/powerpoint/2010/main" val="5270669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Transmission </a:t>
            </a:r>
            <a:r>
              <a:rPr lang="en-US" dirty="0"/>
              <a:t>Control Protocol (TCP)</a:t>
            </a:r>
          </a:p>
        </p:txBody>
      </p:sp>
      <p:sp>
        <p:nvSpPr>
          <p:cNvPr id="3" name="Content Placeholder 2"/>
          <p:cNvSpPr>
            <a:spLocks noGrp="1"/>
          </p:cNvSpPr>
          <p:nvPr>
            <p:ph idx="1"/>
          </p:nvPr>
        </p:nvSpPr>
        <p:spPr/>
        <p:txBody>
          <a:bodyPr/>
          <a:lstStyle/>
          <a:p>
            <a:pPr algn="just"/>
            <a:r>
              <a:rPr lang="en-US" sz="2640" dirty="0">
                <a:latin typeface="Times New Roman" panose="02020603050405020304" pitchFamily="18" charset="0"/>
                <a:cs typeface="Times New Roman" panose="02020603050405020304" pitchFamily="18" charset="0"/>
              </a:rPr>
              <a:t>TCP is a higher-level protocol that extends IP to provide additional functionality: reliable communication</a:t>
            </a:r>
          </a:p>
          <a:p>
            <a:pPr algn="just"/>
            <a:endParaRPr lang="en-US" sz="2640" dirty="0">
              <a:latin typeface="Times New Roman" panose="02020603050405020304" pitchFamily="18" charset="0"/>
              <a:cs typeface="Times New Roman" panose="02020603050405020304" pitchFamily="18" charset="0"/>
            </a:endParaRPr>
          </a:p>
          <a:p>
            <a:pPr algn="just"/>
            <a:r>
              <a:rPr lang="en-US" sz="2640" dirty="0">
                <a:latin typeface="Times New Roman" panose="02020603050405020304" pitchFamily="18" charset="0"/>
                <a:cs typeface="Times New Roman" panose="02020603050405020304" pitchFamily="18" charset="0"/>
              </a:rPr>
              <a:t>TCP adds support to detect errors or lost data and to trigger retransmission until the data is correctly and completely received</a:t>
            </a:r>
          </a:p>
          <a:p>
            <a:pPr algn="just"/>
            <a:endParaRPr lang="en-US" sz="2640" dirty="0">
              <a:latin typeface="Times New Roman" panose="02020603050405020304" pitchFamily="18" charset="0"/>
              <a:cs typeface="Times New Roman" panose="02020603050405020304" pitchFamily="18" charset="0"/>
            </a:endParaRPr>
          </a:p>
          <a:p>
            <a:pPr algn="just"/>
            <a:r>
              <a:rPr lang="en-US" sz="2640" dirty="0">
                <a:latin typeface="Times New Roman" panose="02020603050405020304" pitchFamily="18" charset="0"/>
                <a:cs typeface="Times New Roman" panose="02020603050405020304" pitchFamily="18" charset="0"/>
              </a:rPr>
              <a:t>Connection</a:t>
            </a:r>
          </a:p>
          <a:p>
            <a:pPr algn="just"/>
            <a:endParaRPr lang="en-US" sz="2640" dirty="0">
              <a:latin typeface="Times New Roman" panose="02020603050405020304" pitchFamily="18" charset="0"/>
              <a:cs typeface="Times New Roman" panose="02020603050405020304" pitchFamily="18" charset="0"/>
            </a:endParaRPr>
          </a:p>
          <a:p>
            <a:pPr algn="just"/>
            <a:r>
              <a:rPr lang="en-US" sz="2640" dirty="0">
                <a:latin typeface="Times New Roman" panose="02020603050405020304" pitchFamily="18" charset="0"/>
                <a:cs typeface="Times New Roman" panose="02020603050405020304" pitchFamily="18" charset="0"/>
              </a:rPr>
              <a:t>Acknowledgment</a:t>
            </a:r>
          </a:p>
          <a:p>
            <a:pPr algn="just"/>
            <a:endParaRPr lang="en-US" sz="264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28747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3375" y="95297"/>
            <a:ext cx="10515600" cy="825500"/>
          </a:xfrm>
        </p:spPr>
        <p:txBody>
          <a:bodyPr/>
          <a:lstStyle/>
          <a:p>
            <a:pPr fontAlgn="base"/>
            <a:r>
              <a:rPr lang="en-US" b="1" dirty="0">
                <a:latin typeface="Times New Roman" panose="02020603050405020304" pitchFamily="18" charset="0"/>
                <a:cs typeface="Times New Roman" panose="02020603050405020304" pitchFamily="18" charset="0"/>
              </a:rPr>
              <a:t>Uses of the Internet</a:t>
            </a:r>
          </a:p>
        </p:txBody>
      </p:sp>
      <p:sp>
        <p:nvSpPr>
          <p:cNvPr id="4" name="Rectangle 1"/>
          <p:cNvSpPr>
            <a:spLocks noGrp="1" noChangeArrowheads="1"/>
          </p:cNvSpPr>
          <p:nvPr>
            <p:ph idx="1"/>
          </p:nvPr>
        </p:nvSpPr>
        <p:spPr bwMode="auto">
          <a:xfrm>
            <a:off x="333375" y="920797"/>
            <a:ext cx="12157479" cy="55659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Email</a:t>
            </a:r>
            <a:r>
              <a:rPr kumimoji="0" 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 Sending and receiving messages electronically.</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Video Conferencing</a:t>
            </a:r>
            <a:r>
              <a:rPr kumimoji="0" 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 Real-time video communication (e.g., Zoom, Google Meet).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Online Shopping</a:t>
            </a:r>
            <a:r>
              <a:rPr kumimoji="0" 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 Buying and selling goods/services (e.g., Amazon, </a:t>
            </a:r>
            <a:r>
              <a:rPr kumimoji="0" lang="en-US" sz="2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Flipkart</a:t>
            </a:r>
            <a:r>
              <a:rPr kumimoji="0" 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Online Banking</a:t>
            </a:r>
            <a:r>
              <a:rPr kumimoji="0" 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 Managing bank accounts and transactions via the internet.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E-Learning</a:t>
            </a:r>
            <a:r>
              <a:rPr kumimoji="0" 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 Studying through online courses and materials.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Social Networking</a:t>
            </a:r>
            <a:r>
              <a:rPr kumimoji="0" 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 Connecting and interacting with others (e.g., Facebook, </a:t>
            </a:r>
            <a:r>
              <a:rPr kumimoji="0" lang="en-US" sz="2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Instagram</a:t>
            </a:r>
            <a:r>
              <a:rPr kumimoji="0" 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Entertainment</a:t>
            </a:r>
            <a:r>
              <a:rPr kumimoji="0" 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 Streaming videos, music, playing games (e.g., YouTube, Netflix).</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Research</a:t>
            </a:r>
            <a:r>
              <a:rPr kumimoji="0" 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 Finding information for education or work (e.g., Google, Wikipedia).</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Job Search</a:t>
            </a:r>
            <a:r>
              <a:rPr kumimoji="0" 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 Looking for employment opportunities online (e.g., LinkedIn, </a:t>
            </a:r>
            <a:r>
              <a:rPr kumimoji="0" lang="en-US" sz="2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Naukri</a:t>
            </a:r>
            <a:r>
              <a:rPr kumimoji="0" 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E-Commerce</a:t>
            </a:r>
            <a:r>
              <a:rPr kumimoji="0" 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 Buying/selling and conducting commercial transactions online</a:t>
            </a:r>
          </a:p>
        </p:txBody>
      </p:sp>
    </p:spTree>
    <p:extLst>
      <p:ext uri="{BB962C8B-B14F-4D97-AF65-F5344CB8AC3E}">
        <p14:creationId xmlns:p14="http://schemas.microsoft.com/office/powerpoint/2010/main" val="234128943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World wide web</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155682" y="1438622"/>
            <a:ext cx="10515600" cy="4351338"/>
          </a:xfrm>
        </p:spPr>
        <p:txBody>
          <a:bodyPr/>
          <a:lstStyle/>
          <a:p>
            <a:pPr algn="just"/>
            <a:r>
              <a:rPr lang="en-US" sz="2400" dirty="0">
                <a:latin typeface="Times New Roman" panose="02020603050405020304" pitchFamily="18" charset="0"/>
                <a:cs typeface="Times New Roman" panose="02020603050405020304" pitchFamily="18" charset="0"/>
              </a:rPr>
              <a:t>World Wide Web(WWW) is a collection  of software and corresponding protocols used to access the resources over the network. </a:t>
            </a:r>
          </a:p>
          <a:p>
            <a:pPr algn="just"/>
            <a:r>
              <a:rPr lang="en-US" sz="2400" dirty="0">
                <a:latin typeface="Times New Roman" panose="02020603050405020304" pitchFamily="18" charset="0"/>
                <a:cs typeface="Times New Roman" panose="02020603050405020304" pitchFamily="18" charset="0"/>
              </a:rPr>
              <a:t>The Web gives users access to a vast array of documents that are connected to each other by means of hypertext or hypermedia links.</a:t>
            </a:r>
          </a:p>
          <a:p>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26534" y="3545458"/>
            <a:ext cx="6080930" cy="28070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014621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3433" y="365125"/>
            <a:ext cx="10640367" cy="1325563"/>
          </a:xfrm>
        </p:spPr>
        <p:txBody>
          <a:bodyPr/>
          <a:lstStyle/>
          <a:p>
            <a:r>
              <a:rPr lang="en-US" dirty="0" smtClean="0">
                <a:latin typeface="Times New Roman" panose="02020603050405020304" pitchFamily="18" charset="0"/>
                <a:cs typeface="Times New Roman" panose="02020603050405020304" pitchFamily="18" charset="0"/>
              </a:rPr>
              <a:t>WWW</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517301"/>
            <a:ext cx="10515600" cy="2092674"/>
          </a:xfrm>
        </p:spPr>
        <p:txBody>
          <a:bodyPr>
            <a:normAutofit/>
          </a:bodyPr>
          <a:lstStyle/>
          <a:p>
            <a:pPr marL="0" indent="0" algn="just">
              <a:buNone/>
            </a:pPr>
            <a:r>
              <a:rPr lang="en-US" b="1" dirty="0">
                <a:latin typeface="Times New Roman" panose="02020603050405020304" pitchFamily="18" charset="0"/>
                <a:cs typeface="Times New Roman" panose="02020603050405020304" pitchFamily="18" charset="0"/>
              </a:rPr>
              <a:t>W</a:t>
            </a:r>
            <a:r>
              <a:rPr lang="en-US" b="1" dirty="0" smtClean="0">
                <a:latin typeface="Times New Roman" panose="02020603050405020304" pitchFamily="18" charset="0"/>
                <a:cs typeface="Times New Roman" panose="02020603050405020304" pitchFamily="18" charset="0"/>
              </a:rPr>
              <a:t>eb </a:t>
            </a:r>
            <a:r>
              <a:rPr lang="en-US" b="1" dirty="0">
                <a:latin typeface="Times New Roman" panose="02020603050405020304" pitchFamily="18" charset="0"/>
                <a:cs typeface="Times New Roman" panose="02020603050405020304" pitchFamily="18" charset="0"/>
              </a:rPr>
              <a:t>page</a:t>
            </a:r>
            <a:r>
              <a:rPr lang="en-US" dirty="0">
                <a:latin typeface="Times New Roman" panose="02020603050405020304" pitchFamily="18" charset="0"/>
                <a:cs typeface="Times New Roman" panose="02020603050405020304" pitchFamily="18" charset="0"/>
              </a:rPr>
              <a:t> is a document available on world wide web. Web Pages are stored on web server and can be viewed using a web browser</a:t>
            </a:r>
            <a:r>
              <a:rPr lang="en-US" dirty="0" smtClean="0">
                <a:latin typeface="Times New Roman" panose="02020603050405020304" pitchFamily="18" charset="0"/>
                <a:cs typeface="Times New Roman" panose="02020603050405020304" pitchFamily="18" charset="0"/>
              </a:rPr>
              <a:t>.</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2323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3433" y="365125"/>
            <a:ext cx="10640367" cy="1325563"/>
          </a:xfrm>
        </p:spPr>
        <p:txBody>
          <a:bodyPr/>
          <a:lstStyle/>
          <a:p>
            <a:r>
              <a:rPr lang="en-US" dirty="0">
                <a:latin typeface="Times New Roman" panose="02020603050405020304" pitchFamily="18" charset="0"/>
                <a:cs typeface="Times New Roman" panose="02020603050405020304" pitchFamily="18" charset="0"/>
              </a:rPr>
              <a:t>Static Websites</a:t>
            </a:r>
          </a:p>
        </p:txBody>
      </p:sp>
      <p:sp>
        <p:nvSpPr>
          <p:cNvPr id="3" name="Content Placeholder 2"/>
          <p:cNvSpPr>
            <a:spLocks noGrp="1"/>
          </p:cNvSpPr>
          <p:nvPr>
            <p:ph idx="1"/>
          </p:nvPr>
        </p:nvSpPr>
        <p:spPr>
          <a:xfrm>
            <a:off x="838200" y="1517301"/>
            <a:ext cx="10515600" cy="2092674"/>
          </a:xfrm>
        </p:spPr>
        <p:txBody>
          <a:bodyPr>
            <a:normAutofit/>
          </a:bodyPr>
          <a:lstStyle/>
          <a:p>
            <a:pPr algn="just"/>
            <a:r>
              <a:rPr lang="en-US" b="1" dirty="0">
                <a:latin typeface="Times New Roman" panose="02020603050405020304" pitchFamily="18" charset="0"/>
                <a:cs typeface="Times New Roman" panose="02020603050405020304" pitchFamily="18" charset="0"/>
              </a:rPr>
              <a:t>Static websites</a:t>
            </a:r>
            <a:r>
              <a:rPr lang="en-US" dirty="0">
                <a:latin typeface="Times New Roman" panose="02020603050405020304" pitchFamily="18" charset="0"/>
                <a:cs typeface="Times New Roman" panose="02020603050405020304" pitchFamily="18" charset="0"/>
              </a:rPr>
              <a:t> are also known as flat or stationary websites. They are loaded on the clients browser as exactly they are stored on the web server. Such websites contain only static information. User can only read the information but cant do any modification or interact with the information.</a:t>
            </a:r>
            <a:endParaRPr lang="en-IN"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1742657" y="3609975"/>
            <a:ext cx="9163468" cy="2903711"/>
          </a:xfrm>
          <a:prstGeom prst="rect">
            <a:avLst/>
          </a:prstGeom>
        </p:spPr>
      </p:pic>
    </p:spTree>
    <p:extLst>
      <p:ext uri="{BB962C8B-B14F-4D97-AF65-F5344CB8AC3E}">
        <p14:creationId xmlns:p14="http://schemas.microsoft.com/office/powerpoint/2010/main" val="353155982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3433" y="365125"/>
            <a:ext cx="10640367" cy="1325563"/>
          </a:xfrm>
        </p:spPr>
        <p:txBody>
          <a:bodyPr/>
          <a:lstStyle/>
          <a:p>
            <a:r>
              <a:rPr lang="en-US" dirty="0">
                <a:latin typeface="Times New Roman" panose="02020603050405020304" pitchFamily="18" charset="0"/>
                <a:cs typeface="Times New Roman" panose="02020603050405020304" pitchFamily="18" charset="0"/>
              </a:rPr>
              <a:t>Dynamic Websites</a:t>
            </a:r>
          </a:p>
        </p:txBody>
      </p:sp>
      <p:sp>
        <p:nvSpPr>
          <p:cNvPr id="3" name="Content Placeholder 2"/>
          <p:cNvSpPr>
            <a:spLocks noGrp="1"/>
          </p:cNvSpPr>
          <p:nvPr>
            <p:ph idx="1"/>
          </p:nvPr>
        </p:nvSpPr>
        <p:spPr>
          <a:xfrm>
            <a:off x="838200" y="1517301"/>
            <a:ext cx="10515600" cy="2092674"/>
          </a:xfrm>
        </p:spPr>
        <p:txBody>
          <a:bodyPr>
            <a:normAutofit/>
          </a:bodyPr>
          <a:lstStyle/>
          <a:p>
            <a:pPr algn="just"/>
            <a:r>
              <a:rPr lang="en-US" b="1" dirty="0">
                <a:latin typeface="Times New Roman" panose="02020603050405020304" pitchFamily="18" charset="0"/>
                <a:cs typeface="Times New Roman" panose="02020603050405020304" pitchFamily="18" charset="0"/>
              </a:rPr>
              <a:t>Dynamic websites</a:t>
            </a:r>
            <a:r>
              <a:rPr lang="en-US" dirty="0">
                <a:latin typeface="Times New Roman" panose="02020603050405020304" pitchFamily="18" charset="0"/>
                <a:cs typeface="Times New Roman" panose="02020603050405020304" pitchFamily="18" charset="0"/>
              </a:rPr>
              <a:t> shows different information at different point of time. It is possible to change a portion of a web page without loading the entire web page. It has been made possible using </a:t>
            </a:r>
            <a:r>
              <a:rPr lang="en-US" b="1" dirty="0">
                <a:latin typeface="Times New Roman" panose="02020603050405020304" pitchFamily="18" charset="0"/>
                <a:cs typeface="Times New Roman" panose="02020603050405020304" pitchFamily="18" charset="0"/>
              </a:rPr>
              <a:t>Ajax</a:t>
            </a:r>
            <a:r>
              <a:rPr lang="en-US" dirty="0">
                <a:latin typeface="Times New Roman" panose="02020603050405020304" pitchFamily="18" charset="0"/>
                <a:cs typeface="Times New Roman" panose="02020603050405020304" pitchFamily="18" charset="0"/>
              </a:rPr>
              <a:t> technology</a:t>
            </a:r>
            <a:endParaRPr lang="en-IN"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598537" y="2980715"/>
            <a:ext cx="10870158" cy="3105760"/>
          </a:xfrm>
          <a:prstGeom prst="rect">
            <a:avLst/>
          </a:prstGeom>
        </p:spPr>
      </p:pic>
    </p:spTree>
    <p:extLst>
      <p:ext uri="{BB962C8B-B14F-4D97-AF65-F5344CB8AC3E}">
        <p14:creationId xmlns:p14="http://schemas.microsoft.com/office/powerpoint/2010/main" val="236439553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3433" y="365125"/>
            <a:ext cx="10640367" cy="1325563"/>
          </a:xfrm>
        </p:spPr>
        <p:txBody>
          <a:bodyPr/>
          <a:lstStyle/>
          <a:p>
            <a:r>
              <a:rPr lang="en-IN" b="1" dirty="0" smtClean="0">
                <a:latin typeface="Times New Roman" panose="02020603050405020304" pitchFamily="18" charset="0"/>
                <a:cs typeface="Times New Roman" panose="02020603050405020304" pitchFamily="18" charset="0"/>
              </a:rPr>
              <a:t>Web Browser</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517301"/>
            <a:ext cx="11049000" cy="5083524"/>
          </a:xfrm>
        </p:spPr>
        <p:txBody>
          <a:bodyPr>
            <a:noAutofit/>
          </a:bodyPr>
          <a:lstStyle/>
          <a:p>
            <a:pPr algn="just"/>
            <a:r>
              <a:rPr lang="en-US" sz="2600" b="1" smtClean="0">
                <a:latin typeface="Times New Roman" panose="02020603050405020304" pitchFamily="18" charset="0"/>
                <a:cs typeface="Times New Roman" panose="02020603050405020304" pitchFamily="18" charset="0"/>
              </a:rPr>
              <a:t>It</a:t>
            </a:r>
            <a:r>
              <a:rPr lang="en-US" sz="2600" dirty="0">
                <a:latin typeface="Times New Roman" panose="02020603050405020304" pitchFamily="18" charset="0"/>
                <a:cs typeface="Times New Roman" panose="02020603050405020304" pitchFamily="18" charset="0"/>
              </a:rPr>
              <a:t> is an application software that allows us to view and explore information on the web. User can request for any web page by just entering a URL into </a:t>
            </a:r>
            <a:r>
              <a:rPr lang="en-US" sz="2600" dirty="0" smtClean="0">
                <a:latin typeface="Times New Roman" panose="02020603050405020304" pitchFamily="18" charset="0"/>
                <a:cs typeface="Times New Roman" panose="02020603050405020304" pitchFamily="18" charset="0"/>
              </a:rPr>
              <a:t>address </a:t>
            </a:r>
            <a:r>
              <a:rPr lang="en-US" sz="2600" dirty="0">
                <a:latin typeface="Times New Roman" panose="02020603050405020304" pitchFamily="18" charset="0"/>
                <a:cs typeface="Times New Roman" panose="02020603050405020304" pitchFamily="18" charset="0"/>
              </a:rPr>
              <a:t>bar</a:t>
            </a:r>
            <a:r>
              <a:rPr lang="en-US" sz="2600" dirty="0" smtClean="0">
                <a:latin typeface="Times New Roman" panose="02020603050405020304" pitchFamily="18" charset="0"/>
                <a:cs typeface="Times New Roman" panose="02020603050405020304" pitchFamily="18" charset="0"/>
              </a:rPr>
              <a:t>.</a:t>
            </a:r>
          </a:p>
          <a:p>
            <a:pPr algn="just"/>
            <a:r>
              <a:rPr lang="en-US" sz="2600" dirty="0">
                <a:latin typeface="Times New Roman" panose="02020603050405020304" pitchFamily="18" charset="0"/>
                <a:cs typeface="Times New Roman" panose="02020603050405020304" pitchFamily="18" charset="0"/>
              </a:rPr>
              <a:t>A web browser (commonly referred to as a browser) is a software application for accessing information on the World Wide Web.</a:t>
            </a:r>
          </a:p>
          <a:p>
            <a:pPr algn="just"/>
            <a:r>
              <a:rPr lang="en-US" sz="2600" dirty="0">
                <a:latin typeface="Times New Roman" panose="02020603050405020304" pitchFamily="18" charset="0"/>
                <a:cs typeface="Times New Roman" panose="02020603050405020304" pitchFamily="18" charset="0"/>
              </a:rPr>
              <a:t>Documents provided by servers on the web are requested by </a:t>
            </a:r>
            <a:r>
              <a:rPr lang="en-US" sz="2600" i="1" dirty="0">
                <a:latin typeface="Times New Roman" panose="02020603050405020304" pitchFamily="18" charset="0"/>
                <a:cs typeface="Times New Roman" panose="02020603050405020304" pitchFamily="18" charset="0"/>
              </a:rPr>
              <a:t>browsers.</a:t>
            </a:r>
          </a:p>
          <a:p>
            <a:pPr algn="just"/>
            <a:r>
              <a:rPr lang="en-US" sz="2600" dirty="0">
                <a:latin typeface="Times New Roman" panose="02020603050405020304" pitchFamily="18" charset="0"/>
                <a:cs typeface="Times New Roman" panose="02020603050405020304" pitchFamily="18" charset="0"/>
              </a:rPr>
              <a:t>A </a:t>
            </a:r>
            <a:r>
              <a:rPr lang="en-US" sz="2600" b="1" i="1" dirty="0">
                <a:latin typeface="Times New Roman" panose="02020603050405020304" pitchFamily="18" charset="0"/>
                <a:cs typeface="Times New Roman" panose="02020603050405020304" pitchFamily="18" charset="0"/>
              </a:rPr>
              <a:t>browser</a:t>
            </a:r>
            <a:r>
              <a:rPr lang="en-US" sz="2600" dirty="0">
                <a:latin typeface="Times New Roman" panose="02020603050405020304" pitchFamily="18" charset="0"/>
                <a:cs typeface="Times New Roman" panose="02020603050405020304" pitchFamily="18" charset="0"/>
              </a:rPr>
              <a:t> is a </a:t>
            </a:r>
            <a:r>
              <a:rPr lang="en-US" sz="2600" i="1" dirty="0">
                <a:latin typeface="Times New Roman" panose="02020603050405020304" pitchFamily="18" charset="0"/>
                <a:cs typeface="Times New Roman" panose="02020603050405020304" pitchFamily="18" charset="0"/>
              </a:rPr>
              <a:t>client </a:t>
            </a:r>
            <a:r>
              <a:rPr lang="en-US" sz="2600" dirty="0">
                <a:latin typeface="Times New Roman" panose="02020603050405020304" pitchFamily="18" charset="0"/>
                <a:cs typeface="Times New Roman" panose="02020603050405020304" pitchFamily="18" charset="0"/>
              </a:rPr>
              <a:t>on the web because it initiates communication with a </a:t>
            </a:r>
            <a:r>
              <a:rPr lang="en-US" sz="2600" i="1" dirty="0">
                <a:latin typeface="Times New Roman" panose="02020603050405020304" pitchFamily="18" charset="0"/>
                <a:cs typeface="Times New Roman" panose="02020603050405020304" pitchFamily="18" charset="0"/>
              </a:rPr>
              <a:t>server</a:t>
            </a:r>
            <a:r>
              <a:rPr lang="en-US" sz="2600" dirty="0">
                <a:latin typeface="Times New Roman" panose="02020603050405020304" pitchFamily="18" charset="0"/>
                <a:cs typeface="Times New Roman" panose="02020603050405020304" pitchFamily="18" charset="0"/>
              </a:rPr>
              <a:t>.</a:t>
            </a:r>
          </a:p>
          <a:p>
            <a:pPr algn="just"/>
            <a:endParaRPr lang="en-US" sz="2600" dirty="0">
              <a:latin typeface="Times New Roman" panose="02020603050405020304" pitchFamily="18" charset="0"/>
              <a:cs typeface="Times New Roman" panose="02020603050405020304" pitchFamily="18" charset="0"/>
            </a:endParaRPr>
          </a:p>
          <a:p>
            <a:pPr marL="0" indent="0" algn="just">
              <a:buNone/>
            </a:pPr>
            <a:r>
              <a:rPr lang="en-US" sz="2600" dirty="0" smtClean="0">
                <a:latin typeface="Times New Roman" panose="02020603050405020304" pitchFamily="18" charset="0"/>
                <a:cs typeface="Times New Roman" panose="02020603050405020304" pitchFamily="18" charset="0"/>
              </a:rPr>
              <a:t>Example: IE, chrome, Mozilla Firefox, </a:t>
            </a:r>
            <a:r>
              <a:rPr lang="en-US" sz="2600" dirty="0">
                <a:latin typeface="Times New Roman" panose="02020603050405020304" pitchFamily="18" charset="0"/>
                <a:cs typeface="Times New Roman" panose="02020603050405020304" pitchFamily="18" charset="0"/>
              </a:rPr>
              <a:t>Netscape </a:t>
            </a:r>
            <a:r>
              <a:rPr lang="en-US" sz="2600" dirty="0" smtClean="0">
                <a:latin typeface="Times New Roman" panose="02020603050405020304" pitchFamily="18" charset="0"/>
                <a:cs typeface="Times New Roman" panose="02020603050405020304" pitchFamily="18" charset="0"/>
              </a:rPr>
              <a:t>Navigator, opera, safari,..</a:t>
            </a:r>
            <a:endParaRPr lang="en-IN"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117675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Domain </a:t>
            </a:r>
            <a:r>
              <a:rPr lang="en-IN" dirty="0" smtClean="0">
                <a:latin typeface="Times New Roman" panose="02020603050405020304" pitchFamily="18" charset="0"/>
                <a:cs typeface="Times New Roman" panose="02020603050405020304" pitchFamily="18" charset="0"/>
              </a:rPr>
              <a:t>Name </a:t>
            </a:r>
            <a:r>
              <a:rPr lang="en-IN" dirty="0">
                <a:latin typeface="Times New Roman" panose="02020603050405020304" pitchFamily="18" charset="0"/>
                <a:cs typeface="Times New Roman" panose="02020603050405020304" pitchFamily="18" charset="0"/>
              </a:rPr>
              <a:t>S</a:t>
            </a:r>
            <a:r>
              <a:rPr lang="en-IN" dirty="0" smtClean="0">
                <a:latin typeface="Times New Roman" panose="02020603050405020304" pitchFamily="18" charset="0"/>
                <a:cs typeface="Times New Roman" panose="02020603050405020304" pitchFamily="18" charset="0"/>
              </a:rPr>
              <a:t>ervice</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386671" y="1664851"/>
            <a:ext cx="9997273" cy="4351338"/>
          </a:xfrm>
        </p:spPr>
        <p:txBody>
          <a:bodyPr/>
          <a:lstStyle/>
          <a:p>
            <a:pPr algn="just"/>
            <a:r>
              <a:rPr lang="en-US" dirty="0">
                <a:latin typeface="Times New Roman" panose="02020603050405020304" pitchFamily="18" charset="0"/>
                <a:cs typeface="Times New Roman" panose="02020603050405020304" pitchFamily="18" charset="0"/>
              </a:rPr>
              <a:t>Every machine attached to the internet has an IP address.</a:t>
            </a:r>
          </a:p>
          <a:p>
            <a:pPr algn="just"/>
            <a:r>
              <a:rPr lang="en-US" dirty="0">
                <a:latin typeface="Times New Roman" panose="02020603050405020304" pitchFamily="18" charset="0"/>
                <a:cs typeface="Times New Roman" panose="02020603050405020304" pitchFamily="18" charset="0"/>
              </a:rPr>
              <a:t>But we generally access web servers by name, such as google.com.</a:t>
            </a:r>
          </a:p>
          <a:p>
            <a:pPr algn="just"/>
            <a:r>
              <a:rPr lang="en-US" dirty="0">
                <a:latin typeface="Times New Roman" panose="02020603050405020304" pitchFamily="18" charset="0"/>
                <a:cs typeface="Times New Roman" panose="02020603050405020304" pitchFamily="18" charset="0"/>
              </a:rPr>
              <a:t>The browser consults an additional internet service called the Domain Name Service (DNS) to find the server’s associated IP address and then uses it to communicate with the computer.</a:t>
            </a:r>
          </a:p>
          <a:p>
            <a:endParaRPr lang="en-IN" dirty="0"/>
          </a:p>
        </p:txBody>
      </p:sp>
    </p:spTree>
    <p:extLst>
      <p:ext uri="{BB962C8B-B14F-4D97-AF65-F5344CB8AC3E}">
        <p14:creationId xmlns:p14="http://schemas.microsoft.com/office/powerpoint/2010/main" val="276611525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5AF7B37-7D97-5802-1982-1A1213CB64F4}"/>
              </a:ext>
            </a:extLst>
          </p:cNvPr>
          <p:cNvSpPr>
            <a:spLocks noGrp="1"/>
          </p:cNvSpPr>
          <p:nvPr>
            <p:ph type="title"/>
          </p:nvPr>
        </p:nvSpPr>
        <p:spPr>
          <a:xfrm>
            <a:off x="389105" y="286250"/>
            <a:ext cx="7297884" cy="658295"/>
          </a:xfrm>
        </p:spPr>
        <p:txBody>
          <a:bodyPr>
            <a:normAutofit fontScale="90000"/>
          </a:bodyPr>
          <a:lstStyle/>
          <a:p>
            <a:r>
              <a:rPr lang="en-IN" dirty="0" smtClean="0">
                <a:latin typeface="Times New Roman" panose="02020603050405020304" pitchFamily="18" charset="0"/>
                <a:cs typeface="Times New Roman" panose="02020603050405020304" pitchFamily="18" charset="0"/>
              </a:rPr>
              <a:t>DNS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07A20F2A-1503-729A-02EA-6909842FF69F}"/>
              </a:ext>
            </a:extLst>
          </p:cNvPr>
          <p:cNvSpPr>
            <a:spLocks noGrp="1"/>
          </p:cNvSpPr>
          <p:nvPr>
            <p:ph idx="1"/>
          </p:nvPr>
        </p:nvSpPr>
        <p:spPr>
          <a:xfrm>
            <a:off x="252918" y="1336431"/>
            <a:ext cx="5350214" cy="4832851"/>
          </a:xfrm>
        </p:spPr>
        <p:txBody>
          <a:bodyPr>
            <a:normAutofit/>
          </a:bodyPr>
          <a:lstStyle/>
          <a:p>
            <a:endParaRPr lang="en-IN" dirty="0">
              <a:latin typeface="Times New Roman" panose="02020603050405020304" pitchFamily="18" charset="0"/>
              <a:cs typeface="Times New Roman" panose="02020603050405020304" pitchFamily="18" charset="0"/>
            </a:endParaRPr>
          </a:p>
        </p:txBody>
      </p:sp>
      <p:pic>
        <p:nvPicPr>
          <p:cNvPr id="4098" name="Picture 2" descr="What is DNS and how it work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19256"/>
            <a:ext cx="9677400" cy="426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841597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0"/>
            <a:ext cx="10515600" cy="1325563"/>
          </a:xfrm>
        </p:spPr>
        <p:txBody>
          <a:bodyPr>
            <a:normAutofit/>
          </a:bodyPr>
          <a:lstStyle/>
          <a:p>
            <a:r>
              <a:rPr lang="en-US" dirty="0">
                <a:latin typeface="Times New Roman" panose="02020603050405020304" pitchFamily="18" charset="0"/>
                <a:cs typeface="Times New Roman" panose="02020603050405020304" pitchFamily="18" charset="0"/>
              </a:rPr>
              <a:t>Uniform Resource Locator (URL)</a:t>
            </a:r>
          </a:p>
        </p:txBody>
      </p:sp>
      <p:sp>
        <p:nvSpPr>
          <p:cNvPr id="4" name="Date Placeholder 3"/>
          <p:cNvSpPr>
            <a:spLocks noGrp="1"/>
          </p:cNvSpPr>
          <p:nvPr>
            <p:ph type="dt" sz="half" idx="10"/>
          </p:nvPr>
        </p:nvSpPr>
        <p:spPr/>
        <p:txBody>
          <a:bodyPr/>
          <a:lstStyle/>
          <a:p>
            <a:pPr>
              <a:defRPr/>
            </a:pPr>
            <a:fld id="{7C774709-785F-457C-9429-4E3DA889C601}" type="datetime3">
              <a:rPr lang="en-US" smtClean="0"/>
              <a:pPr>
                <a:defRPr/>
              </a:pPr>
              <a:t>8 January 2026</a:t>
            </a:fld>
            <a:endParaRPr lang="en-IN"/>
          </a:p>
        </p:txBody>
      </p:sp>
      <p:sp>
        <p:nvSpPr>
          <p:cNvPr id="5" name="Footer Placeholder 4"/>
          <p:cNvSpPr>
            <a:spLocks noGrp="1"/>
          </p:cNvSpPr>
          <p:nvPr>
            <p:ph type="ftr" sz="quarter" idx="11"/>
          </p:nvPr>
        </p:nvSpPr>
        <p:spPr/>
        <p:txBody>
          <a:bodyPr/>
          <a:lstStyle/>
          <a:p>
            <a:pPr>
              <a:defRPr/>
            </a:pPr>
            <a:r>
              <a:rPr lang="en-IN"/>
              <a:t>CSE4004 WT</a:t>
            </a:r>
            <a:endParaRPr lang="en-IN" dirty="0"/>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19</a:t>
            </a:fld>
            <a:endParaRPr lang="en-IN"/>
          </a:p>
        </p:txBody>
      </p:sp>
      <p:sp>
        <p:nvSpPr>
          <p:cNvPr id="9" name="Content Placeholder 2"/>
          <p:cNvSpPr>
            <a:spLocks noGrp="1"/>
          </p:cNvSpPr>
          <p:nvPr>
            <p:ph idx="1"/>
          </p:nvPr>
        </p:nvSpPr>
        <p:spPr>
          <a:xfrm>
            <a:off x="1158240" y="1200151"/>
            <a:ext cx="9875520" cy="1771650"/>
          </a:xfrm>
        </p:spPr>
        <p:txBody>
          <a:bodyPr>
            <a:normAutofit/>
          </a:bodyPr>
          <a:lstStyle/>
          <a:p>
            <a:pPr algn="just"/>
            <a:r>
              <a:rPr lang="en-US" dirty="0">
                <a:latin typeface="Times New Roman" panose="02020603050405020304" pitchFamily="18" charset="0"/>
                <a:cs typeface="Times New Roman" panose="02020603050405020304" pitchFamily="18" charset="0"/>
              </a:rPr>
              <a:t>URL is the address of a document found on the WWW. Browser interprets the information in the URL in order to connect to the proper Internet server and to retrieve your desired document .</a:t>
            </a:r>
          </a:p>
          <a:p>
            <a:pPr algn="just"/>
            <a:endParaRPr lang="en-US" dirty="0">
              <a:latin typeface="Times New Roman" panose="02020603050405020304" pitchFamily="18" charset="0"/>
              <a:cs typeface="Times New Roman" panose="02020603050405020304" pitchFamily="18" charset="0"/>
            </a:endParaRPr>
          </a:p>
        </p:txBody>
      </p:sp>
      <p:pic>
        <p:nvPicPr>
          <p:cNvPr id="10" name="Picture 9"/>
          <p:cNvPicPr>
            <a:picLocks noChangeAspect="1"/>
          </p:cNvPicPr>
          <p:nvPr/>
        </p:nvPicPr>
        <p:blipFill>
          <a:blip r:embed="rId2"/>
          <a:stretch>
            <a:fillRect/>
          </a:stretch>
        </p:blipFill>
        <p:spPr>
          <a:xfrm>
            <a:off x="1889761" y="3063241"/>
            <a:ext cx="8642286" cy="2880762"/>
          </a:xfrm>
          <a:prstGeom prst="rect">
            <a:avLst/>
          </a:prstGeom>
        </p:spPr>
      </p:pic>
    </p:spTree>
    <p:extLst>
      <p:ext uri="{BB962C8B-B14F-4D97-AF65-F5344CB8AC3E}">
        <p14:creationId xmlns:p14="http://schemas.microsoft.com/office/powerpoint/2010/main" val="23402653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Uniform Resource Locator (URL)</a:t>
            </a:r>
          </a:p>
        </p:txBody>
      </p:sp>
      <p:sp>
        <p:nvSpPr>
          <p:cNvPr id="3" name="Content Placeholder 2"/>
          <p:cNvSpPr>
            <a:spLocks noGrp="1"/>
          </p:cNvSpPr>
          <p:nvPr>
            <p:ph idx="1"/>
          </p:nvPr>
        </p:nvSpPr>
        <p:spPr/>
        <p:txBody>
          <a:bodyPr/>
          <a:lstStyle/>
          <a:p>
            <a:r>
              <a:rPr lang="en-US" dirty="0"/>
              <a:t>unique identifiers used to locate a particular resource on the network</a:t>
            </a:r>
          </a:p>
          <a:p>
            <a:endParaRPr lang="en-US" dirty="0"/>
          </a:p>
        </p:txBody>
      </p:sp>
      <p:sp>
        <p:nvSpPr>
          <p:cNvPr id="4" name="Date Placeholder 3"/>
          <p:cNvSpPr>
            <a:spLocks noGrp="1"/>
          </p:cNvSpPr>
          <p:nvPr>
            <p:ph type="dt" sz="half" idx="10"/>
          </p:nvPr>
        </p:nvSpPr>
        <p:spPr/>
        <p:txBody>
          <a:bodyPr/>
          <a:lstStyle/>
          <a:p>
            <a:pPr>
              <a:defRPr/>
            </a:pPr>
            <a:fld id="{7C774709-785F-457C-9429-4E3DA889C601}" type="datetime3">
              <a:rPr lang="en-US" smtClean="0"/>
              <a:pPr>
                <a:defRPr/>
              </a:pPr>
              <a:t>8 January 2026</a:t>
            </a:fld>
            <a:endParaRPr lang="en-IN"/>
          </a:p>
        </p:txBody>
      </p:sp>
      <p:sp>
        <p:nvSpPr>
          <p:cNvPr id="5" name="Footer Placeholder 4"/>
          <p:cNvSpPr>
            <a:spLocks noGrp="1"/>
          </p:cNvSpPr>
          <p:nvPr>
            <p:ph type="ftr" sz="quarter" idx="11"/>
          </p:nvPr>
        </p:nvSpPr>
        <p:spPr/>
        <p:txBody>
          <a:bodyPr/>
          <a:lstStyle/>
          <a:p>
            <a:pPr>
              <a:defRPr/>
            </a:pPr>
            <a:r>
              <a:rPr lang="en-IN"/>
              <a:t>CSE4004 WT</a:t>
            </a:r>
            <a:endParaRPr lang="en-IN" dirty="0"/>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20</a:t>
            </a:fld>
            <a:endParaRPr lang="en-IN"/>
          </a:p>
        </p:txBody>
      </p:sp>
      <p:pic>
        <p:nvPicPr>
          <p:cNvPr id="7" name="Picture 4" descr="figure1_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9107" y="1596420"/>
            <a:ext cx="6126480" cy="1958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6" descr="figure1_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0387" y="3842652"/>
            <a:ext cx="8229600" cy="2265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134025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23915" y="171427"/>
            <a:ext cx="9875520" cy="5829341"/>
          </a:xfrm>
        </p:spPr>
        <p:txBody>
          <a:bodyPr/>
          <a:lstStyle/>
          <a:p>
            <a:pPr>
              <a:buNone/>
            </a:pPr>
            <a:r>
              <a:rPr lang="en-IN" sz="2400" b="1" dirty="0">
                <a:solidFill>
                  <a:srgbClr val="7030A0"/>
                </a:solidFill>
              </a:rPr>
              <a:t>Difference between HTTP and HTTPS</a:t>
            </a:r>
            <a:endParaRPr lang="en-US" sz="2400" b="1" dirty="0">
              <a:solidFill>
                <a:srgbClr val="7030A0"/>
              </a:solidFill>
            </a:endParaRPr>
          </a:p>
          <a:p>
            <a:pPr>
              <a:spcAft>
                <a:spcPts val="720"/>
              </a:spcAft>
            </a:pPr>
            <a:r>
              <a:rPr lang="en-US" sz="2400" dirty="0">
                <a:latin typeface="Times New Roman" pitchFamily="18" charset="0"/>
                <a:cs typeface="Times New Roman" pitchFamily="18" charset="0"/>
              </a:rPr>
              <a:t>HTTP lacks security mechanism to encrypt the data </a:t>
            </a:r>
          </a:p>
          <a:p>
            <a:pPr>
              <a:spcAft>
                <a:spcPts val="720"/>
              </a:spcAft>
            </a:pPr>
            <a:r>
              <a:rPr lang="en-US" sz="2400" dirty="0">
                <a:latin typeface="Times New Roman" pitchFamily="18" charset="0"/>
                <a:cs typeface="Times New Roman" pitchFamily="18" charset="0"/>
              </a:rPr>
              <a:t>HTTPS provides SSL or TLS Digital Certificate to secure the communication between server and client</a:t>
            </a:r>
          </a:p>
          <a:p>
            <a:pPr>
              <a:spcAft>
                <a:spcPts val="720"/>
              </a:spcAft>
            </a:pPr>
            <a:r>
              <a:rPr lang="en-US" sz="2400" dirty="0">
                <a:latin typeface="Times New Roman" pitchFamily="18" charset="0"/>
                <a:cs typeface="Times New Roman" pitchFamily="18" charset="0"/>
              </a:rPr>
              <a:t>HTTP operates at Application Layer whereas HTTPS operates at Transport Layer</a:t>
            </a:r>
          </a:p>
          <a:p>
            <a:pPr>
              <a:spcAft>
                <a:spcPts val="720"/>
              </a:spcAft>
            </a:pPr>
            <a:r>
              <a:rPr lang="en-US" sz="2400" dirty="0">
                <a:latin typeface="Times New Roman" pitchFamily="18" charset="0"/>
                <a:cs typeface="Times New Roman" pitchFamily="18" charset="0"/>
              </a:rPr>
              <a:t>HTTP by default operates on port 80 whereas HTTPS by default operates on port 443</a:t>
            </a:r>
          </a:p>
          <a:p>
            <a:pPr>
              <a:spcAft>
                <a:spcPts val="720"/>
              </a:spcAft>
            </a:pPr>
            <a:r>
              <a:rPr lang="en-US" sz="2400" dirty="0">
                <a:latin typeface="Times New Roman" pitchFamily="18" charset="0"/>
                <a:cs typeface="Times New Roman" pitchFamily="18" charset="0"/>
              </a:rPr>
              <a:t>HTTP transfers data in plain text while HTTPS transfers data in cipher text</a:t>
            </a:r>
          </a:p>
          <a:p>
            <a:pPr>
              <a:spcAft>
                <a:spcPts val="720"/>
              </a:spcAft>
            </a:pPr>
            <a:r>
              <a:rPr lang="en-US" sz="2400" dirty="0">
                <a:latin typeface="Times New Roman" pitchFamily="18" charset="0"/>
                <a:cs typeface="Times New Roman" pitchFamily="18" charset="0"/>
              </a:rPr>
              <a:t>HTTP is fast as compared to HTTPS because HTTPS consumes computation power to encrypt the communication channel</a:t>
            </a:r>
          </a:p>
          <a:p>
            <a:pPr>
              <a:spcAft>
                <a:spcPts val="720"/>
              </a:spcAft>
            </a:pPr>
            <a:r>
              <a:rPr lang="en-US" sz="2400" dirty="0">
                <a:latin typeface="Times New Roman" pitchFamily="18" charset="0"/>
                <a:cs typeface="Times New Roman" pitchFamily="18" charset="0"/>
              </a:rPr>
              <a:t>It provides encrypted and secure identification of a network server</a:t>
            </a:r>
          </a:p>
        </p:txBody>
      </p:sp>
      <p:sp>
        <p:nvSpPr>
          <p:cNvPr id="4" name="Date Placeholder 3"/>
          <p:cNvSpPr>
            <a:spLocks noGrp="1"/>
          </p:cNvSpPr>
          <p:nvPr>
            <p:ph type="dt" sz="half" idx="10"/>
          </p:nvPr>
        </p:nvSpPr>
        <p:spPr/>
        <p:txBody>
          <a:bodyPr/>
          <a:lstStyle/>
          <a:p>
            <a:pPr>
              <a:defRPr/>
            </a:pPr>
            <a:fld id="{7C774709-785F-457C-9429-4E3DA889C601}" type="datetime3">
              <a:rPr lang="en-US" smtClean="0"/>
              <a:pPr>
                <a:defRPr/>
              </a:pPr>
              <a:t>8 January 2026</a:t>
            </a:fld>
            <a:endParaRPr lang="en-IN" dirty="0"/>
          </a:p>
        </p:txBody>
      </p:sp>
      <p:sp>
        <p:nvSpPr>
          <p:cNvPr id="5" name="Footer Placeholder 4"/>
          <p:cNvSpPr>
            <a:spLocks noGrp="1"/>
          </p:cNvSpPr>
          <p:nvPr>
            <p:ph type="ftr" sz="quarter" idx="11"/>
          </p:nvPr>
        </p:nvSpPr>
        <p:spPr/>
        <p:txBody>
          <a:bodyPr/>
          <a:lstStyle/>
          <a:p>
            <a:pPr>
              <a:defRPr/>
            </a:pPr>
            <a:r>
              <a:rPr lang="en-IN" dirty="0"/>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21</a:t>
            </a:fld>
            <a:endParaRPr lang="en-IN"/>
          </a:p>
        </p:txBody>
      </p:sp>
      <p:pic>
        <p:nvPicPr>
          <p:cNvPr id="2" name="Picture 1"/>
          <p:cNvPicPr>
            <a:picLocks noChangeAspect="1"/>
          </p:cNvPicPr>
          <p:nvPr/>
        </p:nvPicPr>
        <p:blipFill>
          <a:blip r:embed="rId2"/>
          <a:stretch>
            <a:fillRect/>
          </a:stretch>
        </p:blipFill>
        <p:spPr>
          <a:xfrm>
            <a:off x="792480" y="-32116"/>
            <a:ext cx="10881360" cy="6931981"/>
          </a:xfrm>
          <a:prstGeom prst="rect">
            <a:avLst/>
          </a:prstGeom>
        </p:spPr>
      </p:pic>
    </p:spTree>
    <p:extLst>
      <p:ext uri="{BB962C8B-B14F-4D97-AF65-F5344CB8AC3E}">
        <p14:creationId xmlns:p14="http://schemas.microsoft.com/office/powerpoint/2010/main" val="36664130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08067"/>
          </a:xfrm>
        </p:spPr>
        <p:txBody>
          <a:bodyPr>
            <a:normAutofit/>
          </a:bodyPr>
          <a:lstStyle/>
          <a:p>
            <a:r>
              <a:rPr b="1" dirty="0">
                <a:latin typeface="Times New Roman" panose="02020603050405020304" pitchFamily="18" charset="0"/>
                <a:cs typeface="Times New Roman" panose="02020603050405020304" pitchFamily="18" charset="0"/>
              </a:rPr>
              <a:t>Web Programming Languages</a:t>
            </a:r>
          </a:p>
        </p:txBody>
      </p:sp>
      <p:sp>
        <p:nvSpPr>
          <p:cNvPr id="3" name="Content Placeholder 2"/>
          <p:cNvSpPr>
            <a:spLocks noGrp="1"/>
          </p:cNvSpPr>
          <p:nvPr>
            <p:ph idx="1"/>
          </p:nvPr>
        </p:nvSpPr>
        <p:spPr>
          <a:xfrm>
            <a:off x="838200" y="1262871"/>
            <a:ext cx="10515600" cy="4675967"/>
          </a:xfrm>
        </p:spPr>
        <p:txBody>
          <a:bodyPr>
            <a:noAutofit/>
          </a:bodyPr>
          <a:lstStyle/>
          <a:p>
            <a:pPr algn="just"/>
            <a:r>
              <a:rPr lang="en-IN" sz="2400" dirty="0">
                <a:latin typeface="Times New Roman" panose="02020603050405020304" pitchFamily="18" charset="0"/>
                <a:cs typeface="Times New Roman" panose="02020603050405020304" pitchFamily="18" charset="0"/>
              </a:rPr>
              <a:t>Web programming languages are used to develop websites and web applications. Common languages include:</a:t>
            </a:r>
          </a:p>
          <a:p>
            <a:pPr algn="just"/>
            <a:r>
              <a:rPr lang="en-IN" sz="2400" b="1" dirty="0">
                <a:latin typeface="Times New Roman" panose="02020603050405020304" pitchFamily="18" charset="0"/>
                <a:cs typeface="Times New Roman" panose="02020603050405020304" pitchFamily="18" charset="0"/>
              </a:rPr>
              <a:t>HTML</a:t>
            </a:r>
            <a:r>
              <a:rPr lang="en-IN" sz="2400" dirty="0">
                <a:latin typeface="Times New Roman" panose="02020603050405020304" pitchFamily="18" charset="0"/>
                <a:cs typeface="Times New Roman" panose="02020603050405020304" pitchFamily="18" charset="0"/>
              </a:rPr>
              <a:t> (HyperText Markup Language): The standard </a:t>
            </a:r>
            <a:r>
              <a:rPr lang="en-IN" sz="2400" dirty="0" err="1">
                <a:latin typeface="Times New Roman" panose="02020603050405020304" pitchFamily="18" charset="0"/>
                <a:cs typeface="Times New Roman" panose="02020603050405020304" pitchFamily="18" charset="0"/>
              </a:rPr>
              <a:t>markup</a:t>
            </a:r>
            <a:r>
              <a:rPr lang="en-IN" sz="2400" dirty="0">
                <a:latin typeface="Times New Roman" panose="02020603050405020304" pitchFamily="18" charset="0"/>
                <a:cs typeface="Times New Roman" panose="02020603050405020304" pitchFamily="18" charset="0"/>
              </a:rPr>
              <a:t> language for creating web pages.</a:t>
            </a:r>
          </a:p>
          <a:p>
            <a:pPr algn="just"/>
            <a:r>
              <a:rPr lang="en-IN" sz="2400" b="1" dirty="0">
                <a:latin typeface="Times New Roman" panose="02020603050405020304" pitchFamily="18" charset="0"/>
                <a:cs typeface="Times New Roman" panose="02020603050405020304" pitchFamily="18" charset="0"/>
              </a:rPr>
              <a:t>CSS</a:t>
            </a:r>
            <a:r>
              <a:rPr lang="en-IN" sz="2400" dirty="0">
                <a:latin typeface="Times New Roman" panose="02020603050405020304" pitchFamily="18" charset="0"/>
                <a:cs typeface="Times New Roman" panose="02020603050405020304" pitchFamily="18" charset="0"/>
              </a:rPr>
              <a:t> (Cascading Style Sheets): Used to style and format HTML documents.</a:t>
            </a:r>
          </a:p>
          <a:p>
            <a:pPr algn="just"/>
            <a:r>
              <a:rPr lang="en-IN" sz="2400" b="1" dirty="0">
                <a:latin typeface="Times New Roman" panose="02020603050405020304" pitchFamily="18" charset="0"/>
                <a:cs typeface="Times New Roman" panose="02020603050405020304" pitchFamily="18" charset="0"/>
              </a:rPr>
              <a:t>JavaScript</a:t>
            </a:r>
            <a:r>
              <a:rPr lang="en-IN" sz="2400" dirty="0">
                <a:latin typeface="Times New Roman" panose="02020603050405020304" pitchFamily="18" charset="0"/>
                <a:cs typeface="Times New Roman" panose="02020603050405020304" pitchFamily="18" charset="0"/>
              </a:rPr>
              <a:t>: A programming language to make web pages interactive.</a:t>
            </a:r>
          </a:p>
          <a:p>
            <a:pPr algn="just"/>
            <a:r>
              <a:rPr lang="en-IN" sz="2400" b="1" dirty="0">
                <a:latin typeface="Times New Roman" panose="02020603050405020304" pitchFamily="18" charset="0"/>
                <a:cs typeface="Times New Roman" panose="02020603050405020304" pitchFamily="18" charset="0"/>
              </a:rPr>
              <a:t>PHP</a:t>
            </a:r>
            <a:r>
              <a:rPr lang="en-IN" sz="2400" dirty="0">
                <a:latin typeface="Times New Roman" panose="02020603050405020304" pitchFamily="18" charset="0"/>
                <a:cs typeface="Times New Roman" panose="02020603050405020304" pitchFamily="18" charset="0"/>
              </a:rPr>
              <a:t>: A server-side scripting language for dynamic content.</a:t>
            </a:r>
          </a:p>
          <a:p>
            <a:pPr algn="just"/>
            <a:r>
              <a:rPr lang="en-IN" sz="2400" b="1" dirty="0">
                <a:latin typeface="Times New Roman" panose="02020603050405020304" pitchFamily="18" charset="0"/>
                <a:cs typeface="Times New Roman" panose="02020603050405020304" pitchFamily="18" charset="0"/>
              </a:rPr>
              <a:t>Python</a:t>
            </a:r>
            <a:r>
              <a:rPr lang="en-IN" sz="2400" dirty="0">
                <a:latin typeface="Times New Roman" panose="02020603050405020304" pitchFamily="18" charset="0"/>
                <a:cs typeface="Times New Roman" panose="02020603050405020304" pitchFamily="18" charset="0"/>
              </a:rPr>
              <a:t>: Popular for backend development using frameworks like Django and Flask.</a:t>
            </a:r>
          </a:p>
          <a:p>
            <a:pPr algn="just"/>
            <a:r>
              <a:rPr lang="en-IN" sz="2400" b="1" dirty="0">
                <a:latin typeface="Times New Roman" panose="02020603050405020304" pitchFamily="18" charset="0"/>
                <a:cs typeface="Times New Roman" panose="02020603050405020304" pitchFamily="18" charset="0"/>
              </a:rPr>
              <a:t>Ruby</a:t>
            </a:r>
            <a:r>
              <a:rPr lang="en-IN" sz="2400" dirty="0">
                <a:latin typeface="Times New Roman" panose="02020603050405020304" pitchFamily="18" charset="0"/>
                <a:cs typeface="Times New Roman" panose="02020603050405020304" pitchFamily="18" charset="0"/>
              </a:rPr>
              <a:t>: Known for web development with the Ruby on Rails framework.</a:t>
            </a:r>
          </a:p>
          <a:p>
            <a:pPr algn="just"/>
            <a:r>
              <a:rPr lang="en-IN" sz="2400" b="1" dirty="0">
                <a:latin typeface="Times New Roman" panose="02020603050405020304" pitchFamily="18" charset="0"/>
                <a:cs typeface="Times New Roman" panose="02020603050405020304" pitchFamily="18" charset="0"/>
              </a:rPr>
              <a:t>Java</a:t>
            </a:r>
            <a:r>
              <a:rPr lang="en-IN" sz="2400" dirty="0">
                <a:latin typeface="Times New Roman" panose="02020603050405020304" pitchFamily="18" charset="0"/>
                <a:cs typeface="Times New Roman" panose="02020603050405020304" pitchFamily="18" charset="0"/>
              </a:rPr>
              <a:t>: Used for building server-side applications.</a:t>
            </a:r>
          </a:p>
          <a:p>
            <a:pPr algn="just"/>
            <a:r>
              <a:rPr lang="en-IN" sz="2400" b="1" dirty="0">
                <a:latin typeface="Times New Roman" panose="02020603050405020304" pitchFamily="18" charset="0"/>
                <a:cs typeface="Times New Roman" panose="02020603050405020304" pitchFamily="18" charset="0"/>
              </a:rPr>
              <a:t>SQL</a:t>
            </a:r>
            <a:r>
              <a:rPr lang="en-IN" sz="2400" dirty="0">
                <a:latin typeface="Times New Roman" panose="02020603050405020304" pitchFamily="18" charset="0"/>
                <a:cs typeface="Times New Roman" panose="02020603050405020304" pitchFamily="18" charset="0"/>
              </a:rPr>
              <a:t>: Essential for managing and querying databases.</a:t>
            </a:r>
          </a:p>
        </p:txBody>
      </p:sp>
    </p:spTree>
    <p:extLst>
      <p:ext uri="{BB962C8B-B14F-4D97-AF65-F5344CB8AC3E}">
        <p14:creationId xmlns:p14="http://schemas.microsoft.com/office/powerpoint/2010/main" val="115450375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71474" y="200025"/>
            <a:ext cx="10391775" cy="6086475"/>
          </a:xfrm>
        </p:spPr>
        <p:txBody>
          <a:bodyPr>
            <a:normAutofit/>
          </a:bodyPr>
          <a:lstStyle/>
          <a:p>
            <a:pPr algn="just">
              <a:buFont typeface="Wingdings" pitchFamily="2" charset="2"/>
              <a:buChar char="v"/>
            </a:pPr>
            <a:r>
              <a:rPr lang="en-US" dirty="0">
                <a:latin typeface="Times New Roman" panose="02020603050405020304" pitchFamily="18" charset="0"/>
                <a:cs typeface="Times New Roman" panose="02020603050405020304" pitchFamily="18" charset="0"/>
              </a:rPr>
              <a:t>Html is used to create web pages(static web pages)</a:t>
            </a:r>
          </a:p>
          <a:p>
            <a:pPr algn="just">
              <a:buFont typeface="Wingdings" pitchFamily="2" charset="2"/>
              <a:buChar char="v"/>
            </a:pPr>
            <a:r>
              <a:rPr lang="en-US" dirty="0">
                <a:latin typeface="Times New Roman" panose="02020603050405020304" pitchFamily="18" charset="0"/>
                <a:cs typeface="Times New Roman" panose="02020603050405020304" pitchFamily="18" charset="0"/>
              </a:rPr>
              <a:t>Html is not a procedural language like </a:t>
            </a:r>
            <a:r>
              <a:rPr lang="en-US" dirty="0" smtClean="0">
                <a:latin typeface="Times New Roman" panose="02020603050405020304" pitchFamily="18" charset="0"/>
                <a:cs typeface="Times New Roman" panose="02020603050405020304" pitchFamily="18" charset="0"/>
              </a:rPr>
              <a:t>C, </a:t>
            </a:r>
            <a:r>
              <a:rPr lang="en-US" dirty="0">
                <a:latin typeface="Times New Roman" panose="02020603050405020304" pitchFamily="18" charset="0"/>
                <a:cs typeface="Times New Roman" panose="02020603050405020304" pitchFamily="18" charset="0"/>
              </a:rPr>
              <a:t>C</a:t>
            </a:r>
            <a:r>
              <a:rPr lang="en-US" dirty="0" smtClean="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J</a:t>
            </a:r>
            <a:r>
              <a:rPr lang="en-US" dirty="0" smtClean="0">
                <a:latin typeface="Times New Roman" panose="02020603050405020304" pitchFamily="18" charset="0"/>
                <a:cs typeface="Times New Roman" panose="02020603050405020304" pitchFamily="18" charset="0"/>
              </a:rPr>
              <a:t>ava</a:t>
            </a:r>
            <a:r>
              <a:rPr lang="en-US" dirty="0">
                <a:latin typeface="Times New Roman" panose="02020603050405020304" pitchFamily="18" charset="0"/>
                <a:cs typeface="Times New Roman" panose="02020603050405020304" pitchFamily="18" charset="0"/>
              </a:rPr>
              <a:t>..etc</a:t>
            </a:r>
          </a:p>
          <a:p>
            <a:pPr algn="just">
              <a:buFont typeface="Wingdings" pitchFamily="2" charset="2"/>
              <a:buChar char="v"/>
            </a:pPr>
            <a:endParaRPr lang="en-US" dirty="0">
              <a:latin typeface="Times New Roman" panose="02020603050405020304" pitchFamily="18" charset="0"/>
              <a:cs typeface="Times New Roman" panose="02020603050405020304" pitchFamily="18" charset="0"/>
            </a:endParaRPr>
          </a:p>
          <a:p>
            <a:pPr algn="just">
              <a:buFont typeface="Wingdings" pitchFamily="2" charset="2"/>
              <a:buChar char="v"/>
            </a:pPr>
            <a:r>
              <a:rPr lang="en-US" dirty="0">
                <a:latin typeface="Times New Roman" panose="02020603050405020304" pitchFamily="18" charset="0"/>
                <a:cs typeface="Times New Roman" panose="02020603050405020304" pitchFamily="18" charset="0"/>
              </a:rPr>
              <a:t>It is a markup language which Identifies the element of the page so that , a browser like internet explorer or Netscape navigator can display that page on our computer screen.</a:t>
            </a:r>
          </a:p>
          <a:p>
            <a:pPr algn="just">
              <a:buFont typeface="Wingdings" pitchFamily="2" charset="2"/>
              <a:buChar char="v"/>
            </a:pPr>
            <a:endParaRPr lang="en-US" dirty="0">
              <a:latin typeface="Times New Roman" panose="02020603050405020304" pitchFamily="18" charset="0"/>
              <a:cs typeface="Times New Roman" panose="02020603050405020304" pitchFamily="18" charset="0"/>
            </a:endParaRPr>
          </a:p>
          <a:p>
            <a:pPr algn="just">
              <a:buFont typeface="Wingdings" pitchFamily="2" charset="2"/>
              <a:buChar char="v"/>
            </a:pPr>
            <a:r>
              <a:rPr lang="en-US" dirty="0">
                <a:latin typeface="Times New Roman" panose="02020603050405020304" pitchFamily="18" charset="0"/>
                <a:cs typeface="Times New Roman" panose="02020603050405020304" pitchFamily="18" charset="0"/>
              </a:rPr>
              <a:t>A markup language is a set of  markup tags.</a:t>
            </a:r>
          </a:p>
          <a:p>
            <a:pPr algn="just">
              <a:buFont typeface="Wingdings" pitchFamily="2" charset="2"/>
              <a:buChar char="v"/>
            </a:pPr>
            <a:endParaRPr lang="en-US" dirty="0">
              <a:latin typeface="Times New Roman" panose="02020603050405020304" pitchFamily="18" charset="0"/>
              <a:cs typeface="Times New Roman" panose="02020603050405020304" pitchFamily="18" charset="0"/>
            </a:endParaRPr>
          </a:p>
          <a:p>
            <a:pPr algn="just">
              <a:buFont typeface="Wingdings" pitchFamily="2" charset="2"/>
              <a:buChar char="v"/>
            </a:pPr>
            <a:r>
              <a:rPr lang="en-US" dirty="0">
                <a:latin typeface="Times New Roman" panose="02020603050405020304" pitchFamily="18" charset="0"/>
                <a:cs typeface="Times New Roman" panose="02020603050405020304" pitchFamily="18" charset="0"/>
              </a:rPr>
              <a:t>The tag describes document content.</a:t>
            </a:r>
          </a:p>
          <a:p>
            <a:pPr algn="just">
              <a:buFont typeface="Wingdings" pitchFamily="2" charset="2"/>
              <a:buChar char="v"/>
            </a:pPr>
            <a:endParaRPr lang="en-US" dirty="0">
              <a:latin typeface="Times New Roman" panose="02020603050405020304" pitchFamily="18" charset="0"/>
              <a:cs typeface="Times New Roman" panose="02020603050405020304" pitchFamily="18" charset="0"/>
            </a:endParaRPr>
          </a:p>
          <a:p>
            <a:pPr algn="just">
              <a:buFont typeface="Wingdings" pitchFamily="2" charset="2"/>
              <a:buChar char="v"/>
            </a:pPr>
            <a:r>
              <a:rPr lang="en-US" dirty="0">
                <a:latin typeface="Times New Roman" panose="02020603050405020304" pitchFamily="18" charset="0"/>
                <a:cs typeface="Times New Roman" panose="02020603050405020304" pitchFamily="18" charset="0"/>
              </a:rPr>
              <a:t>Html documents are also called web pages.</a:t>
            </a:r>
          </a:p>
        </p:txBody>
      </p:sp>
    </p:spTree>
    <p:extLst>
      <p:ext uri="{BB962C8B-B14F-4D97-AF65-F5344CB8AC3E}">
        <p14:creationId xmlns:p14="http://schemas.microsoft.com/office/powerpoint/2010/main" val="100542311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0"/>
            <a:ext cx="8153400" cy="533400"/>
          </a:xfrm>
        </p:spPr>
        <p:txBody>
          <a:bodyPr>
            <a:normAutofit fontScale="90000"/>
          </a:bodyPr>
          <a:lstStyle/>
          <a:p>
            <a:pPr algn="ctr"/>
            <a:r>
              <a:rPr lang="en-IN" dirty="0">
                <a:solidFill>
                  <a:schemeClr val="tx1"/>
                </a:solidFill>
              </a:rPr>
              <a:t>Introduction to HTML 5</a:t>
            </a:r>
            <a:endParaRPr lang="en-US" dirty="0">
              <a:solidFill>
                <a:schemeClr val="tx1"/>
              </a:solidFill>
            </a:endParaRPr>
          </a:p>
        </p:txBody>
      </p:sp>
      <p:sp>
        <p:nvSpPr>
          <p:cNvPr id="4" name="Content Placeholder 3"/>
          <p:cNvSpPr>
            <a:spLocks noGrp="1"/>
          </p:cNvSpPr>
          <p:nvPr>
            <p:ph sz="quarter" idx="1"/>
          </p:nvPr>
        </p:nvSpPr>
        <p:spPr>
          <a:xfrm>
            <a:off x="1524000" y="533400"/>
            <a:ext cx="10363200" cy="6324600"/>
          </a:xfrm>
          <a:solidFill>
            <a:schemeClr val="bg2">
              <a:lumMod val="75000"/>
            </a:schemeClr>
          </a:solidFill>
        </p:spPr>
        <p:txBody>
          <a:bodyPr>
            <a:noAutofit/>
          </a:bodyPr>
          <a:lstStyle/>
          <a:p>
            <a:pPr marL="514350" indent="-514350">
              <a:buFont typeface="Wingdings" pitchFamily="2" charset="2"/>
              <a:buChar char="ü"/>
            </a:pPr>
            <a:r>
              <a:rPr lang="en-US" sz="2600" dirty="0">
                <a:latin typeface="Times New Roman" panose="02020603050405020304" pitchFamily="18" charset="0"/>
                <a:cs typeface="Times New Roman" panose="02020603050405020304" pitchFamily="18" charset="0"/>
              </a:rPr>
              <a:t>Html5 is a language developed by Ian </a:t>
            </a:r>
            <a:r>
              <a:rPr lang="en-US" sz="2600" dirty="0" err="1">
                <a:latin typeface="Times New Roman" panose="02020603050405020304" pitchFamily="18" charset="0"/>
                <a:cs typeface="Times New Roman" panose="02020603050405020304" pitchFamily="18" charset="0"/>
              </a:rPr>
              <a:t>Hickson</a:t>
            </a:r>
            <a:r>
              <a:rPr lang="en-US" sz="2600" dirty="0">
                <a:latin typeface="Times New Roman" panose="02020603050405020304" pitchFamily="18" charset="0"/>
                <a:cs typeface="Times New Roman" panose="02020603050405020304" pitchFamily="18" charset="0"/>
              </a:rPr>
              <a:t> (Google) and David Hyatt (Apple) in 22 January 2008.</a:t>
            </a:r>
          </a:p>
          <a:p>
            <a:pPr marL="514350" indent="-514350">
              <a:buFont typeface="Wingdings" pitchFamily="2" charset="2"/>
              <a:buChar char="ü"/>
            </a:pPr>
            <a:r>
              <a:rPr lang="en-US" sz="2600" dirty="0">
                <a:latin typeface="Times New Roman" panose="02020603050405020304" pitchFamily="18" charset="0"/>
                <a:cs typeface="Times New Roman" panose="02020603050405020304" pitchFamily="18" charset="0"/>
              </a:rPr>
              <a:t>Filename extension        .html , .</a:t>
            </a:r>
            <a:r>
              <a:rPr lang="en-US" sz="2600" dirty="0" err="1">
                <a:latin typeface="Times New Roman" panose="02020603050405020304" pitchFamily="18" charset="0"/>
                <a:cs typeface="Times New Roman" panose="02020603050405020304" pitchFamily="18" charset="0"/>
              </a:rPr>
              <a:t>htm</a:t>
            </a:r>
            <a:endParaRPr lang="en-US" sz="2600" dirty="0">
              <a:latin typeface="Times New Roman" panose="02020603050405020304" pitchFamily="18" charset="0"/>
              <a:cs typeface="Times New Roman" panose="02020603050405020304" pitchFamily="18" charset="0"/>
            </a:endParaRPr>
          </a:p>
          <a:p>
            <a:pPr marL="514350" indent="-514350">
              <a:buFont typeface="Wingdings" pitchFamily="2" charset="2"/>
              <a:buChar char="ü"/>
            </a:pPr>
            <a:r>
              <a:rPr lang="en-US" sz="2600" dirty="0">
                <a:latin typeface="Times New Roman" panose="02020603050405020304" pitchFamily="18" charset="0"/>
                <a:cs typeface="Times New Roman" panose="02020603050405020304" pitchFamily="18" charset="0"/>
              </a:rPr>
              <a:t>Open Source Hyper Text Resources</a:t>
            </a:r>
          </a:p>
          <a:p>
            <a:pPr marL="514350" indent="-514350">
              <a:buFont typeface="Wingdings" pitchFamily="2" charset="2"/>
              <a:buChar char="ü"/>
            </a:pPr>
            <a:r>
              <a:rPr lang="en-US" sz="2600" dirty="0">
                <a:latin typeface="Times New Roman" panose="02020603050405020304" pitchFamily="18" charset="0"/>
                <a:cs typeface="Times New Roman" panose="02020603050405020304" pitchFamily="18" charset="0"/>
              </a:rPr>
              <a:t>HTML5 =HTML + CSS+JS</a:t>
            </a:r>
          </a:p>
          <a:p>
            <a:pPr marL="514350" indent="-514350">
              <a:buFont typeface="Wingdings" pitchFamily="2" charset="2"/>
              <a:buChar char="ü"/>
            </a:pPr>
            <a:r>
              <a:rPr lang="en-US" sz="2600" dirty="0">
                <a:latin typeface="Times New Roman" panose="02020603050405020304" pitchFamily="18" charset="0"/>
                <a:cs typeface="Times New Roman" panose="02020603050405020304" pitchFamily="18" charset="0"/>
              </a:rPr>
              <a:t>HTML= Next Generation Features for Modern web Development.</a:t>
            </a:r>
          </a:p>
          <a:p>
            <a:pPr marL="514350" indent="-514350">
              <a:buFont typeface="Wingdings" pitchFamily="2" charset="2"/>
              <a:buChar char="ü"/>
            </a:pPr>
            <a:r>
              <a:rPr lang="en-US" sz="2600" dirty="0" smtClean="0">
                <a:latin typeface="Times New Roman" panose="02020603050405020304" pitchFamily="18" charset="0"/>
                <a:cs typeface="Times New Roman" panose="02020603050405020304" pitchFamily="18" charset="0"/>
              </a:rPr>
              <a:t>Html5=WHATWG+W3C</a:t>
            </a:r>
          </a:p>
          <a:p>
            <a:pPr marL="514350" indent="-514350">
              <a:buFont typeface="Wingdings" pitchFamily="2" charset="2"/>
              <a:buChar char="ü"/>
            </a:pPr>
            <a:r>
              <a:rPr lang="en-US" sz="2600" dirty="0" smtClean="0">
                <a:latin typeface="Times New Roman" panose="02020603050405020304" pitchFamily="18" charset="0"/>
                <a:cs typeface="Times New Roman" panose="02020603050405020304" pitchFamily="18" charset="0"/>
              </a:rPr>
              <a:t>It </a:t>
            </a:r>
            <a:r>
              <a:rPr lang="en-US" sz="2600" dirty="0">
                <a:latin typeface="Times New Roman" panose="02020603050405020304" pitchFamily="18" charset="0"/>
                <a:cs typeface="Times New Roman" panose="02020603050405020304" pitchFamily="18" charset="0"/>
              </a:rPr>
              <a:t>is  Web Platform. It will be the new standard for HTML.</a:t>
            </a:r>
          </a:p>
          <a:p>
            <a:pPr marL="514350" indent="-514350">
              <a:buFont typeface="Wingdings" pitchFamily="2" charset="2"/>
              <a:buChar char="ü"/>
            </a:pPr>
            <a:r>
              <a:rPr lang="en-US" sz="2600" dirty="0">
                <a:latin typeface="Times New Roman" panose="02020603050405020304" pitchFamily="18" charset="0"/>
                <a:cs typeface="Times New Roman" panose="02020603050405020304" pitchFamily="18" charset="0"/>
              </a:rPr>
              <a:t>HTML5 is currently under development as the next major revision of the HTML standard.</a:t>
            </a:r>
          </a:p>
          <a:p>
            <a:pPr marL="514350" indent="-514350">
              <a:buFont typeface="Wingdings" pitchFamily="2" charset="2"/>
              <a:buChar char="ü"/>
            </a:pPr>
            <a:r>
              <a:rPr lang="en-US" sz="2600" dirty="0">
                <a:latin typeface="Times New Roman" panose="02020603050405020304" pitchFamily="18" charset="0"/>
                <a:cs typeface="Times New Roman" panose="02020603050405020304" pitchFamily="18" charset="0"/>
              </a:rPr>
              <a:t>HTML5 is a markup language  for structuring and presenting World Wide Web and a core technology of the Internet.</a:t>
            </a:r>
          </a:p>
        </p:txBody>
      </p:sp>
    </p:spTree>
    <p:extLst>
      <p:ext uri="{BB962C8B-B14F-4D97-AF65-F5344CB8AC3E}">
        <p14:creationId xmlns:p14="http://schemas.microsoft.com/office/powerpoint/2010/main" val="144873631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0" y="0"/>
            <a:ext cx="12268200" cy="6858000"/>
          </a:xfrm>
          <a:solidFill>
            <a:schemeClr val="accent6">
              <a:lumMod val="40000"/>
              <a:lumOff val="60000"/>
            </a:schemeClr>
          </a:solidFill>
        </p:spPr>
        <p:txBody>
          <a:bodyPr>
            <a:noAutofit/>
          </a:bodyPr>
          <a:lstStyle/>
          <a:p>
            <a:pPr fontAlgn="base">
              <a:buNone/>
            </a:pPr>
            <a:r>
              <a:rPr lang="en-US" sz="2000" b="1" dirty="0" smtClean="0">
                <a:solidFill>
                  <a:srgbClr val="FF0000"/>
                </a:solidFill>
                <a:latin typeface="Times New Roman" panose="02020603050405020304" pitchFamily="18" charset="0"/>
                <a:cs typeface="Times New Roman" pitchFamily="18" charset="0"/>
              </a:rPr>
              <a:t>1991–1999</a:t>
            </a:r>
            <a:endParaRPr lang="en-US" sz="2000" b="1" dirty="0">
              <a:solidFill>
                <a:srgbClr val="FF0000"/>
              </a:solidFill>
              <a:latin typeface="Times New Roman" pitchFamily="18" charset="0"/>
              <a:cs typeface="Times New Roman" pitchFamily="18" charset="0"/>
            </a:endParaRPr>
          </a:p>
          <a:p>
            <a:pPr fontAlgn="base"/>
            <a:r>
              <a:rPr lang="en-US" sz="2000" b="1" dirty="0">
                <a:latin typeface="Times New Roman" pitchFamily="18" charset="0"/>
                <a:cs typeface="Times New Roman" pitchFamily="18" charset="0"/>
              </a:rPr>
              <a:t>HTML was created by web legend Tim Berners-Lee in 1991, and HTML versions 1–4 were developed throughout the 1990s by W3C. In these early days of widespread internet use, HTML efficiently displays the vast majority of web content, since at this time it largely consists of static, non-interactive sites.</a:t>
            </a:r>
          </a:p>
          <a:p>
            <a:pPr fontAlgn="base">
              <a:buNone/>
            </a:pPr>
            <a:r>
              <a:rPr lang="en-US" sz="2000" b="1" dirty="0">
                <a:solidFill>
                  <a:srgbClr val="FF0000"/>
                </a:solidFill>
                <a:latin typeface="Times New Roman" pitchFamily="18" charset="0"/>
                <a:cs typeface="Times New Roman" pitchFamily="18" charset="0"/>
              </a:rPr>
              <a:t>2000</a:t>
            </a:r>
          </a:p>
          <a:p>
            <a:pPr fontAlgn="base"/>
            <a:r>
              <a:rPr lang="en-US" sz="2000" b="1" dirty="0">
                <a:latin typeface="Times New Roman" pitchFamily="18" charset="0"/>
                <a:cs typeface="Times New Roman" pitchFamily="18" charset="0"/>
              </a:rPr>
              <a:t>W3C recommends XHTML 1.0 – an XML-based markup language that mirrors/extends HTML. Previous versions of HTML are now showing their age, struggling to handle the latest generation of multimedia, and interactive sites. To get the best results, developers are resorting to third-party plugins.</a:t>
            </a:r>
          </a:p>
          <a:p>
            <a:pPr fontAlgn="base">
              <a:buNone/>
            </a:pPr>
            <a:r>
              <a:rPr lang="en-US" sz="2000" b="1" dirty="0">
                <a:solidFill>
                  <a:srgbClr val="FF0000"/>
                </a:solidFill>
                <a:latin typeface="Times New Roman" pitchFamily="18" charset="0"/>
                <a:cs typeface="Times New Roman" pitchFamily="18" charset="0"/>
              </a:rPr>
              <a:t>2004</a:t>
            </a:r>
          </a:p>
          <a:p>
            <a:pPr fontAlgn="base"/>
            <a:r>
              <a:rPr lang="en-US" sz="2000" b="1" dirty="0">
                <a:latin typeface="Times New Roman" pitchFamily="18" charset="0"/>
                <a:cs typeface="Times New Roman" pitchFamily="18" charset="0"/>
              </a:rPr>
              <a:t>Development of HTML is closed by W3C, who instead decide to focus on XHTML. WHATWG is formed to develop HTML further, with the aim of reflecting the modern dynamic web, while keeping backwards compatibility with existing HTML code.</a:t>
            </a:r>
          </a:p>
          <a:p>
            <a:pPr fontAlgn="base">
              <a:buNone/>
            </a:pPr>
            <a:r>
              <a:rPr lang="en-US" sz="2000" b="1" dirty="0">
                <a:solidFill>
                  <a:srgbClr val="FF0000"/>
                </a:solidFill>
                <a:latin typeface="Times New Roman" pitchFamily="18" charset="0"/>
                <a:cs typeface="Times New Roman" pitchFamily="18" charset="0"/>
              </a:rPr>
              <a:t>2004–2006</a:t>
            </a:r>
          </a:p>
          <a:p>
            <a:pPr fontAlgn="base"/>
            <a:r>
              <a:rPr lang="en-US" sz="2000" b="1" dirty="0">
                <a:latin typeface="Times New Roman" pitchFamily="18" charset="0"/>
                <a:cs typeface="Times New Roman" pitchFamily="18" charset="0"/>
              </a:rPr>
              <a:t>WHATWG gains support from major web browser developers. In 2006, W3C also announced its support for the project.</a:t>
            </a:r>
          </a:p>
          <a:p>
            <a:pPr fontAlgn="base">
              <a:buNone/>
            </a:pPr>
            <a:r>
              <a:rPr lang="en-US" sz="2000" b="1" dirty="0">
                <a:solidFill>
                  <a:srgbClr val="FF0000"/>
                </a:solidFill>
                <a:latin typeface="Times New Roman" pitchFamily="18" charset="0"/>
                <a:cs typeface="Times New Roman" pitchFamily="18" charset="0"/>
              </a:rPr>
              <a:t>2008</a:t>
            </a:r>
          </a:p>
          <a:p>
            <a:pPr fontAlgn="base"/>
            <a:r>
              <a:rPr lang="en-US" sz="2000" b="1" dirty="0">
                <a:latin typeface="Times New Roman" pitchFamily="18" charset="0"/>
                <a:cs typeface="Times New Roman" pitchFamily="18" charset="0"/>
              </a:rPr>
              <a:t>The first public draft of HTML5 is released by WHATWG</a:t>
            </a:r>
            <a:r>
              <a:rPr lang="en-US" sz="2000" b="1" dirty="0" smtClean="0">
                <a:latin typeface="Times New Roman" pitchFamily="18" charset="0"/>
                <a:cs typeface="Times New Roman" pitchFamily="18" charset="0"/>
              </a:rPr>
              <a:t>. </a:t>
            </a:r>
            <a:r>
              <a:rPr lang="en-US" sz="2000" b="1" dirty="0">
                <a:latin typeface="Times New Roman" panose="02020603050405020304" pitchFamily="18" charset="0"/>
                <a:cs typeface="Times New Roman" panose="02020603050405020304" pitchFamily="18" charset="0"/>
              </a:rPr>
              <a:t>Web Hypertext Application Technology Working Group</a:t>
            </a: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397360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5" descr="2.JPG"/>
          <p:cNvPicPr>
            <a:picLocks noGrp="1" noChangeAspect="1"/>
          </p:cNvPicPr>
          <p:nvPr>
            <p:ph sz="quarter" idx="1"/>
          </p:nvPr>
        </p:nvPicPr>
        <p:blipFill>
          <a:blip r:embed="rId3"/>
          <a:stretch>
            <a:fillRect/>
          </a:stretch>
        </p:blipFill>
        <p:spPr>
          <a:xfrm>
            <a:off x="2057400" y="228600"/>
            <a:ext cx="7543800" cy="6400800"/>
          </a:xfrm>
        </p:spPr>
      </p:pic>
    </p:spTree>
    <p:extLst>
      <p:ext uri="{BB962C8B-B14F-4D97-AF65-F5344CB8AC3E}">
        <p14:creationId xmlns:p14="http://schemas.microsoft.com/office/powerpoint/2010/main" val="57302158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1066800"/>
          </a:xfrm>
          <a:solidFill>
            <a:schemeClr val="accent3">
              <a:lumMod val="60000"/>
              <a:lumOff val="40000"/>
            </a:schemeClr>
          </a:solidFill>
        </p:spPr>
        <p:txBody>
          <a:bodyPr>
            <a:normAutofit fontScale="90000"/>
          </a:bodyPr>
          <a:lstStyle/>
          <a:p>
            <a:r>
              <a:rPr lang="en-US" dirty="0"/>
              <a:t>             </a:t>
            </a:r>
            <a:br>
              <a:rPr lang="en-US" dirty="0"/>
            </a:br>
            <a:r>
              <a:rPr lang="en-US" dirty="0"/>
              <a:t>			</a:t>
            </a:r>
            <a:r>
              <a:rPr lang="en-US" sz="3200" b="1" dirty="0">
                <a:solidFill>
                  <a:srgbClr val="002060"/>
                </a:solidFill>
                <a:latin typeface="Times New Roman" pitchFamily="18" charset="0"/>
                <a:cs typeface="Times New Roman" pitchFamily="18" charset="0"/>
              </a:rPr>
              <a:t>Why use HTML5</a:t>
            </a:r>
            <a:r>
              <a:rPr lang="en-US" dirty="0"/>
              <a:t/>
            </a:r>
            <a:br>
              <a:rPr lang="en-US" dirty="0"/>
            </a:br>
            <a:endParaRPr lang="en-US" dirty="0"/>
          </a:p>
        </p:txBody>
      </p:sp>
      <p:sp>
        <p:nvSpPr>
          <p:cNvPr id="3" name="Content Placeholder 2"/>
          <p:cNvSpPr>
            <a:spLocks noGrp="1"/>
          </p:cNvSpPr>
          <p:nvPr>
            <p:ph sz="quarter" idx="1"/>
          </p:nvPr>
        </p:nvSpPr>
        <p:spPr>
          <a:xfrm>
            <a:off x="314324" y="1304925"/>
            <a:ext cx="12030076" cy="5162550"/>
          </a:xfrm>
        </p:spPr>
        <p:txBody>
          <a:bodyPr>
            <a:normAutofit/>
          </a:bodyPr>
          <a:lstStyle/>
          <a:p>
            <a:pPr>
              <a:lnSpc>
                <a:spcPct val="100000"/>
              </a:lnSpc>
            </a:pPr>
            <a:r>
              <a:rPr lang="en-US" dirty="0">
                <a:latin typeface="Times New Roman" panose="02020603050405020304" pitchFamily="18" charset="0"/>
                <a:cs typeface="Times New Roman" panose="02020603050405020304" pitchFamily="18" charset="0"/>
              </a:rPr>
              <a:t>It allows you to play a video and audio file.</a:t>
            </a:r>
          </a:p>
          <a:p>
            <a:pPr>
              <a:lnSpc>
                <a:spcPct val="100000"/>
              </a:lnSpc>
            </a:pPr>
            <a:r>
              <a:rPr lang="en-US" dirty="0">
                <a:latin typeface="Times New Roman" panose="02020603050405020304" pitchFamily="18" charset="0"/>
                <a:cs typeface="Times New Roman" panose="02020603050405020304" pitchFamily="18" charset="0"/>
              </a:rPr>
              <a:t>It allows you to draw on a canvas.</a:t>
            </a:r>
          </a:p>
          <a:p>
            <a:pPr>
              <a:lnSpc>
                <a:spcPct val="100000"/>
              </a:lnSpc>
            </a:pPr>
            <a:r>
              <a:rPr lang="en-US" dirty="0">
                <a:latin typeface="Times New Roman" panose="02020603050405020304" pitchFamily="18" charset="0"/>
                <a:cs typeface="Times New Roman" panose="02020603050405020304" pitchFamily="18" charset="0"/>
              </a:rPr>
              <a:t>It facilitate you to design better forms and build web applications that work offline.</a:t>
            </a:r>
          </a:p>
          <a:p>
            <a:pPr>
              <a:lnSpc>
                <a:spcPct val="100000"/>
              </a:lnSpc>
            </a:pPr>
            <a:r>
              <a:rPr lang="en-US" dirty="0" smtClean="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provides you advance features for that you would normally have to write JavaScript to do.</a:t>
            </a:r>
          </a:p>
          <a:p>
            <a:pPr>
              <a:lnSpc>
                <a:spcPct val="100000"/>
              </a:lnSpc>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most important reason to use HTML 5 is, we believe it is not going anywhere.</a:t>
            </a:r>
          </a:p>
          <a:p>
            <a:pPr>
              <a:lnSpc>
                <a:spcPct val="100000"/>
              </a:lnSpc>
            </a:pP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It will be here to serve for a long time according to W3C recommendation. </a:t>
            </a:r>
          </a:p>
          <a:p>
            <a:pPr>
              <a:lnSpc>
                <a:spcPct val="10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010261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3600" y="228600"/>
            <a:ext cx="7467600" cy="457200"/>
          </a:xfrm>
        </p:spPr>
        <p:txBody>
          <a:bodyPr>
            <a:normAutofit fontScale="90000"/>
          </a:bodyPr>
          <a:lstStyle/>
          <a:p>
            <a:pPr algn="ctr"/>
            <a:r>
              <a:rPr lang="en-IN" b="1" u="sng" dirty="0">
                <a:solidFill>
                  <a:srgbClr val="FF0000"/>
                </a:solidFill>
                <a:latin typeface="Times New Roman" pitchFamily="18" charset="0"/>
                <a:cs typeface="Times New Roman" pitchFamily="18" charset="0"/>
              </a:rPr>
              <a:t>syntax</a:t>
            </a:r>
            <a:endParaRPr lang="en-US" b="1" u="sng" dirty="0">
              <a:solidFill>
                <a:srgbClr val="FF0000"/>
              </a:solidFill>
              <a:latin typeface="Times New Roman" pitchFamily="18" charset="0"/>
              <a:cs typeface="Times New Roman" pitchFamily="18" charset="0"/>
            </a:endParaRPr>
          </a:p>
        </p:txBody>
      </p:sp>
      <p:sp>
        <p:nvSpPr>
          <p:cNvPr id="3" name="Content Placeholder 2"/>
          <p:cNvSpPr>
            <a:spLocks noGrp="1"/>
          </p:cNvSpPr>
          <p:nvPr>
            <p:ph sz="quarter" idx="1"/>
          </p:nvPr>
        </p:nvSpPr>
        <p:spPr>
          <a:xfrm>
            <a:off x="1981200" y="914400"/>
            <a:ext cx="8229600" cy="5943600"/>
          </a:xfrm>
          <a:solidFill>
            <a:schemeClr val="bg2">
              <a:lumMod val="50000"/>
            </a:schemeClr>
          </a:solidFill>
        </p:spPr>
        <p:txBody>
          <a:bodyPr>
            <a:noAutofit/>
          </a:bodyPr>
          <a:lstStyle/>
          <a:p>
            <a:pPr>
              <a:buNone/>
            </a:pPr>
            <a:r>
              <a:rPr lang="en-US" sz="3600" dirty="0"/>
              <a:t>  </a:t>
            </a:r>
            <a:r>
              <a:rPr lang="en-US" sz="3600" b="1" dirty="0"/>
              <a:t>&lt;/html&gt;</a:t>
            </a:r>
            <a:r>
              <a:rPr lang="en-US" sz="3600" dirty="0"/>
              <a:t>  &lt;!DOCTYPE html&gt;</a:t>
            </a:r>
            <a:br>
              <a:rPr lang="en-US" sz="3600" dirty="0"/>
            </a:br>
            <a:r>
              <a:rPr lang="en-US" sz="3600" dirty="0"/>
              <a:t>&lt;html&gt;</a:t>
            </a:r>
            <a:br>
              <a:rPr lang="en-US" sz="3600" dirty="0"/>
            </a:br>
            <a:r>
              <a:rPr lang="en-US" sz="3600" dirty="0"/>
              <a:t>&lt;head&gt;</a:t>
            </a:r>
            <a:br>
              <a:rPr lang="en-US" sz="3600" dirty="0"/>
            </a:br>
            <a:r>
              <a:rPr lang="en-US" sz="3600" dirty="0"/>
              <a:t>&lt;title&gt;Page Title&lt;/title&gt;</a:t>
            </a:r>
            <a:br>
              <a:rPr lang="en-US" sz="3600" dirty="0"/>
            </a:br>
            <a:r>
              <a:rPr lang="en-US" sz="3600" dirty="0"/>
              <a:t>&lt;/head&gt;</a:t>
            </a:r>
            <a:br>
              <a:rPr lang="en-US" sz="3600" dirty="0"/>
            </a:br>
            <a:r>
              <a:rPr lang="en-US" sz="3600" dirty="0"/>
              <a:t>&lt;body&gt;</a:t>
            </a:r>
            <a:br>
              <a:rPr lang="en-US" sz="3600" dirty="0"/>
            </a:br>
            <a:r>
              <a:rPr lang="en-US" sz="3600" dirty="0"/>
              <a:t>&lt;h1&gt;My First Heading&lt;/h1&gt;</a:t>
            </a:r>
            <a:br>
              <a:rPr lang="en-US" sz="3600" dirty="0"/>
            </a:br>
            <a:r>
              <a:rPr lang="en-US" sz="3600" dirty="0"/>
              <a:t>&lt;p&gt;My first paragraph.&lt;/p&gt;</a:t>
            </a:r>
            <a:br>
              <a:rPr lang="en-US" sz="3600" dirty="0"/>
            </a:br>
            <a:r>
              <a:rPr lang="en-US" sz="3600" dirty="0"/>
              <a:t>&lt;/body&gt;</a:t>
            </a:r>
            <a:br>
              <a:rPr lang="en-US" sz="3600" dirty="0"/>
            </a:br>
            <a:r>
              <a:rPr lang="en-US" sz="3600" dirty="0"/>
              <a:t>&lt;/html&gt;</a:t>
            </a:r>
          </a:p>
        </p:txBody>
      </p:sp>
    </p:spTree>
    <p:extLst>
      <p:ext uri="{BB962C8B-B14F-4D97-AF65-F5344CB8AC3E}">
        <p14:creationId xmlns:p14="http://schemas.microsoft.com/office/powerpoint/2010/main" val="131996617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14300" y="762000"/>
            <a:ext cx="11906250" cy="6096000"/>
          </a:xfrm>
          <a:solidFill>
            <a:schemeClr val="bg2">
              <a:lumMod val="90000"/>
            </a:schemeClr>
          </a:solidFill>
        </p:spPr>
        <p:txBody>
          <a:bodyPr>
            <a:normAutofit/>
          </a:bodyPr>
          <a:lstStyle/>
          <a:p>
            <a:pPr algn="just"/>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&lt;!DOCTYPE html&gt;</a:t>
            </a:r>
          </a:p>
          <a:p>
            <a:pPr marL="0" indent="0" algn="just">
              <a:buNone/>
            </a:pPr>
            <a:r>
              <a:rPr lang="en-US" dirty="0">
                <a:latin typeface="Times New Roman" panose="02020603050405020304" pitchFamily="18" charset="0"/>
                <a:cs typeface="Times New Roman" panose="02020603050405020304" pitchFamily="18" charset="0"/>
              </a:rPr>
              <a:t>&lt;html </a:t>
            </a:r>
            <a:r>
              <a:rPr lang="en-US" dirty="0" err="1">
                <a:latin typeface="Times New Roman" panose="02020603050405020304" pitchFamily="18" charset="0"/>
                <a:cs typeface="Times New Roman" panose="02020603050405020304" pitchFamily="18" charset="0"/>
              </a:rPr>
              <a:t>lang</a:t>
            </a:r>
            <a:r>
              <a:rPr lang="en-US" dirty="0">
                <a:latin typeface="Times New Roman" panose="02020603050405020304" pitchFamily="18" charset="0"/>
                <a:cs typeface="Times New Roman" panose="02020603050405020304" pitchFamily="18" charset="0"/>
              </a:rPr>
              <a:t>="en"&gt;</a:t>
            </a:r>
          </a:p>
          <a:p>
            <a:pPr marL="0" indent="0" algn="just">
              <a:buNone/>
            </a:pPr>
            <a:r>
              <a:rPr lang="en-US" dirty="0">
                <a:latin typeface="Times New Roman" panose="02020603050405020304" pitchFamily="18" charset="0"/>
                <a:cs typeface="Times New Roman" panose="02020603050405020304" pitchFamily="18" charset="0"/>
              </a:rPr>
              <a:t>&lt;head&gt;</a:t>
            </a:r>
          </a:p>
          <a:p>
            <a:pPr marL="0" indent="0" algn="just">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&lt;</a:t>
            </a:r>
            <a:r>
              <a:rPr lang="en-US" dirty="0">
                <a:latin typeface="Times New Roman" panose="02020603050405020304" pitchFamily="18" charset="0"/>
                <a:cs typeface="Times New Roman" panose="02020603050405020304" pitchFamily="18" charset="0"/>
              </a:rPr>
              <a:t>title&gt;My Web Page&lt;/title</a:t>
            </a:r>
            <a:r>
              <a:rPr lang="en-US" dirty="0" smtClean="0">
                <a:latin typeface="Times New Roman" panose="02020603050405020304" pitchFamily="18" charset="0"/>
                <a:cs typeface="Times New Roman" panose="02020603050405020304" pitchFamily="18" charset="0"/>
              </a:rPr>
              <a:t>&gt;</a:t>
            </a:r>
          </a:p>
          <a:p>
            <a:pPr marL="0" indent="0" algn="just">
              <a:buNone/>
            </a:pPr>
            <a:r>
              <a:rPr lang="en-US" dirty="0" smtClean="0">
                <a:latin typeface="Times New Roman" panose="02020603050405020304" pitchFamily="18" charset="0"/>
                <a:cs typeface="Times New Roman" panose="02020603050405020304" pitchFamily="18" charset="0"/>
              </a:rPr>
              <a:t>&lt;/</a:t>
            </a:r>
            <a:r>
              <a:rPr lang="en-US" dirty="0">
                <a:latin typeface="Times New Roman" panose="02020603050405020304" pitchFamily="18" charset="0"/>
                <a:cs typeface="Times New Roman" panose="02020603050405020304" pitchFamily="18" charset="0"/>
              </a:rPr>
              <a:t>head&gt;</a:t>
            </a:r>
          </a:p>
          <a:p>
            <a:pPr marL="0" indent="0" algn="just">
              <a:buNone/>
            </a:pPr>
            <a:r>
              <a:rPr lang="en-US" dirty="0">
                <a:latin typeface="Times New Roman" panose="02020603050405020304" pitchFamily="18" charset="0"/>
                <a:cs typeface="Times New Roman" panose="02020603050405020304" pitchFamily="18" charset="0"/>
              </a:rPr>
              <a:t>&lt;body</a:t>
            </a:r>
            <a:r>
              <a:rPr lang="en-US" dirty="0" smtClean="0">
                <a:latin typeface="Times New Roman" panose="02020603050405020304" pitchFamily="18" charset="0"/>
                <a:cs typeface="Times New Roman" panose="02020603050405020304" pitchFamily="18" charset="0"/>
              </a:rPr>
              <a:t>&gt;</a:t>
            </a:r>
          </a:p>
          <a:p>
            <a:pPr marL="0" indent="0" algn="just">
              <a:buNone/>
            </a:pPr>
            <a:r>
              <a:rPr lang="en-US" dirty="0">
                <a:latin typeface="Times New Roman" panose="02020603050405020304" pitchFamily="18" charset="0"/>
                <a:cs typeface="Times New Roman" panose="02020603050405020304" pitchFamily="18" charset="0"/>
              </a:rPr>
              <a:t>&lt;!-- This is a comment in HTML </a:t>
            </a:r>
            <a:r>
              <a:rPr lang="en-US" dirty="0" smtClean="0">
                <a:latin typeface="Times New Roman" panose="02020603050405020304" pitchFamily="18" charset="0"/>
                <a:cs typeface="Times New Roman" panose="02020603050405020304" pitchFamily="18" charset="0"/>
              </a:rPr>
              <a:t>--&gt;</a:t>
            </a:r>
          </a:p>
          <a:p>
            <a:pPr marL="0" indent="0" algn="just">
              <a:buNone/>
            </a:pPr>
            <a:r>
              <a:rPr lang="en-US" dirty="0" smtClean="0">
                <a:latin typeface="Times New Roman" panose="02020603050405020304" pitchFamily="18" charset="0"/>
                <a:cs typeface="Times New Roman" panose="02020603050405020304" pitchFamily="18" charset="0"/>
              </a:rPr>
              <a:t>&lt;h1&gt;welcome to web technology&lt;/H1&gt;</a:t>
            </a:r>
            <a:endParaRPr lang="en-US" dirty="0">
              <a:latin typeface="Times New Roman" panose="02020603050405020304" pitchFamily="18" charset="0"/>
              <a:cs typeface="Times New Roman" panose="02020603050405020304" pitchFamily="18" charset="0"/>
            </a:endParaRPr>
          </a:p>
          <a:p>
            <a:pPr marL="0" indent="0" algn="just">
              <a:buNone/>
            </a:pP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&lt;/body&gt;</a:t>
            </a:r>
          </a:p>
          <a:p>
            <a:pPr marL="0" indent="0" algn="just">
              <a:buNone/>
            </a:pPr>
            <a:r>
              <a:rPr lang="en-US" dirty="0">
                <a:latin typeface="Times New Roman" panose="02020603050405020304" pitchFamily="18" charset="0"/>
                <a:cs typeface="Times New Roman" panose="02020603050405020304" pitchFamily="18" charset="0"/>
              </a:rPr>
              <a:t>&lt;/html&gt;</a:t>
            </a:r>
          </a:p>
        </p:txBody>
      </p:sp>
      <p:sp>
        <p:nvSpPr>
          <p:cNvPr id="4" name="Rectangle 3"/>
          <p:cNvSpPr/>
          <p:nvPr/>
        </p:nvSpPr>
        <p:spPr>
          <a:xfrm>
            <a:off x="3429000" y="0"/>
            <a:ext cx="4572000" cy="923330"/>
          </a:xfrm>
          <a:prstGeom prst="rect">
            <a:avLst/>
          </a:prstGeom>
        </p:spPr>
        <p:txBody>
          <a:bodyPr wrap="square">
            <a:spAutoFit/>
          </a:bodyPr>
          <a:lstStyle/>
          <a:p>
            <a:endParaRPr lang="en-US" dirty="0"/>
          </a:p>
          <a:p>
            <a:endParaRPr lang="en-US" dirty="0"/>
          </a:p>
          <a:p>
            <a:r>
              <a:rPr lang="en-US" dirty="0"/>
              <a:t>    </a:t>
            </a:r>
          </a:p>
        </p:txBody>
      </p:sp>
      <p:sp>
        <p:nvSpPr>
          <p:cNvPr id="5" name="Title 1"/>
          <p:cNvSpPr>
            <a:spLocks noGrp="1"/>
          </p:cNvSpPr>
          <p:nvPr>
            <p:ph type="title"/>
          </p:nvPr>
        </p:nvSpPr>
        <p:spPr>
          <a:xfrm>
            <a:off x="1981200" y="274638"/>
            <a:ext cx="7467600" cy="487362"/>
          </a:xfrm>
        </p:spPr>
        <p:txBody>
          <a:bodyPr>
            <a:normAutofit fontScale="90000"/>
          </a:bodyPr>
          <a:lstStyle/>
          <a:p>
            <a:pPr algn="ctr"/>
            <a:r>
              <a:rPr lang="en-US" dirty="0"/>
              <a:t>   </a:t>
            </a:r>
            <a:r>
              <a:rPr lang="en-US" b="1" dirty="0">
                <a:solidFill>
                  <a:srgbClr val="002060"/>
                </a:solidFill>
                <a:latin typeface="Times New Roman" pitchFamily="18" charset="0"/>
                <a:cs typeface="Times New Roman" pitchFamily="18" charset="0"/>
              </a:rPr>
              <a:t>HTML5-Syntax</a:t>
            </a:r>
          </a:p>
        </p:txBody>
      </p:sp>
    </p:spTree>
    <p:extLst>
      <p:ext uri="{BB962C8B-B14F-4D97-AF65-F5344CB8AC3E}">
        <p14:creationId xmlns:p14="http://schemas.microsoft.com/office/powerpoint/2010/main" val="409478955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a:xfrm>
            <a:off x="1981200" y="152400"/>
            <a:ext cx="8229600" cy="609600"/>
          </a:xfrm>
        </p:spPr>
        <p:txBody>
          <a:bodyPr>
            <a:normAutofit/>
          </a:bodyPr>
          <a:lstStyle/>
          <a:p>
            <a:pPr algn="l"/>
            <a:r>
              <a:rPr lang="en-US" sz="3200" dirty="0">
                <a:effectLst>
                  <a:outerShdw blurRad="38100" dist="38100" dir="2700000" algn="tl">
                    <a:srgbClr val="000000">
                      <a:alpha val="43137"/>
                    </a:srgbClr>
                  </a:outerShdw>
                  <a:reflection blurRad="12700" stA="20000" endPos="50000" dist="12700" dir="5400000" sy="-100000" algn="bl" rotWithShape="0"/>
                </a:effectLst>
              </a:rPr>
              <a:t>Text Formatting Tags</a:t>
            </a:r>
            <a:endParaRPr lang="en-US" altLang="en-US" sz="3200" b="1" dirty="0">
              <a:solidFill>
                <a:srgbClr val="0070C0"/>
              </a:solidFill>
              <a:latin typeface="Times New Roman" pitchFamily="18" charset="0"/>
              <a:cs typeface="Times New Roman" pitchFamily="18" charset="0"/>
            </a:endParaRPr>
          </a:p>
        </p:txBody>
      </p:sp>
      <p:sp>
        <p:nvSpPr>
          <p:cNvPr id="2" name="Rectangle 3"/>
          <p:cNvSpPr>
            <a:spLocks noGrp="1" noChangeArrowheads="1"/>
          </p:cNvSpPr>
          <p:nvPr>
            <p:ph type="body" idx="1"/>
          </p:nvPr>
        </p:nvSpPr>
        <p:spPr>
          <a:xfrm>
            <a:off x="1828800" y="762000"/>
            <a:ext cx="8610600" cy="5562600"/>
          </a:xfrm>
        </p:spPr>
        <p:txBody>
          <a:bodyPr>
            <a:normAutofit/>
          </a:bodyPr>
          <a:lstStyle/>
          <a:p>
            <a:r>
              <a:rPr lang="en-US" sz="2400" dirty="0">
                <a:latin typeface="Times New Roman" pitchFamily="18" charset="0"/>
                <a:cs typeface="Times New Roman" pitchFamily="18" charset="0"/>
              </a:rPr>
              <a:t>Text formatting tags modify the text between the opening tag and the closing tag</a:t>
            </a:r>
          </a:p>
          <a:p>
            <a:pPr lvl="3" eaLnBrk="1" hangingPunct="1">
              <a:lnSpc>
                <a:spcPct val="90000"/>
              </a:lnSpc>
              <a:buFontTx/>
              <a:buNone/>
              <a:defRPr/>
            </a:pPr>
            <a:endParaRPr lang="en-US" altLang="en-US" sz="2400" b="1" dirty="0">
              <a:latin typeface="Times New Roman" pitchFamily="18" charset="0"/>
              <a:cs typeface="Times New Roman" pitchFamily="18" charset="0"/>
            </a:endParaRPr>
          </a:p>
        </p:txBody>
      </p:sp>
      <p:graphicFrame>
        <p:nvGraphicFramePr>
          <p:cNvPr id="5" name="Table 4"/>
          <p:cNvGraphicFramePr>
            <a:graphicFrameLocks noGrp="1"/>
          </p:cNvGraphicFramePr>
          <p:nvPr>
            <p:extLst/>
          </p:nvPr>
        </p:nvGraphicFramePr>
        <p:xfrm>
          <a:off x="2057400" y="1600200"/>
          <a:ext cx="8229600" cy="4724400"/>
        </p:xfrm>
        <a:graphic>
          <a:graphicData uri="http://schemas.openxmlformats.org/drawingml/2006/table">
            <a:tbl>
              <a:tblPr/>
              <a:tblGrid>
                <a:gridCol w="3437953">
                  <a:extLst>
                    <a:ext uri="{9D8B030D-6E8A-4147-A177-3AD203B41FA5}">
                      <a16:colId xmlns="" xmlns:a16="http://schemas.microsoft.com/office/drawing/2014/main" val="20000"/>
                    </a:ext>
                  </a:extLst>
                </a:gridCol>
                <a:gridCol w="4791647">
                  <a:extLst>
                    <a:ext uri="{9D8B030D-6E8A-4147-A177-3AD203B41FA5}">
                      <a16:colId xmlns="" xmlns:a16="http://schemas.microsoft.com/office/drawing/2014/main" val="20001"/>
                    </a:ext>
                  </a:extLst>
                </a:gridCol>
              </a:tblGrid>
              <a:tr h="472440">
                <a:tc>
                  <a:txBody>
                    <a:bodyPr/>
                    <a:lstStyle/>
                    <a:p>
                      <a:pPr marL="0" marR="0">
                        <a:lnSpc>
                          <a:spcPct val="115000"/>
                        </a:lnSpc>
                        <a:spcBef>
                          <a:spcPts val="0"/>
                        </a:spcBef>
                        <a:spcAft>
                          <a:spcPts val="1000"/>
                        </a:spcAft>
                      </a:pPr>
                      <a:r>
                        <a:rPr lang="en-US" sz="2000" b="1" dirty="0">
                          <a:latin typeface="Times New Roman" pitchFamily="18" charset="0"/>
                          <a:ea typeface="Times New Roman"/>
                          <a:cs typeface="Times New Roman" pitchFamily="18" charset="0"/>
                        </a:rPr>
                        <a:t>&lt;b&gt;</a:t>
                      </a:r>
                      <a:endParaRPr lang="en-US" sz="2000" dirty="0">
                        <a:latin typeface="Times New Roman" pitchFamily="18" charset="0"/>
                        <a:ea typeface="Times New Roman"/>
                        <a:cs typeface="Times New Roman" pitchFamily="18" charset="0"/>
                      </a:endParaRPr>
                    </a:p>
                  </a:txBody>
                  <a:tcPr>
                    <a:lnL w="28575" cap="flat" cmpd="sng" algn="ctr">
                      <a:solidFill>
                        <a:srgbClr val="EFF4EF"/>
                      </a:solidFill>
                      <a:prstDash val="solid"/>
                      <a:round/>
                      <a:headEnd type="none" w="med" len="med"/>
                      <a:tailEnd type="none" w="med" len="med"/>
                    </a:lnL>
                    <a:lnR w="12700" cap="flat" cmpd="sng" algn="ctr">
                      <a:solidFill>
                        <a:srgbClr val="EFF4EF"/>
                      </a:solidFill>
                      <a:prstDash val="solid"/>
                      <a:round/>
                      <a:headEnd type="none" w="med" len="med"/>
                      <a:tailEnd type="none" w="med" len="med"/>
                    </a:lnR>
                    <a:lnT w="28575" cap="flat" cmpd="sng" algn="ctr">
                      <a:solidFill>
                        <a:srgbClr val="EFF4EF"/>
                      </a:solidFill>
                      <a:prstDash val="solid"/>
                      <a:round/>
                      <a:headEnd type="none" w="med" len="med"/>
                      <a:tailEnd type="none" w="med" len="med"/>
                    </a:lnT>
                    <a:lnB w="12700" cap="flat" cmpd="sng" algn="ctr">
                      <a:solidFill>
                        <a:srgbClr val="EFF4EF"/>
                      </a:solidFill>
                      <a:prstDash val="solid"/>
                      <a:round/>
                      <a:headEnd type="none" w="med" len="med"/>
                      <a:tailEnd type="none" w="med" len="med"/>
                    </a:lnB>
                    <a:solidFill>
                      <a:srgbClr val="339933"/>
                    </a:solidFill>
                  </a:tcPr>
                </a:tc>
                <a:tc>
                  <a:txBody>
                    <a:bodyPr/>
                    <a:lstStyle/>
                    <a:p>
                      <a:pPr marL="0" marR="0">
                        <a:lnSpc>
                          <a:spcPct val="115000"/>
                        </a:lnSpc>
                        <a:spcBef>
                          <a:spcPts val="0"/>
                        </a:spcBef>
                        <a:spcAft>
                          <a:spcPts val="1000"/>
                        </a:spcAft>
                      </a:pPr>
                      <a:r>
                        <a:rPr lang="en-US" sz="2000" b="1" dirty="0">
                          <a:latin typeface="Times New Roman" pitchFamily="18" charset="0"/>
                          <a:ea typeface="Times New Roman"/>
                          <a:cs typeface="Times New Roman" pitchFamily="18" charset="0"/>
                        </a:rPr>
                        <a:t>Used to display bold  text</a:t>
                      </a:r>
                      <a:endParaRPr lang="en-US" sz="2000" dirty="0">
                        <a:latin typeface="Times New Roman" pitchFamily="18" charset="0"/>
                        <a:ea typeface="Times New Roman"/>
                        <a:cs typeface="Times New Roman" pitchFamily="18" charset="0"/>
                      </a:endParaRPr>
                    </a:p>
                  </a:txBody>
                  <a:tcPr>
                    <a:lnL w="12700" cap="flat" cmpd="sng" algn="ctr">
                      <a:solidFill>
                        <a:srgbClr val="EFF4EF"/>
                      </a:solidFill>
                      <a:prstDash val="solid"/>
                      <a:round/>
                      <a:headEnd type="none" w="med" len="med"/>
                      <a:tailEnd type="none" w="med" len="med"/>
                    </a:lnL>
                    <a:lnR w="28575" cap="flat" cmpd="sng" algn="ctr">
                      <a:solidFill>
                        <a:srgbClr val="EFF4EF"/>
                      </a:solidFill>
                      <a:prstDash val="solid"/>
                      <a:round/>
                      <a:headEnd type="none" w="med" len="med"/>
                      <a:tailEnd type="none" w="med" len="med"/>
                    </a:lnR>
                    <a:lnT w="28575" cap="flat" cmpd="sng" algn="ctr">
                      <a:solidFill>
                        <a:srgbClr val="EFF4EF"/>
                      </a:solidFill>
                      <a:prstDash val="solid"/>
                      <a:round/>
                      <a:headEnd type="none" w="med" len="med"/>
                      <a:tailEnd type="none" w="med" len="med"/>
                    </a:lnT>
                    <a:lnB w="12700" cap="flat" cmpd="sng" algn="ctr">
                      <a:solidFill>
                        <a:srgbClr val="EFF4EF"/>
                      </a:solidFill>
                      <a:prstDash val="solid"/>
                      <a:round/>
                      <a:headEnd type="none" w="med" len="med"/>
                      <a:tailEnd type="none" w="med" len="med"/>
                    </a:lnB>
                    <a:solidFill>
                      <a:srgbClr val="339933"/>
                    </a:solidFill>
                  </a:tcPr>
                </a:tc>
                <a:extLst>
                  <a:ext uri="{0D108BD9-81ED-4DB2-BD59-A6C34878D82A}">
                    <a16:rowId xmlns="" xmlns:a16="http://schemas.microsoft.com/office/drawing/2014/main" val="10000"/>
                  </a:ext>
                </a:extLst>
              </a:tr>
              <a:tr h="472440">
                <a:tc>
                  <a:txBody>
                    <a:bodyPr/>
                    <a:lstStyle/>
                    <a:p>
                      <a:pPr marL="0" marR="0">
                        <a:lnSpc>
                          <a:spcPct val="115000"/>
                        </a:lnSpc>
                        <a:spcBef>
                          <a:spcPts val="0"/>
                        </a:spcBef>
                        <a:spcAft>
                          <a:spcPts val="1000"/>
                        </a:spcAft>
                      </a:pPr>
                      <a:r>
                        <a:rPr lang="en-US" sz="2000" b="1" dirty="0">
                          <a:latin typeface="Times New Roman" pitchFamily="18" charset="0"/>
                          <a:ea typeface="Times New Roman"/>
                          <a:cs typeface="Times New Roman" pitchFamily="18" charset="0"/>
                        </a:rPr>
                        <a:t>&lt;</a:t>
                      </a:r>
                      <a:r>
                        <a:rPr lang="en-US" sz="2000" b="1" dirty="0" err="1">
                          <a:latin typeface="Times New Roman" pitchFamily="18" charset="0"/>
                          <a:ea typeface="Times New Roman"/>
                          <a:cs typeface="Times New Roman" pitchFamily="18" charset="0"/>
                        </a:rPr>
                        <a:t>i</a:t>
                      </a:r>
                      <a:r>
                        <a:rPr lang="en-US" sz="2000" b="1" dirty="0">
                          <a:latin typeface="Times New Roman" pitchFamily="18" charset="0"/>
                          <a:ea typeface="Times New Roman"/>
                          <a:cs typeface="Times New Roman" pitchFamily="18" charset="0"/>
                        </a:rPr>
                        <a:t>&gt;</a:t>
                      </a:r>
                      <a:endParaRPr lang="en-US" sz="2000" dirty="0">
                        <a:latin typeface="Times New Roman" pitchFamily="18" charset="0"/>
                        <a:ea typeface="Times New Roman"/>
                        <a:cs typeface="Times New Roman" pitchFamily="18" charset="0"/>
                      </a:endParaRPr>
                    </a:p>
                  </a:txBody>
                  <a:tcPr>
                    <a:lnL w="28575" cap="flat" cmpd="sng" algn="ctr">
                      <a:solidFill>
                        <a:srgbClr val="EFF4EF"/>
                      </a:solidFill>
                      <a:prstDash val="solid"/>
                      <a:round/>
                      <a:headEnd type="none" w="med" len="med"/>
                      <a:tailEnd type="none" w="med" len="med"/>
                    </a:lnL>
                    <a:lnR w="12700" cap="flat" cmpd="sng" algn="ctr">
                      <a:solidFill>
                        <a:srgbClr val="EFF4EF"/>
                      </a:solidFill>
                      <a:prstDash val="solid"/>
                      <a:round/>
                      <a:headEnd type="none" w="med" len="med"/>
                      <a:tailEnd type="none" w="med" len="med"/>
                    </a:lnR>
                    <a:lnT w="12700" cap="flat" cmpd="sng" algn="ctr">
                      <a:solidFill>
                        <a:srgbClr val="EFF4EF"/>
                      </a:solidFill>
                      <a:prstDash val="solid"/>
                      <a:round/>
                      <a:headEnd type="none" w="med" len="med"/>
                      <a:tailEnd type="none" w="med" len="med"/>
                    </a:lnT>
                    <a:lnB w="12700" cap="flat" cmpd="sng" algn="ctr">
                      <a:solidFill>
                        <a:srgbClr val="EFF4EF"/>
                      </a:solidFill>
                      <a:prstDash val="solid"/>
                      <a:round/>
                      <a:headEnd type="none" w="med" len="med"/>
                      <a:tailEnd type="none" w="med" len="med"/>
                    </a:lnB>
                    <a:solidFill>
                      <a:srgbClr val="339933"/>
                    </a:solidFill>
                  </a:tcPr>
                </a:tc>
                <a:tc>
                  <a:txBody>
                    <a:bodyPr/>
                    <a:lstStyle/>
                    <a:p>
                      <a:pPr marL="0" marR="0">
                        <a:lnSpc>
                          <a:spcPct val="115000"/>
                        </a:lnSpc>
                        <a:spcBef>
                          <a:spcPts val="0"/>
                        </a:spcBef>
                        <a:spcAft>
                          <a:spcPts val="1000"/>
                        </a:spcAft>
                      </a:pPr>
                      <a:r>
                        <a:rPr lang="en-US" sz="2000" i="1" dirty="0">
                          <a:latin typeface="Times New Roman" pitchFamily="18" charset="0"/>
                          <a:ea typeface="Times New Roman"/>
                          <a:cs typeface="Times New Roman" pitchFamily="18" charset="0"/>
                        </a:rPr>
                        <a:t>Used to display italic text</a:t>
                      </a:r>
                      <a:endParaRPr lang="en-US" sz="2000" dirty="0">
                        <a:latin typeface="Times New Roman" pitchFamily="18" charset="0"/>
                        <a:ea typeface="Times New Roman"/>
                        <a:cs typeface="Times New Roman" pitchFamily="18" charset="0"/>
                      </a:endParaRPr>
                    </a:p>
                  </a:txBody>
                  <a:tcPr>
                    <a:lnL w="12700" cap="flat" cmpd="sng" algn="ctr">
                      <a:solidFill>
                        <a:srgbClr val="EFF4EF"/>
                      </a:solidFill>
                      <a:prstDash val="solid"/>
                      <a:round/>
                      <a:headEnd type="none" w="med" len="med"/>
                      <a:tailEnd type="none" w="med" len="med"/>
                    </a:lnL>
                    <a:lnR w="28575" cap="flat" cmpd="sng" algn="ctr">
                      <a:solidFill>
                        <a:srgbClr val="EFF4EF"/>
                      </a:solidFill>
                      <a:prstDash val="solid"/>
                      <a:round/>
                      <a:headEnd type="none" w="med" len="med"/>
                      <a:tailEnd type="none" w="med" len="med"/>
                    </a:lnR>
                    <a:lnT w="12700" cap="flat" cmpd="sng" algn="ctr">
                      <a:solidFill>
                        <a:srgbClr val="EFF4EF"/>
                      </a:solidFill>
                      <a:prstDash val="solid"/>
                      <a:round/>
                      <a:headEnd type="none" w="med" len="med"/>
                      <a:tailEnd type="none" w="med" len="med"/>
                    </a:lnT>
                    <a:lnB w="12700" cap="flat" cmpd="sng" algn="ctr">
                      <a:solidFill>
                        <a:srgbClr val="EFF4EF"/>
                      </a:solidFill>
                      <a:prstDash val="solid"/>
                      <a:round/>
                      <a:headEnd type="none" w="med" len="med"/>
                      <a:tailEnd type="none" w="med" len="med"/>
                    </a:lnB>
                    <a:solidFill>
                      <a:srgbClr val="339933"/>
                    </a:solidFill>
                  </a:tcPr>
                </a:tc>
                <a:extLst>
                  <a:ext uri="{0D108BD9-81ED-4DB2-BD59-A6C34878D82A}">
                    <a16:rowId xmlns="" xmlns:a16="http://schemas.microsoft.com/office/drawing/2014/main" val="10001"/>
                  </a:ext>
                </a:extLst>
              </a:tr>
              <a:tr h="472440">
                <a:tc>
                  <a:txBody>
                    <a:bodyPr/>
                    <a:lstStyle/>
                    <a:p>
                      <a:pPr marL="0" marR="0">
                        <a:lnSpc>
                          <a:spcPct val="115000"/>
                        </a:lnSpc>
                        <a:spcBef>
                          <a:spcPts val="0"/>
                        </a:spcBef>
                        <a:spcAft>
                          <a:spcPts val="1000"/>
                        </a:spcAft>
                      </a:pPr>
                      <a:r>
                        <a:rPr lang="en-US" sz="2000" b="1" dirty="0">
                          <a:latin typeface="Times New Roman" pitchFamily="18" charset="0"/>
                          <a:ea typeface="Times New Roman"/>
                          <a:cs typeface="Times New Roman" pitchFamily="18" charset="0"/>
                        </a:rPr>
                        <a:t>&lt;u&gt;</a:t>
                      </a:r>
                      <a:endParaRPr lang="en-US" sz="2000" dirty="0">
                        <a:latin typeface="Times New Roman" pitchFamily="18" charset="0"/>
                        <a:ea typeface="Times New Roman"/>
                        <a:cs typeface="Times New Roman" pitchFamily="18" charset="0"/>
                      </a:endParaRPr>
                    </a:p>
                  </a:txBody>
                  <a:tcPr>
                    <a:lnL w="28575" cap="flat" cmpd="sng" algn="ctr">
                      <a:solidFill>
                        <a:srgbClr val="EFF4EF"/>
                      </a:solidFill>
                      <a:prstDash val="solid"/>
                      <a:round/>
                      <a:headEnd type="none" w="med" len="med"/>
                      <a:tailEnd type="none" w="med" len="med"/>
                    </a:lnL>
                    <a:lnR w="12700" cap="flat" cmpd="sng" algn="ctr">
                      <a:solidFill>
                        <a:srgbClr val="EFF4EF"/>
                      </a:solidFill>
                      <a:prstDash val="solid"/>
                      <a:round/>
                      <a:headEnd type="none" w="med" len="med"/>
                      <a:tailEnd type="none" w="med" len="med"/>
                    </a:lnR>
                    <a:lnT w="12700" cap="flat" cmpd="sng" algn="ctr">
                      <a:solidFill>
                        <a:srgbClr val="EFF4EF"/>
                      </a:solidFill>
                      <a:prstDash val="solid"/>
                      <a:round/>
                      <a:headEnd type="none" w="med" len="med"/>
                      <a:tailEnd type="none" w="med" len="med"/>
                    </a:lnT>
                    <a:lnB w="12700" cap="flat" cmpd="sng" algn="ctr">
                      <a:solidFill>
                        <a:srgbClr val="EFF4EF"/>
                      </a:solidFill>
                      <a:prstDash val="solid"/>
                      <a:round/>
                      <a:headEnd type="none" w="med" len="med"/>
                      <a:tailEnd type="none" w="med" len="med"/>
                    </a:lnB>
                    <a:solidFill>
                      <a:srgbClr val="339933"/>
                    </a:solidFill>
                  </a:tcPr>
                </a:tc>
                <a:tc>
                  <a:txBody>
                    <a:bodyPr/>
                    <a:lstStyle/>
                    <a:p>
                      <a:pPr marL="0" marR="0">
                        <a:lnSpc>
                          <a:spcPct val="115000"/>
                        </a:lnSpc>
                        <a:spcBef>
                          <a:spcPts val="0"/>
                        </a:spcBef>
                        <a:spcAft>
                          <a:spcPts val="1000"/>
                        </a:spcAft>
                      </a:pPr>
                      <a:r>
                        <a:rPr lang="en-US" sz="2000" u="sng" dirty="0">
                          <a:latin typeface="Times New Roman" pitchFamily="18" charset="0"/>
                          <a:ea typeface="Times New Roman"/>
                          <a:cs typeface="Times New Roman" pitchFamily="18" charset="0"/>
                        </a:rPr>
                        <a:t>Used to display</a:t>
                      </a:r>
                      <a:r>
                        <a:rPr lang="en-US" sz="2000" u="sng" baseline="0" dirty="0">
                          <a:latin typeface="Times New Roman" pitchFamily="18" charset="0"/>
                          <a:ea typeface="Times New Roman"/>
                          <a:cs typeface="Times New Roman" pitchFamily="18" charset="0"/>
                        </a:rPr>
                        <a:t> </a:t>
                      </a:r>
                      <a:r>
                        <a:rPr lang="en-US" sz="2000" u="sng" dirty="0">
                          <a:latin typeface="Times New Roman" pitchFamily="18" charset="0"/>
                          <a:ea typeface="Times New Roman"/>
                          <a:cs typeface="Times New Roman" pitchFamily="18" charset="0"/>
                        </a:rPr>
                        <a:t>underlined  text</a:t>
                      </a:r>
                      <a:endParaRPr lang="en-US" sz="2000" dirty="0">
                        <a:latin typeface="Times New Roman" pitchFamily="18" charset="0"/>
                        <a:ea typeface="Times New Roman"/>
                        <a:cs typeface="Times New Roman" pitchFamily="18" charset="0"/>
                      </a:endParaRPr>
                    </a:p>
                  </a:txBody>
                  <a:tcPr>
                    <a:lnL w="12700" cap="flat" cmpd="sng" algn="ctr">
                      <a:solidFill>
                        <a:srgbClr val="EFF4EF"/>
                      </a:solidFill>
                      <a:prstDash val="solid"/>
                      <a:round/>
                      <a:headEnd type="none" w="med" len="med"/>
                      <a:tailEnd type="none" w="med" len="med"/>
                    </a:lnL>
                    <a:lnR w="28575" cap="flat" cmpd="sng" algn="ctr">
                      <a:solidFill>
                        <a:srgbClr val="EFF4EF"/>
                      </a:solidFill>
                      <a:prstDash val="solid"/>
                      <a:round/>
                      <a:headEnd type="none" w="med" len="med"/>
                      <a:tailEnd type="none" w="med" len="med"/>
                    </a:lnR>
                    <a:lnT w="12700" cap="flat" cmpd="sng" algn="ctr">
                      <a:solidFill>
                        <a:srgbClr val="EFF4EF"/>
                      </a:solidFill>
                      <a:prstDash val="solid"/>
                      <a:round/>
                      <a:headEnd type="none" w="med" len="med"/>
                      <a:tailEnd type="none" w="med" len="med"/>
                    </a:lnT>
                    <a:lnB w="12700" cap="flat" cmpd="sng" algn="ctr">
                      <a:solidFill>
                        <a:srgbClr val="EFF4EF"/>
                      </a:solidFill>
                      <a:prstDash val="solid"/>
                      <a:round/>
                      <a:headEnd type="none" w="med" len="med"/>
                      <a:tailEnd type="none" w="med" len="med"/>
                    </a:lnB>
                    <a:solidFill>
                      <a:srgbClr val="339933"/>
                    </a:solidFill>
                  </a:tcPr>
                </a:tc>
                <a:extLst>
                  <a:ext uri="{0D108BD9-81ED-4DB2-BD59-A6C34878D82A}">
                    <a16:rowId xmlns="" xmlns:a16="http://schemas.microsoft.com/office/drawing/2014/main" val="10002"/>
                  </a:ext>
                </a:extLst>
              </a:tr>
              <a:tr h="472440">
                <a:tc>
                  <a:txBody>
                    <a:bodyPr/>
                    <a:lstStyle/>
                    <a:p>
                      <a:pPr marL="0" marR="0">
                        <a:lnSpc>
                          <a:spcPct val="115000"/>
                        </a:lnSpc>
                        <a:spcBef>
                          <a:spcPts val="0"/>
                        </a:spcBef>
                        <a:spcAft>
                          <a:spcPts val="1000"/>
                        </a:spcAft>
                      </a:pPr>
                      <a:r>
                        <a:rPr lang="en-US" sz="2000" b="1" dirty="0">
                          <a:latin typeface="Times New Roman" pitchFamily="18" charset="0"/>
                          <a:ea typeface="Times New Roman"/>
                          <a:cs typeface="Times New Roman" pitchFamily="18" charset="0"/>
                        </a:rPr>
                        <a:t>&lt;sup&gt;</a:t>
                      </a:r>
                      <a:endParaRPr lang="en-US" sz="2000" dirty="0">
                        <a:latin typeface="Times New Roman" pitchFamily="18" charset="0"/>
                        <a:ea typeface="Times New Roman"/>
                        <a:cs typeface="Times New Roman" pitchFamily="18" charset="0"/>
                      </a:endParaRPr>
                    </a:p>
                  </a:txBody>
                  <a:tcPr>
                    <a:lnL w="28575" cap="flat" cmpd="sng" algn="ctr">
                      <a:solidFill>
                        <a:srgbClr val="EFF4EF"/>
                      </a:solidFill>
                      <a:prstDash val="solid"/>
                      <a:round/>
                      <a:headEnd type="none" w="med" len="med"/>
                      <a:tailEnd type="none" w="med" len="med"/>
                    </a:lnL>
                    <a:lnR w="12700" cap="flat" cmpd="sng" algn="ctr">
                      <a:solidFill>
                        <a:srgbClr val="EFF4EF"/>
                      </a:solidFill>
                      <a:prstDash val="solid"/>
                      <a:round/>
                      <a:headEnd type="none" w="med" len="med"/>
                      <a:tailEnd type="none" w="med" len="med"/>
                    </a:lnR>
                    <a:lnT w="12700" cap="flat" cmpd="sng" algn="ctr">
                      <a:solidFill>
                        <a:srgbClr val="EFF4EF"/>
                      </a:solidFill>
                      <a:prstDash val="solid"/>
                      <a:round/>
                      <a:headEnd type="none" w="med" len="med"/>
                      <a:tailEnd type="none" w="med" len="med"/>
                    </a:lnT>
                    <a:lnB w="12700" cap="flat" cmpd="sng" algn="ctr">
                      <a:solidFill>
                        <a:srgbClr val="EFF4EF"/>
                      </a:solidFill>
                      <a:prstDash val="solid"/>
                      <a:round/>
                      <a:headEnd type="none" w="med" len="med"/>
                      <a:tailEnd type="none" w="med" len="med"/>
                    </a:lnB>
                    <a:solidFill>
                      <a:srgbClr val="339933"/>
                    </a:solidFill>
                  </a:tcPr>
                </a:tc>
                <a:tc>
                  <a:txBody>
                    <a:bodyPr/>
                    <a:lstStyle/>
                    <a:p>
                      <a:pPr marL="0" marR="0">
                        <a:lnSpc>
                          <a:spcPct val="115000"/>
                        </a:lnSpc>
                        <a:spcBef>
                          <a:spcPts val="0"/>
                        </a:spcBef>
                        <a:spcAft>
                          <a:spcPts val="1000"/>
                        </a:spcAft>
                      </a:pPr>
                      <a:r>
                        <a:rPr lang="en-US" sz="2000" b="0" i="0" kern="1200" dirty="0">
                          <a:solidFill>
                            <a:schemeClr val="tx1"/>
                          </a:solidFill>
                          <a:latin typeface="+mn-lt"/>
                          <a:ea typeface="+mn-ea"/>
                          <a:cs typeface="+mn-cs"/>
                        </a:rPr>
                        <a:t>used to superscript a text(</a:t>
                      </a:r>
                      <a:r>
                        <a:rPr lang="en-US" sz="2000" dirty="0" err="1">
                          <a:latin typeface="Times New Roman" pitchFamily="18" charset="0"/>
                          <a:ea typeface="Times New Roman"/>
                          <a:cs typeface="Times New Roman" pitchFamily="18" charset="0"/>
                        </a:rPr>
                        <a:t>Sample</a:t>
                      </a:r>
                      <a:r>
                        <a:rPr lang="en-US" sz="2000" baseline="30000" dirty="0" err="1">
                          <a:latin typeface="Times New Roman" pitchFamily="18" charset="0"/>
                          <a:ea typeface="Times New Roman"/>
                          <a:cs typeface="Times New Roman" pitchFamily="18" charset="0"/>
                        </a:rPr>
                        <a:t>superscript</a:t>
                      </a:r>
                      <a:r>
                        <a:rPr lang="en-US" sz="2000" baseline="30000" dirty="0">
                          <a:latin typeface="Times New Roman" pitchFamily="18" charset="0"/>
                          <a:ea typeface="Times New Roman"/>
                          <a:cs typeface="Times New Roman" pitchFamily="18" charset="0"/>
                        </a:rPr>
                        <a:t>)</a:t>
                      </a:r>
                      <a:endParaRPr lang="en-US" sz="2000" dirty="0">
                        <a:latin typeface="Times New Roman" pitchFamily="18" charset="0"/>
                        <a:ea typeface="Times New Roman"/>
                        <a:cs typeface="Times New Roman" pitchFamily="18" charset="0"/>
                      </a:endParaRPr>
                    </a:p>
                  </a:txBody>
                  <a:tcPr>
                    <a:lnL w="12700" cap="flat" cmpd="sng" algn="ctr">
                      <a:solidFill>
                        <a:srgbClr val="EFF4EF"/>
                      </a:solidFill>
                      <a:prstDash val="solid"/>
                      <a:round/>
                      <a:headEnd type="none" w="med" len="med"/>
                      <a:tailEnd type="none" w="med" len="med"/>
                    </a:lnL>
                    <a:lnR w="28575" cap="flat" cmpd="sng" algn="ctr">
                      <a:solidFill>
                        <a:srgbClr val="EFF4EF"/>
                      </a:solidFill>
                      <a:prstDash val="solid"/>
                      <a:round/>
                      <a:headEnd type="none" w="med" len="med"/>
                      <a:tailEnd type="none" w="med" len="med"/>
                    </a:lnR>
                    <a:lnT w="12700" cap="flat" cmpd="sng" algn="ctr">
                      <a:solidFill>
                        <a:srgbClr val="EFF4EF"/>
                      </a:solidFill>
                      <a:prstDash val="solid"/>
                      <a:round/>
                      <a:headEnd type="none" w="med" len="med"/>
                      <a:tailEnd type="none" w="med" len="med"/>
                    </a:lnT>
                    <a:lnB w="12700" cap="flat" cmpd="sng" algn="ctr">
                      <a:solidFill>
                        <a:srgbClr val="EFF4EF"/>
                      </a:solidFill>
                      <a:prstDash val="solid"/>
                      <a:round/>
                      <a:headEnd type="none" w="med" len="med"/>
                      <a:tailEnd type="none" w="med" len="med"/>
                    </a:lnB>
                    <a:solidFill>
                      <a:srgbClr val="339933"/>
                    </a:solidFill>
                  </a:tcPr>
                </a:tc>
                <a:extLst>
                  <a:ext uri="{0D108BD9-81ED-4DB2-BD59-A6C34878D82A}">
                    <a16:rowId xmlns="" xmlns:a16="http://schemas.microsoft.com/office/drawing/2014/main" val="10003"/>
                  </a:ext>
                </a:extLst>
              </a:tr>
              <a:tr h="472440">
                <a:tc>
                  <a:txBody>
                    <a:bodyPr/>
                    <a:lstStyle/>
                    <a:p>
                      <a:pPr marL="0" marR="0">
                        <a:lnSpc>
                          <a:spcPct val="115000"/>
                        </a:lnSpc>
                        <a:spcBef>
                          <a:spcPts val="0"/>
                        </a:spcBef>
                        <a:spcAft>
                          <a:spcPts val="1000"/>
                        </a:spcAft>
                      </a:pPr>
                      <a:r>
                        <a:rPr lang="en-US" sz="2000" b="1" dirty="0">
                          <a:latin typeface="Times New Roman" pitchFamily="18" charset="0"/>
                          <a:ea typeface="Times New Roman"/>
                          <a:cs typeface="Times New Roman" pitchFamily="18" charset="0"/>
                        </a:rPr>
                        <a:t>&lt;sub&gt;</a:t>
                      </a:r>
                      <a:endParaRPr lang="en-US" sz="2000" dirty="0">
                        <a:latin typeface="Times New Roman" pitchFamily="18" charset="0"/>
                        <a:ea typeface="Times New Roman"/>
                        <a:cs typeface="Times New Roman" pitchFamily="18" charset="0"/>
                      </a:endParaRPr>
                    </a:p>
                  </a:txBody>
                  <a:tcPr>
                    <a:lnL w="28575" cap="flat" cmpd="sng" algn="ctr">
                      <a:solidFill>
                        <a:srgbClr val="EFF4EF"/>
                      </a:solidFill>
                      <a:prstDash val="solid"/>
                      <a:round/>
                      <a:headEnd type="none" w="med" len="med"/>
                      <a:tailEnd type="none" w="med" len="med"/>
                    </a:lnL>
                    <a:lnR w="12700" cap="flat" cmpd="sng" algn="ctr">
                      <a:solidFill>
                        <a:srgbClr val="EFF4EF"/>
                      </a:solidFill>
                      <a:prstDash val="solid"/>
                      <a:round/>
                      <a:headEnd type="none" w="med" len="med"/>
                      <a:tailEnd type="none" w="med" len="med"/>
                    </a:lnR>
                    <a:lnT w="12700" cap="flat" cmpd="sng" algn="ctr">
                      <a:solidFill>
                        <a:srgbClr val="EFF4EF"/>
                      </a:solidFill>
                      <a:prstDash val="solid"/>
                      <a:round/>
                      <a:headEnd type="none" w="med" len="med"/>
                      <a:tailEnd type="none" w="med" len="med"/>
                    </a:lnT>
                    <a:lnB w="12700" cap="flat" cmpd="sng" algn="ctr">
                      <a:solidFill>
                        <a:srgbClr val="EFF4EF"/>
                      </a:solidFill>
                      <a:prstDash val="solid"/>
                      <a:round/>
                      <a:headEnd type="none" w="med" len="med"/>
                      <a:tailEnd type="none" w="med" len="med"/>
                    </a:lnB>
                    <a:solidFill>
                      <a:srgbClr val="339933"/>
                    </a:solidFill>
                  </a:tcPr>
                </a:tc>
                <a:tc>
                  <a:txBody>
                    <a:bodyPr/>
                    <a:lstStyle/>
                    <a:p>
                      <a:pPr marL="0" marR="0">
                        <a:lnSpc>
                          <a:spcPct val="115000"/>
                        </a:lnSpc>
                        <a:spcBef>
                          <a:spcPts val="0"/>
                        </a:spcBef>
                        <a:spcAft>
                          <a:spcPts val="1000"/>
                        </a:spcAft>
                      </a:pPr>
                      <a:r>
                        <a:rPr lang="en-US" sz="2000" b="0" i="0" kern="1200" dirty="0">
                          <a:solidFill>
                            <a:schemeClr val="tx1"/>
                          </a:solidFill>
                          <a:latin typeface="+mn-lt"/>
                          <a:ea typeface="+mn-ea"/>
                          <a:cs typeface="+mn-cs"/>
                        </a:rPr>
                        <a:t>used to subscript a text</a:t>
                      </a:r>
                      <a:r>
                        <a:rPr lang="en-US" sz="2000" dirty="0">
                          <a:latin typeface="Times New Roman" pitchFamily="18" charset="0"/>
                          <a:ea typeface="Times New Roman"/>
                          <a:cs typeface="Times New Roman" pitchFamily="18" charset="0"/>
                        </a:rPr>
                        <a:t>(</a:t>
                      </a:r>
                      <a:r>
                        <a:rPr lang="en-US" sz="2000" dirty="0" err="1">
                          <a:latin typeface="Times New Roman" pitchFamily="18" charset="0"/>
                          <a:ea typeface="Times New Roman"/>
                          <a:cs typeface="Times New Roman" pitchFamily="18" charset="0"/>
                        </a:rPr>
                        <a:t>Sample</a:t>
                      </a:r>
                      <a:r>
                        <a:rPr lang="en-US" sz="2000" baseline="-25000" dirty="0" err="1">
                          <a:latin typeface="Times New Roman" pitchFamily="18" charset="0"/>
                          <a:ea typeface="Times New Roman"/>
                          <a:cs typeface="Times New Roman" pitchFamily="18" charset="0"/>
                        </a:rPr>
                        <a:t>subscript</a:t>
                      </a:r>
                      <a:r>
                        <a:rPr lang="en-US" sz="2000" baseline="-25000" dirty="0">
                          <a:latin typeface="Times New Roman" pitchFamily="18" charset="0"/>
                          <a:ea typeface="Times New Roman"/>
                          <a:cs typeface="Times New Roman" pitchFamily="18" charset="0"/>
                        </a:rPr>
                        <a:t> )</a:t>
                      </a:r>
                      <a:endParaRPr lang="en-US" sz="2000" dirty="0">
                        <a:latin typeface="Times New Roman" pitchFamily="18" charset="0"/>
                        <a:ea typeface="Times New Roman"/>
                        <a:cs typeface="Times New Roman" pitchFamily="18" charset="0"/>
                      </a:endParaRPr>
                    </a:p>
                  </a:txBody>
                  <a:tcPr>
                    <a:lnL w="12700" cap="flat" cmpd="sng" algn="ctr">
                      <a:solidFill>
                        <a:srgbClr val="EFF4EF"/>
                      </a:solidFill>
                      <a:prstDash val="solid"/>
                      <a:round/>
                      <a:headEnd type="none" w="med" len="med"/>
                      <a:tailEnd type="none" w="med" len="med"/>
                    </a:lnL>
                    <a:lnR w="28575" cap="flat" cmpd="sng" algn="ctr">
                      <a:solidFill>
                        <a:srgbClr val="EFF4EF"/>
                      </a:solidFill>
                      <a:prstDash val="solid"/>
                      <a:round/>
                      <a:headEnd type="none" w="med" len="med"/>
                      <a:tailEnd type="none" w="med" len="med"/>
                    </a:lnR>
                    <a:lnT w="12700" cap="flat" cmpd="sng" algn="ctr">
                      <a:solidFill>
                        <a:srgbClr val="EFF4EF"/>
                      </a:solidFill>
                      <a:prstDash val="solid"/>
                      <a:round/>
                      <a:headEnd type="none" w="med" len="med"/>
                      <a:tailEnd type="none" w="med" len="med"/>
                    </a:lnT>
                    <a:lnB w="12700" cap="flat" cmpd="sng" algn="ctr">
                      <a:solidFill>
                        <a:srgbClr val="EFF4EF"/>
                      </a:solidFill>
                      <a:prstDash val="solid"/>
                      <a:round/>
                      <a:headEnd type="none" w="med" len="med"/>
                      <a:tailEnd type="none" w="med" len="med"/>
                    </a:lnB>
                    <a:solidFill>
                      <a:srgbClr val="339933"/>
                    </a:solidFill>
                  </a:tcPr>
                </a:tc>
                <a:extLst>
                  <a:ext uri="{0D108BD9-81ED-4DB2-BD59-A6C34878D82A}">
                    <a16:rowId xmlns="" xmlns:a16="http://schemas.microsoft.com/office/drawing/2014/main" val="10004"/>
                  </a:ext>
                </a:extLst>
              </a:tr>
              <a:tr h="472440">
                <a:tc>
                  <a:txBody>
                    <a:bodyPr/>
                    <a:lstStyle/>
                    <a:p>
                      <a:pPr marL="0" marR="0">
                        <a:lnSpc>
                          <a:spcPct val="115000"/>
                        </a:lnSpc>
                        <a:spcBef>
                          <a:spcPts val="0"/>
                        </a:spcBef>
                        <a:spcAft>
                          <a:spcPts val="1000"/>
                        </a:spcAft>
                      </a:pPr>
                      <a:r>
                        <a:rPr lang="en-US" sz="2000" dirty="0">
                          <a:latin typeface="Times New Roman" pitchFamily="18" charset="0"/>
                          <a:ea typeface="Times New Roman"/>
                          <a:cs typeface="Times New Roman" pitchFamily="18" charset="0"/>
                        </a:rPr>
                        <a:t>&lt;MARK&gt;</a:t>
                      </a:r>
                    </a:p>
                  </a:txBody>
                  <a:tcPr>
                    <a:lnL w="28575" cap="flat" cmpd="sng" algn="ctr">
                      <a:solidFill>
                        <a:srgbClr val="EFF4EF"/>
                      </a:solidFill>
                      <a:prstDash val="solid"/>
                      <a:round/>
                      <a:headEnd type="none" w="med" len="med"/>
                      <a:tailEnd type="none" w="med" len="med"/>
                    </a:lnL>
                    <a:lnR w="12700" cap="flat" cmpd="sng" algn="ctr">
                      <a:solidFill>
                        <a:srgbClr val="EFF4EF"/>
                      </a:solidFill>
                      <a:prstDash val="solid"/>
                      <a:round/>
                      <a:headEnd type="none" w="med" len="med"/>
                      <a:tailEnd type="none" w="med" len="med"/>
                    </a:lnR>
                    <a:lnT w="12700" cap="flat" cmpd="sng" algn="ctr">
                      <a:solidFill>
                        <a:srgbClr val="EFF4EF"/>
                      </a:solidFill>
                      <a:prstDash val="solid"/>
                      <a:round/>
                      <a:headEnd type="none" w="med" len="med"/>
                      <a:tailEnd type="none" w="med" len="med"/>
                    </a:lnT>
                    <a:lnB w="12700" cap="flat" cmpd="sng" algn="ctr">
                      <a:solidFill>
                        <a:srgbClr val="EFF4EF"/>
                      </a:solidFill>
                      <a:prstDash val="solid"/>
                      <a:round/>
                      <a:headEnd type="none" w="med" len="med"/>
                      <a:tailEnd type="none" w="med" len="med"/>
                    </a:lnB>
                    <a:solidFill>
                      <a:srgbClr val="339933"/>
                    </a:solidFill>
                  </a:tcPr>
                </a:tc>
                <a:tc>
                  <a:txBody>
                    <a:bodyPr/>
                    <a:lstStyle/>
                    <a:p>
                      <a:pPr marL="0" marR="0">
                        <a:lnSpc>
                          <a:spcPct val="115000"/>
                        </a:lnSpc>
                        <a:spcBef>
                          <a:spcPts val="0"/>
                        </a:spcBef>
                        <a:spcAft>
                          <a:spcPts val="1000"/>
                        </a:spcAft>
                      </a:pPr>
                      <a:r>
                        <a:rPr lang="en-US" sz="2000" b="0" i="0" kern="1200" dirty="0">
                          <a:solidFill>
                            <a:schemeClr val="tx1"/>
                          </a:solidFill>
                          <a:latin typeface="Times New Roman" pitchFamily="18" charset="0"/>
                          <a:ea typeface="+mn-ea"/>
                          <a:cs typeface="Times New Roman" pitchFamily="18" charset="0"/>
                        </a:rPr>
                        <a:t>Defines marked/highlighted text</a:t>
                      </a:r>
                      <a:endParaRPr lang="en-US" sz="2000" dirty="0">
                        <a:latin typeface="Times New Roman" pitchFamily="18" charset="0"/>
                        <a:ea typeface="Times New Roman"/>
                        <a:cs typeface="Times New Roman" pitchFamily="18" charset="0"/>
                      </a:endParaRPr>
                    </a:p>
                  </a:txBody>
                  <a:tcPr>
                    <a:lnL w="12700" cap="flat" cmpd="sng" algn="ctr">
                      <a:solidFill>
                        <a:srgbClr val="EFF4EF"/>
                      </a:solidFill>
                      <a:prstDash val="solid"/>
                      <a:round/>
                      <a:headEnd type="none" w="med" len="med"/>
                      <a:tailEnd type="none" w="med" len="med"/>
                    </a:lnL>
                    <a:lnR w="28575" cap="flat" cmpd="sng" algn="ctr">
                      <a:solidFill>
                        <a:srgbClr val="EFF4EF"/>
                      </a:solidFill>
                      <a:prstDash val="solid"/>
                      <a:round/>
                      <a:headEnd type="none" w="med" len="med"/>
                      <a:tailEnd type="none" w="med" len="med"/>
                    </a:lnR>
                    <a:lnT w="12700" cap="flat" cmpd="sng" algn="ctr">
                      <a:solidFill>
                        <a:srgbClr val="EFF4EF"/>
                      </a:solidFill>
                      <a:prstDash val="solid"/>
                      <a:round/>
                      <a:headEnd type="none" w="med" len="med"/>
                      <a:tailEnd type="none" w="med" len="med"/>
                    </a:lnT>
                    <a:lnB w="12700" cap="flat" cmpd="sng" algn="ctr">
                      <a:solidFill>
                        <a:srgbClr val="EFF4EF"/>
                      </a:solidFill>
                      <a:prstDash val="solid"/>
                      <a:round/>
                      <a:headEnd type="none" w="med" len="med"/>
                      <a:tailEnd type="none" w="med" len="med"/>
                    </a:lnB>
                    <a:solidFill>
                      <a:srgbClr val="339933"/>
                    </a:solidFill>
                  </a:tcPr>
                </a:tc>
                <a:extLst>
                  <a:ext uri="{0D108BD9-81ED-4DB2-BD59-A6C34878D82A}">
                    <a16:rowId xmlns="" xmlns:a16="http://schemas.microsoft.com/office/drawing/2014/main" val="10005"/>
                  </a:ext>
                </a:extLst>
              </a:tr>
              <a:tr h="472440">
                <a:tc>
                  <a:txBody>
                    <a:bodyPr/>
                    <a:lstStyle/>
                    <a:p>
                      <a:pPr marL="0" marR="0">
                        <a:lnSpc>
                          <a:spcPct val="115000"/>
                        </a:lnSpc>
                        <a:spcBef>
                          <a:spcPts val="0"/>
                        </a:spcBef>
                        <a:spcAft>
                          <a:spcPts val="1000"/>
                        </a:spcAft>
                      </a:pPr>
                      <a:r>
                        <a:rPr lang="en-US" sz="2000" dirty="0">
                          <a:latin typeface="Times New Roman" pitchFamily="18" charset="0"/>
                          <a:ea typeface="Times New Roman"/>
                          <a:cs typeface="Times New Roman" pitchFamily="18" charset="0"/>
                        </a:rPr>
                        <a:t>font</a:t>
                      </a:r>
                    </a:p>
                  </a:txBody>
                  <a:tcPr>
                    <a:lnL w="28575" cap="flat" cmpd="sng" algn="ctr">
                      <a:solidFill>
                        <a:srgbClr val="EFF4EF"/>
                      </a:solidFill>
                      <a:prstDash val="solid"/>
                      <a:round/>
                      <a:headEnd type="none" w="med" len="med"/>
                      <a:tailEnd type="none" w="med" len="med"/>
                    </a:lnL>
                    <a:lnR w="12700" cap="flat" cmpd="sng" algn="ctr">
                      <a:solidFill>
                        <a:srgbClr val="EFF4EF"/>
                      </a:solidFill>
                      <a:prstDash val="solid"/>
                      <a:round/>
                      <a:headEnd type="none" w="med" len="med"/>
                      <a:tailEnd type="none" w="med" len="med"/>
                    </a:lnR>
                    <a:lnT w="12700" cap="flat" cmpd="sng" algn="ctr">
                      <a:solidFill>
                        <a:srgbClr val="EFF4EF"/>
                      </a:solidFill>
                      <a:prstDash val="solid"/>
                      <a:round/>
                      <a:headEnd type="none" w="med" len="med"/>
                      <a:tailEnd type="none" w="med" len="med"/>
                    </a:lnT>
                    <a:lnB w="12700" cap="flat" cmpd="sng" algn="ctr">
                      <a:solidFill>
                        <a:srgbClr val="EFF4EF"/>
                      </a:solidFill>
                      <a:prstDash val="solid"/>
                      <a:round/>
                      <a:headEnd type="none" w="med" len="med"/>
                      <a:tailEnd type="none" w="med" len="med"/>
                    </a:lnB>
                    <a:solidFill>
                      <a:srgbClr val="339933"/>
                    </a:solidFill>
                  </a:tcPr>
                </a:tc>
                <a:tc>
                  <a:txBody>
                    <a:bodyPr/>
                    <a:lstStyle/>
                    <a:p>
                      <a:pPr marL="0" marR="0">
                        <a:lnSpc>
                          <a:spcPct val="115000"/>
                        </a:lnSpc>
                        <a:spcBef>
                          <a:spcPts val="0"/>
                        </a:spcBef>
                        <a:spcAft>
                          <a:spcPts val="1000"/>
                        </a:spcAft>
                      </a:pPr>
                      <a:r>
                        <a:rPr lang="en-US" sz="2000" i="1" dirty="0">
                          <a:latin typeface="Times New Roman" pitchFamily="18" charset="0"/>
                          <a:ea typeface="Times New Roman"/>
                          <a:cs typeface="Times New Roman" pitchFamily="18" charset="0"/>
                        </a:rPr>
                        <a:t>To</a:t>
                      </a:r>
                      <a:r>
                        <a:rPr lang="en-US" sz="2000" i="1" baseline="0" dirty="0">
                          <a:latin typeface="Times New Roman" pitchFamily="18" charset="0"/>
                          <a:ea typeface="Times New Roman"/>
                          <a:cs typeface="Times New Roman" pitchFamily="18" charset="0"/>
                        </a:rPr>
                        <a:t>  change style of text</a:t>
                      </a:r>
                      <a:endParaRPr lang="en-US" sz="2000" dirty="0">
                        <a:latin typeface="Times New Roman" pitchFamily="18" charset="0"/>
                        <a:ea typeface="Times New Roman"/>
                        <a:cs typeface="Times New Roman" pitchFamily="18" charset="0"/>
                      </a:endParaRPr>
                    </a:p>
                  </a:txBody>
                  <a:tcPr>
                    <a:lnL w="12700" cap="flat" cmpd="sng" algn="ctr">
                      <a:solidFill>
                        <a:srgbClr val="EFF4EF"/>
                      </a:solidFill>
                      <a:prstDash val="solid"/>
                      <a:round/>
                      <a:headEnd type="none" w="med" len="med"/>
                      <a:tailEnd type="none" w="med" len="med"/>
                    </a:lnL>
                    <a:lnR w="28575" cap="flat" cmpd="sng" algn="ctr">
                      <a:solidFill>
                        <a:srgbClr val="EFF4EF"/>
                      </a:solidFill>
                      <a:prstDash val="solid"/>
                      <a:round/>
                      <a:headEnd type="none" w="med" len="med"/>
                      <a:tailEnd type="none" w="med" len="med"/>
                    </a:lnR>
                    <a:lnT w="12700" cap="flat" cmpd="sng" algn="ctr">
                      <a:solidFill>
                        <a:srgbClr val="EFF4EF"/>
                      </a:solidFill>
                      <a:prstDash val="solid"/>
                      <a:round/>
                      <a:headEnd type="none" w="med" len="med"/>
                      <a:tailEnd type="none" w="med" len="med"/>
                    </a:lnT>
                    <a:lnB w="12700" cap="flat" cmpd="sng" algn="ctr">
                      <a:solidFill>
                        <a:srgbClr val="EFF4EF"/>
                      </a:solidFill>
                      <a:prstDash val="solid"/>
                      <a:round/>
                      <a:headEnd type="none" w="med" len="med"/>
                      <a:tailEnd type="none" w="med" len="med"/>
                    </a:lnB>
                    <a:solidFill>
                      <a:srgbClr val="339933"/>
                    </a:solidFill>
                  </a:tcPr>
                </a:tc>
                <a:extLst>
                  <a:ext uri="{0D108BD9-81ED-4DB2-BD59-A6C34878D82A}">
                    <a16:rowId xmlns="" xmlns:a16="http://schemas.microsoft.com/office/drawing/2014/main" val="10006"/>
                  </a:ext>
                </a:extLst>
              </a:tr>
              <a:tr h="472440">
                <a:tc>
                  <a:txBody>
                    <a:bodyPr/>
                    <a:lstStyle/>
                    <a:p>
                      <a:pPr marL="0" marR="0">
                        <a:lnSpc>
                          <a:spcPct val="115000"/>
                        </a:lnSpc>
                        <a:spcBef>
                          <a:spcPts val="0"/>
                        </a:spcBef>
                        <a:spcAft>
                          <a:spcPts val="1000"/>
                        </a:spcAft>
                      </a:pPr>
                      <a:r>
                        <a:rPr lang="en-US" sz="2000" b="1">
                          <a:latin typeface="Times New Roman" pitchFamily="18" charset="0"/>
                          <a:ea typeface="Times New Roman"/>
                          <a:cs typeface="Times New Roman" pitchFamily="18" charset="0"/>
                        </a:rPr>
                        <a:t>&lt;pre&gt;&lt;/pre&gt;</a:t>
                      </a:r>
                      <a:endParaRPr lang="en-US" sz="2000">
                        <a:latin typeface="Times New Roman" pitchFamily="18" charset="0"/>
                        <a:ea typeface="Times New Roman"/>
                        <a:cs typeface="Times New Roman" pitchFamily="18" charset="0"/>
                      </a:endParaRPr>
                    </a:p>
                  </a:txBody>
                  <a:tcPr>
                    <a:lnL w="28575" cap="flat" cmpd="sng" algn="ctr">
                      <a:solidFill>
                        <a:srgbClr val="EFF4EF"/>
                      </a:solidFill>
                      <a:prstDash val="solid"/>
                      <a:round/>
                      <a:headEnd type="none" w="med" len="med"/>
                      <a:tailEnd type="none" w="med" len="med"/>
                    </a:lnL>
                    <a:lnR w="12700" cap="flat" cmpd="sng" algn="ctr">
                      <a:solidFill>
                        <a:srgbClr val="EFF4EF"/>
                      </a:solidFill>
                      <a:prstDash val="solid"/>
                      <a:round/>
                      <a:headEnd type="none" w="med" len="med"/>
                      <a:tailEnd type="none" w="med" len="med"/>
                    </a:lnR>
                    <a:lnT w="12700" cap="flat" cmpd="sng" algn="ctr">
                      <a:solidFill>
                        <a:srgbClr val="EFF4EF"/>
                      </a:solidFill>
                      <a:prstDash val="solid"/>
                      <a:round/>
                      <a:headEnd type="none" w="med" len="med"/>
                      <a:tailEnd type="none" w="med" len="med"/>
                    </a:lnT>
                    <a:lnB w="12700" cap="flat" cmpd="sng" algn="ctr">
                      <a:solidFill>
                        <a:srgbClr val="EFF4EF"/>
                      </a:solidFill>
                      <a:prstDash val="solid"/>
                      <a:round/>
                      <a:headEnd type="none" w="med" len="med"/>
                      <a:tailEnd type="none" w="med" len="med"/>
                    </a:lnB>
                    <a:solidFill>
                      <a:srgbClr val="339933"/>
                    </a:solidFill>
                  </a:tcPr>
                </a:tc>
                <a:tc>
                  <a:txBody>
                    <a:bodyPr/>
                    <a:lstStyle/>
                    <a:p>
                      <a:pPr marL="0" marR="0">
                        <a:lnSpc>
                          <a:spcPct val="115000"/>
                        </a:lnSpc>
                        <a:spcBef>
                          <a:spcPts val="0"/>
                        </a:spcBef>
                        <a:spcAft>
                          <a:spcPts val="1000"/>
                        </a:spcAft>
                      </a:pPr>
                      <a:r>
                        <a:rPr lang="en-US" sz="1800" b="0" i="0" kern="1200" dirty="0">
                          <a:solidFill>
                            <a:schemeClr val="tx1"/>
                          </a:solidFill>
                          <a:latin typeface="+mn-lt"/>
                          <a:ea typeface="+mn-ea"/>
                          <a:cs typeface="+mn-cs"/>
                        </a:rPr>
                        <a:t>defines preformatted text.</a:t>
                      </a:r>
                      <a:endParaRPr lang="en-US" sz="2000" dirty="0">
                        <a:latin typeface="Times New Roman" pitchFamily="18" charset="0"/>
                        <a:ea typeface="Times New Roman"/>
                        <a:cs typeface="Times New Roman" pitchFamily="18" charset="0"/>
                      </a:endParaRPr>
                    </a:p>
                  </a:txBody>
                  <a:tcPr>
                    <a:lnL w="12700" cap="flat" cmpd="sng" algn="ctr">
                      <a:solidFill>
                        <a:srgbClr val="EFF4EF"/>
                      </a:solidFill>
                      <a:prstDash val="solid"/>
                      <a:round/>
                      <a:headEnd type="none" w="med" len="med"/>
                      <a:tailEnd type="none" w="med" len="med"/>
                    </a:lnL>
                    <a:lnR w="28575" cap="flat" cmpd="sng" algn="ctr">
                      <a:solidFill>
                        <a:srgbClr val="EFF4EF"/>
                      </a:solidFill>
                      <a:prstDash val="solid"/>
                      <a:round/>
                      <a:headEnd type="none" w="med" len="med"/>
                      <a:tailEnd type="none" w="med" len="med"/>
                    </a:lnR>
                    <a:lnT w="12700" cap="flat" cmpd="sng" algn="ctr">
                      <a:solidFill>
                        <a:srgbClr val="EFF4EF"/>
                      </a:solidFill>
                      <a:prstDash val="solid"/>
                      <a:round/>
                      <a:headEnd type="none" w="med" len="med"/>
                      <a:tailEnd type="none" w="med" len="med"/>
                    </a:lnT>
                    <a:lnB w="12700" cap="flat" cmpd="sng" algn="ctr">
                      <a:solidFill>
                        <a:srgbClr val="EFF4EF"/>
                      </a:solidFill>
                      <a:prstDash val="solid"/>
                      <a:round/>
                      <a:headEnd type="none" w="med" len="med"/>
                      <a:tailEnd type="none" w="med" len="med"/>
                    </a:lnB>
                    <a:solidFill>
                      <a:srgbClr val="339933"/>
                    </a:solidFill>
                  </a:tcPr>
                </a:tc>
                <a:extLst>
                  <a:ext uri="{0D108BD9-81ED-4DB2-BD59-A6C34878D82A}">
                    <a16:rowId xmlns="" xmlns:a16="http://schemas.microsoft.com/office/drawing/2014/main" val="10007"/>
                  </a:ext>
                </a:extLst>
              </a:tr>
              <a:tr h="472440">
                <a:tc>
                  <a:txBody>
                    <a:bodyPr/>
                    <a:lstStyle/>
                    <a:p>
                      <a:pPr marL="0" marR="0">
                        <a:lnSpc>
                          <a:spcPct val="115000"/>
                        </a:lnSpc>
                        <a:spcBef>
                          <a:spcPts val="0"/>
                        </a:spcBef>
                        <a:spcAft>
                          <a:spcPts val="1000"/>
                        </a:spcAft>
                      </a:pPr>
                      <a:r>
                        <a:rPr lang="en-US" sz="2000" b="1" dirty="0">
                          <a:latin typeface="Times New Roman" pitchFamily="18" charset="0"/>
                          <a:ea typeface="Times New Roman"/>
                          <a:cs typeface="Times New Roman" pitchFamily="18" charset="0"/>
                        </a:rPr>
                        <a:t>&lt;del&gt;&lt;/del&gt;</a:t>
                      </a:r>
                      <a:endParaRPr lang="en-US" sz="2000" dirty="0">
                        <a:latin typeface="Times New Roman" pitchFamily="18" charset="0"/>
                        <a:ea typeface="Times New Roman"/>
                        <a:cs typeface="Times New Roman" pitchFamily="18" charset="0"/>
                      </a:endParaRPr>
                    </a:p>
                  </a:txBody>
                  <a:tcPr>
                    <a:lnL w="28575" cap="flat" cmpd="sng" algn="ctr">
                      <a:solidFill>
                        <a:srgbClr val="EFF4EF"/>
                      </a:solidFill>
                      <a:prstDash val="solid"/>
                      <a:round/>
                      <a:headEnd type="none" w="med" len="med"/>
                      <a:tailEnd type="none" w="med" len="med"/>
                    </a:lnL>
                    <a:lnR w="12700" cap="flat" cmpd="sng" algn="ctr">
                      <a:solidFill>
                        <a:srgbClr val="EFF4EF"/>
                      </a:solidFill>
                      <a:prstDash val="solid"/>
                      <a:round/>
                      <a:headEnd type="none" w="med" len="med"/>
                      <a:tailEnd type="none" w="med" len="med"/>
                    </a:lnR>
                    <a:lnT w="12700" cap="flat" cmpd="sng" algn="ctr">
                      <a:solidFill>
                        <a:srgbClr val="EFF4EF"/>
                      </a:solidFill>
                      <a:prstDash val="solid"/>
                      <a:round/>
                      <a:headEnd type="none" w="med" len="med"/>
                      <a:tailEnd type="none" w="med" len="med"/>
                    </a:lnT>
                    <a:lnB w="12700" cap="flat" cmpd="sng" algn="ctr">
                      <a:solidFill>
                        <a:srgbClr val="EFF4EF"/>
                      </a:solidFill>
                      <a:prstDash val="solid"/>
                      <a:round/>
                      <a:headEnd type="none" w="med" len="med"/>
                      <a:tailEnd type="none" w="med" len="med"/>
                    </a:lnB>
                    <a:solidFill>
                      <a:srgbClr val="339933"/>
                    </a:solidFill>
                  </a:tcPr>
                </a:tc>
                <a:tc>
                  <a:txBody>
                    <a:bodyPr/>
                    <a:lstStyle/>
                    <a:p>
                      <a:pPr marL="0" marR="0">
                        <a:lnSpc>
                          <a:spcPct val="115000"/>
                        </a:lnSpc>
                        <a:spcBef>
                          <a:spcPts val="0"/>
                        </a:spcBef>
                        <a:spcAft>
                          <a:spcPts val="1000"/>
                        </a:spcAft>
                      </a:pPr>
                      <a:r>
                        <a:rPr lang="en-US" sz="2000" dirty="0">
                          <a:latin typeface="Times New Roman" pitchFamily="18" charset="0"/>
                          <a:ea typeface="Times New Roman"/>
                          <a:cs typeface="Times New Roman" pitchFamily="18" charset="0"/>
                        </a:rPr>
                        <a:t>Deleted text – strike through</a:t>
                      </a:r>
                    </a:p>
                  </a:txBody>
                  <a:tcPr>
                    <a:lnL w="12700" cap="flat" cmpd="sng" algn="ctr">
                      <a:solidFill>
                        <a:srgbClr val="EFF4EF"/>
                      </a:solidFill>
                      <a:prstDash val="solid"/>
                      <a:round/>
                      <a:headEnd type="none" w="med" len="med"/>
                      <a:tailEnd type="none" w="med" len="med"/>
                    </a:lnL>
                    <a:lnR w="28575" cap="flat" cmpd="sng" algn="ctr">
                      <a:solidFill>
                        <a:srgbClr val="EFF4EF"/>
                      </a:solidFill>
                      <a:prstDash val="solid"/>
                      <a:round/>
                      <a:headEnd type="none" w="med" len="med"/>
                      <a:tailEnd type="none" w="med" len="med"/>
                    </a:lnR>
                    <a:lnT w="12700" cap="flat" cmpd="sng" algn="ctr">
                      <a:solidFill>
                        <a:srgbClr val="EFF4EF"/>
                      </a:solidFill>
                      <a:prstDash val="solid"/>
                      <a:round/>
                      <a:headEnd type="none" w="med" len="med"/>
                      <a:tailEnd type="none" w="med" len="med"/>
                    </a:lnT>
                    <a:lnB w="12700" cap="flat" cmpd="sng" algn="ctr">
                      <a:solidFill>
                        <a:srgbClr val="EFF4EF"/>
                      </a:solidFill>
                      <a:prstDash val="solid"/>
                      <a:round/>
                      <a:headEnd type="none" w="med" len="med"/>
                      <a:tailEnd type="none" w="med" len="med"/>
                    </a:lnB>
                    <a:solidFill>
                      <a:srgbClr val="339933"/>
                    </a:solidFill>
                  </a:tcPr>
                </a:tc>
                <a:extLst>
                  <a:ext uri="{0D108BD9-81ED-4DB2-BD59-A6C34878D82A}">
                    <a16:rowId xmlns="" xmlns:a16="http://schemas.microsoft.com/office/drawing/2014/main" val="10008"/>
                  </a:ext>
                </a:extLst>
              </a:tr>
              <a:tr h="472440">
                <a:tc>
                  <a:txBody>
                    <a:bodyPr/>
                    <a:lstStyle/>
                    <a:p>
                      <a:pPr marL="0" marR="0">
                        <a:lnSpc>
                          <a:spcPct val="115000"/>
                        </a:lnSpc>
                        <a:spcBef>
                          <a:spcPts val="0"/>
                        </a:spcBef>
                        <a:spcAft>
                          <a:spcPts val="1000"/>
                        </a:spcAft>
                      </a:pPr>
                      <a:r>
                        <a:rPr lang="en-US" sz="2000" b="1" i="0">
                          <a:solidFill>
                            <a:srgbClr val="000000"/>
                          </a:solidFill>
                          <a:latin typeface="Times New Roman" pitchFamily="18" charset="0"/>
                          <a:cs typeface="Times New Roman" pitchFamily="18" charset="0"/>
                        </a:rPr>
                        <a:t>&lt;hr&gt;</a:t>
                      </a:r>
                      <a:endParaRPr lang="en-US" sz="2000" dirty="0">
                        <a:latin typeface="Times New Roman" pitchFamily="18" charset="0"/>
                        <a:ea typeface="Times New Roman"/>
                        <a:cs typeface="Times New Roman" pitchFamily="18" charset="0"/>
                      </a:endParaRPr>
                    </a:p>
                  </a:txBody>
                  <a:tcPr>
                    <a:lnL w="28575" cap="flat" cmpd="sng" algn="ctr">
                      <a:solidFill>
                        <a:srgbClr val="EFF4EF"/>
                      </a:solidFill>
                      <a:prstDash val="solid"/>
                      <a:round/>
                      <a:headEnd type="none" w="med" len="med"/>
                      <a:tailEnd type="none" w="med" len="med"/>
                    </a:lnL>
                    <a:lnR w="12700" cap="flat" cmpd="sng" algn="ctr">
                      <a:solidFill>
                        <a:srgbClr val="EFF4EF"/>
                      </a:solidFill>
                      <a:prstDash val="solid"/>
                      <a:round/>
                      <a:headEnd type="none" w="med" len="med"/>
                      <a:tailEnd type="none" w="med" len="med"/>
                    </a:lnR>
                    <a:lnT w="12700" cap="flat" cmpd="sng" algn="ctr">
                      <a:solidFill>
                        <a:srgbClr val="EFF4EF"/>
                      </a:solidFill>
                      <a:prstDash val="solid"/>
                      <a:round/>
                      <a:headEnd type="none" w="med" len="med"/>
                      <a:tailEnd type="none" w="med" len="med"/>
                    </a:lnT>
                    <a:lnB w="12700" cap="flat" cmpd="sng" algn="ctr">
                      <a:solidFill>
                        <a:srgbClr val="EFF4EF"/>
                      </a:solidFill>
                      <a:prstDash val="solid"/>
                      <a:round/>
                      <a:headEnd type="none" w="med" len="med"/>
                      <a:tailEnd type="none" w="med" len="med"/>
                    </a:lnB>
                    <a:solidFill>
                      <a:srgbClr val="339933"/>
                    </a:solidFill>
                  </a:tcPr>
                </a:tc>
                <a:tc>
                  <a:txBody>
                    <a:bodyPr/>
                    <a:lstStyle/>
                    <a:p>
                      <a:pPr marL="0" marR="0">
                        <a:lnSpc>
                          <a:spcPct val="115000"/>
                        </a:lnSpc>
                        <a:spcBef>
                          <a:spcPts val="0"/>
                        </a:spcBef>
                        <a:spcAft>
                          <a:spcPts val="1000"/>
                        </a:spcAft>
                      </a:pPr>
                      <a:r>
                        <a:rPr lang="en-US" sz="2000" b="0" i="0" dirty="0">
                          <a:solidFill>
                            <a:srgbClr val="000000"/>
                          </a:solidFill>
                          <a:latin typeface="Times New Roman" pitchFamily="18" charset="0"/>
                          <a:ea typeface="Times New Roman"/>
                          <a:cs typeface="Times New Roman" pitchFamily="18" charset="0"/>
                        </a:rPr>
                        <a:t>Defines</a:t>
                      </a:r>
                      <a:r>
                        <a:rPr lang="en-US" sz="2000" b="0" i="0" baseline="0" dirty="0">
                          <a:solidFill>
                            <a:srgbClr val="000000"/>
                          </a:solidFill>
                          <a:latin typeface="Times New Roman" pitchFamily="18" charset="0"/>
                          <a:ea typeface="Times New Roman"/>
                          <a:cs typeface="Times New Roman" pitchFamily="18" charset="0"/>
                        </a:rPr>
                        <a:t> horizontal line</a:t>
                      </a:r>
                      <a:endParaRPr lang="en-US" sz="2000" b="0" dirty="0">
                        <a:latin typeface="Times New Roman" pitchFamily="18" charset="0"/>
                        <a:ea typeface="Times New Roman"/>
                        <a:cs typeface="Times New Roman" pitchFamily="18" charset="0"/>
                      </a:endParaRPr>
                    </a:p>
                  </a:txBody>
                  <a:tcPr>
                    <a:lnL w="12700" cap="flat" cmpd="sng" algn="ctr">
                      <a:solidFill>
                        <a:srgbClr val="EFF4EF"/>
                      </a:solidFill>
                      <a:prstDash val="solid"/>
                      <a:round/>
                      <a:headEnd type="none" w="med" len="med"/>
                      <a:tailEnd type="none" w="med" len="med"/>
                    </a:lnL>
                    <a:lnR w="28575" cap="flat" cmpd="sng" algn="ctr">
                      <a:solidFill>
                        <a:srgbClr val="EFF4EF"/>
                      </a:solidFill>
                      <a:prstDash val="solid"/>
                      <a:round/>
                      <a:headEnd type="none" w="med" len="med"/>
                      <a:tailEnd type="none" w="med" len="med"/>
                    </a:lnR>
                    <a:lnT w="12700" cap="flat" cmpd="sng" algn="ctr">
                      <a:solidFill>
                        <a:srgbClr val="EFF4EF"/>
                      </a:solidFill>
                      <a:prstDash val="solid"/>
                      <a:round/>
                      <a:headEnd type="none" w="med" len="med"/>
                      <a:tailEnd type="none" w="med" len="med"/>
                    </a:lnT>
                    <a:lnB w="12700" cap="flat" cmpd="sng" algn="ctr">
                      <a:solidFill>
                        <a:srgbClr val="EFF4EF"/>
                      </a:solidFill>
                      <a:prstDash val="solid"/>
                      <a:round/>
                      <a:headEnd type="none" w="med" len="med"/>
                      <a:tailEnd type="none" w="med" len="med"/>
                    </a:lnB>
                    <a:solidFill>
                      <a:srgbClr val="339933"/>
                    </a:solidFill>
                  </a:tcPr>
                </a:tc>
                <a:extLst>
                  <a:ext uri="{0D108BD9-81ED-4DB2-BD59-A6C34878D82A}">
                    <a16:rowId xmlns="" xmlns:a16="http://schemas.microsoft.com/office/drawing/2014/main" val="10009"/>
                  </a:ext>
                </a:extLst>
              </a:tr>
            </a:tbl>
          </a:graphicData>
        </a:graphic>
      </p:graphicFrame>
    </p:spTree>
    <p:extLst>
      <p:ext uri="{BB962C8B-B14F-4D97-AF65-F5344CB8AC3E}">
        <p14:creationId xmlns:p14="http://schemas.microsoft.com/office/powerpoint/2010/main" val="119171281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495300" y="-30163"/>
            <a:ext cx="10515600" cy="1325563"/>
          </a:xfrm>
        </p:spPr>
        <p:txBody>
          <a:bodyPr>
            <a:normAutofit/>
          </a:bodyPr>
          <a:lstStyle/>
          <a:p>
            <a:pPr algn="l"/>
            <a:r>
              <a:rPr lang="en-US" sz="3200" dirty="0" smtClean="0">
                <a:solidFill>
                  <a:srgbClr val="0070C0"/>
                </a:solidFill>
                <a:latin typeface="Times New Roman" pitchFamily="18" charset="0"/>
                <a:cs typeface="Times New Roman" pitchFamily="18" charset="0"/>
              </a:rPr>
              <a:t>Heading Tags…</a:t>
            </a:r>
            <a:endParaRPr lang="en-US" sz="3200" dirty="0">
              <a:solidFill>
                <a:srgbClr val="0070C0"/>
              </a:solidFill>
              <a:latin typeface="Times New Roman" pitchFamily="18" charset="0"/>
              <a:cs typeface="Times New Roman" pitchFamily="18" charset="0"/>
            </a:endParaRPr>
          </a:p>
        </p:txBody>
      </p:sp>
      <p:sp>
        <p:nvSpPr>
          <p:cNvPr id="3" name="Content Placeholder 2"/>
          <p:cNvSpPr>
            <a:spLocks noGrp="1"/>
          </p:cNvSpPr>
          <p:nvPr>
            <p:ph idx="1"/>
          </p:nvPr>
        </p:nvSpPr>
        <p:spPr>
          <a:xfrm>
            <a:off x="638175" y="857250"/>
            <a:ext cx="8001000" cy="5334000"/>
          </a:xfrm>
        </p:spPr>
        <p:txBody>
          <a:bodyPr>
            <a:normAutofit/>
          </a:bodyPr>
          <a:lstStyle/>
          <a:p>
            <a:pPr>
              <a:buFont typeface="Wingdings" pitchFamily="2" charset="2"/>
              <a:buNone/>
              <a:defRPr/>
            </a:pPr>
            <a:r>
              <a:rPr lang="en-US" sz="2400" dirty="0">
                <a:latin typeface="Times New Roman" panose="02020603050405020304" pitchFamily="18" charset="0"/>
                <a:cs typeface="Times New Roman" panose="02020603050405020304" pitchFamily="18" charset="0"/>
              </a:rPr>
              <a:t>&lt;HTM&gt;</a:t>
            </a:r>
          </a:p>
          <a:p>
            <a:pPr>
              <a:buFont typeface="Wingdings" pitchFamily="2" charset="2"/>
              <a:buNone/>
              <a:defRPr/>
            </a:pPr>
            <a:r>
              <a:rPr lang="en-US" sz="2400" dirty="0">
                <a:latin typeface="Times New Roman" panose="02020603050405020304" pitchFamily="18" charset="0"/>
                <a:cs typeface="Times New Roman" panose="02020603050405020304" pitchFamily="18" charset="0"/>
              </a:rPr>
              <a:t>&lt;BODY&gt;</a:t>
            </a:r>
          </a:p>
          <a:p>
            <a:pPr>
              <a:buFont typeface="Wingdings" pitchFamily="2" charset="2"/>
              <a:buNone/>
              <a:defRPr/>
            </a:pPr>
            <a:r>
              <a:rPr lang="en-US" sz="2400" dirty="0">
                <a:latin typeface="Times New Roman" panose="02020603050405020304" pitchFamily="18" charset="0"/>
                <a:cs typeface="Times New Roman" panose="02020603050405020304" pitchFamily="18" charset="0"/>
              </a:rPr>
              <a:t>&lt;H1&gt;This is a top level heading&lt;/H1&gt;</a:t>
            </a:r>
          </a:p>
          <a:p>
            <a:pPr>
              <a:buFont typeface="Wingdings" pitchFamily="2" charset="2"/>
              <a:buNone/>
              <a:defRPr/>
            </a:pPr>
            <a:r>
              <a:rPr lang="en-US" sz="2400" dirty="0">
                <a:latin typeface="Times New Roman" panose="02020603050405020304" pitchFamily="18" charset="0"/>
                <a:cs typeface="Times New Roman" panose="02020603050405020304" pitchFamily="18" charset="0"/>
              </a:rPr>
              <a:t>&lt;H2&gt;Second level heading&lt;/H2&gt; </a:t>
            </a:r>
          </a:p>
          <a:p>
            <a:pPr>
              <a:buFont typeface="Wingdings" pitchFamily="2" charset="2"/>
              <a:buNone/>
              <a:defRPr/>
            </a:pPr>
            <a:r>
              <a:rPr lang="en-US" sz="2400" dirty="0">
                <a:latin typeface="Times New Roman" panose="02020603050405020304" pitchFamily="18" charset="0"/>
                <a:cs typeface="Times New Roman" panose="02020603050405020304" pitchFamily="18" charset="0"/>
              </a:rPr>
              <a:t>&lt;h3&gt; heading-3&lt;/h3&gt;</a:t>
            </a:r>
          </a:p>
          <a:p>
            <a:pPr>
              <a:buFont typeface="Wingdings" pitchFamily="2" charset="2"/>
              <a:buNone/>
              <a:defRPr/>
            </a:pPr>
            <a:r>
              <a:rPr lang="en-US" sz="2400" dirty="0">
                <a:latin typeface="Times New Roman" panose="02020603050405020304" pitchFamily="18" charset="0"/>
                <a:cs typeface="Times New Roman" panose="02020603050405020304" pitchFamily="18" charset="0"/>
              </a:rPr>
              <a:t>&lt;h4&gt;heading-4&lt;/h4&gt;</a:t>
            </a:r>
          </a:p>
          <a:p>
            <a:pPr>
              <a:buFont typeface="Wingdings" pitchFamily="2" charset="2"/>
              <a:buNone/>
              <a:defRPr/>
            </a:pPr>
            <a:r>
              <a:rPr lang="en-US" sz="2400" dirty="0">
                <a:latin typeface="Times New Roman" panose="02020603050405020304" pitchFamily="18" charset="0"/>
                <a:cs typeface="Times New Roman" panose="02020603050405020304" pitchFamily="18" charset="0"/>
              </a:rPr>
              <a:t>&lt;h5&gt; heading-5&lt;/h5&gt;</a:t>
            </a:r>
          </a:p>
          <a:p>
            <a:pPr>
              <a:buFont typeface="Wingdings" pitchFamily="2" charset="2"/>
              <a:buNone/>
              <a:defRPr/>
            </a:pPr>
            <a:r>
              <a:rPr lang="en-US" sz="2400" dirty="0">
                <a:latin typeface="Times New Roman" panose="02020603050405020304" pitchFamily="18" charset="0"/>
                <a:cs typeface="Times New Roman" panose="02020603050405020304" pitchFamily="18" charset="0"/>
              </a:rPr>
              <a:t>&lt;h6&gt; heading-5&lt;/h6&gt;</a:t>
            </a:r>
          </a:p>
          <a:p>
            <a:pPr>
              <a:buFont typeface="Wingdings" pitchFamily="2" charset="2"/>
              <a:buNone/>
              <a:defRPr/>
            </a:pPr>
            <a:r>
              <a:rPr lang="en-US" sz="2400" dirty="0">
                <a:latin typeface="Times New Roman" panose="02020603050405020304" pitchFamily="18" charset="0"/>
                <a:cs typeface="Times New Roman" panose="02020603050405020304" pitchFamily="18" charset="0"/>
              </a:rPr>
              <a:t>&lt;/BODY&gt;</a:t>
            </a:r>
          </a:p>
          <a:p>
            <a:pPr>
              <a:buFont typeface="Wingdings" pitchFamily="2" charset="2"/>
              <a:buNone/>
              <a:defRPr/>
            </a:pPr>
            <a:r>
              <a:rPr lang="en-US" sz="2400" dirty="0">
                <a:latin typeface="Times New Roman" panose="02020603050405020304" pitchFamily="18" charset="0"/>
                <a:cs typeface="Times New Roman" panose="02020603050405020304" pitchFamily="18" charset="0"/>
              </a:rPr>
              <a:t>&lt;/HTML&gt;</a:t>
            </a: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 xmlns:a16="http://schemas.microsoft.com/office/drawing/2014/main" id="{50551FC7-BBF9-B5EB-A695-1A9F6D0E38E7}"/>
              </a:ext>
            </a:extLst>
          </p:cNvPr>
          <p:cNvPicPr>
            <a:picLocks noChangeAspect="1"/>
          </p:cNvPicPr>
          <p:nvPr/>
        </p:nvPicPr>
        <p:blipFill>
          <a:blip r:embed="rId2"/>
          <a:stretch>
            <a:fillRect/>
          </a:stretch>
        </p:blipFill>
        <p:spPr>
          <a:xfrm>
            <a:off x="6403779" y="2447858"/>
            <a:ext cx="3835597" cy="2590933"/>
          </a:xfrm>
          <a:prstGeom prst="rect">
            <a:avLst/>
          </a:prstGeom>
        </p:spPr>
      </p:pic>
    </p:spTree>
    <p:extLst>
      <p:ext uri="{BB962C8B-B14F-4D97-AF65-F5344CB8AC3E}">
        <p14:creationId xmlns:p14="http://schemas.microsoft.com/office/powerpoint/2010/main" val="1044604829"/>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981200" y="152400"/>
            <a:ext cx="8229600" cy="685800"/>
          </a:xfrm>
        </p:spPr>
        <p:txBody>
          <a:bodyPr>
            <a:normAutofit fontScale="90000"/>
          </a:bodyPr>
          <a:lstStyle/>
          <a:p>
            <a:pPr algn="l"/>
            <a:r>
              <a:rPr lang="en-US" sz="4000" dirty="0"/>
              <a:t> </a:t>
            </a:r>
            <a:r>
              <a:rPr lang="en-US" sz="4000" dirty="0">
                <a:solidFill>
                  <a:srgbClr val="FF0000"/>
                </a:solidFill>
              </a:rPr>
              <a:t>&lt;</a:t>
            </a:r>
            <a:r>
              <a:rPr lang="en-US" sz="4000" dirty="0" err="1">
                <a:solidFill>
                  <a:srgbClr val="FF0000"/>
                </a:solidFill>
              </a:rPr>
              <a:t>img</a:t>
            </a:r>
            <a:r>
              <a:rPr lang="en-US" sz="4000" dirty="0">
                <a:solidFill>
                  <a:srgbClr val="FF0000"/>
                </a:solidFill>
              </a:rPr>
              <a:t>/video&gt; Tag </a:t>
            </a:r>
            <a:r>
              <a:rPr lang="en-US" sz="3200" dirty="0"/>
              <a:t/>
            </a:r>
            <a:br>
              <a:rPr lang="en-US" sz="3200" dirty="0"/>
            </a:br>
            <a:endParaRPr lang="en-US" sz="3200" dirty="0">
              <a:solidFill>
                <a:srgbClr val="0070C0"/>
              </a:solidFill>
              <a:latin typeface="Times New Roman" pitchFamily="18" charset="0"/>
              <a:cs typeface="Times New Roman" pitchFamily="18" charset="0"/>
            </a:endParaRPr>
          </a:p>
        </p:txBody>
      </p:sp>
      <p:sp>
        <p:nvSpPr>
          <p:cNvPr id="3" name="Content Placeholder 2"/>
          <p:cNvSpPr>
            <a:spLocks noGrp="1"/>
          </p:cNvSpPr>
          <p:nvPr>
            <p:ph idx="1"/>
          </p:nvPr>
        </p:nvSpPr>
        <p:spPr>
          <a:xfrm>
            <a:off x="1524000" y="685800"/>
            <a:ext cx="10020300" cy="5410200"/>
          </a:xfrm>
        </p:spPr>
        <p:txBody>
          <a:bodyPr>
            <a:normAutofit/>
          </a:bodyPr>
          <a:lstStyle/>
          <a:p>
            <a:pPr>
              <a:buFont typeface="Wingdings" pitchFamily="2" charset="2"/>
              <a:buNone/>
              <a:defRPr/>
            </a:pPr>
            <a:r>
              <a:rPr lang="en-US" dirty="0">
                <a:latin typeface="Times New Roman" panose="02020603050405020304" pitchFamily="18" charset="0"/>
                <a:cs typeface="Times New Roman" panose="02020603050405020304" pitchFamily="18" charset="0"/>
              </a:rPr>
              <a:t>&lt;html&gt;</a:t>
            </a:r>
          </a:p>
          <a:p>
            <a:pPr>
              <a:buFont typeface="Wingdings" pitchFamily="2" charset="2"/>
              <a:buNone/>
              <a:defRPr/>
            </a:pPr>
            <a:r>
              <a:rPr lang="en-US" dirty="0">
                <a:latin typeface="Times New Roman" panose="02020603050405020304" pitchFamily="18" charset="0"/>
                <a:cs typeface="Times New Roman" panose="02020603050405020304" pitchFamily="18" charset="0"/>
              </a:rPr>
              <a:t>&lt;body&gt;</a:t>
            </a:r>
          </a:p>
          <a:p>
            <a:pPr>
              <a:buFont typeface="Wingdings" pitchFamily="2" charset="2"/>
              <a:buNone/>
              <a:defRPr/>
            </a:pPr>
            <a:r>
              <a:rPr lang="en-US" dirty="0">
                <a:latin typeface="Times New Roman" panose="02020603050405020304" pitchFamily="18" charset="0"/>
                <a:cs typeface="Times New Roman" panose="02020603050405020304" pitchFamily="18" charset="0"/>
              </a:rPr>
              <a:t>&lt;h1&gt;</a:t>
            </a:r>
            <a:r>
              <a:rPr lang="en-US" dirty="0" err="1">
                <a:latin typeface="Times New Roman" panose="02020603050405020304" pitchFamily="18" charset="0"/>
                <a:cs typeface="Times New Roman" panose="02020603050405020304" pitchFamily="18" charset="0"/>
              </a:rPr>
              <a:t>HI,Rahul</a:t>
            </a:r>
            <a:r>
              <a:rPr lang="en-US" dirty="0">
                <a:latin typeface="Times New Roman" panose="02020603050405020304" pitchFamily="18" charset="0"/>
                <a:cs typeface="Times New Roman" panose="02020603050405020304" pitchFamily="18" charset="0"/>
              </a:rPr>
              <a:t> Dravid&lt;/h1&gt;</a:t>
            </a:r>
          </a:p>
          <a:p>
            <a:pPr>
              <a:buFont typeface="Wingdings" pitchFamily="2" charset="2"/>
              <a:buNone/>
              <a:defRPr/>
            </a:pPr>
            <a:r>
              <a:rPr lang="en-US" dirty="0">
                <a:latin typeface="Times New Roman" panose="02020603050405020304" pitchFamily="18" charset="0"/>
                <a:cs typeface="Times New Roman" panose="02020603050405020304" pitchFamily="18" charset="0"/>
              </a:rPr>
              <a:t>&lt;</a:t>
            </a:r>
            <a:r>
              <a:rPr lang="en-US" dirty="0" err="1">
                <a:latin typeface="Times New Roman" panose="02020603050405020304" pitchFamily="18" charset="0"/>
                <a:cs typeface="Times New Roman" panose="02020603050405020304" pitchFamily="18" charset="0"/>
              </a:rPr>
              <a:t>img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src</a:t>
            </a:r>
            <a:r>
              <a:rPr lang="en-US" dirty="0">
                <a:latin typeface="Times New Roman" panose="02020603050405020304" pitchFamily="18" charset="0"/>
                <a:cs typeface="Times New Roman" panose="02020603050405020304" pitchFamily="18" charset="0"/>
              </a:rPr>
              <a:t>="rd.jpg</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align="right" width="100" height="300"&gt;&lt;/</a:t>
            </a:r>
            <a:r>
              <a:rPr lang="en-US" dirty="0" err="1">
                <a:latin typeface="Times New Roman" panose="02020603050405020304" pitchFamily="18" charset="0"/>
                <a:cs typeface="Times New Roman" panose="02020603050405020304" pitchFamily="18" charset="0"/>
              </a:rPr>
              <a:t>img</a:t>
            </a:r>
            <a:r>
              <a:rPr lang="en-US" dirty="0">
                <a:latin typeface="Times New Roman" panose="02020603050405020304" pitchFamily="18" charset="0"/>
                <a:cs typeface="Times New Roman" panose="02020603050405020304" pitchFamily="18" charset="0"/>
              </a:rPr>
              <a:t>&gt;</a:t>
            </a:r>
          </a:p>
          <a:p>
            <a:pPr>
              <a:buFont typeface="Wingdings" pitchFamily="2" charset="2"/>
              <a:buNone/>
              <a:defRPr/>
            </a:pPr>
            <a:r>
              <a:rPr lang="en-US" dirty="0">
                <a:latin typeface="Times New Roman" panose="02020603050405020304" pitchFamily="18" charset="0"/>
                <a:cs typeface="Times New Roman" panose="02020603050405020304" pitchFamily="18" charset="0"/>
              </a:rPr>
              <a:t>&lt;video width="320" height="240" controls&gt;</a:t>
            </a:r>
          </a:p>
          <a:p>
            <a:pPr>
              <a:buFont typeface="Wingdings" pitchFamily="2" charset="2"/>
              <a:buNone/>
              <a:defRPr/>
            </a:pPr>
            <a:r>
              <a:rPr lang="en-US" dirty="0">
                <a:latin typeface="Times New Roman" panose="02020603050405020304" pitchFamily="18" charset="0"/>
                <a:cs typeface="Times New Roman" panose="02020603050405020304" pitchFamily="18" charset="0"/>
              </a:rPr>
              <a:t>  &lt;source </a:t>
            </a:r>
            <a:r>
              <a:rPr lang="en-US" dirty="0" err="1">
                <a:latin typeface="Times New Roman" panose="02020603050405020304" pitchFamily="18" charset="0"/>
                <a:cs typeface="Times New Roman" panose="02020603050405020304" pitchFamily="18" charset="0"/>
              </a:rPr>
              <a:t>src</a:t>
            </a:r>
            <a:r>
              <a:rPr lang="en-US" dirty="0">
                <a:latin typeface="Times New Roman" panose="02020603050405020304" pitchFamily="18" charset="0"/>
                <a:cs typeface="Times New Roman" panose="02020603050405020304" pitchFamily="18" charset="0"/>
              </a:rPr>
              <a:t>="movie.mp4" type="video/mp4"&gt;</a:t>
            </a:r>
          </a:p>
          <a:p>
            <a:pPr>
              <a:buFont typeface="Wingdings" pitchFamily="2" charset="2"/>
              <a:buNone/>
              <a:defRPr/>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Your browser does not support the video tag.</a:t>
            </a:r>
          </a:p>
          <a:p>
            <a:pPr>
              <a:buFont typeface="Wingdings" pitchFamily="2" charset="2"/>
              <a:buNone/>
              <a:defRPr/>
            </a:pPr>
            <a:r>
              <a:rPr lang="en-US" dirty="0">
                <a:latin typeface="Times New Roman" panose="02020603050405020304" pitchFamily="18" charset="0"/>
                <a:cs typeface="Times New Roman" panose="02020603050405020304" pitchFamily="18" charset="0"/>
              </a:rPr>
              <a:t>&lt;/video&gt;</a:t>
            </a:r>
          </a:p>
          <a:p>
            <a:pPr>
              <a:buFont typeface="Wingdings" pitchFamily="2" charset="2"/>
              <a:buNone/>
              <a:defRPr/>
            </a:pPr>
            <a:r>
              <a:rPr lang="en-US" dirty="0">
                <a:latin typeface="Times New Roman" panose="02020603050405020304" pitchFamily="18" charset="0"/>
                <a:cs typeface="Times New Roman" panose="02020603050405020304" pitchFamily="18" charset="0"/>
              </a:rPr>
              <a:t>&lt;/body&gt;</a:t>
            </a:r>
          </a:p>
          <a:p>
            <a:pPr>
              <a:buFont typeface="Wingdings" pitchFamily="2" charset="2"/>
              <a:buNone/>
              <a:defRPr/>
            </a:pPr>
            <a:r>
              <a:rPr lang="en-US" dirty="0">
                <a:latin typeface="Times New Roman" panose="02020603050405020304" pitchFamily="18" charset="0"/>
                <a:cs typeface="Times New Roman" panose="02020603050405020304" pitchFamily="18" charset="0"/>
              </a:rPr>
              <a:t>&lt;/html&gt;</a:t>
            </a:r>
          </a:p>
        </p:txBody>
      </p:sp>
    </p:spTree>
    <p:extLst>
      <p:ext uri="{BB962C8B-B14F-4D97-AF65-F5344CB8AC3E}">
        <p14:creationId xmlns:p14="http://schemas.microsoft.com/office/powerpoint/2010/main" val="2877302854"/>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981200" y="274638"/>
            <a:ext cx="8229600" cy="715962"/>
          </a:xfrm>
        </p:spPr>
        <p:txBody>
          <a:bodyPr>
            <a:normAutofit fontScale="90000"/>
          </a:bodyPr>
          <a:lstStyle/>
          <a:p>
            <a:pPr algn="l"/>
            <a:r>
              <a:rPr lang="en-US" sz="3200" dirty="0">
                <a:solidFill>
                  <a:srgbClr val="FF0000"/>
                </a:solidFill>
              </a:rPr>
              <a:t>HTML Links – &lt;a&gt; tag</a:t>
            </a:r>
            <a:r>
              <a:rPr lang="en-US" sz="3200" dirty="0"/>
              <a:t/>
            </a:r>
            <a:br>
              <a:rPr lang="en-US" sz="3200" dirty="0"/>
            </a:br>
            <a:endParaRPr lang="en-US" sz="3200" dirty="0">
              <a:solidFill>
                <a:srgbClr val="0070C0"/>
              </a:solidFill>
              <a:latin typeface="Times New Roman" pitchFamily="18" charset="0"/>
              <a:cs typeface="Times New Roman" pitchFamily="18" charset="0"/>
            </a:endParaRPr>
          </a:p>
        </p:txBody>
      </p:sp>
      <p:sp>
        <p:nvSpPr>
          <p:cNvPr id="3" name="Content Placeholder 2"/>
          <p:cNvSpPr>
            <a:spLocks noGrp="1"/>
          </p:cNvSpPr>
          <p:nvPr>
            <p:ph idx="1"/>
          </p:nvPr>
        </p:nvSpPr>
        <p:spPr>
          <a:xfrm>
            <a:off x="1828800" y="685800"/>
            <a:ext cx="8686800" cy="5486400"/>
          </a:xfrm>
        </p:spPr>
        <p:txBody>
          <a:bodyPr>
            <a:noAutofit/>
          </a:bodyPr>
          <a:lstStyle/>
          <a:p>
            <a:pPr algn="just"/>
            <a:r>
              <a:rPr lang="en-US" dirty="0">
                <a:latin typeface="Times New Roman" pitchFamily="18" charset="0"/>
                <a:cs typeface="Times New Roman" pitchFamily="18" charset="0"/>
              </a:rPr>
              <a:t>The &lt;a&gt; tag defines a hyperlink, which is used to link from one page to another.</a:t>
            </a:r>
          </a:p>
          <a:p>
            <a:pPr algn="just"/>
            <a:r>
              <a:rPr lang="en-US" dirty="0">
                <a:latin typeface="Times New Roman" pitchFamily="18" charset="0"/>
                <a:cs typeface="Times New Roman" pitchFamily="18" charset="0"/>
              </a:rPr>
              <a:t>Hyperlinks allow visitors to navigate between Webpages  by clicking on words and images. </a:t>
            </a:r>
          </a:p>
          <a:p>
            <a:pPr marL="0" indent="0" algn="just">
              <a:buNone/>
            </a:pPr>
            <a:endParaRPr lang="en-US" dirty="0">
              <a:latin typeface="Times New Roman" pitchFamily="18" charset="0"/>
              <a:cs typeface="Times New Roman" pitchFamily="18" charset="0"/>
            </a:endParaRPr>
          </a:p>
          <a:p>
            <a:pPr marL="0" indent="0" algn="just">
              <a:buNone/>
            </a:pPr>
            <a:r>
              <a:rPr lang="en-US" dirty="0">
                <a:solidFill>
                  <a:srgbClr val="0070C0"/>
                </a:solidFill>
                <a:latin typeface="Times New Roman" pitchFamily="18" charset="0"/>
                <a:cs typeface="Times New Roman" pitchFamily="18" charset="0"/>
              </a:rPr>
              <a:t>&lt;a </a:t>
            </a:r>
            <a:r>
              <a:rPr lang="en-US" dirty="0" err="1">
                <a:solidFill>
                  <a:srgbClr val="0070C0"/>
                </a:solidFill>
                <a:latin typeface="Times New Roman" pitchFamily="18" charset="0"/>
                <a:cs typeface="Times New Roman" pitchFamily="18" charset="0"/>
              </a:rPr>
              <a:t>href</a:t>
            </a:r>
            <a:r>
              <a:rPr lang="en-US" dirty="0">
                <a:solidFill>
                  <a:srgbClr val="0070C0"/>
                </a:solidFill>
                <a:latin typeface="Times New Roman" pitchFamily="18" charset="0"/>
                <a:cs typeface="Times New Roman" pitchFamily="18" charset="0"/>
              </a:rPr>
              <a:t>="Document URL" ... attributes-list&gt;</a:t>
            </a:r>
            <a:r>
              <a:rPr lang="en-US" dirty="0" err="1">
                <a:solidFill>
                  <a:srgbClr val="002060"/>
                </a:solidFill>
                <a:latin typeface="Times New Roman" pitchFamily="18" charset="0"/>
                <a:cs typeface="Times New Roman" pitchFamily="18" charset="0"/>
              </a:rPr>
              <a:t>LinkText</a:t>
            </a:r>
            <a:r>
              <a:rPr lang="en-US" dirty="0">
                <a:solidFill>
                  <a:srgbClr val="0070C0"/>
                </a:solidFill>
                <a:latin typeface="Times New Roman" pitchFamily="18" charset="0"/>
                <a:cs typeface="Times New Roman" pitchFamily="18" charset="0"/>
              </a:rPr>
              <a:t>&lt;/a&gt;</a:t>
            </a:r>
            <a:r>
              <a:rPr lang="en-US" dirty="0">
                <a:latin typeface="Times New Roman" pitchFamily="18" charset="0"/>
                <a:cs typeface="Times New Roman" pitchFamily="18" charset="0"/>
              </a:rPr>
              <a:t/>
            </a:r>
            <a:br>
              <a:rPr lang="en-US" dirty="0">
                <a:latin typeface="Times New Roman" pitchFamily="18" charset="0"/>
                <a:cs typeface="Times New Roman" pitchFamily="18" charset="0"/>
              </a:rPr>
            </a:br>
            <a:endParaRPr lang="en-US" dirty="0">
              <a:latin typeface="Times New Roman" pitchFamily="18" charset="0"/>
              <a:cs typeface="Times New Roman" pitchFamily="18" charset="0"/>
            </a:endParaRPr>
          </a:p>
          <a:p>
            <a:pPr marL="0" indent="0" algn="just">
              <a:buNone/>
            </a:pPr>
            <a:r>
              <a:rPr lang="en-US" dirty="0"/>
              <a:t>The </a:t>
            </a:r>
            <a:r>
              <a:rPr lang="en-US" b="1" dirty="0" err="1"/>
              <a:t>href</a:t>
            </a:r>
            <a:r>
              <a:rPr lang="en-US" dirty="0"/>
              <a:t> attribute specifies the destination address of the link.</a:t>
            </a:r>
          </a:p>
          <a:p>
            <a:pPr marL="0" indent="0" algn="just">
              <a:buNone/>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4279198439"/>
      </p:ext>
    </p:extLst>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normAutofit/>
          </a:bodyPr>
          <a:lstStyle/>
          <a:p>
            <a:r>
              <a:rPr lang="en-US" altLang="en-US" sz="3200" b="1" dirty="0">
                <a:solidFill>
                  <a:srgbClr val="0070C0"/>
                </a:solidFill>
                <a:latin typeface="Times New Roman" pitchFamily="18" charset="0"/>
                <a:cs typeface="Times New Roman" pitchFamily="18" charset="0"/>
              </a:rPr>
              <a:t>LISTS</a:t>
            </a:r>
          </a:p>
        </p:txBody>
      </p:sp>
      <p:sp>
        <p:nvSpPr>
          <p:cNvPr id="8195" name="Content Placeholder 2"/>
          <p:cNvSpPr>
            <a:spLocks noGrp="1"/>
          </p:cNvSpPr>
          <p:nvPr>
            <p:ph idx="1"/>
          </p:nvPr>
        </p:nvSpPr>
        <p:spPr/>
        <p:txBody>
          <a:bodyPr>
            <a:normAutofit/>
          </a:bodyPr>
          <a:lstStyle/>
          <a:p>
            <a:pPr>
              <a:lnSpc>
                <a:spcPct val="150000"/>
              </a:lnSpc>
              <a:buFont typeface="Wingdings" pitchFamily="2" charset="2"/>
              <a:buNone/>
              <a:defRPr/>
            </a:pPr>
            <a:r>
              <a:rPr lang="en-IN" dirty="0"/>
              <a:t> HTML supports 3 types of lists</a:t>
            </a:r>
          </a:p>
          <a:p>
            <a:pPr marL="457200" indent="-457200">
              <a:lnSpc>
                <a:spcPct val="150000"/>
              </a:lnSpc>
              <a:buFont typeface="Wingdings" pitchFamily="2" charset="2"/>
              <a:buAutoNum type="arabicPeriod"/>
              <a:defRPr/>
            </a:pPr>
            <a:r>
              <a:rPr lang="en-IN" dirty="0"/>
              <a:t>unordered  list</a:t>
            </a:r>
          </a:p>
          <a:p>
            <a:pPr marL="457200" indent="-457200">
              <a:lnSpc>
                <a:spcPct val="150000"/>
              </a:lnSpc>
              <a:buFont typeface="Wingdings" pitchFamily="2" charset="2"/>
              <a:buAutoNum type="arabicPeriod"/>
              <a:defRPr/>
            </a:pPr>
            <a:r>
              <a:rPr lang="en-IN" dirty="0"/>
              <a:t>Ordered list</a:t>
            </a:r>
          </a:p>
          <a:p>
            <a:pPr marL="457200" indent="-457200">
              <a:lnSpc>
                <a:spcPct val="150000"/>
              </a:lnSpc>
              <a:buFont typeface="Wingdings" pitchFamily="2" charset="2"/>
              <a:buAutoNum type="arabicPeriod"/>
              <a:defRPr/>
            </a:pPr>
            <a:r>
              <a:rPr lang="en-IN" dirty="0"/>
              <a:t>definition lists </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052368669"/>
      </p:ext>
    </p:extLst>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1981200" y="274638"/>
            <a:ext cx="8229600" cy="715962"/>
          </a:xfrm>
        </p:spPr>
        <p:txBody>
          <a:bodyPr>
            <a:normAutofit/>
          </a:bodyPr>
          <a:lstStyle/>
          <a:p>
            <a:pPr algn="l"/>
            <a:r>
              <a:rPr lang="en-US" sz="3200" b="1" dirty="0">
                <a:solidFill>
                  <a:srgbClr val="FF0000"/>
                </a:solidFill>
                <a:latin typeface="Times New Roman" pitchFamily="18" charset="0"/>
                <a:cs typeface="Times New Roman" pitchFamily="18" charset="0"/>
              </a:rPr>
              <a:t>1. Unordered lists</a:t>
            </a:r>
            <a:endParaRPr lang="en-US" altLang="en-US" sz="3200" b="1" dirty="0">
              <a:solidFill>
                <a:srgbClr val="FF0000"/>
              </a:solidFill>
              <a:latin typeface="Times New Roman" pitchFamily="18" charset="0"/>
              <a:cs typeface="Times New Roman" pitchFamily="18" charset="0"/>
            </a:endParaRPr>
          </a:p>
        </p:txBody>
      </p:sp>
      <p:sp>
        <p:nvSpPr>
          <p:cNvPr id="8195" name="Content Placeholder 2"/>
          <p:cNvSpPr>
            <a:spLocks noGrp="1"/>
          </p:cNvSpPr>
          <p:nvPr>
            <p:ph idx="1"/>
          </p:nvPr>
        </p:nvSpPr>
        <p:spPr>
          <a:xfrm>
            <a:off x="798842" y="922337"/>
            <a:ext cx="11202658" cy="5287963"/>
          </a:xfrm>
        </p:spPr>
        <p:txBody>
          <a:bodyPr>
            <a:noAutofit/>
          </a:bodyPr>
          <a:lstStyle/>
          <a:p>
            <a:pPr algn="just">
              <a:lnSpc>
                <a:spcPct val="110000"/>
              </a:lnSpc>
              <a:spcBef>
                <a:spcPts val="0"/>
              </a:spcBef>
              <a:spcAft>
                <a:spcPts val="1000"/>
              </a:spcAft>
              <a:buSzPct val="45000"/>
              <a:buFont typeface="Wingdings" charset="2"/>
              <a:buChar char=""/>
            </a:pPr>
            <a:r>
              <a:rPr lang="en-US" dirty="0">
                <a:latin typeface="Times New Roman" pitchFamily="18" charset="0"/>
                <a:cs typeface="Times New Roman" pitchFamily="18" charset="0"/>
              </a:rPr>
              <a:t>An unordered list is a collection of related items that have no special order or sequence. </a:t>
            </a:r>
          </a:p>
          <a:p>
            <a:pPr algn="just">
              <a:lnSpc>
                <a:spcPct val="110000"/>
              </a:lnSpc>
              <a:spcBef>
                <a:spcPts val="0"/>
              </a:spcBef>
              <a:spcAft>
                <a:spcPts val="1000"/>
              </a:spcAft>
              <a:buSzPct val="45000"/>
              <a:buFont typeface="Wingdings" charset="2"/>
              <a:buChar char=""/>
            </a:pPr>
            <a:r>
              <a:rPr lang="en-US" dirty="0">
                <a:latin typeface="Times New Roman" pitchFamily="18" charset="0"/>
                <a:cs typeface="Times New Roman" pitchFamily="18" charset="0"/>
              </a:rPr>
              <a:t>Each item in the list is marked with a bullet by default.</a:t>
            </a:r>
            <a:endParaRPr lang="en-IN" dirty="0">
              <a:latin typeface="Times New Roman" pitchFamily="18" charset="0"/>
              <a:cs typeface="Times New Roman" pitchFamily="18" charset="0"/>
            </a:endParaRPr>
          </a:p>
          <a:p>
            <a:pPr algn="just">
              <a:lnSpc>
                <a:spcPct val="110000"/>
              </a:lnSpc>
              <a:spcBef>
                <a:spcPts val="0"/>
              </a:spcBef>
              <a:spcAft>
                <a:spcPts val="1000"/>
              </a:spcAft>
              <a:buSzPct val="45000"/>
              <a:buFont typeface="Wingdings" charset="2"/>
              <a:buChar char=""/>
            </a:pPr>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&lt;</a:t>
            </a:r>
            <a:r>
              <a:rPr lang="en-US" b="1" dirty="0" err="1">
                <a:latin typeface="Times New Roman" pitchFamily="18" charset="0"/>
                <a:cs typeface="Times New Roman" pitchFamily="18" charset="0"/>
              </a:rPr>
              <a:t>ul</a:t>
            </a:r>
            <a:r>
              <a:rPr lang="en-US" b="1" dirty="0">
                <a:latin typeface="Times New Roman" pitchFamily="18" charset="0"/>
                <a:cs typeface="Times New Roman" pitchFamily="18" charset="0"/>
              </a:rPr>
              <a:t>&gt;</a:t>
            </a:r>
            <a:r>
              <a:rPr lang="en-US" dirty="0">
                <a:latin typeface="Times New Roman" pitchFamily="18" charset="0"/>
                <a:cs typeface="Times New Roman" pitchFamily="18" charset="0"/>
              </a:rPr>
              <a:t> tag is used to create un ordered list.</a:t>
            </a:r>
          </a:p>
          <a:p>
            <a:pPr algn="just">
              <a:lnSpc>
                <a:spcPct val="110000"/>
              </a:lnSpc>
              <a:spcBef>
                <a:spcPts val="0"/>
              </a:spcBef>
              <a:spcAft>
                <a:spcPts val="1000"/>
              </a:spcAft>
              <a:buSzPct val="45000"/>
              <a:buFont typeface="Wingdings" charset="2"/>
              <a:buChar char=""/>
            </a:pPr>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&lt;li&gt;</a:t>
            </a:r>
            <a:r>
              <a:rPr lang="en-US" dirty="0">
                <a:latin typeface="Times New Roman" pitchFamily="18" charset="0"/>
                <a:cs typeface="Times New Roman" pitchFamily="18" charset="0"/>
              </a:rPr>
              <a:t> tag is used to add items to the list.</a:t>
            </a:r>
          </a:p>
          <a:p>
            <a:pPr marL="0" indent="0" algn="just">
              <a:lnSpc>
                <a:spcPct val="110000"/>
              </a:lnSpc>
              <a:spcBef>
                <a:spcPts val="0"/>
              </a:spcBef>
              <a:spcAft>
                <a:spcPts val="1000"/>
              </a:spcAft>
              <a:buSzPct val="45000"/>
              <a:buNone/>
            </a:pPr>
            <a:r>
              <a:rPr lang="en-US" altLang="en-US" dirty="0">
                <a:solidFill>
                  <a:srgbClr val="FF0000"/>
                </a:solidFill>
                <a:latin typeface="Times New Roman" pitchFamily="18" charset="0"/>
                <a:cs typeface="Times New Roman" pitchFamily="18" charset="0"/>
              </a:rPr>
              <a:t>&lt;</a:t>
            </a:r>
            <a:r>
              <a:rPr lang="en-US" altLang="en-US" dirty="0" err="1">
                <a:solidFill>
                  <a:srgbClr val="FF0000"/>
                </a:solidFill>
                <a:latin typeface="Times New Roman" pitchFamily="18" charset="0"/>
                <a:cs typeface="Times New Roman" pitchFamily="18" charset="0"/>
              </a:rPr>
              <a:t>ul</a:t>
            </a:r>
            <a:r>
              <a:rPr lang="en-US" altLang="en-US" dirty="0">
                <a:solidFill>
                  <a:srgbClr val="FF0000"/>
                </a:solidFill>
                <a:latin typeface="Times New Roman" pitchFamily="18" charset="0"/>
                <a:cs typeface="Times New Roman" pitchFamily="18" charset="0"/>
              </a:rPr>
              <a:t> type=“</a:t>
            </a:r>
            <a:r>
              <a:rPr lang="en-US" altLang="en-US" dirty="0" err="1">
                <a:solidFill>
                  <a:srgbClr val="FF0000"/>
                </a:solidFill>
                <a:latin typeface="Times New Roman" pitchFamily="18" charset="0"/>
                <a:cs typeface="Times New Roman" pitchFamily="18" charset="0"/>
              </a:rPr>
              <a:t>circle|disc|square</a:t>
            </a:r>
            <a:r>
              <a:rPr lang="en-US" altLang="en-US" dirty="0">
                <a:solidFill>
                  <a:srgbClr val="FF0000"/>
                </a:solidFill>
                <a:latin typeface="Times New Roman" pitchFamily="18" charset="0"/>
                <a:cs typeface="Times New Roman" pitchFamily="18" charset="0"/>
              </a:rPr>
              <a:t>”&gt;</a:t>
            </a:r>
          </a:p>
          <a:p>
            <a:pPr marL="0" indent="0">
              <a:spcBef>
                <a:spcPts val="1200"/>
              </a:spcBef>
              <a:spcAft>
                <a:spcPts val="1000"/>
              </a:spcAft>
              <a:buSzPct val="45000"/>
              <a:buNone/>
            </a:pPr>
            <a:endParaRPr lang="en-IN" dirty="0"/>
          </a:p>
          <a:p>
            <a:pPr>
              <a:buFont typeface="Wingdings" pitchFamily="2" charset="2"/>
              <a:buNone/>
              <a:defRPr/>
            </a:pPr>
            <a:endParaRPr lang="en-US" dirty="0">
              <a:latin typeface="Times New Roman" pitchFamily="18" charset="0"/>
              <a:cs typeface="Times New Roman" pitchFamily="18" charset="0"/>
            </a:endParaRPr>
          </a:p>
        </p:txBody>
      </p:sp>
      <p:sp>
        <p:nvSpPr>
          <p:cNvPr id="2" name="Text Box 7">
            <a:extLst>
              <a:ext uri="{FF2B5EF4-FFF2-40B4-BE49-F238E27FC236}">
                <a16:creationId xmlns="" xmlns:a16="http://schemas.microsoft.com/office/drawing/2014/main" id="{08D58033-652E-490F-92EC-FE42FD945E19}"/>
              </a:ext>
            </a:extLst>
          </p:cNvPr>
          <p:cNvSpPr txBox="1">
            <a:spLocks noChangeArrowheads="1"/>
          </p:cNvSpPr>
          <p:nvPr/>
        </p:nvSpPr>
        <p:spPr bwMode="auto">
          <a:xfrm>
            <a:off x="5066042" y="4640262"/>
            <a:ext cx="1676400" cy="1570038"/>
          </a:xfrm>
          <a:prstGeom prst="rect">
            <a:avLst/>
          </a:prstGeom>
          <a:solidFill>
            <a:schemeClr val="accent1">
              <a:lumMod val="60000"/>
              <a:lumOff val="40000"/>
            </a:schemeClr>
          </a:solidFill>
          <a:ln w="9525">
            <a:noFill/>
            <a:miter lim="800000"/>
            <a:headEnd/>
            <a:tailEnd/>
          </a:ln>
        </p:spPr>
        <p:txBody>
          <a:bodyPr>
            <a:spAutoFit/>
          </a:bodyPr>
          <a:lstStyle>
            <a:defPPr>
              <a:defRPr lang="en-US"/>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a:lstStyle>
          <a:p>
            <a:pPr>
              <a:spcBef>
                <a:spcPct val="50000"/>
              </a:spcBef>
              <a:buFontTx/>
              <a:buChar char="•"/>
              <a:defRPr/>
            </a:pPr>
            <a:r>
              <a:rPr lang="en-US" b="1" dirty="0">
                <a:solidFill>
                  <a:schemeClr val="tx1">
                    <a:lumMod val="60000"/>
                    <a:lumOff val="40000"/>
                  </a:schemeClr>
                </a:solidFill>
                <a:latin typeface="+mn-lt"/>
              </a:rPr>
              <a:t>  Apple</a:t>
            </a:r>
          </a:p>
          <a:p>
            <a:pPr>
              <a:spcBef>
                <a:spcPct val="50000"/>
              </a:spcBef>
              <a:buFontTx/>
              <a:buChar char="•"/>
              <a:defRPr/>
            </a:pPr>
            <a:r>
              <a:rPr lang="en-US" b="1" dirty="0">
                <a:solidFill>
                  <a:schemeClr val="tx1">
                    <a:lumMod val="60000"/>
                    <a:lumOff val="40000"/>
                  </a:schemeClr>
                </a:solidFill>
                <a:latin typeface="+mn-lt"/>
              </a:rPr>
              <a:t>  Orange</a:t>
            </a:r>
          </a:p>
          <a:p>
            <a:pPr>
              <a:spcBef>
                <a:spcPct val="50000"/>
              </a:spcBef>
              <a:buFontTx/>
              <a:buChar char="•"/>
              <a:defRPr/>
            </a:pPr>
            <a:r>
              <a:rPr lang="en-US" b="1" dirty="0">
                <a:solidFill>
                  <a:schemeClr val="tx1">
                    <a:lumMod val="60000"/>
                    <a:lumOff val="40000"/>
                  </a:schemeClr>
                </a:solidFill>
                <a:latin typeface="+mn-lt"/>
              </a:rPr>
              <a:t>  Pear</a:t>
            </a:r>
          </a:p>
        </p:txBody>
      </p:sp>
      <p:sp>
        <p:nvSpPr>
          <p:cNvPr id="3" name="Text Box 8">
            <a:extLst>
              <a:ext uri="{FF2B5EF4-FFF2-40B4-BE49-F238E27FC236}">
                <a16:creationId xmlns="" xmlns:a16="http://schemas.microsoft.com/office/drawing/2014/main" id="{CCA7D419-7CDA-D068-2DAA-FD730D7E1412}"/>
              </a:ext>
            </a:extLst>
          </p:cNvPr>
          <p:cNvSpPr txBox="1">
            <a:spLocks noChangeArrowheads="1"/>
          </p:cNvSpPr>
          <p:nvPr/>
        </p:nvSpPr>
        <p:spPr bwMode="auto">
          <a:xfrm>
            <a:off x="2532392" y="4640262"/>
            <a:ext cx="1905000" cy="1570038"/>
          </a:xfrm>
          <a:prstGeom prst="rect">
            <a:avLst/>
          </a:prstGeom>
          <a:solidFill>
            <a:schemeClr val="accent1">
              <a:lumMod val="60000"/>
              <a:lumOff val="40000"/>
            </a:schemeClr>
          </a:solidFill>
          <a:ln w="9525">
            <a:noFill/>
            <a:miter lim="800000"/>
            <a:headEnd/>
            <a:tailEnd/>
          </a:ln>
        </p:spPr>
        <p:txBody>
          <a:bodyPr>
            <a:spAutoFit/>
          </a:bodyPr>
          <a:lstStyle>
            <a:defPPr>
              <a:defRPr lang="en-US"/>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a:lstStyle>
          <a:p>
            <a:pPr>
              <a:spcBef>
                <a:spcPct val="50000"/>
              </a:spcBef>
              <a:buFontTx/>
              <a:buChar char="o"/>
              <a:defRPr/>
            </a:pPr>
            <a:r>
              <a:rPr lang="en-US" b="1" dirty="0">
                <a:solidFill>
                  <a:schemeClr val="tx1">
                    <a:lumMod val="60000"/>
                    <a:lumOff val="40000"/>
                  </a:schemeClr>
                </a:solidFill>
                <a:latin typeface="+mn-lt"/>
              </a:rPr>
              <a:t>  Apple</a:t>
            </a:r>
          </a:p>
          <a:p>
            <a:pPr>
              <a:spcBef>
                <a:spcPct val="50000"/>
              </a:spcBef>
              <a:buFontTx/>
              <a:buChar char="o"/>
              <a:defRPr/>
            </a:pPr>
            <a:r>
              <a:rPr lang="en-US" b="1" dirty="0">
                <a:solidFill>
                  <a:schemeClr val="tx1">
                    <a:lumMod val="60000"/>
                    <a:lumOff val="40000"/>
                  </a:schemeClr>
                </a:solidFill>
                <a:latin typeface="+mn-lt"/>
              </a:rPr>
              <a:t>  Orange</a:t>
            </a:r>
          </a:p>
          <a:p>
            <a:pPr>
              <a:spcBef>
                <a:spcPct val="50000"/>
              </a:spcBef>
              <a:buFontTx/>
              <a:buChar char="o"/>
              <a:defRPr/>
            </a:pPr>
            <a:r>
              <a:rPr lang="en-US" b="1" dirty="0">
                <a:solidFill>
                  <a:schemeClr val="tx1">
                    <a:lumMod val="60000"/>
                    <a:lumOff val="40000"/>
                  </a:schemeClr>
                </a:solidFill>
                <a:latin typeface="+mn-lt"/>
              </a:rPr>
              <a:t>  Pear</a:t>
            </a:r>
          </a:p>
        </p:txBody>
      </p:sp>
      <p:sp>
        <p:nvSpPr>
          <p:cNvPr id="6" name="Text Box 9">
            <a:extLst>
              <a:ext uri="{FF2B5EF4-FFF2-40B4-BE49-F238E27FC236}">
                <a16:creationId xmlns="" xmlns:a16="http://schemas.microsoft.com/office/drawing/2014/main" id="{8D894452-42D9-3686-2BE9-BC9C7700E16C}"/>
              </a:ext>
            </a:extLst>
          </p:cNvPr>
          <p:cNvSpPr txBox="1">
            <a:spLocks noChangeArrowheads="1"/>
          </p:cNvSpPr>
          <p:nvPr/>
        </p:nvSpPr>
        <p:spPr bwMode="auto">
          <a:xfrm>
            <a:off x="7999742" y="4640264"/>
            <a:ext cx="1905000" cy="1570037"/>
          </a:xfrm>
          <a:prstGeom prst="rect">
            <a:avLst/>
          </a:prstGeom>
          <a:solidFill>
            <a:schemeClr val="accent1">
              <a:lumMod val="60000"/>
              <a:lumOff val="40000"/>
            </a:schemeClr>
          </a:solidFill>
          <a:ln w="9525">
            <a:noFill/>
            <a:miter lim="800000"/>
            <a:headEnd/>
            <a:tailEnd/>
          </a:ln>
        </p:spPr>
        <p:txBody>
          <a:bodyPr>
            <a:spAutoFit/>
          </a:bodyPr>
          <a:lstStyle>
            <a:defPPr>
              <a:defRPr lang="en-US"/>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a:lstStyle>
          <a:p>
            <a:pPr>
              <a:spcBef>
                <a:spcPct val="50000"/>
              </a:spcBef>
              <a:buFont typeface="Wingdings" pitchFamily="2" charset="2"/>
              <a:buChar char="§"/>
              <a:defRPr/>
            </a:pPr>
            <a:r>
              <a:rPr lang="en-US" b="1" dirty="0">
                <a:solidFill>
                  <a:schemeClr val="tx1">
                    <a:lumMod val="60000"/>
                    <a:lumOff val="40000"/>
                  </a:schemeClr>
                </a:solidFill>
                <a:latin typeface="+mn-lt"/>
              </a:rPr>
              <a:t>  Apple</a:t>
            </a:r>
          </a:p>
          <a:p>
            <a:pPr>
              <a:spcBef>
                <a:spcPct val="50000"/>
              </a:spcBef>
              <a:buFont typeface="Wingdings" pitchFamily="2" charset="2"/>
              <a:buChar char="§"/>
              <a:defRPr/>
            </a:pPr>
            <a:r>
              <a:rPr lang="en-US" b="1" dirty="0">
                <a:solidFill>
                  <a:schemeClr val="tx1">
                    <a:lumMod val="60000"/>
                    <a:lumOff val="40000"/>
                  </a:schemeClr>
                </a:solidFill>
                <a:latin typeface="+mn-lt"/>
              </a:rPr>
              <a:t>  Orange</a:t>
            </a:r>
          </a:p>
          <a:p>
            <a:pPr>
              <a:spcBef>
                <a:spcPct val="50000"/>
              </a:spcBef>
              <a:buFont typeface="Wingdings" pitchFamily="2" charset="2"/>
              <a:buChar char="§"/>
              <a:defRPr/>
            </a:pPr>
            <a:r>
              <a:rPr lang="en-US" b="1" dirty="0">
                <a:solidFill>
                  <a:schemeClr val="tx1">
                    <a:lumMod val="60000"/>
                    <a:lumOff val="40000"/>
                  </a:schemeClr>
                </a:solidFill>
                <a:latin typeface="+mn-lt"/>
              </a:rPr>
              <a:t>  Pear</a:t>
            </a:r>
          </a:p>
        </p:txBody>
      </p:sp>
    </p:spTree>
    <p:extLst>
      <p:ext uri="{BB962C8B-B14F-4D97-AF65-F5344CB8AC3E}">
        <p14:creationId xmlns:p14="http://schemas.microsoft.com/office/powerpoint/2010/main" val="829716475"/>
      </p:ext>
    </p:extLst>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0" y="90770"/>
            <a:ext cx="10515600" cy="1325563"/>
          </a:xfrm>
        </p:spPr>
        <p:txBody>
          <a:bodyPr>
            <a:normAutofit/>
          </a:bodyPr>
          <a:lstStyle/>
          <a:p>
            <a:pPr algn="l"/>
            <a:r>
              <a:rPr lang="en-US" altLang="en-US" sz="3200" b="1" dirty="0">
                <a:solidFill>
                  <a:srgbClr val="0070C0"/>
                </a:solidFill>
                <a:latin typeface="Times New Roman" pitchFamily="18" charset="0"/>
                <a:cs typeface="Times New Roman" pitchFamily="18" charset="0"/>
              </a:rPr>
              <a:t>Example</a:t>
            </a:r>
          </a:p>
        </p:txBody>
      </p:sp>
      <p:sp>
        <p:nvSpPr>
          <p:cNvPr id="16388" name="Content Placeholder 2"/>
          <p:cNvSpPr>
            <a:spLocks noGrp="1"/>
          </p:cNvSpPr>
          <p:nvPr>
            <p:ph idx="1"/>
          </p:nvPr>
        </p:nvSpPr>
        <p:spPr>
          <a:xfrm>
            <a:off x="1981200" y="1219201"/>
            <a:ext cx="8229600" cy="4906963"/>
          </a:xfrm>
        </p:spPr>
        <p:txBody>
          <a:bodyPr>
            <a:noAutofit/>
          </a:bodyPr>
          <a:lstStyle/>
          <a:p>
            <a:pPr>
              <a:lnSpc>
                <a:spcPct val="100000"/>
              </a:lnSpc>
              <a:buFont typeface="Wingdings" pitchFamily="2" charset="2"/>
              <a:buNone/>
            </a:pPr>
            <a:r>
              <a:rPr lang="en-US" altLang="en-US" sz="2000" b="1" dirty="0">
                <a:latin typeface="Times New Roman" pitchFamily="18" charset="0"/>
                <a:cs typeface="Times New Roman" pitchFamily="18" charset="0"/>
              </a:rPr>
              <a:t>&lt;html&gt;</a:t>
            </a:r>
          </a:p>
          <a:p>
            <a:pPr>
              <a:lnSpc>
                <a:spcPct val="100000"/>
              </a:lnSpc>
              <a:buFont typeface="Wingdings" pitchFamily="2" charset="2"/>
              <a:buNone/>
            </a:pPr>
            <a:r>
              <a:rPr lang="en-US" altLang="en-US" sz="2000" b="1" dirty="0">
                <a:latin typeface="Times New Roman" pitchFamily="18" charset="0"/>
                <a:cs typeface="Times New Roman" pitchFamily="18" charset="0"/>
              </a:rPr>
              <a:t>&lt;body&gt;</a:t>
            </a:r>
          </a:p>
          <a:p>
            <a:pPr>
              <a:lnSpc>
                <a:spcPct val="100000"/>
              </a:lnSpc>
              <a:buFont typeface="Wingdings" pitchFamily="2" charset="2"/>
              <a:buNone/>
            </a:pPr>
            <a:r>
              <a:rPr lang="en-US" altLang="en-US" sz="2000" b="1" dirty="0">
                <a:latin typeface="Times New Roman" pitchFamily="18" charset="0"/>
                <a:cs typeface="Times New Roman" pitchFamily="18" charset="0"/>
              </a:rPr>
              <a:t>&lt;h1&gt;</a:t>
            </a:r>
            <a:r>
              <a:rPr lang="en-US" altLang="en-US" sz="2000" b="1" dirty="0" err="1">
                <a:latin typeface="Times New Roman" pitchFamily="18" charset="0"/>
                <a:cs typeface="Times New Roman" pitchFamily="18" charset="0"/>
              </a:rPr>
              <a:t>Currentsemsubjects</a:t>
            </a:r>
            <a:r>
              <a:rPr lang="en-US" altLang="en-US" sz="2000" b="1" dirty="0">
                <a:latin typeface="Times New Roman" pitchFamily="18" charset="0"/>
                <a:cs typeface="Times New Roman" pitchFamily="18" charset="0"/>
              </a:rPr>
              <a:t>&lt;/h1&gt;</a:t>
            </a:r>
          </a:p>
          <a:p>
            <a:pPr>
              <a:lnSpc>
                <a:spcPct val="100000"/>
              </a:lnSpc>
              <a:buFont typeface="Wingdings" pitchFamily="2" charset="2"/>
              <a:buNone/>
            </a:pPr>
            <a:r>
              <a:rPr lang="en-US" altLang="en-US" sz="2000" b="1" dirty="0">
                <a:solidFill>
                  <a:srgbClr val="FF0000"/>
                </a:solidFill>
                <a:latin typeface="Times New Roman" pitchFamily="18" charset="0"/>
                <a:cs typeface="Times New Roman" pitchFamily="18" charset="0"/>
              </a:rPr>
              <a:t>&lt;</a:t>
            </a:r>
            <a:r>
              <a:rPr lang="en-US" altLang="en-US" sz="2000" b="1" dirty="0" err="1">
                <a:solidFill>
                  <a:srgbClr val="FF0000"/>
                </a:solidFill>
                <a:latin typeface="Times New Roman" pitchFamily="18" charset="0"/>
                <a:cs typeface="Times New Roman" pitchFamily="18" charset="0"/>
              </a:rPr>
              <a:t>ul</a:t>
            </a:r>
            <a:r>
              <a:rPr lang="en-US" altLang="en-US" sz="2000" b="1" dirty="0">
                <a:solidFill>
                  <a:srgbClr val="FF0000"/>
                </a:solidFill>
                <a:latin typeface="Times New Roman" pitchFamily="18" charset="0"/>
                <a:cs typeface="Times New Roman" pitchFamily="18" charset="0"/>
              </a:rPr>
              <a:t> type=“circle”&gt;</a:t>
            </a:r>
          </a:p>
          <a:p>
            <a:pPr>
              <a:lnSpc>
                <a:spcPct val="100000"/>
              </a:lnSpc>
              <a:buFont typeface="Wingdings" pitchFamily="2" charset="2"/>
              <a:buNone/>
            </a:pPr>
            <a:r>
              <a:rPr lang="en-US" altLang="en-US" sz="2000" b="1" dirty="0">
                <a:latin typeface="Times New Roman" pitchFamily="18" charset="0"/>
                <a:cs typeface="Times New Roman" pitchFamily="18" charset="0"/>
              </a:rPr>
              <a:t>&lt;</a:t>
            </a:r>
            <a:r>
              <a:rPr lang="en-US" altLang="en-US" sz="2000" b="1" dirty="0" err="1">
                <a:latin typeface="Times New Roman" pitchFamily="18" charset="0"/>
                <a:cs typeface="Times New Roman" pitchFamily="18" charset="0"/>
              </a:rPr>
              <a:t>li</a:t>
            </a:r>
            <a:r>
              <a:rPr lang="en-US" altLang="en-US" sz="2000" b="1" dirty="0">
                <a:latin typeface="Times New Roman" pitchFamily="18" charset="0"/>
                <a:cs typeface="Times New Roman" pitchFamily="18" charset="0"/>
              </a:rPr>
              <a:t>&gt;&lt;/</a:t>
            </a:r>
            <a:r>
              <a:rPr lang="en-US" altLang="en-US" sz="2000" b="1" dirty="0" err="1">
                <a:latin typeface="Times New Roman" pitchFamily="18" charset="0"/>
                <a:cs typeface="Times New Roman" pitchFamily="18" charset="0"/>
              </a:rPr>
              <a:t>li</a:t>
            </a:r>
            <a:r>
              <a:rPr lang="en-US" altLang="en-US" sz="2000" b="1" dirty="0">
                <a:latin typeface="Times New Roman" pitchFamily="18" charset="0"/>
                <a:cs typeface="Times New Roman" pitchFamily="18" charset="0"/>
              </a:rPr>
              <a:t>&gt;</a:t>
            </a:r>
          </a:p>
          <a:p>
            <a:pPr>
              <a:lnSpc>
                <a:spcPct val="100000"/>
              </a:lnSpc>
              <a:buFont typeface="Wingdings" pitchFamily="2" charset="2"/>
              <a:buNone/>
            </a:pPr>
            <a:r>
              <a:rPr lang="en-US" altLang="en-US" sz="2000" b="1" dirty="0">
                <a:latin typeface="Times New Roman" pitchFamily="18" charset="0"/>
                <a:cs typeface="Times New Roman" pitchFamily="18" charset="0"/>
              </a:rPr>
              <a:t>&lt;</a:t>
            </a:r>
            <a:r>
              <a:rPr lang="en-US" altLang="en-US" sz="2000" b="1" dirty="0" err="1">
                <a:latin typeface="Times New Roman" pitchFamily="18" charset="0"/>
                <a:cs typeface="Times New Roman" pitchFamily="18" charset="0"/>
              </a:rPr>
              <a:t>li</a:t>
            </a:r>
            <a:r>
              <a:rPr lang="en-US" altLang="en-US" sz="2000" b="1" dirty="0">
                <a:latin typeface="Times New Roman" pitchFamily="18" charset="0"/>
                <a:cs typeface="Times New Roman" pitchFamily="18" charset="0"/>
              </a:rPr>
              <a:t>&gt;WT&lt;/</a:t>
            </a:r>
            <a:r>
              <a:rPr lang="en-US" altLang="en-US" sz="2000" b="1" dirty="0" err="1">
                <a:latin typeface="Times New Roman" pitchFamily="18" charset="0"/>
                <a:cs typeface="Times New Roman" pitchFamily="18" charset="0"/>
              </a:rPr>
              <a:t>li</a:t>
            </a:r>
            <a:r>
              <a:rPr lang="en-US" altLang="en-US" sz="2000" b="1" dirty="0">
                <a:latin typeface="Times New Roman" pitchFamily="18" charset="0"/>
                <a:cs typeface="Times New Roman" pitchFamily="18" charset="0"/>
              </a:rPr>
              <a:t>&gt;</a:t>
            </a:r>
          </a:p>
          <a:p>
            <a:pPr>
              <a:lnSpc>
                <a:spcPct val="100000"/>
              </a:lnSpc>
              <a:buFont typeface="Wingdings" pitchFamily="2" charset="2"/>
              <a:buNone/>
            </a:pPr>
            <a:r>
              <a:rPr lang="en-US" altLang="en-US" sz="2000" b="1" dirty="0">
                <a:latin typeface="Times New Roman" pitchFamily="18" charset="0"/>
                <a:cs typeface="Times New Roman" pitchFamily="18" charset="0"/>
              </a:rPr>
              <a:t>&lt;</a:t>
            </a:r>
            <a:r>
              <a:rPr lang="en-US" altLang="en-US" sz="2000" b="1" dirty="0" err="1">
                <a:latin typeface="Times New Roman" pitchFamily="18" charset="0"/>
                <a:cs typeface="Times New Roman" pitchFamily="18" charset="0"/>
              </a:rPr>
              <a:t>li</a:t>
            </a:r>
            <a:r>
              <a:rPr lang="en-US" altLang="en-US" sz="2000" b="1" dirty="0">
                <a:latin typeface="Times New Roman" pitchFamily="18" charset="0"/>
                <a:cs typeface="Times New Roman" pitchFamily="18" charset="0"/>
              </a:rPr>
              <a:t>&gt;OS&lt;/</a:t>
            </a:r>
            <a:r>
              <a:rPr lang="en-US" altLang="en-US" sz="2000" b="1" dirty="0" err="1">
                <a:latin typeface="Times New Roman" pitchFamily="18" charset="0"/>
                <a:cs typeface="Times New Roman" pitchFamily="18" charset="0"/>
              </a:rPr>
              <a:t>li</a:t>
            </a:r>
            <a:r>
              <a:rPr lang="en-US" altLang="en-US" sz="2000" b="1" dirty="0">
                <a:latin typeface="Times New Roman" pitchFamily="18" charset="0"/>
                <a:cs typeface="Times New Roman" pitchFamily="18" charset="0"/>
              </a:rPr>
              <a:t>&gt;</a:t>
            </a:r>
          </a:p>
          <a:p>
            <a:pPr>
              <a:lnSpc>
                <a:spcPct val="100000"/>
              </a:lnSpc>
              <a:buNone/>
            </a:pPr>
            <a:r>
              <a:rPr lang="en-US" altLang="en-US" sz="2000" b="1" dirty="0">
                <a:latin typeface="Times New Roman" pitchFamily="18" charset="0"/>
                <a:cs typeface="Times New Roman" pitchFamily="18" charset="0"/>
              </a:rPr>
              <a:t>&lt;li&gt;CD&lt;/li&gt;</a:t>
            </a:r>
          </a:p>
          <a:p>
            <a:pPr>
              <a:lnSpc>
                <a:spcPct val="100000"/>
              </a:lnSpc>
              <a:buNone/>
            </a:pPr>
            <a:r>
              <a:rPr lang="en-US" altLang="en-US" sz="2000" b="1" dirty="0">
                <a:latin typeface="Times New Roman" pitchFamily="18" charset="0"/>
                <a:cs typeface="Times New Roman" pitchFamily="18" charset="0"/>
              </a:rPr>
              <a:t>&lt;</a:t>
            </a:r>
            <a:r>
              <a:rPr lang="en-US" altLang="en-US" sz="2000" b="1" dirty="0" err="1">
                <a:latin typeface="Times New Roman" pitchFamily="18" charset="0"/>
                <a:cs typeface="Times New Roman" pitchFamily="18" charset="0"/>
              </a:rPr>
              <a:t>li</a:t>
            </a:r>
            <a:r>
              <a:rPr lang="en-US" altLang="en-US" sz="2000" b="1" dirty="0">
                <a:latin typeface="Times New Roman" pitchFamily="18" charset="0"/>
                <a:cs typeface="Times New Roman" pitchFamily="18" charset="0"/>
              </a:rPr>
              <a:t>&gt;SE&lt;/</a:t>
            </a:r>
            <a:r>
              <a:rPr lang="en-US" altLang="en-US" sz="2000" b="1" dirty="0" err="1">
                <a:latin typeface="Times New Roman" pitchFamily="18" charset="0"/>
                <a:cs typeface="Times New Roman" pitchFamily="18" charset="0"/>
              </a:rPr>
              <a:t>li</a:t>
            </a:r>
            <a:r>
              <a:rPr lang="en-US" altLang="en-US" sz="2000" b="1" dirty="0">
                <a:latin typeface="Times New Roman" pitchFamily="18" charset="0"/>
                <a:cs typeface="Times New Roman" pitchFamily="18" charset="0"/>
              </a:rPr>
              <a:t>&gt;</a:t>
            </a:r>
          </a:p>
          <a:p>
            <a:pPr>
              <a:lnSpc>
                <a:spcPct val="100000"/>
              </a:lnSpc>
              <a:buFont typeface="Wingdings" pitchFamily="2" charset="2"/>
              <a:buNone/>
            </a:pPr>
            <a:r>
              <a:rPr lang="en-US" altLang="en-US" sz="2000" b="1" dirty="0">
                <a:latin typeface="Times New Roman" pitchFamily="18" charset="0"/>
                <a:cs typeface="Times New Roman" pitchFamily="18" charset="0"/>
              </a:rPr>
              <a:t>&lt;/</a:t>
            </a:r>
            <a:r>
              <a:rPr lang="en-US" altLang="en-US" sz="2000" b="1" dirty="0" err="1">
                <a:latin typeface="Times New Roman" pitchFamily="18" charset="0"/>
                <a:cs typeface="Times New Roman" pitchFamily="18" charset="0"/>
              </a:rPr>
              <a:t>ul</a:t>
            </a:r>
            <a:r>
              <a:rPr lang="en-US" altLang="en-US" sz="2000" b="1" dirty="0">
                <a:latin typeface="Times New Roman" pitchFamily="18" charset="0"/>
                <a:cs typeface="Times New Roman" pitchFamily="18" charset="0"/>
              </a:rPr>
              <a:t>&gt;</a:t>
            </a:r>
          </a:p>
          <a:p>
            <a:pPr>
              <a:lnSpc>
                <a:spcPct val="100000"/>
              </a:lnSpc>
              <a:buFont typeface="Wingdings" pitchFamily="2" charset="2"/>
              <a:buNone/>
            </a:pPr>
            <a:r>
              <a:rPr lang="en-US" altLang="en-US" sz="2000" b="1" dirty="0">
                <a:latin typeface="Times New Roman" pitchFamily="18" charset="0"/>
                <a:cs typeface="Times New Roman" pitchFamily="18" charset="0"/>
              </a:rPr>
              <a:t>&lt;/body&gt;</a:t>
            </a:r>
          </a:p>
          <a:p>
            <a:pPr>
              <a:lnSpc>
                <a:spcPct val="100000"/>
              </a:lnSpc>
              <a:buFont typeface="Wingdings" pitchFamily="2" charset="2"/>
              <a:buNone/>
            </a:pPr>
            <a:endParaRPr lang="en-US" altLang="en-US" sz="2000" b="1" dirty="0">
              <a:latin typeface="Times New Roman" pitchFamily="18" charset="0"/>
              <a:cs typeface="Times New Roman" pitchFamily="18" charset="0"/>
            </a:endParaRPr>
          </a:p>
        </p:txBody>
      </p:sp>
      <p:pic>
        <p:nvPicPr>
          <p:cNvPr id="3" name="Picture 2">
            <a:extLst>
              <a:ext uri="{FF2B5EF4-FFF2-40B4-BE49-F238E27FC236}">
                <a16:creationId xmlns="" xmlns:a16="http://schemas.microsoft.com/office/drawing/2014/main" id="{A0CC65C6-ADA7-D100-10AF-A39EF18C949D}"/>
              </a:ext>
            </a:extLst>
          </p:cNvPr>
          <p:cNvPicPr>
            <a:picLocks noChangeAspect="1"/>
          </p:cNvPicPr>
          <p:nvPr/>
        </p:nvPicPr>
        <p:blipFill>
          <a:blip r:embed="rId2"/>
          <a:stretch>
            <a:fillRect/>
          </a:stretch>
        </p:blipFill>
        <p:spPr>
          <a:xfrm>
            <a:off x="6296025" y="2155760"/>
            <a:ext cx="3752850" cy="2618699"/>
          </a:xfrm>
          <a:prstGeom prst="rect">
            <a:avLst/>
          </a:prstGeom>
        </p:spPr>
      </p:pic>
    </p:spTree>
    <p:extLst>
      <p:ext uri="{BB962C8B-B14F-4D97-AF65-F5344CB8AC3E}">
        <p14:creationId xmlns:p14="http://schemas.microsoft.com/office/powerpoint/2010/main" val="1516667378"/>
      </p:ext>
    </p:extLst>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normAutofit/>
          </a:bodyPr>
          <a:lstStyle/>
          <a:p>
            <a:pPr algn="l"/>
            <a:r>
              <a:rPr lang="en-US" altLang="en-US" sz="3200" b="1" dirty="0">
                <a:solidFill>
                  <a:srgbClr val="0070C0"/>
                </a:solidFill>
                <a:latin typeface="Times New Roman" pitchFamily="18" charset="0"/>
                <a:cs typeface="Times New Roman" pitchFamily="18" charset="0"/>
              </a:rPr>
              <a:t>2. Ordered Lists</a:t>
            </a:r>
          </a:p>
        </p:txBody>
      </p:sp>
      <p:sp>
        <p:nvSpPr>
          <p:cNvPr id="19460" name="Content Placeholder 2"/>
          <p:cNvSpPr>
            <a:spLocks noGrp="1"/>
          </p:cNvSpPr>
          <p:nvPr>
            <p:ph idx="1"/>
          </p:nvPr>
        </p:nvSpPr>
        <p:spPr>
          <a:xfrm>
            <a:off x="1981200" y="1295401"/>
            <a:ext cx="8458200" cy="4830763"/>
          </a:xfrm>
        </p:spPr>
        <p:txBody>
          <a:bodyPr>
            <a:noAutofit/>
          </a:bodyPr>
          <a:lstStyle/>
          <a:p>
            <a:pPr>
              <a:spcBef>
                <a:spcPts val="1200"/>
              </a:spcBef>
              <a:spcAft>
                <a:spcPts val="1000"/>
              </a:spcAft>
              <a:buSzPct val="45000"/>
              <a:buFont typeface="Wingdings" charset="2"/>
              <a:buChar char=""/>
            </a:pPr>
            <a:r>
              <a:rPr lang="en-IN" dirty="0"/>
              <a:t>An ordered list is a list of items marked with numbers.</a:t>
            </a:r>
          </a:p>
          <a:p>
            <a:pPr algn="just">
              <a:lnSpc>
                <a:spcPct val="110000"/>
              </a:lnSpc>
              <a:spcBef>
                <a:spcPts val="0"/>
              </a:spcBef>
              <a:spcAft>
                <a:spcPts val="1000"/>
              </a:spcAft>
              <a:buSzPct val="45000"/>
              <a:buFont typeface="Wingdings" charset="2"/>
              <a:buChar char=""/>
            </a:pPr>
            <a:r>
              <a:rPr lang="en-IN" dirty="0"/>
              <a:t> </a:t>
            </a:r>
            <a:r>
              <a:rPr lang="en-US" b="1" dirty="0">
                <a:latin typeface="Times New Roman" pitchFamily="18" charset="0"/>
                <a:cs typeface="Times New Roman" pitchFamily="18" charset="0"/>
              </a:rPr>
              <a:t>&lt;</a:t>
            </a:r>
            <a:r>
              <a:rPr lang="en-US" b="1" dirty="0" err="1">
                <a:latin typeface="Times New Roman" pitchFamily="18" charset="0"/>
                <a:cs typeface="Times New Roman" pitchFamily="18" charset="0"/>
              </a:rPr>
              <a:t>ol</a:t>
            </a:r>
            <a:r>
              <a:rPr lang="en-US" b="1" dirty="0">
                <a:latin typeface="Times New Roman" pitchFamily="18" charset="0"/>
                <a:cs typeface="Times New Roman" pitchFamily="18" charset="0"/>
              </a:rPr>
              <a:t>&gt;</a:t>
            </a:r>
            <a:r>
              <a:rPr lang="en-US" dirty="0">
                <a:latin typeface="Times New Roman" pitchFamily="18" charset="0"/>
                <a:cs typeface="Times New Roman" pitchFamily="18" charset="0"/>
              </a:rPr>
              <a:t> tag is used to create an ordered list.</a:t>
            </a:r>
          </a:p>
          <a:p>
            <a:pPr algn="just">
              <a:lnSpc>
                <a:spcPct val="110000"/>
              </a:lnSpc>
              <a:spcBef>
                <a:spcPts val="0"/>
              </a:spcBef>
              <a:spcAft>
                <a:spcPts val="1000"/>
              </a:spcAft>
              <a:buSzPct val="45000"/>
              <a:buFont typeface="Wingdings" charset="2"/>
              <a:buChar char=""/>
            </a:pPr>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&lt;</a:t>
            </a:r>
            <a:r>
              <a:rPr lang="en-US" b="1" dirty="0" err="1">
                <a:latin typeface="Times New Roman" pitchFamily="18" charset="0"/>
                <a:cs typeface="Times New Roman" pitchFamily="18" charset="0"/>
              </a:rPr>
              <a:t>li</a:t>
            </a:r>
            <a:r>
              <a:rPr lang="en-US" b="1" dirty="0">
                <a:latin typeface="Times New Roman" pitchFamily="18" charset="0"/>
                <a:cs typeface="Times New Roman" pitchFamily="18" charset="0"/>
              </a:rPr>
              <a:t>&gt;</a:t>
            </a:r>
            <a:r>
              <a:rPr lang="en-US" dirty="0">
                <a:latin typeface="Times New Roman" pitchFamily="18" charset="0"/>
                <a:cs typeface="Times New Roman" pitchFamily="18" charset="0"/>
              </a:rPr>
              <a:t> tag is used to add items to the list.</a:t>
            </a:r>
          </a:p>
          <a:p>
            <a:pPr>
              <a:spcBef>
                <a:spcPts val="1200"/>
              </a:spcBef>
              <a:spcAft>
                <a:spcPts val="1000"/>
              </a:spcAft>
              <a:buSzPct val="45000"/>
              <a:buFont typeface="Wingdings" charset="2"/>
              <a:buChar char=""/>
            </a:pPr>
            <a:r>
              <a:rPr lang="en-US" dirty="0"/>
              <a:t>The numbering starts at one and is incremented by one for each successive ordered list element tagged with &lt;li&gt;.</a:t>
            </a:r>
            <a:endParaRPr lang="en-IN" dirty="0"/>
          </a:p>
          <a:p>
            <a:pPr>
              <a:lnSpc>
                <a:spcPct val="150000"/>
              </a:lnSpc>
              <a:buFont typeface="Wingdings" pitchFamily="2" charset="2"/>
              <a:buNone/>
            </a:pPr>
            <a:r>
              <a:rPr lang="en-US" altLang="en-US" dirty="0">
                <a:solidFill>
                  <a:srgbClr val="FF0000"/>
                </a:solidFill>
                <a:latin typeface="Times New Roman" pitchFamily="18" charset="0"/>
                <a:cs typeface="Times New Roman" pitchFamily="18" charset="0"/>
              </a:rPr>
              <a:t>Syntax:</a:t>
            </a:r>
          </a:p>
          <a:p>
            <a:pPr>
              <a:lnSpc>
                <a:spcPct val="150000"/>
              </a:lnSpc>
              <a:buFont typeface="Wingdings" pitchFamily="2" charset="2"/>
              <a:buNone/>
            </a:pPr>
            <a:r>
              <a:rPr lang="en-US" altLang="en-US" dirty="0">
                <a:solidFill>
                  <a:srgbClr val="FF0000"/>
                </a:solidFill>
                <a:latin typeface="Times New Roman" pitchFamily="18" charset="0"/>
                <a:cs typeface="Times New Roman" pitchFamily="18" charset="0"/>
              </a:rPr>
              <a:t>&lt;</a:t>
            </a:r>
            <a:r>
              <a:rPr lang="en-US" altLang="en-US" dirty="0" err="1">
                <a:solidFill>
                  <a:srgbClr val="FF0000"/>
                </a:solidFill>
                <a:latin typeface="Times New Roman" pitchFamily="18" charset="0"/>
                <a:cs typeface="Times New Roman" pitchFamily="18" charset="0"/>
              </a:rPr>
              <a:t>ol</a:t>
            </a:r>
            <a:r>
              <a:rPr lang="en-US" altLang="en-US" dirty="0">
                <a:solidFill>
                  <a:srgbClr val="FF0000"/>
                </a:solidFill>
                <a:latin typeface="Times New Roman" pitchFamily="18" charset="0"/>
                <a:cs typeface="Times New Roman" pitchFamily="18" charset="0"/>
              </a:rPr>
              <a:t> type=“A”|a|”I”|”i”|”1”&gt;</a:t>
            </a:r>
          </a:p>
          <a:p>
            <a:pPr>
              <a:lnSpc>
                <a:spcPct val="150000"/>
              </a:lnSpc>
              <a:buFont typeface="Wingdings" pitchFamily="2" charset="2"/>
              <a:buNone/>
            </a:pPr>
            <a:r>
              <a:rPr lang="en-US" altLang="en-US" dirty="0">
                <a:latin typeface="Times New Roman" pitchFamily="18" charset="0"/>
                <a:cs typeface="Times New Roman" pitchFamily="18" charset="0"/>
              </a:rPr>
              <a:t> </a:t>
            </a:r>
          </a:p>
          <a:p>
            <a:pPr>
              <a:buFont typeface="Wingdings" pitchFamily="2" charset="2"/>
              <a:buNone/>
            </a:pPr>
            <a:endParaRPr lang="en-US" altLang="en-US" dirty="0">
              <a:latin typeface="Times New Roman" pitchFamily="18" charset="0"/>
              <a:cs typeface="Times New Roman" pitchFamily="18" charset="0"/>
            </a:endParaRPr>
          </a:p>
        </p:txBody>
      </p:sp>
    </p:spTree>
    <p:extLst>
      <p:ext uri="{BB962C8B-B14F-4D97-AF65-F5344CB8AC3E}">
        <p14:creationId xmlns:p14="http://schemas.microsoft.com/office/powerpoint/2010/main" val="1806527315"/>
      </p:ext>
    </p:extLst>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normAutofit/>
          </a:bodyPr>
          <a:lstStyle/>
          <a:p>
            <a:pPr algn="l"/>
            <a:r>
              <a:rPr lang="en-US" altLang="en-US" sz="3200" dirty="0">
                <a:solidFill>
                  <a:srgbClr val="0070C0"/>
                </a:solidFill>
                <a:latin typeface="Times New Roman" pitchFamily="18" charset="0"/>
                <a:cs typeface="Times New Roman" pitchFamily="18" charset="0"/>
              </a:rPr>
              <a:t>Example:</a:t>
            </a:r>
          </a:p>
        </p:txBody>
      </p:sp>
      <p:sp>
        <p:nvSpPr>
          <p:cNvPr id="20484" name="Content Placeholder 2"/>
          <p:cNvSpPr>
            <a:spLocks noGrp="1"/>
          </p:cNvSpPr>
          <p:nvPr>
            <p:ph idx="1"/>
          </p:nvPr>
        </p:nvSpPr>
        <p:spPr/>
        <p:txBody>
          <a:bodyPr>
            <a:normAutofit lnSpcReduction="10000"/>
          </a:bodyPr>
          <a:lstStyle/>
          <a:p>
            <a:pPr>
              <a:buFont typeface="Wingdings" pitchFamily="2" charset="2"/>
              <a:buNone/>
            </a:pPr>
            <a:r>
              <a:rPr lang="en-US" altLang="en-US" sz="2400" b="1" dirty="0">
                <a:latin typeface="Times New Roman" pitchFamily="18" charset="0"/>
                <a:cs typeface="Times New Roman" pitchFamily="18" charset="0"/>
              </a:rPr>
              <a:t>&lt;html&gt;</a:t>
            </a:r>
          </a:p>
          <a:p>
            <a:pPr>
              <a:buFont typeface="Wingdings" pitchFamily="2" charset="2"/>
              <a:buNone/>
            </a:pPr>
            <a:r>
              <a:rPr lang="en-US" altLang="en-US" sz="2400" b="1" dirty="0">
                <a:latin typeface="Times New Roman" pitchFamily="18" charset="0"/>
                <a:cs typeface="Times New Roman" pitchFamily="18" charset="0"/>
              </a:rPr>
              <a:t>&lt;body&gt;</a:t>
            </a:r>
          </a:p>
          <a:p>
            <a:pPr>
              <a:buFont typeface="Wingdings" pitchFamily="2" charset="2"/>
              <a:buNone/>
            </a:pPr>
            <a:r>
              <a:rPr lang="en-US" altLang="en-US" sz="2400" b="1" dirty="0">
                <a:solidFill>
                  <a:srgbClr val="FF0000"/>
                </a:solidFill>
                <a:latin typeface="Times New Roman" pitchFamily="18" charset="0"/>
                <a:cs typeface="Times New Roman" pitchFamily="18" charset="0"/>
              </a:rPr>
              <a:t>&lt;</a:t>
            </a:r>
            <a:r>
              <a:rPr lang="en-US" altLang="en-US" sz="2400" b="1" dirty="0" err="1">
                <a:solidFill>
                  <a:srgbClr val="FF0000"/>
                </a:solidFill>
                <a:latin typeface="Times New Roman" pitchFamily="18" charset="0"/>
                <a:cs typeface="Times New Roman" pitchFamily="18" charset="0"/>
              </a:rPr>
              <a:t>ol</a:t>
            </a:r>
            <a:r>
              <a:rPr lang="en-US" altLang="en-US" sz="2400" b="1" dirty="0">
                <a:solidFill>
                  <a:srgbClr val="FF0000"/>
                </a:solidFill>
                <a:latin typeface="Times New Roman" pitchFamily="18" charset="0"/>
                <a:cs typeface="Times New Roman" pitchFamily="18" charset="0"/>
              </a:rPr>
              <a:t> type=“1”&gt;</a:t>
            </a:r>
          </a:p>
          <a:p>
            <a:pPr>
              <a:buFont typeface="Wingdings" pitchFamily="2" charset="2"/>
              <a:buNone/>
            </a:pPr>
            <a:r>
              <a:rPr lang="en-US" altLang="en-US" sz="2400" b="1" dirty="0">
                <a:latin typeface="Times New Roman" pitchFamily="18" charset="0"/>
                <a:cs typeface="Times New Roman" pitchFamily="18" charset="0"/>
              </a:rPr>
              <a:t>&lt;</a:t>
            </a:r>
            <a:r>
              <a:rPr lang="en-US" altLang="en-US" sz="2400" b="1" dirty="0" err="1">
                <a:latin typeface="Times New Roman" pitchFamily="18" charset="0"/>
                <a:cs typeface="Times New Roman" pitchFamily="18" charset="0"/>
              </a:rPr>
              <a:t>li</a:t>
            </a:r>
            <a:r>
              <a:rPr lang="en-US" altLang="en-US" sz="2400" b="1" dirty="0">
                <a:latin typeface="Times New Roman" pitchFamily="18" charset="0"/>
                <a:cs typeface="Times New Roman" pitchFamily="18" charset="0"/>
              </a:rPr>
              <a:t>&gt;</a:t>
            </a:r>
            <a:r>
              <a:rPr lang="en-US" altLang="en-US" sz="2400" b="1" dirty="0" err="1">
                <a:latin typeface="Times New Roman" pitchFamily="18" charset="0"/>
                <a:cs typeface="Times New Roman" pitchFamily="18" charset="0"/>
              </a:rPr>
              <a:t>Sachin</a:t>
            </a:r>
            <a:r>
              <a:rPr lang="en-US" altLang="en-US" sz="2400" b="1" dirty="0">
                <a:latin typeface="Times New Roman" pitchFamily="18" charset="0"/>
                <a:cs typeface="Times New Roman" pitchFamily="18" charset="0"/>
              </a:rPr>
              <a:t>&lt;/</a:t>
            </a:r>
            <a:r>
              <a:rPr lang="en-US" altLang="en-US" sz="2400" b="1" dirty="0" err="1">
                <a:latin typeface="Times New Roman" pitchFamily="18" charset="0"/>
                <a:cs typeface="Times New Roman" pitchFamily="18" charset="0"/>
              </a:rPr>
              <a:t>li</a:t>
            </a:r>
            <a:r>
              <a:rPr lang="en-US" altLang="en-US" sz="2400" b="1" dirty="0">
                <a:latin typeface="Times New Roman" pitchFamily="18" charset="0"/>
                <a:cs typeface="Times New Roman" pitchFamily="18" charset="0"/>
              </a:rPr>
              <a:t>&gt;</a:t>
            </a:r>
          </a:p>
          <a:p>
            <a:pPr>
              <a:buFont typeface="Wingdings" pitchFamily="2" charset="2"/>
              <a:buNone/>
            </a:pPr>
            <a:r>
              <a:rPr lang="en-US" altLang="en-US" sz="2400" b="1" dirty="0">
                <a:latin typeface="Times New Roman" pitchFamily="18" charset="0"/>
                <a:cs typeface="Times New Roman" pitchFamily="18" charset="0"/>
              </a:rPr>
              <a:t>&lt;</a:t>
            </a:r>
            <a:r>
              <a:rPr lang="en-US" altLang="en-US" sz="2400" b="1" dirty="0" err="1">
                <a:latin typeface="Times New Roman" pitchFamily="18" charset="0"/>
                <a:cs typeface="Times New Roman" pitchFamily="18" charset="0"/>
              </a:rPr>
              <a:t>li</a:t>
            </a:r>
            <a:r>
              <a:rPr lang="en-US" altLang="en-US" sz="2400" b="1" dirty="0">
                <a:latin typeface="Times New Roman" pitchFamily="18" charset="0"/>
                <a:cs typeface="Times New Roman" pitchFamily="18" charset="0"/>
              </a:rPr>
              <a:t>&gt;</a:t>
            </a:r>
            <a:r>
              <a:rPr lang="en-US" altLang="en-US" sz="2400" b="1" dirty="0" err="1">
                <a:latin typeface="Times New Roman" pitchFamily="18" charset="0"/>
                <a:cs typeface="Times New Roman" pitchFamily="18" charset="0"/>
              </a:rPr>
              <a:t>Dravid</a:t>
            </a:r>
            <a:r>
              <a:rPr lang="en-US" altLang="en-US" sz="2400" b="1" dirty="0">
                <a:latin typeface="Times New Roman" pitchFamily="18" charset="0"/>
                <a:cs typeface="Times New Roman" pitchFamily="18" charset="0"/>
              </a:rPr>
              <a:t>&lt;/</a:t>
            </a:r>
            <a:r>
              <a:rPr lang="en-US" altLang="en-US" sz="2400" b="1" dirty="0" err="1">
                <a:latin typeface="Times New Roman" pitchFamily="18" charset="0"/>
                <a:cs typeface="Times New Roman" pitchFamily="18" charset="0"/>
              </a:rPr>
              <a:t>li</a:t>
            </a:r>
            <a:r>
              <a:rPr lang="en-US" altLang="en-US" sz="2400" b="1" dirty="0">
                <a:latin typeface="Times New Roman" pitchFamily="18" charset="0"/>
                <a:cs typeface="Times New Roman" pitchFamily="18" charset="0"/>
              </a:rPr>
              <a:t>&gt;</a:t>
            </a:r>
          </a:p>
          <a:p>
            <a:pPr>
              <a:buFont typeface="Wingdings" pitchFamily="2" charset="2"/>
              <a:buNone/>
            </a:pPr>
            <a:r>
              <a:rPr lang="en-US" altLang="en-US" sz="2400" b="1" dirty="0">
                <a:latin typeface="Times New Roman" pitchFamily="18" charset="0"/>
                <a:cs typeface="Times New Roman" pitchFamily="18" charset="0"/>
              </a:rPr>
              <a:t>&lt;</a:t>
            </a:r>
            <a:r>
              <a:rPr lang="en-US" altLang="en-US" sz="2400" b="1" dirty="0" err="1">
                <a:latin typeface="Times New Roman" pitchFamily="18" charset="0"/>
                <a:cs typeface="Times New Roman" pitchFamily="18" charset="0"/>
              </a:rPr>
              <a:t>li</a:t>
            </a:r>
            <a:r>
              <a:rPr lang="en-US" altLang="en-US" sz="2400" b="1" dirty="0">
                <a:latin typeface="Times New Roman" pitchFamily="18" charset="0"/>
                <a:cs typeface="Times New Roman" pitchFamily="18" charset="0"/>
              </a:rPr>
              <a:t>&gt;</a:t>
            </a:r>
            <a:r>
              <a:rPr lang="en-US" altLang="en-US" sz="2400" b="1" dirty="0" err="1">
                <a:latin typeface="Times New Roman" pitchFamily="18" charset="0"/>
                <a:cs typeface="Times New Roman" pitchFamily="18" charset="0"/>
              </a:rPr>
              <a:t>Ganguly</a:t>
            </a:r>
            <a:r>
              <a:rPr lang="en-US" altLang="en-US" sz="2400" b="1" dirty="0">
                <a:latin typeface="Times New Roman" pitchFamily="18" charset="0"/>
                <a:cs typeface="Times New Roman" pitchFamily="18" charset="0"/>
              </a:rPr>
              <a:t>&lt;/</a:t>
            </a:r>
            <a:r>
              <a:rPr lang="en-US" altLang="en-US" sz="2400" b="1" dirty="0" err="1">
                <a:latin typeface="Times New Roman" pitchFamily="18" charset="0"/>
                <a:cs typeface="Times New Roman" pitchFamily="18" charset="0"/>
              </a:rPr>
              <a:t>li</a:t>
            </a:r>
            <a:r>
              <a:rPr lang="en-US" altLang="en-US" sz="2400" b="1" dirty="0">
                <a:latin typeface="Times New Roman" pitchFamily="18" charset="0"/>
                <a:cs typeface="Times New Roman" pitchFamily="18" charset="0"/>
              </a:rPr>
              <a:t>&gt;</a:t>
            </a:r>
          </a:p>
          <a:p>
            <a:pPr>
              <a:buFont typeface="Wingdings" pitchFamily="2" charset="2"/>
              <a:buNone/>
            </a:pPr>
            <a:r>
              <a:rPr lang="en-US" altLang="en-US" sz="2400" b="1" dirty="0">
                <a:latin typeface="Times New Roman" pitchFamily="18" charset="0"/>
                <a:cs typeface="Times New Roman" pitchFamily="18" charset="0"/>
              </a:rPr>
              <a:t>&lt;/</a:t>
            </a:r>
            <a:r>
              <a:rPr lang="en-US" altLang="en-US" sz="2400" b="1" dirty="0" err="1">
                <a:latin typeface="Times New Roman" pitchFamily="18" charset="0"/>
                <a:cs typeface="Times New Roman" pitchFamily="18" charset="0"/>
              </a:rPr>
              <a:t>ol</a:t>
            </a:r>
            <a:r>
              <a:rPr lang="en-US" altLang="en-US" sz="2400" b="1" dirty="0">
                <a:latin typeface="Times New Roman" pitchFamily="18" charset="0"/>
                <a:cs typeface="Times New Roman" pitchFamily="18" charset="0"/>
              </a:rPr>
              <a:t>&gt;</a:t>
            </a:r>
          </a:p>
          <a:p>
            <a:pPr>
              <a:buFont typeface="Wingdings" pitchFamily="2" charset="2"/>
              <a:buNone/>
            </a:pPr>
            <a:r>
              <a:rPr lang="en-US" altLang="en-US" sz="2400" b="1" dirty="0">
                <a:latin typeface="Times New Roman" pitchFamily="18" charset="0"/>
                <a:cs typeface="Times New Roman" pitchFamily="18" charset="0"/>
              </a:rPr>
              <a:t>&lt;/body&gt;</a:t>
            </a:r>
          </a:p>
          <a:p>
            <a:pPr>
              <a:buFont typeface="Wingdings" pitchFamily="2" charset="2"/>
              <a:buNone/>
            </a:pPr>
            <a:r>
              <a:rPr lang="en-US" altLang="en-US" sz="2400" b="1" dirty="0">
                <a:latin typeface="Times New Roman" pitchFamily="18" charset="0"/>
                <a:cs typeface="Times New Roman" pitchFamily="18" charset="0"/>
              </a:rPr>
              <a:t>&lt;/html&gt;</a:t>
            </a:r>
          </a:p>
          <a:p>
            <a:pPr>
              <a:buFont typeface="Wingdings" pitchFamily="2" charset="2"/>
              <a:buNone/>
            </a:pPr>
            <a:r>
              <a:rPr lang="en-US" altLang="en-US" sz="2400" b="1" dirty="0">
                <a:latin typeface="Times New Roman" pitchFamily="18" charset="0"/>
                <a:cs typeface="Times New Roman" pitchFamily="18" charset="0"/>
              </a:rPr>
              <a:t> </a:t>
            </a:r>
          </a:p>
          <a:p>
            <a:pPr>
              <a:buFont typeface="Wingdings" pitchFamily="2" charset="2"/>
              <a:buNone/>
            </a:pPr>
            <a:endParaRPr lang="en-US" altLang="en-US" sz="2400" b="1" dirty="0">
              <a:latin typeface="Times New Roman" pitchFamily="18" charset="0"/>
              <a:cs typeface="Times New Roman" pitchFamily="18" charset="0"/>
            </a:endParaRPr>
          </a:p>
        </p:txBody>
      </p:sp>
    </p:spTree>
    <p:extLst>
      <p:ext uri="{BB962C8B-B14F-4D97-AF65-F5344CB8AC3E}">
        <p14:creationId xmlns:p14="http://schemas.microsoft.com/office/powerpoint/2010/main" val="1181364791"/>
      </p:ext>
    </p:extLst>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1981200" y="274638"/>
            <a:ext cx="8229600" cy="639762"/>
          </a:xfrm>
        </p:spPr>
        <p:txBody>
          <a:bodyPr>
            <a:normAutofit/>
          </a:bodyPr>
          <a:lstStyle/>
          <a:p>
            <a:pPr algn="l"/>
            <a:r>
              <a:rPr lang="en-US" altLang="en-US" sz="3200" dirty="0">
                <a:solidFill>
                  <a:srgbClr val="0070C0"/>
                </a:solidFill>
                <a:latin typeface="Times New Roman" pitchFamily="18" charset="0"/>
                <a:cs typeface="Times New Roman" pitchFamily="18" charset="0"/>
              </a:rPr>
              <a:t>3. Definition Lists</a:t>
            </a:r>
          </a:p>
        </p:txBody>
      </p:sp>
      <p:sp>
        <p:nvSpPr>
          <p:cNvPr id="23555" name="Content Placeholder 2"/>
          <p:cNvSpPr>
            <a:spLocks noGrp="1"/>
          </p:cNvSpPr>
          <p:nvPr>
            <p:ph idx="1"/>
          </p:nvPr>
        </p:nvSpPr>
        <p:spPr>
          <a:xfrm>
            <a:off x="1981198" y="990601"/>
            <a:ext cx="8534402" cy="5135563"/>
          </a:xfrm>
        </p:spPr>
        <p:txBody>
          <a:bodyPr>
            <a:noAutofit/>
          </a:bodyPr>
          <a:lstStyle/>
          <a:p>
            <a:pPr algn="just">
              <a:spcBef>
                <a:spcPts val="0"/>
              </a:spcBef>
              <a:spcAft>
                <a:spcPts val="1000"/>
              </a:spcAft>
              <a:buSzPct val="45000"/>
              <a:buFont typeface="Wingdings" charset="2"/>
              <a:buChar char=""/>
            </a:pPr>
            <a:r>
              <a:rPr lang="en-IN" sz="2400" dirty="0">
                <a:latin typeface="Times New Roman" pitchFamily="18" charset="0"/>
                <a:cs typeface="Times New Roman" pitchFamily="18" charset="0"/>
              </a:rPr>
              <a:t>A definition list is a list of items , with a description of each item </a:t>
            </a:r>
          </a:p>
          <a:p>
            <a:pPr algn="just">
              <a:spcBef>
                <a:spcPts val="0"/>
              </a:spcBef>
              <a:spcAft>
                <a:spcPts val="1000"/>
              </a:spcAft>
              <a:buSzPct val="45000"/>
              <a:buFont typeface="Wingdings" charset="2"/>
              <a:buChar char=""/>
            </a:pPr>
            <a:r>
              <a:rPr lang="en-IN" sz="2400" dirty="0">
                <a:latin typeface="Times New Roman" pitchFamily="18" charset="0"/>
                <a:cs typeface="Times New Roman" pitchFamily="18" charset="0"/>
              </a:rPr>
              <a:t> A definition list starts with a &lt;dl&gt; tag (definition list).</a:t>
            </a:r>
          </a:p>
          <a:p>
            <a:pPr algn="just">
              <a:spcBef>
                <a:spcPts val="0"/>
              </a:spcBef>
              <a:spcAft>
                <a:spcPts val="1000"/>
              </a:spcAft>
              <a:buSzPct val="45000"/>
              <a:buFont typeface="Wingdings" charset="2"/>
              <a:buChar char=""/>
            </a:pPr>
            <a:r>
              <a:rPr lang="en-IN" sz="2400" dirty="0">
                <a:latin typeface="Times New Roman" pitchFamily="18" charset="0"/>
                <a:cs typeface="Times New Roman" pitchFamily="18" charset="0"/>
              </a:rPr>
              <a:t> Each term starts with a &lt;</a:t>
            </a:r>
            <a:r>
              <a:rPr lang="en-IN" sz="2400" dirty="0" err="1">
                <a:latin typeface="Times New Roman" pitchFamily="18" charset="0"/>
                <a:cs typeface="Times New Roman" pitchFamily="18" charset="0"/>
              </a:rPr>
              <a:t>dt</a:t>
            </a:r>
            <a:r>
              <a:rPr lang="en-IN" sz="2400" dirty="0">
                <a:latin typeface="Times New Roman" pitchFamily="18" charset="0"/>
                <a:cs typeface="Times New Roman" pitchFamily="18" charset="0"/>
              </a:rPr>
              <a:t>&gt; tag (definition term).</a:t>
            </a:r>
          </a:p>
          <a:p>
            <a:pPr algn="just">
              <a:spcBef>
                <a:spcPts val="0"/>
              </a:spcBef>
              <a:spcAft>
                <a:spcPts val="1000"/>
              </a:spcAft>
              <a:buSzPct val="45000"/>
              <a:buFont typeface="Wingdings" charset="2"/>
              <a:buChar char=""/>
            </a:pPr>
            <a:r>
              <a:rPr lang="en-IN" sz="2400" dirty="0">
                <a:latin typeface="Times New Roman" pitchFamily="18" charset="0"/>
                <a:cs typeface="Times New Roman" pitchFamily="18" charset="0"/>
              </a:rPr>
              <a:t> Each description starts with a &lt;</a:t>
            </a:r>
            <a:r>
              <a:rPr lang="en-IN" sz="2400" dirty="0" err="1">
                <a:latin typeface="Times New Roman" pitchFamily="18" charset="0"/>
                <a:cs typeface="Times New Roman" pitchFamily="18" charset="0"/>
              </a:rPr>
              <a:t>dd</a:t>
            </a:r>
            <a:r>
              <a:rPr lang="en-IN" sz="2400" dirty="0">
                <a:latin typeface="Times New Roman" pitchFamily="18" charset="0"/>
                <a:cs typeface="Times New Roman" pitchFamily="18" charset="0"/>
              </a:rPr>
              <a:t>&gt; tag (definition description).</a:t>
            </a:r>
          </a:p>
          <a:p>
            <a:pPr eaLnBrk="0" hangingPunct="0">
              <a:lnSpc>
                <a:spcPct val="110000"/>
              </a:lnSpc>
              <a:buClr>
                <a:schemeClr val="accent5">
                  <a:lumMod val="40000"/>
                  <a:lumOff val="60000"/>
                </a:schemeClr>
              </a:buClr>
              <a:buSzPct val="70000"/>
              <a:defRPr/>
            </a:pPr>
            <a:r>
              <a:rPr lang="en-US" sz="2200" b="1" noProof="1">
                <a:solidFill>
                  <a:srgbClr val="FF0000"/>
                </a:solidFill>
                <a:effectLst>
                  <a:outerShdw blurRad="38100" dist="38100" dir="2700000" algn="tl">
                    <a:srgbClr val="000000">
                      <a:alpha val="43137"/>
                    </a:srgbClr>
                  </a:outerShdw>
                </a:effectLst>
                <a:latin typeface="Consolas" pitchFamily="49" charset="0"/>
                <a:cs typeface="Consolas" pitchFamily="49" charset="0"/>
              </a:rPr>
              <a:t>&lt;dl&gt;</a:t>
            </a:r>
          </a:p>
          <a:p>
            <a:pPr lvl="1" eaLnBrk="0" hangingPunct="0">
              <a:lnSpc>
                <a:spcPct val="110000"/>
              </a:lnSpc>
              <a:buClr>
                <a:schemeClr val="accent5">
                  <a:lumMod val="40000"/>
                  <a:lumOff val="60000"/>
                </a:schemeClr>
              </a:buClr>
              <a:buSzPct val="70000"/>
              <a:defRPr/>
            </a:pPr>
            <a:r>
              <a:rPr lang="en-US" sz="2200" b="1" noProof="1">
                <a:solidFill>
                  <a:srgbClr val="FF0000"/>
                </a:solidFill>
                <a:effectLst>
                  <a:outerShdw blurRad="38100" dist="38100" dir="2700000" algn="tl">
                    <a:srgbClr val="000000">
                      <a:alpha val="43137"/>
                    </a:srgbClr>
                  </a:outerShdw>
                </a:effectLst>
                <a:latin typeface="Consolas" pitchFamily="49" charset="0"/>
                <a:cs typeface="Consolas" pitchFamily="49" charset="0"/>
              </a:rPr>
              <a:t>&lt;dt&gt;HTML&lt;/dt&gt;</a:t>
            </a:r>
          </a:p>
          <a:p>
            <a:pPr lvl="1" eaLnBrk="0" hangingPunct="0">
              <a:lnSpc>
                <a:spcPct val="110000"/>
              </a:lnSpc>
              <a:buClr>
                <a:schemeClr val="accent5">
                  <a:lumMod val="40000"/>
                  <a:lumOff val="60000"/>
                </a:schemeClr>
              </a:buClr>
              <a:buSzPct val="70000"/>
              <a:defRPr/>
            </a:pPr>
            <a:r>
              <a:rPr lang="en-US" sz="2200" b="1" noProof="1">
                <a:solidFill>
                  <a:srgbClr val="FF0000"/>
                </a:solidFill>
                <a:effectLst>
                  <a:outerShdw blurRad="38100" dist="38100" dir="2700000" algn="tl">
                    <a:srgbClr val="000000">
                      <a:alpha val="43137"/>
                    </a:srgbClr>
                  </a:outerShdw>
                </a:effectLst>
                <a:latin typeface="Consolas" pitchFamily="49" charset="0"/>
                <a:cs typeface="Consolas" pitchFamily="49" charset="0"/>
              </a:rPr>
              <a:t>&lt;dd&gt;A markup language …&lt;/dd&gt;</a:t>
            </a:r>
          </a:p>
          <a:p>
            <a:pPr lvl="1" eaLnBrk="0" hangingPunct="0">
              <a:lnSpc>
                <a:spcPct val="110000"/>
              </a:lnSpc>
              <a:buClr>
                <a:schemeClr val="accent5">
                  <a:lumMod val="40000"/>
                  <a:lumOff val="60000"/>
                </a:schemeClr>
              </a:buClr>
              <a:buSzPct val="70000"/>
              <a:defRPr/>
            </a:pPr>
            <a:r>
              <a:rPr lang="en-US" sz="2200" b="1" noProof="1">
                <a:solidFill>
                  <a:srgbClr val="FF0000"/>
                </a:solidFill>
                <a:effectLst>
                  <a:outerShdw blurRad="38100" dist="38100" dir="2700000" algn="tl">
                    <a:srgbClr val="000000">
                      <a:alpha val="43137"/>
                    </a:srgbClr>
                  </a:outerShdw>
                </a:effectLst>
                <a:latin typeface="Consolas" pitchFamily="49" charset="0"/>
                <a:cs typeface="Consolas" pitchFamily="49" charset="0"/>
              </a:rPr>
              <a:t>&lt;dt&gt;CSS&lt;/dt&gt;</a:t>
            </a:r>
          </a:p>
          <a:p>
            <a:pPr lvl="1" eaLnBrk="0" hangingPunct="0">
              <a:lnSpc>
                <a:spcPct val="110000"/>
              </a:lnSpc>
              <a:buClr>
                <a:schemeClr val="accent5">
                  <a:lumMod val="40000"/>
                  <a:lumOff val="60000"/>
                </a:schemeClr>
              </a:buClr>
              <a:buSzPct val="70000"/>
              <a:defRPr/>
            </a:pPr>
            <a:r>
              <a:rPr lang="en-US" sz="2200" b="1" noProof="1">
                <a:solidFill>
                  <a:srgbClr val="FF0000"/>
                </a:solidFill>
                <a:effectLst>
                  <a:outerShdw blurRad="38100" dist="38100" dir="2700000" algn="tl">
                    <a:srgbClr val="000000">
                      <a:alpha val="43137"/>
                    </a:srgbClr>
                  </a:outerShdw>
                </a:effectLst>
                <a:latin typeface="Consolas" pitchFamily="49" charset="0"/>
                <a:cs typeface="Consolas" pitchFamily="49" charset="0"/>
              </a:rPr>
              <a:t>&lt;dd&gt;Language used to …&lt;/dd&gt;</a:t>
            </a:r>
          </a:p>
          <a:p>
            <a:pPr eaLnBrk="0" hangingPunct="0">
              <a:lnSpc>
                <a:spcPct val="110000"/>
              </a:lnSpc>
              <a:buClr>
                <a:schemeClr val="accent5">
                  <a:lumMod val="40000"/>
                  <a:lumOff val="60000"/>
                </a:schemeClr>
              </a:buClr>
              <a:buSzPct val="70000"/>
              <a:defRPr/>
            </a:pPr>
            <a:r>
              <a:rPr lang="en-US" sz="2200" b="1" noProof="1">
                <a:solidFill>
                  <a:srgbClr val="FF0000"/>
                </a:solidFill>
                <a:effectLst>
                  <a:outerShdw blurRad="38100" dist="38100" dir="2700000" algn="tl">
                    <a:srgbClr val="000000">
                      <a:alpha val="43137"/>
                    </a:srgbClr>
                  </a:outerShdw>
                </a:effectLst>
                <a:latin typeface="Consolas" pitchFamily="49" charset="0"/>
                <a:cs typeface="Consolas" pitchFamily="49" charset="0"/>
              </a:rPr>
              <a:t>&lt;/dl&gt;</a:t>
            </a:r>
          </a:p>
          <a:p>
            <a:pPr algn="just">
              <a:spcBef>
                <a:spcPts val="0"/>
              </a:spcBef>
              <a:buNone/>
            </a:pPr>
            <a:endParaRPr lang="en-US" alt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2288895865"/>
      </p:ext>
    </p:extLst>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133350" y="98425"/>
            <a:ext cx="2009775" cy="339725"/>
          </a:xfrm>
        </p:spPr>
        <p:txBody>
          <a:bodyPr>
            <a:normAutofit fontScale="90000"/>
          </a:bodyPr>
          <a:lstStyle/>
          <a:p>
            <a:pPr algn="l"/>
            <a:r>
              <a:rPr lang="en-US" altLang="en-US" sz="3200" b="1" dirty="0">
                <a:solidFill>
                  <a:srgbClr val="0070C0"/>
                </a:solidFill>
                <a:latin typeface="Times New Roman" pitchFamily="18" charset="0"/>
                <a:cs typeface="Times New Roman" pitchFamily="18" charset="0"/>
              </a:rPr>
              <a:t>Example:</a:t>
            </a:r>
          </a:p>
        </p:txBody>
      </p:sp>
      <p:sp>
        <p:nvSpPr>
          <p:cNvPr id="24580" name="Content Placeholder 2"/>
          <p:cNvSpPr>
            <a:spLocks noGrp="1"/>
          </p:cNvSpPr>
          <p:nvPr>
            <p:ph idx="1"/>
          </p:nvPr>
        </p:nvSpPr>
        <p:spPr>
          <a:xfrm>
            <a:off x="1876425" y="98425"/>
            <a:ext cx="8229600" cy="5232748"/>
          </a:xfrm>
        </p:spPr>
        <p:txBody>
          <a:bodyPr>
            <a:noAutofit/>
          </a:bodyPr>
          <a:lstStyle/>
          <a:p>
            <a:pPr>
              <a:lnSpc>
                <a:spcPct val="100000"/>
              </a:lnSpc>
              <a:buFont typeface="Wingdings" pitchFamily="2" charset="2"/>
              <a:buNone/>
            </a:pPr>
            <a:r>
              <a:rPr lang="en-US" altLang="en-US" sz="1600" dirty="0">
                <a:latin typeface="Times New Roman" pitchFamily="18" charset="0"/>
                <a:cs typeface="Times New Roman" pitchFamily="18" charset="0"/>
              </a:rPr>
              <a:t>&lt;html&gt;</a:t>
            </a:r>
          </a:p>
          <a:p>
            <a:pPr>
              <a:lnSpc>
                <a:spcPct val="100000"/>
              </a:lnSpc>
              <a:buFont typeface="Wingdings" pitchFamily="2" charset="2"/>
              <a:buNone/>
            </a:pPr>
            <a:r>
              <a:rPr lang="en-US" altLang="en-US" sz="1600" dirty="0">
                <a:latin typeface="Times New Roman" pitchFamily="18" charset="0"/>
                <a:cs typeface="Times New Roman" pitchFamily="18" charset="0"/>
              </a:rPr>
              <a:t>&lt;body&gt;</a:t>
            </a:r>
          </a:p>
          <a:p>
            <a:pPr>
              <a:lnSpc>
                <a:spcPct val="100000"/>
              </a:lnSpc>
              <a:buFont typeface="Wingdings" pitchFamily="2" charset="2"/>
              <a:buNone/>
            </a:pPr>
            <a:r>
              <a:rPr lang="en-US" altLang="en-US" sz="1600" dirty="0">
                <a:latin typeface="Times New Roman" pitchFamily="18" charset="0"/>
                <a:cs typeface="Times New Roman" pitchFamily="18" charset="0"/>
              </a:rPr>
              <a:t>&lt;</a:t>
            </a:r>
            <a:r>
              <a:rPr lang="en-US" altLang="en-US" sz="1600" dirty="0" err="1">
                <a:latin typeface="Times New Roman" pitchFamily="18" charset="0"/>
                <a:cs typeface="Times New Roman" pitchFamily="18" charset="0"/>
              </a:rPr>
              <a:t>ol</a:t>
            </a:r>
            <a:r>
              <a:rPr lang="en-US" altLang="en-US" sz="1600" dirty="0">
                <a:latin typeface="Times New Roman" pitchFamily="18" charset="0"/>
                <a:cs typeface="Times New Roman" pitchFamily="18" charset="0"/>
              </a:rPr>
              <a:t> type="1"&gt;</a:t>
            </a:r>
          </a:p>
          <a:p>
            <a:pPr>
              <a:lnSpc>
                <a:spcPct val="100000"/>
              </a:lnSpc>
              <a:buFont typeface="Wingdings" pitchFamily="2" charset="2"/>
              <a:buNone/>
            </a:pPr>
            <a:r>
              <a:rPr lang="en-US" altLang="en-US" sz="1600" dirty="0">
                <a:latin typeface="Times New Roman" pitchFamily="18" charset="0"/>
                <a:cs typeface="Times New Roman" pitchFamily="18" charset="0"/>
              </a:rPr>
              <a:t>    &lt;li&gt;Apple&lt;/li&gt;</a:t>
            </a:r>
          </a:p>
          <a:p>
            <a:pPr>
              <a:lnSpc>
                <a:spcPct val="100000"/>
              </a:lnSpc>
              <a:buFont typeface="Wingdings" pitchFamily="2" charset="2"/>
              <a:buNone/>
            </a:pPr>
            <a:r>
              <a:rPr lang="en-US" altLang="en-US" sz="1600" dirty="0">
                <a:latin typeface="Times New Roman" pitchFamily="18" charset="0"/>
                <a:cs typeface="Times New Roman" pitchFamily="18" charset="0"/>
              </a:rPr>
              <a:t>    &lt;li&gt;Orange&lt;/li&gt;</a:t>
            </a:r>
          </a:p>
          <a:p>
            <a:pPr>
              <a:lnSpc>
                <a:spcPct val="100000"/>
              </a:lnSpc>
              <a:buFont typeface="Wingdings" pitchFamily="2" charset="2"/>
              <a:buNone/>
            </a:pPr>
            <a:r>
              <a:rPr lang="en-US" altLang="en-US" sz="1600" dirty="0">
                <a:latin typeface="Times New Roman" pitchFamily="18" charset="0"/>
                <a:cs typeface="Times New Roman" pitchFamily="18" charset="0"/>
              </a:rPr>
              <a:t>    &lt;li&gt;Grapefruit&lt;/li&gt;</a:t>
            </a:r>
          </a:p>
          <a:p>
            <a:pPr>
              <a:lnSpc>
                <a:spcPct val="100000"/>
              </a:lnSpc>
              <a:buFont typeface="Wingdings" pitchFamily="2" charset="2"/>
              <a:buNone/>
            </a:pPr>
            <a:r>
              <a:rPr lang="en-US" altLang="en-US" sz="1600" dirty="0">
                <a:latin typeface="Times New Roman" pitchFamily="18" charset="0"/>
                <a:cs typeface="Times New Roman" pitchFamily="18" charset="0"/>
              </a:rPr>
              <a:t>&lt;/</a:t>
            </a:r>
            <a:r>
              <a:rPr lang="en-US" altLang="en-US" sz="1600" dirty="0" err="1">
                <a:latin typeface="Times New Roman" pitchFamily="18" charset="0"/>
                <a:cs typeface="Times New Roman" pitchFamily="18" charset="0"/>
              </a:rPr>
              <a:t>ol</a:t>
            </a:r>
            <a:r>
              <a:rPr lang="en-US" altLang="en-US" sz="1600" dirty="0">
                <a:latin typeface="Times New Roman" pitchFamily="18" charset="0"/>
                <a:cs typeface="Times New Roman" pitchFamily="18" charset="0"/>
              </a:rPr>
              <a:t>&gt;</a:t>
            </a:r>
          </a:p>
          <a:p>
            <a:pPr>
              <a:lnSpc>
                <a:spcPct val="100000"/>
              </a:lnSpc>
              <a:buFont typeface="Wingdings" pitchFamily="2" charset="2"/>
              <a:buNone/>
            </a:pPr>
            <a:r>
              <a:rPr lang="en-US" altLang="en-US" sz="1600" dirty="0">
                <a:latin typeface="Times New Roman" pitchFamily="18" charset="0"/>
                <a:cs typeface="Times New Roman" pitchFamily="18" charset="0"/>
              </a:rPr>
              <a:t>&lt;</a:t>
            </a:r>
            <a:r>
              <a:rPr lang="en-US" altLang="en-US" sz="1600" dirty="0" err="1">
                <a:latin typeface="Times New Roman" pitchFamily="18" charset="0"/>
                <a:cs typeface="Times New Roman" pitchFamily="18" charset="0"/>
              </a:rPr>
              <a:t>ul</a:t>
            </a:r>
            <a:r>
              <a:rPr lang="en-US" altLang="en-US" sz="1600" dirty="0">
                <a:latin typeface="Times New Roman" pitchFamily="18" charset="0"/>
                <a:cs typeface="Times New Roman" pitchFamily="18" charset="0"/>
              </a:rPr>
              <a:t> type="disc"&gt;</a:t>
            </a:r>
          </a:p>
          <a:p>
            <a:pPr>
              <a:lnSpc>
                <a:spcPct val="100000"/>
              </a:lnSpc>
              <a:buFont typeface="Wingdings" pitchFamily="2" charset="2"/>
              <a:buNone/>
            </a:pPr>
            <a:r>
              <a:rPr lang="en-US" altLang="en-US" sz="1600" dirty="0">
                <a:latin typeface="Times New Roman" pitchFamily="18" charset="0"/>
                <a:cs typeface="Times New Roman" pitchFamily="18" charset="0"/>
              </a:rPr>
              <a:t>    &lt;li&gt;Apple&lt;/li&gt;</a:t>
            </a:r>
          </a:p>
          <a:p>
            <a:pPr>
              <a:lnSpc>
                <a:spcPct val="100000"/>
              </a:lnSpc>
              <a:buFont typeface="Wingdings" pitchFamily="2" charset="2"/>
              <a:buNone/>
            </a:pPr>
            <a:r>
              <a:rPr lang="en-US" altLang="en-US" sz="1600" dirty="0">
                <a:latin typeface="Times New Roman" pitchFamily="18" charset="0"/>
                <a:cs typeface="Times New Roman" pitchFamily="18" charset="0"/>
              </a:rPr>
              <a:t>    &lt;li&gt;Orange&lt;/li&gt;</a:t>
            </a:r>
          </a:p>
          <a:p>
            <a:pPr>
              <a:lnSpc>
                <a:spcPct val="100000"/>
              </a:lnSpc>
              <a:buFont typeface="Wingdings" pitchFamily="2" charset="2"/>
              <a:buNone/>
            </a:pPr>
            <a:r>
              <a:rPr lang="en-US" altLang="en-US" sz="1600" dirty="0">
                <a:latin typeface="Times New Roman" pitchFamily="18" charset="0"/>
                <a:cs typeface="Times New Roman" pitchFamily="18" charset="0"/>
              </a:rPr>
              <a:t>    &lt;li&gt;Grapefruit&lt;/li&gt;</a:t>
            </a:r>
          </a:p>
          <a:p>
            <a:pPr>
              <a:lnSpc>
                <a:spcPct val="100000"/>
              </a:lnSpc>
              <a:buFont typeface="Wingdings" pitchFamily="2" charset="2"/>
              <a:buNone/>
            </a:pPr>
            <a:r>
              <a:rPr lang="en-US" altLang="en-US" sz="1600" dirty="0">
                <a:latin typeface="Times New Roman" pitchFamily="18" charset="0"/>
                <a:cs typeface="Times New Roman" pitchFamily="18" charset="0"/>
              </a:rPr>
              <a:t>&lt;/</a:t>
            </a:r>
            <a:r>
              <a:rPr lang="en-US" altLang="en-US" sz="1600" dirty="0" err="1">
                <a:latin typeface="Times New Roman" pitchFamily="18" charset="0"/>
                <a:cs typeface="Times New Roman" pitchFamily="18" charset="0"/>
              </a:rPr>
              <a:t>ul</a:t>
            </a:r>
            <a:r>
              <a:rPr lang="en-US" altLang="en-US" sz="1600" dirty="0" smtClean="0">
                <a:latin typeface="Times New Roman" pitchFamily="18" charset="0"/>
                <a:cs typeface="Times New Roman" pitchFamily="18" charset="0"/>
              </a:rPr>
              <a:t>&gt;&lt;</a:t>
            </a:r>
            <a:r>
              <a:rPr lang="en-US" altLang="en-US" sz="1600" dirty="0">
                <a:latin typeface="Times New Roman" pitchFamily="18" charset="0"/>
                <a:cs typeface="Times New Roman" pitchFamily="18" charset="0"/>
              </a:rPr>
              <a:t>dl&gt;</a:t>
            </a:r>
          </a:p>
          <a:p>
            <a:pPr>
              <a:lnSpc>
                <a:spcPct val="100000"/>
              </a:lnSpc>
              <a:buFont typeface="Wingdings" pitchFamily="2" charset="2"/>
              <a:buNone/>
            </a:pPr>
            <a:r>
              <a:rPr lang="en-US" altLang="en-US" sz="1600" dirty="0">
                <a:latin typeface="Times New Roman" pitchFamily="18" charset="0"/>
                <a:cs typeface="Times New Roman" pitchFamily="18" charset="0"/>
              </a:rPr>
              <a:t>    &lt;</a:t>
            </a:r>
            <a:r>
              <a:rPr lang="en-US" altLang="en-US" sz="1600" dirty="0" err="1">
                <a:latin typeface="Times New Roman" pitchFamily="18" charset="0"/>
                <a:cs typeface="Times New Roman" pitchFamily="18" charset="0"/>
              </a:rPr>
              <a:t>dt</a:t>
            </a:r>
            <a:r>
              <a:rPr lang="en-US" altLang="en-US" sz="1600" dirty="0">
                <a:latin typeface="Times New Roman" pitchFamily="18" charset="0"/>
                <a:cs typeface="Times New Roman" pitchFamily="18" charset="0"/>
              </a:rPr>
              <a:t>&gt;HTML&lt;/</a:t>
            </a:r>
            <a:r>
              <a:rPr lang="en-US" altLang="en-US" sz="1600" dirty="0" err="1">
                <a:latin typeface="Times New Roman" pitchFamily="18" charset="0"/>
                <a:cs typeface="Times New Roman" pitchFamily="18" charset="0"/>
              </a:rPr>
              <a:t>dt</a:t>
            </a:r>
            <a:r>
              <a:rPr lang="en-US" altLang="en-US" sz="1600" dirty="0">
                <a:latin typeface="Times New Roman" pitchFamily="18" charset="0"/>
                <a:cs typeface="Times New Roman" pitchFamily="18" charset="0"/>
              </a:rPr>
              <a:t>&gt;</a:t>
            </a:r>
          </a:p>
          <a:p>
            <a:pPr>
              <a:lnSpc>
                <a:spcPct val="100000"/>
              </a:lnSpc>
              <a:buFont typeface="Wingdings" pitchFamily="2" charset="2"/>
              <a:buNone/>
            </a:pPr>
            <a:r>
              <a:rPr lang="en-US" altLang="en-US" sz="1600" dirty="0">
                <a:latin typeface="Times New Roman" pitchFamily="18" charset="0"/>
                <a:cs typeface="Times New Roman" pitchFamily="18" charset="0"/>
              </a:rPr>
              <a:t>    &lt;</a:t>
            </a:r>
            <a:r>
              <a:rPr lang="en-US" altLang="en-US" sz="1600" dirty="0" err="1">
                <a:latin typeface="Times New Roman" pitchFamily="18" charset="0"/>
                <a:cs typeface="Times New Roman" pitchFamily="18" charset="0"/>
              </a:rPr>
              <a:t>dd</a:t>
            </a:r>
            <a:r>
              <a:rPr lang="en-US" altLang="en-US" sz="1600" dirty="0">
                <a:latin typeface="Times New Roman" pitchFamily="18" charset="0"/>
                <a:cs typeface="Times New Roman" pitchFamily="18" charset="0"/>
              </a:rPr>
              <a:t>&gt;</a:t>
            </a:r>
            <a:r>
              <a:rPr lang="en-US" altLang="en-US" sz="1600" dirty="0" err="1">
                <a:latin typeface="Times New Roman" pitchFamily="18" charset="0"/>
                <a:cs typeface="Times New Roman" pitchFamily="18" charset="0"/>
              </a:rPr>
              <a:t>AThe</a:t>
            </a:r>
            <a:r>
              <a:rPr lang="en-US" altLang="en-US" sz="1600" dirty="0">
                <a:latin typeface="Times New Roman" pitchFamily="18" charset="0"/>
                <a:cs typeface="Times New Roman" pitchFamily="18" charset="0"/>
              </a:rPr>
              <a:t> primary scripting language for developing web pages &lt;/</a:t>
            </a:r>
            <a:r>
              <a:rPr lang="en-US" altLang="en-US" sz="1600" dirty="0" err="1">
                <a:latin typeface="Times New Roman" pitchFamily="18" charset="0"/>
                <a:cs typeface="Times New Roman" pitchFamily="18" charset="0"/>
              </a:rPr>
              <a:t>dd</a:t>
            </a:r>
            <a:r>
              <a:rPr lang="en-US" altLang="en-US" sz="1600" dirty="0">
                <a:latin typeface="Times New Roman" pitchFamily="18" charset="0"/>
                <a:cs typeface="Times New Roman" pitchFamily="18" charset="0"/>
              </a:rPr>
              <a:t>&gt;</a:t>
            </a:r>
          </a:p>
          <a:p>
            <a:pPr>
              <a:lnSpc>
                <a:spcPct val="100000"/>
              </a:lnSpc>
              <a:buFont typeface="Wingdings" pitchFamily="2" charset="2"/>
              <a:buNone/>
            </a:pPr>
            <a:r>
              <a:rPr lang="en-US" altLang="en-US" sz="1600" dirty="0">
                <a:latin typeface="Times New Roman" pitchFamily="18" charset="0"/>
                <a:cs typeface="Times New Roman" pitchFamily="18" charset="0"/>
              </a:rPr>
              <a:t>    &lt;</a:t>
            </a:r>
            <a:r>
              <a:rPr lang="en-US" altLang="en-US" sz="1600" dirty="0" err="1">
                <a:latin typeface="Times New Roman" pitchFamily="18" charset="0"/>
                <a:cs typeface="Times New Roman" pitchFamily="18" charset="0"/>
              </a:rPr>
              <a:t>dt</a:t>
            </a:r>
            <a:r>
              <a:rPr lang="en-US" altLang="en-US" sz="1600" dirty="0">
                <a:latin typeface="Times New Roman" pitchFamily="18" charset="0"/>
                <a:cs typeface="Times New Roman" pitchFamily="18" charset="0"/>
              </a:rPr>
              <a:t>&gt;</a:t>
            </a:r>
            <a:r>
              <a:rPr lang="en-US" altLang="en-US" sz="1600" dirty="0" err="1">
                <a:latin typeface="Times New Roman" pitchFamily="18" charset="0"/>
                <a:cs typeface="Times New Roman" pitchFamily="18" charset="0"/>
              </a:rPr>
              <a:t>Javascript</a:t>
            </a:r>
            <a:r>
              <a:rPr lang="en-US" altLang="en-US" sz="1600" dirty="0">
                <a:latin typeface="Times New Roman" pitchFamily="18" charset="0"/>
                <a:cs typeface="Times New Roman" pitchFamily="18" charset="0"/>
              </a:rPr>
              <a:t>&lt;/</a:t>
            </a:r>
            <a:r>
              <a:rPr lang="en-US" altLang="en-US" sz="1600" dirty="0" err="1">
                <a:latin typeface="Times New Roman" pitchFamily="18" charset="0"/>
                <a:cs typeface="Times New Roman" pitchFamily="18" charset="0"/>
              </a:rPr>
              <a:t>dt</a:t>
            </a:r>
            <a:r>
              <a:rPr lang="en-US" altLang="en-US" sz="1600" dirty="0">
                <a:latin typeface="Times New Roman" pitchFamily="18" charset="0"/>
                <a:cs typeface="Times New Roman" pitchFamily="18" charset="0"/>
              </a:rPr>
              <a:t>&gt;</a:t>
            </a:r>
          </a:p>
          <a:p>
            <a:pPr>
              <a:lnSpc>
                <a:spcPct val="100000"/>
              </a:lnSpc>
              <a:buFont typeface="Wingdings" pitchFamily="2" charset="2"/>
              <a:buNone/>
            </a:pPr>
            <a:r>
              <a:rPr lang="en-US" altLang="en-US" sz="1600" dirty="0">
                <a:latin typeface="Times New Roman" pitchFamily="18" charset="0"/>
                <a:cs typeface="Times New Roman" pitchFamily="18" charset="0"/>
              </a:rPr>
              <a:t>     &lt;</a:t>
            </a:r>
            <a:r>
              <a:rPr lang="en-US" altLang="en-US" sz="1600" dirty="0" err="1">
                <a:latin typeface="Times New Roman" pitchFamily="18" charset="0"/>
                <a:cs typeface="Times New Roman" pitchFamily="18" charset="0"/>
              </a:rPr>
              <a:t>dd</a:t>
            </a:r>
            <a:r>
              <a:rPr lang="en-US" altLang="en-US" sz="1600" dirty="0">
                <a:latin typeface="Times New Roman" pitchFamily="18" charset="0"/>
                <a:cs typeface="Times New Roman" pitchFamily="18" charset="0"/>
              </a:rPr>
              <a:t>&gt;an object-oriented computer programming language commonly used to create interactive effects within web browsers&lt;/</a:t>
            </a:r>
            <a:r>
              <a:rPr lang="en-US" altLang="en-US" sz="1600" dirty="0" err="1">
                <a:latin typeface="Times New Roman" pitchFamily="18" charset="0"/>
                <a:cs typeface="Times New Roman" pitchFamily="18" charset="0"/>
              </a:rPr>
              <a:t>dt</a:t>
            </a:r>
            <a:r>
              <a:rPr lang="en-US" altLang="en-US" sz="1600" dirty="0">
                <a:latin typeface="Times New Roman" pitchFamily="18" charset="0"/>
                <a:cs typeface="Times New Roman" pitchFamily="18" charset="0"/>
              </a:rPr>
              <a:t>&gt;</a:t>
            </a:r>
          </a:p>
          <a:p>
            <a:pPr>
              <a:lnSpc>
                <a:spcPct val="100000"/>
              </a:lnSpc>
              <a:buFont typeface="Wingdings" pitchFamily="2" charset="2"/>
              <a:buNone/>
            </a:pPr>
            <a:r>
              <a:rPr lang="en-US" altLang="en-US" sz="1600" dirty="0">
                <a:latin typeface="Times New Roman" pitchFamily="18" charset="0"/>
                <a:cs typeface="Times New Roman" pitchFamily="18" charset="0"/>
              </a:rPr>
              <a:t>&lt;/dl</a:t>
            </a:r>
            <a:r>
              <a:rPr lang="en-US" altLang="en-US" sz="1600" dirty="0" smtClean="0">
                <a:latin typeface="Times New Roman" pitchFamily="18" charset="0"/>
                <a:cs typeface="Times New Roman" pitchFamily="18" charset="0"/>
              </a:rPr>
              <a:t>&gt;&lt;/</a:t>
            </a:r>
            <a:r>
              <a:rPr lang="en-US" altLang="en-US" sz="1600" dirty="0">
                <a:latin typeface="Times New Roman" pitchFamily="18" charset="0"/>
                <a:cs typeface="Times New Roman" pitchFamily="18" charset="0"/>
              </a:rPr>
              <a:t>body</a:t>
            </a:r>
            <a:r>
              <a:rPr lang="en-US" altLang="en-US" sz="1600" dirty="0" smtClean="0">
                <a:latin typeface="Times New Roman" pitchFamily="18" charset="0"/>
                <a:cs typeface="Times New Roman" pitchFamily="18" charset="0"/>
              </a:rPr>
              <a:t>&gt;&lt;/</a:t>
            </a:r>
            <a:r>
              <a:rPr lang="en-US" altLang="en-US" sz="1600" dirty="0">
                <a:latin typeface="Times New Roman" pitchFamily="18" charset="0"/>
                <a:cs typeface="Times New Roman" pitchFamily="18" charset="0"/>
              </a:rPr>
              <a:t>html&gt;</a:t>
            </a:r>
          </a:p>
          <a:p>
            <a:pPr>
              <a:lnSpc>
                <a:spcPct val="100000"/>
              </a:lnSpc>
              <a:buFont typeface="Wingdings" pitchFamily="2" charset="2"/>
              <a:buNone/>
            </a:pPr>
            <a:endParaRPr lang="en-US" altLang="en-US" sz="1600" dirty="0">
              <a:latin typeface="Times New Roman" pitchFamily="18" charset="0"/>
              <a:cs typeface="Times New Roman" pitchFamily="18" charset="0"/>
            </a:endParaRPr>
          </a:p>
        </p:txBody>
      </p:sp>
      <p:pic>
        <p:nvPicPr>
          <p:cNvPr id="3" name="Picture 2">
            <a:extLst>
              <a:ext uri="{FF2B5EF4-FFF2-40B4-BE49-F238E27FC236}">
                <a16:creationId xmlns="" xmlns:a16="http://schemas.microsoft.com/office/drawing/2014/main" id="{B83BA876-0D31-9858-21C4-99FB5A821990}"/>
              </a:ext>
            </a:extLst>
          </p:cNvPr>
          <p:cNvPicPr>
            <a:picLocks noChangeAspect="1"/>
          </p:cNvPicPr>
          <p:nvPr/>
        </p:nvPicPr>
        <p:blipFill>
          <a:blip r:embed="rId2"/>
          <a:stretch>
            <a:fillRect/>
          </a:stretch>
        </p:blipFill>
        <p:spPr>
          <a:xfrm>
            <a:off x="7629525" y="931863"/>
            <a:ext cx="4952999" cy="2544762"/>
          </a:xfrm>
          <a:prstGeom prst="rect">
            <a:avLst/>
          </a:prstGeom>
        </p:spPr>
      </p:pic>
    </p:spTree>
    <p:extLst>
      <p:ext uri="{BB962C8B-B14F-4D97-AF65-F5344CB8AC3E}">
        <p14:creationId xmlns:p14="http://schemas.microsoft.com/office/powerpoint/2010/main" val="2593714649"/>
      </p:ext>
    </p:extLst>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1981200" y="274638"/>
            <a:ext cx="8229600" cy="715962"/>
          </a:xfrm>
        </p:spPr>
        <p:txBody>
          <a:bodyPr>
            <a:normAutofit/>
          </a:bodyPr>
          <a:lstStyle/>
          <a:p>
            <a:pPr algn="l"/>
            <a:r>
              <a:rPr lang="en-US" altLang="en-US" sz="3200" dirty="0">
                <a:solidFill>
                  <a:srgbClr val="0070C0"/>
                </a:solidFill>
                <a:latin typeface="Times New Roman" pitchFamily="18" charset="0"/>
                <a:cs typeface="Times New Roman" pitchFamily="18" charset="0"/>
              </a:rPr>
              <a:t>Tables</a:t>
            </a:r>
          </a:p>
        </p:txBody>
      </p:sp>
      <p:sp>
        <p:nvSpPr>
          <p:cNvPr id="16387" name="Content Placeholder 2"/>
          <p:cNvSpPr>
            <a:spLocks noGrp="1"/>
          </p:cNvSpPr>
          <p:nvPr>
            <p:ph idx="1"/>
          </p:nvPr>
        </p:nvSpPr>
        <p:spPr>
          <a:xfrm>
            <a:off x="1828800" y="990600"/>
            <a:ext cx="8686800" cy="5257800"/>
          </a:xfrm>
        </p:spPr>
        <p:txBody>
          <a:bodyPr>
            <a:noAutofit/>
          </a:bodyPr>
          <a:lstStyle/>
          <a:p>
            <a:pPr algn="just">
              <a:defRPr/>
            </a:pPr>
            <a:r>
              <a:rPr lang="en-US" dirty="0">
                <a:latin typeface="Times New Roman" pitchFamily="18" charset="0"/>
                <a:cs typeface="Times New Roman" pitchFamily="18" charset="0"/>
              </a:rPr>
              <a:t>Tables represent tabular data</a:t>
            </a:r>
          </a:p>
          <a:p>
            <a:pPr lvl="1" algn="just">
              <a:defRPr/>
            </a:pPr>
            <a:r>
              <a:rPr lang="en-US" sz="3200" dirty="0">
                <a:latin typeface="Times New Roman" pitchFamily="18" charset="0"/>
                <a:cs typeface="Times New Roman" pitchFamily="18" charset="0"/>
              </a:rPr>
              <a:t>A table consists of one or several rows</a:t>
            </a:r>
          </a:p>
          <a:p>
            <a:pPr lvl="1" algn="just">
              <a:defRPr/>
            </a:pPr>
            <a:r>
              <a:rPr lang="en-US" sz="3200" dirty="0">
                <a:latin typeface="Times New Roman" pitchFamily="18" charset="0"/>
                <a:cs typeface="Times New Roman" pitchFamily="18" charset="0"/>
              </a:rPr>
              <a:t>Each row has one or more columns</a:t>
            </a:r>
          </a:p>
          <a:p>
            <a:pPr algn="just"/>
            <a:r>
              <a:rPr lang="en-US" dirty="0">
                <a:latin typeface="Times New Roman" pitchFamily="18" charset="0"/>
                <a:cs typeface="Times New Roman" pitchFamily="18" charset="0"/>
              </a:rPr>
              <a:t>The HTML tables are created using the </a:t>
            </a:r>
            <a:r>
              <a:rPr lang="en-US" b="1" dirty="0">
                <a:solidFill>
                  <a:srgbClr val="FF0000"/>
                </a:solidFill>
                <a:latin typeface="Times New Roman" pitchFamily="18" charset="0"/>
                <a:cs typeface="Times New Roman" pitchFamily="18" charset="0"/>
              </a:rPr>
              <a:t>&lt;table&gt;</a:t>
            </a:r>
            <a:r>
              <a:rPr lang="en-US" dirty="0">
                <a:latin typeface="Times New Roman" pitchFamily="18" charset="0"/>
                <a:cs typeface="Times New Roman" pitchFamily="18" charset="0"/>
              </a:rPr>
              <a:t> tag </a:t>
            </a:r>
          </a:p>
          <a:p>
            <a:pPr algn="just"/>
            <a:r>
              <a:rPr lang="en-US" dirty="0">
                <a:latin typeface="Times New Roman" pitchFamily="18" charset="0"/>
                <a:cs typeface="Times New Roman" pitchFamily="18" charset="0"/>
              </a:rPr>
              <a:t>The </a:t>
            </a:r>
            <a:r>
              <a:rPr lang="en-US" b="1" dirty="0">
                <a:solidFill>
                  <a:srgbClr val="FF0000"/>
                </a:solidFill>
                <a:latin typeface="Times New Roman" pitchFamily="18" charset="0"/>
                <a:cs typeface="Times New Roman" pitchFamily="18" charset="0"/>
              </a:rPr>
              <a:t>&lt;</a:t>
            </a:r>
            <a:r>
              <a:rPr lang="en-US" b="1" dirty="0" err="1">
                <a:solidFill>
                  <a:srgbClr val="FF0000"/>
                </a:solidFill>
                <a:latin typeface="Times New Roman" pitchFamily="18" charset="0"/>
                <a:cs typeface="Times New Roman" pitchFamily="18" charset="0"/>
              </a:rPr>
              <a:t>tr</a:t>
            </a:r>
            <a:r>
              <a:rPr lang="en-US" b="1" dirty="0">
                <a:solidFill>
                  <a:srgbClr val="FF0000"/>
                </a:solidFill>
                <a:latin typeface="Times New Roman" pitchFamily="18" charset="0"/>
                <a:cs typeface="Times New Roman" pitchFamily="18" charset="0"/>
              </a:rPr>
              <a:t>&gt;</a:t>
            </a:r>
            <a:r>
              <a:rPr lang="en-US" dirty="0">
                <a:latin typeface="Times New Roman" pitchFamily="18" charset="0"/>
                <a:cs typeface="Times New Roman" pitchFamily="18" charset="0"/>
              </a:rPr>
              <a:t> tag is used to create table rows and </a:t>
            </a:r>
            <a:r>
              <a:rPr lang="en-US" b="1" dirty="0">
                <a:solidFill>
                  <a:srgbClr val="FF0000"/>
                </a:solidFill>
                <a:latin typeface="Times New Roman" pitchFamily="18" charset="0"/>
                <a:cs typeface="Times New Roman" pitchFamily="18" charset="0"/>
              </a:rPr>
              <a:t>&lt;td&gt;</a:t>
            </a:r>
            <a:r>
              <a:rPr lang="en-US" dirty="0">
                <a:latin typeface="Times New Roman" pitchFamily="18" charset="0"/>
                <a:cs typeface="Times New Roman" pitchFamily="18" charset="0"/>
              </a:rPr>
              <a:t> tag is used to create data cells.</a:t>
            </a:r>
          </a:p>
          <a:p>
            <a:pPr algn="just"/>
            <a:r>
              <a:rPr lang="en-US" dirty="0">
                <a:latin typeface="Times New Roman" pitchFamily="18" charset="0"/>
                <a:cs typeface="Times New Roman" pitchFamily="18" charset="0"/>
              </a:rPr>
              <a:t>Table heading can be defined using </a:t>
            </a:r>
            <a:r>
              <a:rPr lang="en-US" b="1" dirty="0">
                <a:solidFill>
                  <a:srgbClr val="FF0000"/>
                </a:solidFill>
                <a:latin typeface="Times New Roman" pitchFamily="18" charset="0"/>
                <a:cs typeface="Times New Roman" pitchFamily="18" charset="0"/>
              </a:rPr>
              <a:t>&lt;</a:t>
            </a:r>
            <a:r>
              <a:rPr lang="en-US" b="1" dirty="0" err="1">
                <a:solidFill>
                  <a:srgbClr val="FF0000"/>
                </a:solidFill>
                <a:latin typeface="Times New Roman" pitchFamily="18" charset="0"/>
                <a:cs typeface="Times New Roman" pitchFamily="18" charset="0"/>
              </a:rPr>
              <a:t>th</a:t>
            </a:r>
            <a:r>
              <a:rPr lang="en-US" b="1" dirty="0">
                <a:solidFill>
                  <a:srgbClr val="FF0000"/>
                </a:solidFill>
                <a:latin typeface="Times New Roman" pitchFamily="18" charset="0"/>
                <a:cs typeface="Times New Roman" pitchFamily="18" charset="0"/>
              </a:rPr>
              <a:t>&gt;</a:t>
            </a:r>
            <a:r>
              <a:rPr lang="en-US" dirty="0">
                <a:latin typeface="Times New Roman" pitchFamily="18" charset="0"/>
                <a:cs typeface="Times New Roman" pitchFamily="18" charset="0"/>
              </a:rPr>
              <a:t> tag. </a:t>
            </a:r>
          </a:p>
          <a:p>
            <a:pPr algn="just"/>
            <a:r>
              <a:rPr lang="en-US" dirty="0">
                <a:latin typeface="Times New Roman" pitchFamily="18" charset="0"/>
                <a:cs typeface="Times New Roman" pitchFamily="18" charset="0"/>
              </a:rPr>
              <a:t>&lt;td&gt; tag, which is used to represent actual data cell.</a:t>
            </a:r>
          </a:p>
          <a:p>
            <a:pPr marL="457200" lvl="1" indent="0" algn="just">
              <a:buNone/>
              <a:defRPr/>
            </a:pPr>
            <a:endParaRPr lang="en-US" sz="3200" dirty="0">
              <a:latin typeface="Times New Roman" pitchFamily="18" charset="0"/>
              <a:cs typeface="Times New Roman" pitchFamily="18" charset="0"/>
            </a:endParaRPr>
          </a:p>
        </p:txBody>
      </p:sp>
    </p:spTree>
    <p:extLst>
      <p:ext uri="{BB962C8B-B14F-4D97-AF65-F5344CB8AC3E}">
        <p14:creationId xmlns:p14="http://schemas.microsoft.com/office/powerpoint/2010/main" val="3170079192"/>
      </p:ext>
    </p:extLst>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pPr algn="l"/>
            <a:r>
              <a:rPr lang="en-US" altLang="en-US" sz="2400" dirty="0" err="1">
                <a:solidFill>
                  <a:schemeClr val="tx2"/>
                </a:solidFill>
                <a:latin typeface="Times New Roman" pitchFamily="18" charset="0"/>
                <a:cs typeface="Times New Roman" pitchFamily="18" charset="0"/>
              </a:rPr>
              <a:t>Cont</a:t>
            </a:r>
            <a:r>
              <a:rPr lang="en-US" altLang="en-US" sz="2400" dirty="0">
                <a:solidFill>
                  <a:schemeClr val="tx2"/>
                </a:solidFill>
                <a:latin typeface="Times New Roman" pitchFamily="18" charset="0"/>
                <a:cs typeface="Times New Roman" pitchFamily="18" charset="0"/>
              </a:rPr>
              <a:t> ..</a:t>
            </a:r>
          </a:p>
        </p:txBody>
      </p:sp>
      <p:sp>
        <p:nvSpPr>
          <p:cNvPr id="27651" name="Content Placeholder 2"/>
          <p:cNvSpPr>
            <a:spLocks noGrp="1"/>
          </p:cNvSpPr>
          <p:nvPr>
            <p:ph idx="1"/>
          </p:nvPr>
        </p:nvSpPr>
        <p:spPr>
          <a:xfrm>
            <a:off x="1981200" y="1295401"/>
            <a:ext cx="8229600" cy="4830763"/>
          </a:xfrm>
        </p:spPr>
        <p:txBody>
          <a:bodyPr>
            <a:normAutofit fontScale="92500" lnSpcReduction="20000"/>
          </a:bodyPr>
          <a:lstStyle/>
          <a:p>
            <a:pPr algn="just">
              <a:buFont typeface="Wingdings" pitchFamily="2" charset="2"/>
              <a:buNone/>
            </a:pPr>
            <a:r>
              <a:rPr lang="en-US" altLang="en-US" sz="2400" dirty="0">
                <a:latin typeface="Times New Roman" pitchFamily="18" charset="0"/>
                <a:cs typeface="Times New Roman" pitchFamily="18" charset="0"/>
              </a:rPr>
              <a:t>&lt;table style border=1&gt;</a:t>
            </a:r>
          </a:p>
          <a:p>
            <a:pPr algn="just">
              <a:buFont typeface="Wingdings" pitchFamily="2" charset="2"/>
              <a:buNone/>
            </a:pPr>
            <a:r>
              <a:rPr lang="en-US" altLang="en-US" sz="2400" dirty="0">
                <a:latin typeface="Times New Roman" pitchFamily="18" charset="0"/>
                <a:cs typeface="Times New Roman" pitchFamily="18" charset="0"/>
              </a:rPr>
              <a:t>  &lt;</a:t>
            </a:r>
            <a:r>
              <a:rPr lang="en-US" altLang="en-US" sz="2400" dirty="0" err="1">
                <a:latin typeface="Times New Roman" pitchFamily="18" charset="0"/>
                <a:cs typeface="Times New Roman" pitchFamily="18" charset="0"/>
              </a:rPr>
              <a:t>tr</a:t>
            </a:r>
            <a:r>
              <a:rPr lang="en-US" altLang="en-US" sz="2400" dirty="0">
                <a:latin typeface="Times New Roman" pitchFamily="18" charset="0"/>
                <a:cs typeface="Times New Roman" pitchFamily="18" charset="0"/>
              </a:rPr>
              <a:t>&gt;</a:t>
            </a:r>
          </a:p>
          <a:p>
            <a:pPr algn="just">
              <a:buFont typeface="Wingdings" pitchFamily="2" charset="2"/>
              <a:buNone/>
            </a:pPr>
            <a:r>
              <a:rPr lang="en-US" altLang="en-US" sz="2400" dirty="0">
                <a:latin typeface="Times New Roman" pitchFamily="18" charset="0"/>
                <a:cs typeface="Times New Roman" pitchFamily="18" charset="0"/>
              </a:rPr>
              <a:t>    &lt;</a:t>
            </a:r>
            <a:r>
              <a:rPr lang="en-US" altLang="en-US" sz="2400" dirty="0" err="1">
                <a:latin typeface="Times New Roman" pitchFamily="18" charset="0"/>
                <a:cs typeface="Times New Roman" pitchFamily="18" charset="0"/>
              </a:rPr>
              <a:t>th</a:t>
            </a:r>
            <a:r>
              <a:rPr lang="en-US" altLang="en-US" sz="2400" dirty="0">
                <a:latin typeface="Times New Roman" pitchFamily="18" charset="0"/>
                <a:cs typeface="Times New Roman" pitchFamily="18" charset="0"/>
              </a:rPr>
              <a:t>&gt;Name&lt;/</a:t>
            </a:r>
            <a:r>
              <a:rPr lang="en-US" altLang="en-US" sz="2400" dirty="0" err="1">
                <a:latin typeface="Times New Roman" pitchFamily="18" charset="0"/>
                <a:cs typeface="Times New Roman" pitchFamily="18" charset="0"/>
              </a:rPr>
              <a:t>th</a:t>
            </a:r>
            <a:r>
              <a:rPr lang="en-US" altLang="en-US" sz="2400" dirty="0">
                <a:latin typeface="Times New Roman" pitchFamily="18" charset="0"/>
                <a:cs typeface="Times New Roman" pitchFamily="18" charset="0"/>
              </a:rPr>
              <a:t>&gt;</a:t>
            </a:r>
          </a:p>
          <a:p>
            <a:pPr algn="just">
              <a:buFont typeface="Wingdings" pitchFamily="2" charset="2"/>
              <a:buNone/>
            </a:pPr>
            <a:r>
              <a:rPr lang="en-US" altLang="en-US" sz="2400" dirty="0">
                <a:latin typeface="Times New Roman" pitchFamily="18" charset="0"/>
                <a:cs typeface="Times New Roman" pitchFamily="18" charset="0"/>
              </a:rPr>
              <a:t>        &lt;</a:t>
            </a:r>
            <a:r>
              <a:rPr lang="en-US" altLang="en-US" sz="2400" dirty="0" err="1">
                <a:latin typeface="Times New Roman" pitchFamily="18" charset="0"/>
                <a:cs typeface="Times New Roman" pitchFamily="18" charset="0"/>
              </a:rPr>
              <a:t>th</a:t>
            </a:r>
            <a:r>
              <a:rPr lang="en-US" altLang="en-US" sz="2400" dirty="0">
                <a:latin typeface="Times New Roman" pitchFamily="18" charset="0"/>
                <a:cs typeface="Times New Roman" pitchFamily="18" charset="0"/>
              </a:rPr>
              <a:t>&gt;Age&lt;/</a:t>
            </a:r>
            <a:r>
              <a:rPr lang="en-US" altLang="en-US" sz="2400" dirty="0" err="1">
                <a:latin typeface="Times New Roman" pitchFamily="18" charset="0"/>
                <a:cs typeface="Times New Roman" pitchFamily="18" charset="0"/>
              </a:rPr>
              <a:t>th</a:t>
            </a:r>
            <a:r>
              <a:rPr lang="en-US" altLang="en-US" sz="2400" dirty="0">
                <a:latin typeface="Times New Roman" pitchFamily="18" charset="0"/>
                <a:cs typeface="Times New Roman" pitchFamily="18" charset="0"/>
              </a:rPr>
              <a:t>&gt;</a:t>
            </a:r>
          </a:p>
          <a:p>
            <a:pPr algn="just">
              <a:buFont typeface="Wingdings" pitchFamily="2" charset="2"/>
              <a:buNone/>
            </a:pPr>
            <a:r>
              <a:rPr lang="en-US" altLang="en-US" sz="2400" dirty="0">
                <a:latin typeface="Times New Roman" pitchFamily="18" charset="0"/>
                <a:cs typeface="Times New Roman" pitchFamily="18" charset="0"/>
              </a:rPr>
              <a:t>  &lt;/</a:t>
            </a:r>
            <a:r>
              <a:rPr lang="en-US" altLang="en-US" sz="2400" dirty="0" err="1">
                <a:latin typeface="Times New Roman" pitchFamily="18" charset="0"/>
                <a:cs typeface="Times New Roman" pitchFamily="18" charset="0"/>
              </a:rPr>
              <a:t>tr</a:t>
            </a:r>
            <a:r>
              <a:rPr lang="en-US" altLang="en-US" sz="2400" dirty="0">
                <a:latin typeface="Times New Roman" pitchFamily="18" charset="0"/>
                <a:cs typeface="Times New Roman" pitchFamily="18" charset="0"/>
              </a:rPr>
              <a:t>&gt;</a:t>
            </a:r>
          </a:p>
          <a:p>
            <a:pPr algn="just">
              <a:buFont typeface="Wingdings" pitchFamily="2" charset="2"/>
              <a:buNone/>
            </a:pPr>
            <a:r>
              <a:rPr lang="en-US" altLang="en-US" sz="2400" dirty="0">
                <a:latin typeface="Times New Roman" pitchFamily="18" charset="0"/>
                <a:cs typeface="Times New Roman" pitchFamily="18" charset="0"/>
              </a:rPr>
              <a:t>  &lt;</a:t>
            </a:r>
            <a:r>
              <a:rPr lang="en-US" altLang="en-US" sz="2400" dirty="0" err="1">
                <a:latin typeface="Times New Roman" pitchFamily="18" charset="0"/>
                <a:cs typeface="Times New Roman" pitchFamily="18" charset="0"/>
              </a:rPr>
              <a:t>tr</a:t>
            </a:r>
            <a:r>
              <a:rPr lang="en-US" altLang="en-US" sz="2400" dirty="0">
                <a:latin typeface="Times New Roman" pitchFamily="18" charset="0"/>
                <a:cs typeface="Times New Roman" pitchFamily="18" charset="0"/>
              </a:rPr>
              <a:t>&gt;</a:t>
            </a:r>
          </a:p>
          <a:p>
            <a:pPr algn="just">
              <a:buFont typeface="Wingdings" pitchFamily="2" charset="2"/>
              <a:buNone/>
            </a:pPr>
            <a:r>
              <a:rPr lang="en-US" altLang="en-US" sz="2400" dirty="0">
                <a:latin typeface="Times New Roman" pitchFamily="18" charset="0"/>
                <a:cs typeface="Times New Roman" pitchFamily="18" charset="0"/>
              </a:rPr>
              <a:t>        &lt;td&gt;Smith&lt;/td&gt;</a:t>
            </a:r>
          </a:p>
          <a:p>
            <a:pPr algn="just">
              <a:buFont typeface="Wingdings" pitchFamily="2" charset="2"/>
              <a:buNone/>
            </a:pPr>
            <a:r>
              <a:rPr lang="en-US" altLang="en-US" sz="2400" dirty="0">
                <a:latin typeface="Times New Roman" pitchFamily="18" charset="0"/>
                <a:cs typeface="Times New Roman" pitchFamily="18" charset="0"/>
              </a:rPr>
              <a:t>    &lt;td&gt;50&lt;/td&gt;</a:t>
            </a:r>
          </a:p>
          <a:p>
            <a:pPr algn="just">
              <a:buFont typeface="Wingdings" pitchFamily="2" charset="2"/>
              <a:buNone/>
            </a:pPr>
            <a:r>
              <a:rPr lang="en-US" altLang="en-US" sz="2400" dirty="0">
                <a:latin typeface="Times New Roman" pitchFamily="18" charset="0"/>
                <a:cs typeface="Times New Roman" pitchFamily="18" charset="0"/>
              </a:rPr>
              <a:t>  &lt;/</a:t>
            </a:r>
            <a:r>
              <a:rPr lang="en-US" altLang="en-US" sz="2400" dirty="0" err="1">
                <a:latin typeface="Times New Roman" pitchFamily="18" charset="0"/>
                <a:cs typeface="Times New Roman" pitchFamily="18" charset="0"/>
              </a:rPr>
              <a:t>tr</a:t>
            </a:r>
            <a:r>
              <a:rPr lang="en-US" altLang="en-US" sz="2400" dirty="0">
                <a:latin typeface="Times New Roman" pitchFamily="18" charset="0"/>
                <a:cs typeface="Times New Roman" pitchFamily="18" charset="0"/>
              </a:rPr>
              <a:t>&gt;</a:t>
            </a:r>
          </a:p>
          <a:p>
            <a:pPr algn="just">
              <a:buFont typeface="Wingdings" pitchFamily="2" charset="2"/>
              <a:buNone/>
            </a:pPr>
            <a:r>
              <a:rPr lang="en-US" altLang="en-US" sz="2400" dirty="0">
                <a:latin typeface="Times New Roman" pitchFamily="18" charset="0"/>
                <a:cs typeface="Times New Roman" pitchFamily="18" charset="0"/>
              </a:rPr>
              <a:t>  &lt;</a:t>
            </a:r>
            <a:r>
              <a:rPr lang="en-US" altLang="en-US" sz="2400" dirty="0" err="1">
                <a:latin typeface="Times New Roman" pitchFamily="18" charset="0"/>
                <a:cs typeface="Times New Roman" pitchFamily="18" charset="0"/>
              </a:rPr>
              <a:t>tr</a:t>
            </a:r>
            <a:r>
              <a:rPr lang="en-US" altLang="en-US" sz="2400" dirty="0">
                <a:latin typeface="Times New Roman" pitchFamily="18" charset="0"/>
                <a:cs typeface="Times New Roman" pitchFamily="18" charset="0"/>
              </a:rPr>
              <a:t>&gt;</a:t>
            </a:r>
          </a:p>
          <a:p>
            <a:pPr algn="just">
              <a:buFont typeface="Wingdings" pitchFamily="2" charset="2"/>
              <a:buNone/>
            </a:pPr>
            <a:r>
              <a:rPr lang="en-US" altLang="en-US" sz="2400" dirty="0">
                <a:latin typeface="Times New Roman" pitchFamily="18" charset="0"/>
                <a:cs typeface="Times New Roman" pitchFamily="18" charset="0"/>
              </a:rPr>
              <a:t>        &lt;td&gt;Jackson&lt;/td&gt;</a:t>
            </a:r>
          </a:p>
          <a:p>
            <a:pPr algn="just">
              <a:buFont typeface="Wingdings" pitchFamily="2" charset="2"/>
              <a:buNone/>
            </a:pPr>
            <a:r>
              <a:rPr lang="en-US" altLang="en-US" sz="2400" dirty="0">
                <a:latin typeface="Times New Roman" pitchFamily="18" charset="0"/>
                <a:cs typeface="Times New Roman" pitchFamily="18" charset="0"/>
              </a:rPr>
              <a:t>    &lt;td&gt;94&lt;/td&gt;</a:t>
            </a:r>
          </a:p>
          <a:p>
            <a:pPr algn="just">
              <a:buFont typeface="Wingdings" pitchFamily="2" charset="2"/>
              <a:buNone/>
            </a:pPr>
            <a:r>
              <a:rPr lang="en-US" altLang="en-US" sz="2400" dirty="0">
                <a:latin typeface="Times New Roman" pitchFamily="18" charset="0"/>
                <a:cs typeface="Times New Roman" pitchFamily="18" charset="0"/>
              </a:rPr>
              <a:t>  &lt;/</a:t>
            </a:r>
            <a:r>
              <a:rPr lang="en-US" altLang="en-US" sz="2400" dirty="0" err="1">
                <a:latin typeface="Times New Roman" pitchFamily="18" charset="0"/>
                <a:cs typeface="Times New Roman" pitchFamily="18" charset="0"/>
              </a:rPr>
              <a:t>tr</a:t>
            </a:r>
            <a:r>
              <a:rPr lang="en-US" altLang="en-US" sz="2400" dirty="0">
                <a:latin typeface="Times New Roman" pitchFamily="18" charset="0"/>
                <a:cs typeface="Times New Roman" pitchFamily="18" charset="0"/>
              </a:rPr>
              <a:t>&gt;</a:t>
            </a:r>
          </a:p>
        </p:txBody>
      </p:sp>
      <p:pic>
        <p:nvPicPr>
          <p:cNvPr id="1025"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57800" y="1447800"/>
            <a:ext cx="5029200" cy="472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16646102"/>
      </p:ext>
    </p:extLst>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1981200" y="274638"/>
            <a:ext cx="8229600" cy="792162"/>
          </a:xfrm>
        </p:spPr>
        <p:txBody>
          <a:bodyPr>
            <a:normAutofit/>
          </a:bodyPr>
          <a:lstStyle/>
          <a:p>
            <a:pPr algn="l"/>
            <a:r>
              <a:rPr lang="en-US" sz="2600" dirty="0">
                <a:solidFill>
                  <a:schemeClr val="tx2"/>
                </a:solidFill>
              </a:rPr>
              <a:t>Cellpadding and Cellspacing Attributes</a:t>
            </a:r>
          </a:p>
        </p:txBody>
      </p:sp>
      <p:sp>
        <p:nvSpPr>
          <p:cNvPr id="28675" name="Content Placeholder 2"/>
          <p:cNvSpPr>
            <a:spLocks noGrp="1"/>
          </p:cNvSpPr>
          <p:nvPr>
            <p:ph idx="1"/>
          </p:nvPr>
        </p:nvSpPr>
        <p:spPr>
          <a:xfrm>
            <a:off x="1981200" y="990600"/>
            <a:ext cx="8458200" cy="5385148"/>
          </a:xfrm>
        </p:spPr>
        <p:txBody>
          <a:bodyPr>
            <a:normAutofit fontScale="62500" lnSpcReduction="20000"/>
          </a:bodyPr>
          <a:lstStyle/>
          <a:p>
            <a:r>
              <a:rPr lang="en-US" sz="2600" dirty="0">
                <a:latin typeface="Times New Roman" pitchFamily="18" charset="0"/>
                <a:cs typeface="Times New Roman" pitchFamily="18" charset="0"/>
              </a:rPr>
              <a:t>The </a:t>
            </a:r>
            <a:r>
              <a:rPr lang="en-US" sz="2600" dirty="0">
                <a:solidFill>
                  <a:srgbClr val="FF0000"/>
                </a:solidFill>
                <a:latin typeface="Times New Roman" pitchFamily="18" charset="0"/>
                <a:cs typeface="Times New Roman" pitchFamily="18" charset="0"/>
              </a:rPr>
              <a:t>cellspacing</a:t>
            </a:r>
            <a:r>
              <a:rPr lang="en-US" sz="2600" dirty="0">
                <a:latin typeface="Times New Roman" pitchFamily="18" charset="0"/>
                <a:cs typeface="Times New Roman" pitchFamily="18" charset="0"/>
              </a:rPr>
              <a:t>  specifies the width of the border</a:t>
            </a:r>
          </a:p>
          <a:p>
            <a:r>
              <a:rPr lang="en-US" sz="2600" dirty="0">
                <a:solidFill>
                  <a:srgbClr val="FF0000"/>
                </a:solidFill>
                <a:latin typeface="Times New Roman" pitchFamily="18" charset="0"/>
                <a:cs typeface="Times New Roman" pitchFamily="18" charset="0"/>
              </a:rPr>
              <a:t>Cell padding </a:t>
            </a:r>
            <a:r>
              <a:rPr lang="en-US" sz="2600" dirty="0">
                <a:latin typeface="Times New Roman" pitchFamily="18" charset="0"/>
                <a:cs typeface="Times New Roman" pitchFamily="18" charset="0"/>
              </a:rPr>
              <a:t>specifies the space between the cell content and its borders.</a:t>
            </a:r>
          </a:p>
          <a:p>
            <a:pPr marL="0" indent="0">
              <a:buNone/>
            </a:pPr>
            <a:endParaRPr lang="en-US" altLang="en-US" sz="2600" dirty="0">
              <a:latin typeface="Times New Roman" pitchFamily="18" charset="0"/>
              <a:cs typeface="Times New Roman" pitchFamily="18" charset="0"/>
            </a:endParaRPr>
          </a:p>
          <a:p>
            <a:pPr marL="0" indent="0">
              <a:buNone/>
            </a:pPr>
            <a:r>
              <a:rPr lang="en-US" altLang="en-US" sz="2600" dirty="0">
                <a:latin typeface="Times New Roman" pitchFamily="18" charset="0"/>
                <a:cs typeface="Times New Roman" pitchFamily="18" charset="0"/>
              </a:rPr>
              <a:t>&lt;table style border=2 cellpadding="10" cellspacing="10"&gt;</a:t>
            </a:r>
          </a:p>
          <a:p>
            <a:pPr marL="0" indent="0">
              <a:buNone/>
            </a:pPr>
            <a:r>
              <a:rPr lang="en-US" altLang="en-US" sz="2600" dirty="0">
                <a:latin typeface="Times New Roman" pitchFamily="18" charset="0"/>
                <a:cs typeface="Times New Roman" pitchFamily="18" charset="0"/>
              </a:rPr>
              <a:t>  &lt;</a:t>
            </a:r>
            <a:r>
              <a:rPr lang="en-US" altLang="en-US" sz="2600" dirty="0" err="1">
                <a:latin typeface="Times New Roman" pitchFamily="18" charset="0"/>
                <a:cs typeface="Times New Roman" pitchFamily="18" charset="0"/>
              </a:rPr>
              <a:t>tr</a:t>
            </a:r>
            <a:r>
              <a:rPr lang="en-US" altLang="en-US" sz="2600" dirty="0">
                <a:latin typeface="Times New Roman" pitchFamily="18" charset="0"/>
                <a:cs typeface="Times New Roman" pitchFamily="18" charset="0"/>
              </a:rPr>
              <a:t>&gt;</a:t>
            </a:r>
          </a:p>
          <a:p>
            <a:pPr marL="0" indent="0">
              <a:buNone/>
            </a:pPr>
            <a:r>
              <a:rPr lang="en-US" altLang="en-US" sz="2600" dirty="0">
                <a:latin typeface="Times New Roman" pitchFamily="18" charset="0"/>
                <a:cs typeface="Times New Roman" pitchFamily="18" charset="0"/>
              </a:rPr>
              <a:t>    &lt;</a:t>
            </a:r>
            <a:r>
              <a:rPr lang="en-US" altLang="en-US" sz="2600" dirty="0" err="1">
                <a:latin typeface="Times New Roman" pitchFamily="18" charset="0"/>
                <a:cs typeface="Times New Roman" pitchFamily="18" charset="0"/>
              </a:rPr>
              <a:t>th</a:t>
            </a:r>
            <a:r>
              <a:rPr lang="en-US" altLang="en-US" sz="2600" dirty="0">
                <a:latin typeface="Times New Roman" pitchFamily="18" charset="0"/>
                <a:cs typeface="Times New Roman" pitchFamily="18" charset="0"/>
              </a:rPr>
              <a:t>&gt;Name&lt;/</a:t>
            </a:r>
            <a:r>
              <a:rPr lang="en-US" altLang="en-US" sz="2600" dirty="0" err="1">
                <a:latin typeface="Times New Roman" pitchFamily="18" charset="0"/>
                <a:cs typeface="Times New Roman" pitchFamily="18" charset="0"/>
              </a:rPr>
              <a:t>th</a:t>
            </a:r>
            <a:r>
              <a:rPr lang="en-US" altLang="en-US" sz="2600" dirty="0">
                <a:latin typeface="Times New Roman" pitchFamily="18" charset="0"/>
                <a:cs typeface="Times New Roman" pitchFamily="18" charset="0"/>
              </a:rPr>
              <a:t>&gt;</a:t>
            </a:r>
          </a:p>
          <a:p>
            <a:pPr marL="0" indent="0">
              <a:buNone/>
            </a:pPr>
            <a:r>
              <a:rPr lang="en-US" altLang="en-US" sz="2600" dirty="0">
                <a:latin typeface="Times New Roman" pitchFamily="18" charset="0"/>
                <a:cs typeface="Times New Roman" pitchFamily="18" charset="0"/>
              </a:rPr>
              <a:t>    &lt;</a:t>
            </a:r>
            <a:r>
              <a:rPr lang="en-US" altLang="en-US" sz="2600" dirty="0" err="1">
                <a:latin typeface="Times New Roman" pitchFamily="18" charset="0"/>
                <a:cs typeface="Times New Roman" pitchFamily="18" charset="0"/>
              </a:rPr>
              <a:t>th</a:t>
            </a:r>
            <a:r>
              <a:rPr lang="en-US" altLang="en-US" sz="2600" dirty="0">
                <a:latin typeface="Times New Roman" pitchFamily="18" charset="0"/>
                <a:cs typeface="Times New Roman" pitchFamily="18" charset="0"/>
              </a:rPr>
              <a:t>&gt;Age&lt;/</a:t>
            </a:r>
            <a:r>
              <a:rPr lang="en-US" altLang="en-US" sz="2600" dirty="0" err="1">
                <a:latin typeface="Times New Roman" pitchFamily="18" charset="0"/>
                <a:cs typeface="Times New Roman" pitchFamily="18" charset="0"/>
              </a:rPr>
              <a:t>th</a:t>
            </a:r>
            <a:r>
              <a:rPr lang="en-US" altLang="en-US" sz="2600" dirty="0">
                <a:latin typeface="Times New Roman" pitchFamily="18" charset="0"/>
                <a:cs typeface="Times New Roman" pitchFamily="18" charset="0"/>
              </a:rPr>
              <a:t>&gt;</a:t>
            </a:r>
          </a:p>
          <a:p>
            <a:pPr marL="0" indent="0">
              <a:buNone/>
            </a:pPr>
            <a:r>
              <a:rPr lang="en-US" altLang="en-US" sz="2600" dirty="0">
                <a:latin typeface="Times New Roman" pitchFamily="18" charset="0"/>
                <a:cs typeface="Times New Roman" pitchFamily="18" charset="0"/>
              </a:rPr>
              <a:t>  &lt;/</a:t>
            </a:r>
            <a:r>
              <a:rPr lang="en-US" altLang="en-US" sz="2600" dirty="0" err="1">
                <a:latin typeface="Times New Roman" pitchFamily="18" charset="0"/>
                <a:cs typeface="Times New Roman" pitchFamily="18" charset="0"/>
              </a:rPr>
              <a:t>tr</a:t>
            </a:r>
            <a:r>
              <a:rPr lang="en-US" altLang="en-US" sz="2600" dirty="0">
                <a:latin typeface="Times New Roman" pitchFamily="18" charset="0"/>
                <a:cs typeface="Times New Roman" pitchFamily="18" charset="0"/>
              </a:rPr>
              <a:t>&gt;</a:t>
            </a:r>
          </a:p>
          <a:p>
            <a:pPr marL="0" indent="0">
              <a:buNone/>
            </a:pPr>
            <a:r>
              <a:rPr lang="en-US" altLang="en-US" sz="2600" dirty="0">
                <a:latin typeface="Times New Roman" pitchFamily="18" charset="0"/>
                <a:cs typeface="Times New Roman" pitchFamily="18" charset="0"/>
              </a:rPr>
              <a:t>  &lt;</a:t>
            </a:r>
            <a:r>
              <a:rPr lang="en-US" altLang="en-US" sz="2600" dirty="0" err="1">
                <a:latin typeface="Times New Roman" pitchFamily="18" charset="0"/>
                <a:cs typeface="Times New Roman" pitchFamily="18" charset="0"/>
              </a:rPr>
              <a:t>tr</a:t>
            </a:r>
            <a:r>
              <a:rPr lang="en-US" altLang="en-US" sz="2600" dirty="0">
                <a:latin typeface="Times New Roman" pitchFamily="18" charset="0"/>
                <a:cs typeface="Times New Roman" pitchFamily="18" charset="0"/>
              </a:rPr>
              <a:t>&gt;</a:t>
            </a:r>
          </a:p>
          <a:p>
            <a:pPr marL="0" indent="0">
              <a:buNone/>
            </a:pPr>
            <a:r>
              <a:rPr lang="en-US" altLang="en-US" sz="2600" dirty="0">
                <a:latin typeface="Times New Roman" pitchFamily="18" charset="0"/>
                <a:cs typeface="Times New Roman" pitchFamily="18" charset="0"/>
              </a:rPr>
              <a:t>    &lt;td&gt;Smith&lt;/td&gt;</a:t>
            </a:r>
          </a:p>
          <a:p>
            <a:pPr marL="0" indent="0">
              <a:buNone/>
            </a:pPr>
            <a:r>
              <a:rPr lang="en-US" altLang="en-US" sz="2600" dirty="0">
                <a:latin typeface="Times New Roman" pitchFamily="18" charset="0"/>
                <a:cs typeface="Times New Roman" pitchFamily="18" charset="0"/>
              </a:rPr>
              <a:t>    &lt;td&gt;50&lt;/td&gt;</a:t>
            </a:r>
          </a:p>
          <a:p>
            <a:pPr marL="0" indent="0">
              <a:buNone/>
            </a:pPr>
            <a:r>
              <a:rPr lang="en-US" altLang="en-US" sz="2600" dirty="0">
                <a:latin typeface="Times New Roman" pitchFamily="18" charset="0"/>
                <a:cs typeface="Times New Roman" pitchFamily="18" charset="0"/>
              </a:rPr>
              <a:t>  &lt;/</a:t>
            </a:r>
            <a:r>
              <a:rPr lang="en-US" altLang="en-US" sz="2600" dirty="0" err="1">
                <a:latin typeface="Times New Roman" pitchFamily="18" charset="0"/>
                <a:cs typeface="Times New Roman" pitchFamily="18" charset="0"/>
              </a:rPr>
              <a:t>tr</a:t>
            </a:r>
            <a:r>
              <a:rPr lang="en-US" altLang="en-US" sz="2600" dirty="0">
                <a:latin typeface="Times New Roman" pitchFamily="18" charset="0"/>
                <a:cs typeface="Times New Roman" pitchFamily="18" charset="0"/>
              </a:rPr>
              <a:t>&gt;</a:t>
            </a:r>
          </a:p>
          <a:p>
            <a:pPr marL="0" indent="0">
              <a:buNone/>
            </a:pPr>
            <a:r>
              <a:rPr lang="en-US" altLang="en-US" sz="2600" dirty="0">
                <a:latin typeface="Times New Roman" pitchFamily="18" charset="0"/>
                <a:cs typeface="Times New Roman" pitchFamily="18" charset="0"/>
              </a:rPr>
              <a:t>  &lt;</a:t>
            </a:r>
            <a:r>
              <a:rPr lang="en-US" altLang="en-US" sz="2600" dirty="0" err="1">
                <a:latin typeface="Times New Roman" pitchFamily="18" charset="0"/>
                <a:cs typeface="Times New Roman" pitchFamily="18" charset="0"/>
              </a:rPr>
              <a:t>tr</a:t>
            </a:r>
            <a:r>
              <a:rPr lang="en-US" altLang="en-US" sz="2600" dirty="0">
                <a:latin typeface="Times New Roman" pitchFamily="18" charset="0"/>
                <a:cs typeface="Times New Roman" pitchFamily="18" charset="0"/>
              </a:rPr>
              <a:t>&gt;</a:t>
            </a:r>
          </a:p>
          <a:p>
            <a:pPr marL="0" indent="0">
              <a:buNone/>
            </a:pPr>
            <a:r>
              <a:rPr lang="en-US" altLang="en-US" sz="2600" dirty="0">
                <a:latin typeface="Times New Roman" pitchFamily="18" charset="0"/>
                <a:cs typeface="Times New Roman" pitchFamily="18" charset="0"/>
              </a:rPr>
              <a:t>        &lt;td&gt;Jackson&lt;/td&gt;</a:t>
            </a:r>
          </a:p>
          <a:p>
            <a:pPr marL="0" indent="0">
              <a:buNone/>
            </a:pPr>
            <a:r>
              <a:rPr lang="en-US" altLang="en-US" sz="2600" dirty="0">
                <a:latin typeface="Times New Roman" pitchFamily="18" charset="0"/>
                <a:cs typeface="Times New Roman" pitchFamily="18" charset="0"/>
              </a:rPr>
              <a:t>    &lt;td&gt;94&lt;/td&gt;</a:t>
            </a:r>
          </a:p>
          <a:p>
            <a:pPr marL="0" indent="0">
              <a:buNone/>
            </a:pPr>
            <a:r>
              <a:rPr lang="en-US" altLang="en-US" sz="2600" dirty="0">
                <a:latin typeface="Times New Roman" pitchFamily="18" charset="0"/>
                <a:cs typeface="Times New Roman" pitchFamily="18" charset="0"/>
              </a:rPr>
              <a:t>  &lt;/</a:t>
            </a:r>
            <a:r>
              <a:rPr lang="en-US" altLang="en-US" sz="2600" dirty="0" err="1">
                <a:latin typeface="Times New Roman" pitchFamily="18" charset="0"/>
                <a:cs typeface="Times New Roman" pitchFamily="18" charset="0"/>
              </a:rPr>
              <a:t>tr</a:t>
            </a:r>
            <a:r>
              <a:rPr lang="en-US" altLang="en-US" sz="2600" dirty="0">
                <a:latin typeface="Times New Roman" pitchFamily="18" charset="0"/>
                <a:cs typeface="Times New Roman" pitchFamily="18" charset="0"/>
              </a:rPr>
              <a:t>&gt;</a:t>
            </a:r>
          </a:p>
          <a:p>
            <a:pPr marL="0" indent="0">
              <a:buNone/>
            </a:pPr>
            <a:r>
              <a:rPr lang="en-US" altLang="en-US" sz="2600" dirty="0">
                <a:latin typeface="Times New Roman" pitchFamily="18" charset="0"/>
                <a:cs typeface="Times New Roman" pitchFamily="18" charset="0"/>
              </a:rPr>
              <a:t>  &lt;/table&gt;</a:t>
            </a:r>
          </a:p>
          <a:p>
            <a:pPr>
              <a:buFont typeface="Wingdings" pitchFamily="2" charset="2"/>
              <a:buNone/>
            </a:pPr>
            <a:endParaRPr lang="en-US" altLang="en-US" sz="2400" dirty="0">
              <a:latin typeface="Times New Roman" pitchFamily="18" charset="0"/>
              <a:cs typeface="Times New Roman" pitchFamily="18" charset="0"/>
            </a:endParaRPr>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1606" y="2514600"/>
            <a:ext cx="6376392" cy="3733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83973140"/>
      </p:ext>
    </p:extLst>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1981200" y="228600"/>
            <a:ext cx="8229600" cy="609600"/>
          </a:xfrm>
        </p:spPr>
        <p:txBody>
          <a:bodyPr>
            <a:normAutofit/>
          </a:bodyPr>
          <a:lstStyle/>
          <a:p>
            <a:pPr algn="l"/>
            <a:r>
              <a:rPr lang="en-US" sz="3200" dirty="0" err="1">
                <a:solidFill>
                  <a:srgbClr val="FF0000"/>
                </a:solidFill>
              </a:rPr>
              <a:t>Colspan</a:t>
            </a:r>
            <a:r>
              <a:rPr lang="en-US" sz="3200" dirty="0">
                <a:solidFill>
                  <a:srgbClr val="FF0000"/>
                </a:solidFill>
              </a:rPr>
              <a:t> and </a:t>
            </a:r>
            <a:r>
              <a:rPr lang="en-US" sz="3200" dirty="0" err="1">
                <a:solidFill>
                  <a:srgbClr val="FF0000"/>
                </a:solidFill>
              </a:rPr>
              <a:t>Rowspan</a:t>
            </a:r>
            <a:r>
              <a:rPr lang="en-US" sz="3200" dirty="0">
                <a:solidFill>
                  <a:srgbClr val="FF0000"/>
                </a:solidFill>
              </a:rPr>
              <a:t> Attributes</a:t>
            </a:r>
          </a:p>
        </p:txBody>
      </p:sp>
      <p:sp>
        <p:nvSpPr>
          <p:cNvPr id="2" name="Content Placeholder 1"/>
          <p:cNvSpPr>
            <a:spLocks noGrp="1"/>
          </p:cNvSpPr>
          <p:nvPr>
            <p:ph idx="1"/>
          </p:nvPr>
        </p:nvSpPr>
        <p:spPr>
          <a:xfrm>
            <a:off x="1905000" y="914401"/>
            <a:ext cx="8610600" cy="5211763"/>
          </a:xfrm>
        </p:spPr>
        <p:txBody>
          <a:bodyPr>
            <a:noAutofit/>
          </a:bodyPr>
          <a:lstStyle/>
          <a:p>
            <a:r>
              <a:rPr lang="en-US" sz="2600" b="1" dirty="0">
                <a:solidFill>
                  <a:srgbClr val="FF0000"/>
                </a:solidFill>
              </a:rPr>
              <a:t>colspan</a:t>
            </a:r>
            <a:r>
              <a:rPr lang="en-US" sz="2600" dirty="0">
                <a:solidFill>
                  <a:srgbClr val="FF0000"/>
                </a:solidFill>
              </a:rPr>
              <a:t> </a:t>
            </a:r>
            <a:r>
              <a:rPr lang="en-US" sz="2600" dirty="0"/>
              <a:t>attribute  merge two or more columns into a single column.   </a:t>
            </a:r>
            <a:r>
              <a:rPr lang="en-US" sz="2600" dirty="0">
                <a:solidFill>
                  <a:srgbClr val="FF0000"/>
                </a:solidFill>
              </a:rPr>
              <a:t>Ex: </a:t>
            </a:r>
            <a:r>
              <a:rPr lang="en-US" sz="2600" dirty="0"/>
              <a:t>&lt;td colspan=2&gt;</a:t>
            </a:r>
          </a:p>
          <a:p>
            <a:r>
              <a:rPr lang="en-US" sz="2600" dirty="0"/>
              <a:t> </a:t>
            </a:r>
            <a:r>
              <a:rPr lang="en-US" sz="2600" b="1" dirty="0">
                <a:solidFill>
                  <a:srgbClr val="FF0000"/>
                </a:solidFill>
              </a:rPr>
              <a:t>rowspan</a:t>
            </a:r>
            <a:r>
              <a:rPr lang="en-US" sz="2600" dirty="0"/>
              <a:t> merge two or more rows. </a:t>
            </a:r>
            <a:r>
              <a:rPr lang="en-US" sz="2600" dirty="0">
                <a:solidFill>
                  <a:srgbClr val="FF0000"/>
                </a:solidFill>
              </a:rPr>
              <a:t>Ex: </a:t>
            </a:r>
            <a:r>
              <a:rPr lang="en-US" sz="2600" dirty="0"/>
              <a:t>&lt;td rowspan=3&gt;</a:t>
            </a:r>
          </a:p>
          <a:p>
            <a:pPr marL="0" indent="0">
              <a:buNone/>
            </a:pPr>
            <a:endParaRPr lang="en-US" sz="2600" dirty="0"/>
          </a:p>
        </p:txBody>
      </p:sp>
    </p:spTree>
    <p:extLst>
      <p:ext uri="{BB962C8B-B14F-4D97-AF65-F5344CB8AC3E}">
        <p14:creationId xmlns:p14="http://schemas.microsoft.com/office/powerpoint/2010/main" val="132846293"/>
      </p:ext>
    </p:extLst>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 xmlns:a16="http://schemas.microsoft.com/office/drawing/2014/main" id="{B63C8EF8-BCF1-3DBE-9F98-4F71003D5640}"/>
              </a:ext>
            </a:extLst>
          </p:cNvPr>
          <p:cNvSpPr txBox="1"/>
          <p:nvPr/>
        </p:nvSpPr>
        <p:spPr>
          <a:xfrm>
            <a:off x="1676400" y="1209263"/>
            <a:ext cx="9143999" cy="2308324"/>
          </a:xfrm>
          <a:prstGeom prst="rect">
            <a:avLst/>
          </a:prstGeom>
          <a:noFill/>
        </p:spPr>
        <p:txBody>
          <a:bodyPr wrap="square">
            <a:spAutoFit/>
          </a:bodyPr>
          <a:lstStyle/>
          <a:p>
            <a:r>
              <a:rPr lang="en-US" sz="2400" dirty="0">
                <a:latin typeface="Times New Roman" pitchFamily="18" charset="0"/>
                <a:cs typeface="Times New Roman" pitchFamily="18" charset="0"/>
              </a:rPr>
              <a:t>&lt;table border="1" </a:t>
            </a:r>
            <a:r>
              <a:rPr lang="en-US" sz="2400" dirty="0" err="1">
                <a:latin typeface="Times New Roman" pitchFamily="18" charset="0"/>
                <a:cs typeface="Times New Roman" pitchFamily="18" charset="0"/>
              </a:rPr>
              <a:t>bordercolor</a:t>
            </a:r>
            <a:r>
              <a:rPr lang="en-US" sz="2400" dirty="0">
                <a:latin typeface="Times New Roman" pitchFamily="18" charset="0"/>
                <a:cs typeface="Times New Roman" pitchFamily="18" charset="0"/>
              </a:rPr>
              <a:t>="green" </a:t>
            </a:r>
            <a:r>
              <a:rPr lang="en-US" sz="2400" dirty="0" err="1">
                <a:latin typeface="Times New Roman" pitchFamily="18" charset="0"/>
                <a:cs typeface="Times New Roman" pitchFamily="18" charset="0"/>
              </a:rPr>
              <a:t>bgcolor</a:t>
            </a:r>
            <a:r>
              <a:rPr lang="en-US" sz="2400" dirty="0">
                <a:latin typeface="Times New Roman" pitchFamily="18" charset="0"/>
                <a:cs typeface="Times New Roman" pitchFamily="18" charset="0"/>
              </a:rPr>
              <a:t>=“yellow"&gt;</a:t>
            </a:r>
          </a:p>
          <a:p>
            <a:r>
              <a:rPr lang="en-US" sz="2400" dirty="0">
                <a:latin typeface="Times New Roman" pitchFamily="18" charset="0"/>
                <a:cs typeface="Times New Roman" pitchFamily="18" charset="0"/>
              </a:rPr>
              <a:t>&lt;tr&gt;&lt;</a:t>
            </a:r>
            <a:r>
              <a:rPr lang="en-US" sz="2400" dirty="0" err="1">
                <a:latin typeface="Times New Roman" pitchFamily="18" charset="0"/>
                <a:cs typeface="Times New Roman" pitchFamily="18" charset="0"/>
              </a:rPr>
              <a:t>th</a:t>
            </a:r>
            <a:r>
              <a:rPr lang="en-US" sz="2400" dirty="0">
                <a:latin typeface="Times New Roman" pitchFamily="18" charset="0"/>
                <a:cs typeface="Times New Roman" pitchFamily="18" charset="0"/>
              </a:rPr>
              <a:t>&gt;Column 1&lt;/</a:t>
            </a:r>
            <a:r>
              <a:rPr lang="en-US" sz="2400" dirty="0" err="1">
                <a:latin typeface="Times New Roman" pitchFamily="18" charset="0"/>
                <a:cs typeface="Times New Roman" pitchFamily="18" charset="0"/>
              </a:rPr>
              <a:t>th</a:t>
            </a:r>
            <a:r>
              <a:rPr lang="en-US" sz="2400" dirty="0">
                <a:latin typeface="Times New Roman" pitchFamily="18" charset="0"/>
                <a:cs typeface="Times New Roman" pitchFamily="18" charset="0"/>
              </a:rPr>
              <a:t>&gt;&lt;</a:t>
            </a:r>
            <a:r>
              <a:rPr lang="en-US" sz="2400" dirty="0" err="1">
                <a:latin typeface="Times New Roman" pitchFamily="18" charset="0"/>
                <a:cs typeface="Times New Roman" pitchFamily="18" charset="0"/>
              </a:rPr>
              <a:t>th</a:t>
            </a:r>
            <a:r>
              <a:rPr lang="en-US" sz="2400" dirty="0">
                <a:latin typeface="Times New Roman" pitchFamily="18" charset="0"/>
                <a:cs typeface="Times New Roman" pitchFamily="18" charset="0"/>
              </a:rPr>
              <a:t>&gt;Column 2&lt;/</a:t>
            </a:r>
            <a:r>
              <a:rPr lang="en-US" sz="2400" dirty="0" err="1">
                <a:latin typeface="Times New Roman" pitchFamily="18" charset="0"/>
                <a:cs typeface="Times New Roman" pitchFamily="18" charset="0"/>
              </a:rPr>
              <a:t>th</a:t>
            </a:r>
            <a:r>
              <a:rPr lang="en-US" sz="2400" dirty="0">
                <a:latin typeface="Times New Roman" pitchFamily="18" charset="0"/>
                <a:cs typeface="Times New Roman" pitchFamily="18" charset="0"/>
              </a:rPr>
              <a:t>&gt;&lt;/tr&gt;</a:t>
            </a:r>
          </a:p>
          <a:p>
            <a:r>
              <a:rPr lang="en-US" sz="2400" dirty="0">
                <a:latin typeface="Times New Roman" pitchFamily="18" charset="0"/>
                <a:cs typeface="Times New Roman" pitchFamily="18" charset="0"/>
              </a:rPr>
              <a:t>&lt;tr&gt;&lt;td </a:t>
            </a:r>
            <a:r>
              <a:rPr lang="en-US" sz="2400" dirty="0" err="1">
                <a:latin typeface="Times New Roman" pitchFamily="18" charset="0"/>
                <a:cs typeface="Times New Roman" pitchFamily="18" charset="0"/>
              </a:rPr>
              <a:t>rowspan</a:t>
            </a:r>
            <a:r>
              <a:rPr lang="en-US" sz="2400" dirty="0">
                <a:latin typeface="Times New Roman" pitchFamily="18" charset="0"/>
                <a:cs typeface="Times New Roman" pitchFamily="18" charset="0"/>
              </a:rPr>
              <a:t>="2"&gt;Row 1 Cell 1&lt;/td&gt;&lt;td&gt;Row 1 Cell 2&lt;/td&gt;&lt;/tr&gt;</a:t>
            </a:r>
          </a:p>
          <a:p>
            <a:r>
              <a:rPr lang="en-US" sz="2400" dirty="0">
                <a:latin typeface="Times New Roman" pitchFamily="18" charset="0"/>
                <a:cs typeface="Times New Roman" pitchFamily="18" charset="0"/>
              </a:rPr>
              <a:t>&lt;tr&gt;&lt;td&gt;Row 2 Cell 2&lt;/td&gt;&lt;/tr&gt;</a:t>
            </a:r>
          </a:p>
          <a:p>
            <a:r>
              <a:rPr lang="en-US" sz="2400" dirty="0">
                <a:latin typeface="Times New Roman" pitchFamily="18" charset="0"/>
                <a:cs typeface="Times New Roman" pitchFamily="18" charset="0"/>
              </a:rPr>
              <a:t>&lt;tr&gt;&lt;td </a:t>
            </a:r>
            <a:r>
              <a:rPr lang="en-US" sz="2400" dirty="0" err="1">
                <a:latin typeface="Times New Roman" pitchFamily="18" charset="0"/>
                <a:cs typeface="Times New Roman" pitchFamily="18" charset="0"/>
              </a:rPr>
              <a:t>colspan</a:t>
            </a:r>
            <a:r>
              <a:rPr lang="en-US" sz="2400" dirty="0">
                <a:latin typeface="Times New Roman" pitchFamily="18" charset="0"/>
                <a:cs typeface="Times New Roman" pitchFamily="18" charset="0"/>
              </a:rPr>
              <a:t>="2"&gt;Row 3 Cell 1&lt;/td&gt;&lt;/tr&gt;</a:t>
            </a:r>
          </a:p>
          <a:p>
            <a:r>
              <a:rPr lang="en-US" sz="2400" dirty="0">
                <a:latin typeface="Times New Roman" pitchFamily="18" charset="0"/>
                <a:cs typeface="Times New Roman" pitchFamily="18" charset="0"/>
              </a:rPr>
              <a:t>&lt;/table&gt;</a:t>
            </a:r>
          </a:p>
        </p:txBody>
      </p:sp>
      <p:pic>
        <p:nvPicPr>
          <p:cNvPr id="7" name="Picture 6">
            <a:extLst>
              <a:ext uri="{FF2B5EF4-FFF2-40B4-BE49-F238E27FC236}">
                <a16:creationId xmlns="" xmlns:a16="http://schemas.microsoft.com/office/drawing/2014/main" id="{3A8A0CD0-9E5A-88E7-238D-074E026BE157}"/>
              </a:ext>
            </a:extLst>
          </p:cNvPr>
          <p:cNvPicPr>
            <a:picLocks noChangeAspect="1"/>
          </p:cNvPicPr>
          <p:nvPr/>
        </p:nvPicPr>
        <p:blipFill>
          <a:blip r:embed="rId2"/>
          <a:stretch>
            <a:fillRect/>
          </a:stretch>
        </p:blipFill>
        <p:spPr>
          <a:xfrm>
            <a:off x="6477000" y="3581401"/>
            <a:ext cx="3638896" cy="2585323"/>
          </a:xfrm>
          <a:prstGeom prst="rect">
            <a:avLst/>
          </a:prstGeom>
        </p:spPr>
      </p:pic>
    </p:spTree>
    <p:extLst>
      <p:ext uri="{BB962C8B-B14F-4D97-AF65-F5344CB8AC3E}">
        <p14:creationId xmlns:p14="http://schemas.microsoft.com/office/powerpoint/2010/main" val="3733508530"/>
      </p:ext>
    </p:extLst>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 xmlns:a16="http://schemas.microsoft.com/office/drawing/2014/main" id="{5E13B936-3668-1123-0690-81A3E0133881}"/>
              </a:ext>
            </a:extLst>
          </p:cNvPr>
          <p:cNvSpPr txBox="1"/>
          <p:nvPr/>
        </p:nvSpPr>
        <p:spPr>
          <a:xfrm>
            <a:off x="2057400" y="609601"/>
            <a:ext cx="8458200" cy="4893647"/>
          </a:xfrm>
          <a:prstGeom prst="rect">
            <a:avLst/>
          </a:prstGeom>
          <a:noFill/>
        </p:spPr>
        <p:txBody>
          <a:bodyPr wrap="square">
            <a:spAutoFit/>
          </a:bodyPr>
          <a:lstStyle/>
          <a:p>
            <a:r>
              <a:rPr lang="en-IN" sz="2400" dirty="0"/>
              <a:t>&lt;html&gt;</a:t>
            </a:r>
          </a:p>
          <a:p>
            <a:r>
              <a:rPr lang="en-IN" sz="2400" dirty="0"/>
              <a:t>&lt;body&gt;</a:t>
            </a:r>
          </a:p>
          <a:p>
            <a:r>
              <a:rPr lang="en-IN" sz="2400" dirty="0"/>
              <a:t>&lt;table border="1" </a:t>
            </a:r>
            <a:r>
              <a:rPr lang="en-IN" sz="2400" dirty="0" err="1"/>
              <a:t>bordercolor</a:t>
            </a:r>
            <a:r>
              <a:rPr lang="en-IN" sz="2400" dirty="0"/>
              <a:t>="green" </a:t>
            </a:r>
            <a:r>
              <a:rPr lang="en-IN" sz="2400" dirty="0" err="1"/>
              <a:t>bgcolor</a:t>
            </a:r>
            <a:r>
              <a:rPr lang="en-IN" sz="2400" dirty="0"/>
              <a:t>="cyan" </a:t>
            </a:r>
            <a:r>
              <a:rPr lang="en-IN" sz="2400" dirty="0" err="1"/>
              <a:t>cellspacing</a:t>
            </a:r>
            <a:r>
              <a:rPr lang="en-IN" sz="2400" dirty="0"/>
              <a:t>="2" cellpadding="10"&gt;</a:t>
            </a:r>
          </a:p>
          <a:p>
            <a:r>
              <a:rPr lang="en-IN" sz="2400" dirty="0"/>
              <a:t>&lt;caption&gt;New Table&lt;/caption&gt;</a:t>
            </a:r>
          </a:p>
          <a:p>
            <a:r>
              <a:rPr lang="en-IN" sz="2400" dirty="0"/>
              <a:t>&lt;tr&gt;&lt;</a:t>
            </a:r>
            <a:r>
              <a:rPr lang="en-IN" sz="2400" dirty="0" err="1"/>
              <a:t>th</a:t>
            </a:r>
            <a:r>
              <a:rPr lang="en-IN" sz="2400" dirty="0"/>
              <a:t>&gt;A&lt;/</a:t>
            </a:r>
            <a:r>
              <a:rPr lang="en-IN" sz="2400" dirty="0" err="1"/>
              <a:t>th</a:t>
            </a:r>
            <a:r>
              <a:rPr lang="en-IN" sz="2400" dirty="0"/>
              <a:t>&gt;&lt;</a:t>
            </a:r>
            <a:r>
              <a:rPr lang="en-IN" sz="2400" dirty="0" err="1"/>
              <a:t>th</a:t>
            </a:r>
            <a:r>
              <a:rPr lang="en-IN" sz="2400" dirty="0"/>
              <a:t>&gt;B&lt;/</a:t>
            </a:r>
            <a:r>
              <a:rPr lang="en-IN" sz="2400" dirty="0" err="1"/>
              <a:t>th</a:t>
            </a:r>
            <a:r>
              <a:rPr lang="en-IN" sz="2400" dirty="0"/>
              <a:t>&gt;&lt;</a:t>
            </a:r>
            <a:r>
              <a:rPr lang="en-IN" sz="2400" dirty="0" err="1"/>
              <a:t>th</a:t>
            </a:r>
            <a:r>
              <a:rPr lang="en-IN" sz="2400" dirty="0"/>
              <a:t>&gt;C&lt;/</a:t>
            </a:r>
            <a:r>
              <a:rPr lang="en-IN" sz="2400" dirty="0" err="1"/>
              <a:t>th</a:t>
            </a:r>
            <a:r>
              <a:rPr lang="en-IN" sz="2400" dirty="0"/>
              <a:t>&gt;&lt;</a:t>
            </a:r>
            <a:r>
              <a:rPr lang="en-IN" sz="2400" dirty="0" err="1"/>
              <a:t>th</a:t>
            </a:r>
            <a:r>
              <a:rPr lang="en-IN" sz="2400" dirty="0"/>
              <a:t>&gt;D&lt;/</a:t>
            </a:r>
            <a:r>
              <a:rPr lang="en-IN" sz="2400" dirty="0" err="1"/>
              <a:t>th</a:t>
            </a:r>
            <a:r>
              <a:rPr lang="en-IN" sz="2400" dirty="0"/>
              <a:t>&gt;&lt;/tr&gt;</a:t>
            </a:r>
          </a:p>
          <a:p>
            <a:r>
              <a:rPr lang="en-IN" sz="2400" dirty="0"/>
              <a:t>&lt;tr&gt;&lt;td </a:t>
            </a:r>
            <a:r>
              <a:rPr lang="en-IN" sz="2400" dirty="0" err="1"/>
              <a:t>rowspan</a:t>
            </a:r>
            <a:r>
              <a:rPr lang="en-IN" sz="2400" dirty="0"/>
              <a:t>=2&gt;E&lt;/td&gt;&lt;td&gt;F&lt;/td&gt;&lt;td&gt;G&lt;/td&gt;&lt;td&gt;H&lt;/td&gt;&lt;/tr&gt;</a:t>
            </a:r>
          </a:p>
          <a:p>
            <a:r>
              <a:rPr lang="en-IN" sz="2400" dirty="0"/>
              <a:t>&lt;tr&gt;&lt;td&gt;I&lt;/td&gt;&lt;td </a:t>
            </a:r>
            <a:r>
              <a:rPr lang="en-IN" sz="2400" dirty="0" err="1"/>
              <a:t>colspan</a:t>
            </a:r>
            <a:r>
              <a:rPr lang="en-IN" sz="2400" dirty="0"/>
              <a:t>=2&gt;J&lt;/td&gt;&lt;/tr&gt;</a:t>
            </a:r>
          </a:p>
          <a:p>
            <a:r>
              <a:rPr lang="en-IN" sz="2400" dirty="0"/>
              <a:t>&lt;tr&gt;&lt;td&gt;K&lt;/td&gt;&lt;td </a:t>
            </a:r>
            <a:r>
              <a:rPr lang="en-IN" sz="2400" dirty="0" err="1"/>
              <a:t>colspan</a:t>
            </a:r>
            <a:r>
              <a:rPr lang="en-IN" sz="2400" dirty="0"/>
              <a:t>=2&gt;L&lt;/td&gt;&lt;td </a:t>
            </a:r>
            <a:r>
              <a:rPr lang="en-IN" sz="2400" dirty="0" err="1"/>
              <a:t>rowspan</a:t>
            </a:r>
            <a:r>
              <a:rPr lang="en-IN" sz="2400" dirty="0"/>
              <a:t>=2&gt;M&lt;/td&gt;&lt;/tr&gt;</a:t>
            </a:r>
          </a:p>
          <a:p>
            <a:r>
              <a:rPr lang="en-IN" sz="2400" dirty="0"/>
              <a:t>&lt;tr&gt;&lt;td&gt;N&lt;/td&gt;&lt;td&gt;O&lt;/td&gt;&lt;td&gt;P&lt;/td&gt;&lt;/tr&gt;</a:t>
            </a:r>
          </a:p>
          <a:p>
            <a:r>
              <a:rPr lang="en-IN" sz="2400" dirty="0"/>
              <a:t>&lt;/table&gt;</a:t>
            </a:r>
          </a:p>
          <a:p>
            <a:r>
              <a:rPr lang="en-IN" sz="2400" dirty="0"/>
              <a:t>&lt;/body&gt;</a:t>
            </a:r>
          </a:p>
          <a:p>
            <a:r>
              <a:rPr lang="en-IN" sz="2400" dirty="0"/>
              <a:t>&lt;/html&gt;</a:t>
            </a:r>
          </a:p>
        </p:txBody>
      </p:sp>
      <p:pic>
        <p:nvPicPr>
          <p:cNvPr id="11" name="Picture 10">
            <a:extLst>
              <a:ext uri="{FF2B5EF4-FFF2-40B4-BE49-F238E27FC236}">
                <a16:creationId xmlns="" xmlns:a16="http://schemas.microsoft.com/office/drawing/2014/main" id="{53BB7141-8377-35F4-CFFE-9E435D79C858}"/>
              </a:ext>
            </a:extLst>
          </p:cNvPr>
          <p:cNvPicPr>
            <a:picLocks noChangeAspect="1"/>
          </p:cNvPicPr>
          <p:nvPr/>
        </p:nvPicPr>
        <p:blipFill>
          <a:blip r:embed="rId2"/>
          <a:stretch>
            <a:fillRect/>
          </a:stretch>
        </p:blipFill>
        <p:spPr>
          <a:xfrm>
            <a:off x="8534400" y="4089289"/>
            <a:ext cx="2133600" cy="2751292"/>
          </a:xfrm>
          <a:prstGeom prst="rect">
            <a:avLst/>
          </a:prstGeom>
        </p:spPr>
      </p:pic>
    </p:spTree>
    <p:extLst>
      <p:ext uri="{BB962C8B-B14F-4D97-AF65-F5344CB8AC3E}">
        <p14:creationId xmlns:p14="http://schemas.microsoft.com/office/powerpoint/2010/main" val="684489201"/>
      </p:ext>
    </p:extLst>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7140" y="295253"/>
            <a:ext cx="10982360" cy="5276872"/>
          </a:xfrm>
        </p:spPr>
        <p:txBody>
          <a:bodyPr>
            <a:normAutofit/>
          </a:bodyPr>
          <a:lstStyle/>
          <a:p>
            <a:pPr>
              <a:buNone/>
            </a:pPr>
            <a:r>
              <a:rPr lang="en-IN" sz="2600" b="1" dirty="0">
                <a:solidFill>
                  <a:srgbClr val="7030A0"/>
                </a:solidFill>
                <a:latin typeface="Times New Roman" panose="02020603050405020304" pitchFamily="18" charset="0"/>
                <a:cs typeface="Times New Roman" panose="02020603050405020304" pitchFamily="18" charset="0"/>
              </a:rPr>
              <a:t>HTML Frames</a:t>
            </a:r>
            <a:r>
              <a:rPr lang="en-US" sz="2600" b="1" dirty="0">
                <a:solidFill>
                  <a:srgbClr val="7030A0"/>
                </a:solidFill>
                <a:latin typeface="Times New Roman" panose="02020603050405020304" pitchFamily="18" charset="0"/>
                <a:cs typeface="Times New Roman" panose="02020603050405020304" pitchFamily="18" charset="0"/>
              </a:rPr>
              <a:t>:</a:t>
            </a:r>
          </a:p>
          <a:p>
            <a:r>
              <a:rPr lang="en-US" sz="2600" dirty="0">
                <a:latin typeface="Times New Roman" panose="02020603050405020304" pitchFamily="18" charset="0"/>
                <a:cs typeface="Times New Roman" panose="02020603050405020304" pitchFamily="18" charset="0"/>
              </a:rPr>
              <a:t>HTML Frames are used to divide the web browser window into multiple sections where each section can be loaded separately</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HTML provides multiple frames at one browser with </a:t>
            </a:r>
            <a:r>
              <a:rPr lang="en-US" sz="2600" b="1" dirty="0">
                <a:solidFill>
                  <a:schemeClr val="accent6">
                    <a:lumMod val="75000"/>
                  </a:schemeClr>
                </a:solidFill>
                <a:latin typeface="Times New Roman" panose="02020603050405020304" pitchFamily="18" charset="0"/>
                <a:cs typeface="Times New Roman" panose="02020603050405020304" pitchFamily="18" charset="0"/>
              </a:rPr>
              <a:t>frameset</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Every </a:t>
            </a:r>
            <a:r>
              <a:rPr lang="en-US" sz="2600" dirty="0">
                <a:solidFill>
                  <a:schemeClr val="accent1">
                    <a:lumMod val="60000"/>
                    <a:lumOff val="40000"/>
                  </a:schemeClr>
                </a:solidFill>
                <a:latin typeface="Times New Roman" panose="02020603050405020304" pitchFamily="18" charset="0"/>
                <a:cs typeface="Times New Roman" panose="02020603050405020304" pitchFamily="18" charset="0"/>
              </a:rPr>
              <a:t>&lt;frame&gt; </a:t>
            </a:r>
            <a:r>
              <a:rPr lang="en-US" sz="2600" dirty="0">
                <a:latin typeface="Times New Roman" panose="02020603050405020304" pitchFamily="18" charset="0"/>
                <a:cs typeface="Times New Roman" panose="02020603050405020304" pitchFamily="18" charset="0"/>
              </a:rPr>
              <a:t>within the </a:t>
            </a:r>
            <a:r>
              <a:rPr lang="en-US" sz="2600" dirty="0">
                <a:solidFill>
                  <a:schemeClr val="accent3">
                    <a:lumMod val="60000"/>
                    <a:lumOff val="40000"/>
                  </a:schemeClr>
                </a:solidFill>
                <a:latin typeface="Times New Roman" panose="02020603050405020304" pitchFamily="18" charset="0"/>
                <a:cs typeface="Times New Roman" panose="02020603050405020304" pitchFamily="18" charset="0"/>
              </a:rPr>
              <a:t>&lt;frameset&gt; </a:t>
            </a:r>
            <a:r>
              <a:rPr lang="en-US" sz="2600" dirty="0">
                <a:latin typeface="Times New Roman" panose="02020603050405020304" pitchFamily="18" charset="0"/>
                <a:cs typeface="Times New Roman" panose="02020603050405020304" pitchFamily="18" charset="0"/>
              </a:rPr>
              <a:t>tag may use attributes for different purpose like: border, resizing capability, include scrolling etc.</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With frames display menu(s) in any portion of your page along with the content in another part of the page</a:t>
            </a:r>
            <a:endParaRPr lang="en-US" sz="2600" b="1" dirty="0">
              <a:latin typeface="Times New Roman" panose="02020603050405020304" pitchFamily="18" charset="0"/>
              <a:cs typeface="Times New Roman" panose="02020603050405020304" pitchFamily="18" charset="0"/>
            </a:endParaRPr>
          </a:p>
          <a:p>
            <a:pPr marL="548640" lvl="1" indent="0">
              <a:buNone/>
            </a:pPr>
            <a:endParaRPr lang="en-US" sz="2600" dirty="0">
              <a:latin typeface="Times New Roman" panose="02020603050405020304" pitchFamily="18" charset="0"/>
              <a:cs typeface="Times New Roman" panose="02020603050405020304" pitchFamily="18" charset="0"/>
            </a:endParaRPr>
          </a:p>
        </p:txBody>
      </p:sp>
      <p:sp>
        <p:nvSpPr>
          <p:cNvPr id="5" name="Footer Placeholder 4"/>
          <p:cNvSpPr>
            <a:spLocks noGrp="1"/>
          </p:cNvSpPr>
          <p:nvPr>
            <p:ph type="ftr" sz="quarter" idx="11"/>
          </p:nvPr>
        </p:nvSpPr>
        <p:spPr/>
        <p:txBody>
          <a:bodyPr/>
          <a:lstStyle/>
          <a:p>
            <a:pPr>
              <a:defRPr/>
            </a:pPr>
            <a:r>
              <a:rPr lang="en-IN" dirty="0" smtClean="0"/>
              <a:t> </a:t>
            </a:r>
            <a:endParaRPr lang="en-IN" dirty="0"/>
          </a:p>
        </p:txBody>
      </p:sp>
    </p:spTree>
    <p:extLst>
      <p:ext uri="{BB962C8B-B14F-4D97-AF65-F5344CB8AC3E}">
        <p14:creationId xmlns:p14="http://schemas.microsoft.com/office/powerpoint/2010/main" val="137838413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Frames</a:t>
            </a:r>
          </a:p>
        </p:txBody>
      </p:sp>
      <p:sp>
        <p:nvSpPr>
          <p:cNvPr id="3" name="Content Placeholder 2"/>
          <p:cNvSpPr>
            <a:spLocks noGrp="1"/>
          </p:cNvSpPr>
          <p:nvPr>
            <p:ph idx="1"/>
          </p:nvPr>
        </p:nvSpPr>
        <p:spPr/>
        <p:txBody>
          <a:bodyPr>
            <a:normAutofit/>
          </a:bodyPr>
          <a:lstStyle/>
          <a:p>
            <a:r>
              <a:rPr lang="en-US" sz="2200" b="1" dirty="0">
                <a:latin typeface="Times New Roman" panose="02020603050405020304" pitchFamily="18" charset="0"/>
                <a:cs typeface="Times New Roman" panose="02020603050405020304" pitchFamily="18" charset="0"/>
              </a:rPr>
              <a:t>The</a:t>
            </a:r>
            <a:r>
              <a:rPr lang="en-US" sz="2200" b="1" dirty="0">
                <a:solidFill>
                  <a:srgbClr val="C00000"/>
                </a:solidFill>
                <a:latin typeface="Times New Roman" panose="02020603050405020304" pitchFamily="18" charset="0"/>
                <a:cs typeface="Times New Roman" panose="02020603050405020304" pitchFamily="18" charset="0"/>
              </a:rPr>
              <a:t> &lt;frame&gt; tag </a:t>
            </a:r>
            <a:r>
              <a:rPr lang="en-US" sz="2200" b="1" dirty="0">
                <a:latin typeface="Times New Roman" panose="02020603050405020304" pitchFamily="18" charset="0"/>
                <a:cs typeface="Times New Roman" panose="02020603050405020304" pitchFamily="18" charset="0"/>
              </a:rPr>
              <a:t>was used in HTML 4 to define one particular window (frame) within a </a:t>
            </a:r>
            <a:r>
              <a:rPr lang="en-US" sz="2200" b="1" dirty="0">
                <a:solidFill>
                  <a:srgbClr val="C00000"/>
                </a:solidFill>
                <a:latin typeface="Times New Roman" panose="02020603050405020304" pitchFamily="18" charset="0"/>
                <a:cs typeface="Times New Roman" panose="02020603050405020304" pitchFamily="18" charset="0"/>
              </a:rPr>
              <a:t>&lt;frameset&gt;.</a:t>
            </a:r>
          </a:p>
          <a:p>
            <a:pPr marL="1508760" lvl="3" indent="0">
              <a:buNone/>
            </a:pPr>
            <a:r>
              <a:rPr lang="en-US" sz="2200" b="1" dirty="0">
                <a:solidFill>
                  <a:srgbClr val="C00000"/>
                </a:solidFill>
                <a:latin typeface="Times New Roman" panose="02020603050405020304" pitchFamily="18" charset="0"/>
                <a:cs typeface="Times New Roman" panose="02020603050405020304" pitchFamily="18" charset="0"/>
              </a:rPr>
              <a:t>&lt;frameset cols = "25%,50%,25%"&gt;</a:t>
            </a:r>
          </a:p>
          <a:p>
            <a:pPr marL="1508760" lvl="3" indent="0">
              <a:buNone/>
            </a:pPr>
            <a:r>
              <a:rPr lang="en-US" sz="2200" b="1" dirty="0">
                <a:solidFill>
                  <a:srgbClr val="C00000"/>
                </a:solidFill>
                <a:latin typeface="Times New Roman" panose="02020603050405020304" pitchFamily="18" charset="0"/>
                <a:cs typeface="Times New Roman" panose="02020603050405020304" pitchFamily="18" charset="0"/>
              </a:rPr>
              <a:t>      &lt;frame name = "left" </a:t>
            </a:r>
            <a:r>
              <a:rPr lang="en-US" sz="2200" b="1" dirty="0" err="1">
                <a:solidFill>
                  <a:srgbClr val="C00000"/>
                </a:solidFill>
                <a:latin typeface="Times New Roman" panose="02020603050405020304" pitchFamily="18" charset="0"/>
                <a:cs typeface="Times New Roman" panose="02020603050405020304" pitchFamily="18" charset="0"/>
              </a:rPr>
              <a:t>src</a:t>
            </a:r>
            <a:r>
              <a:rPr lang="en-US" sz="2200" b="1" dirty="0">
                <a:solidFill>
                  <a:srgbClr val="C00000"/>
                </a:solidFill>
                <a:latin typeface="Times New Roman" panose="02020603050405020304" pitchFamily="18" charset="0"/>
                <a:cs typeface="Times New Roman" panose="02020603050405020304" pitchFamily="18" charset="0"/>
              </a:rPr>
              <a:t> = "/html/top_frame.htm" /&gt;</a:t>
            </a:r>
          </a:p>
          <a:p>
            <a:pPr marL="1508760" lvl="3" indent="0">
              <a:buNone/>
            </a:pPr>
            <a:r>
              <a:rPr lang="en-US" sz="2200" b="1" dirty="0">
                <a:solidFill>
                  <a:srgbClr val="C00000"/>
                </a:solidFill>
                <a:latin typeface="Times New Roman" panose="02020603050405020304" pitchFamily="18" charset="0"/>
                <a:cs typeface="Times New Roman" panose="02020603050405020304" pitchFamily="18" charset="0"/>
              </a:rPr>
              <a:t>      &lt;frame name = "center" </a:t>
            </a:r>
            <a:r>
              <a:rPr lang="en-US" sz="2200" b="1" dirty="0" err="1">
                <a:solidFill>
                  <a:srgbClr val="C00000"/>
                </a:solidFill>
                <a:latin typeface="Times New Roman" panose="02020603050405020304" pitchFamily="18" charset="0"/>
                <a:cs typeface="Times New Roman" panose="02020603050405020304" pitchFamily="18" charset="0"/>
              </a:rPr>
              <a:t>src</a:t>
            </a:r>
            <a:r>
              <a:rPr lang="en-US" sz="2200" b="1" dirty="0">
                <a:solidFill>
                  <a:srgbClr val="C00000"/>
                </a:solidFill>
                <a:latin typeface="Times New Roman" panose="02020603050405020304" pitchFamily="18" charset="0"/>
                <a:cs typeface="Times New Roman" panose="02020603050405020304" pitchFamily="18" charset="0"/>
              </a:rPr>
              <a:t> = "/html/main_frame.htm" /&gt;</a:t>
            </a:r>
          </a:p>
          <a:p>
            <a:pPr marL="1508760" lvl="3" indent="0">
              <a:buNone/>
            </a:pPr>
            <a:r>
              <a:rPr lang="en-US" sz="2200" b="1" dirty="0">
                <a:solidFill>
                  <a:srgbClr val="C00000"/>
                </a:solidFill>
                <a:latin typeface="Times New Roman" panose="02020603050405020304" pitchFamily="18" charset="0"/>
                <a:cs typeface="Times New Roman" panose="02020603050405020304" pitchFamily="18" charset="0"/>
              </a:rPr>
              <a:t>      &lt;frame name = "right" </a:t>
            </a:r>
            <a:r>
              <a:rPr lang="en-US" sz="2200" b="1" dirty="0" err="1">
                <a:solidFill>
                  <a:srgbClr val="C00000"/>
                </a:solidFill>
                <a:latin typeface="Times New Roman" panose="02020603050405020304" pitchFamily="18" charset="0"/>
                <a:cs typeface="Times New Roman" panose="02020603050405020304" pitchFamily="18" charset="0"/>
              </a:rPr>
              <a:t>src</a:t>
            </a:r>
            <a:r>
              <a:rPr lang="en-US" sz="2200" b="1" dirty="0">
                <a:solidFill>
                  <a:srgbClr val="C00000"/>
                </a:solidFill>
                <a:latin typeface="Times New Roman" panose="02020603050405020304" pitchFamily="18" charset="0"/>
                <a:cs typeface="Times New Roman" panose="02020603050405020304" pitchFamily="18" charset="0"/>
              </a:rPr>
              <a:t> = "/html/bottom_frame.htm" /&gt;</a:t>
            </a:r>
          </a:p>
          <a:p>
            <a:pPr marL="1508760" lvl="3" indent="0">
              <a:buNone/>
            </a:pPr>
            <a:r>
              <a:rPr lang="en-US" sz="2200" b="1" dirty="0">
                <a:solidFill>
                  <a:srgbClr val="C00000"/>
                </a:solidFill>
                <a:latin typeface="Times New Roman" panose="02020603050405020304" pitchFamily="18" charset="0"/>
                <a:cs typeface="Times New Roman" panose="02020603050405020304" pitchFamily="18" charset="0"/>
              </a:rPr>
              <a:t>      &lt;</a:t>
            </a:r>
            <a:r>
              <a:rPr lang="en-US" sz="2200" b="1" dirty="0" err="1">
                <a:solidFill>
                  <a:srgbClr val="C00000"/>
                </a:solidFill>
                <a:latin typeface="Times New Roman" panose="02020603050405020304" pitchFamily="18" charset="0"/>
                <a:cs typeface="Times New Roman" panose="02020603050405020304" pitchFamily="18" charset="0"/>
              </a:rPr>
              <a:t>noframes</a:t>
            </a:r>
            <a:r>
              <a:rPr lang="en-US" sz="2200" b="1" dirty="0">
                <a:solidFill>
                  <a:srgbClr val="C00000"/>
                </a:solidFill>
                <a:latin typeface="Times New Roman" panose="02020603050405020304" pitchFamily="18" charset="0"/>
                <a:cs typeface="Times New Roman" panose="02020603050405020304" pitchFamily="18" charset="0"/>
              </a:rPr>
              <a:t>&gt;</a:t>
            </a:r>
          </a:p>
          <a:p>
            <a:pPr marL="1508760" lvl="3" indent="0">
              <a:buNone/>
            </a:pPr>
            <a:r>
              <a:rPr lang="en-US" sz="2200" b="1" dirty="0">
                <a:solidFill>
                  <a:srgbClr val="C00000"/>
                </a:solidFill>
                <a:latin typeface="Times New Roman" panose="02020603050405020304" pitchFamily="18" charset="0"/>
                <a:cs typeface="Times New Roman" panose="02020603050405020304" pitchFamily="18" charset="0"/>
              </a:rPr>
              <a:t>         &lt;body&gt;Your browser does not support frames.&lt;/body&gt;</a:t>
            </a:r>
          </a:p>
          <a:p>
            <a:pPr marL="1508760" lvl="3" indent="0">
              <a:buNone/>
            </a:pPr>
            <a:r>
              <a:rPr lang="en-US" sz="2200" b="1" dirty="0">
                <a:solidFill>
                  <a:srgbClr val="C00000"/>
                </a:solidFill>
                <a:latin typeface="Times New Roman" panose="02020603050405020304" pitchFamily="18" charset="0"/>
                <a:cs typeface="Times New Roman" panose="02020603050405020304" pitchFamily="18" charset="0"/>
              </a:rPr>
              <a:t>      &lt;/</a:t>
            </a:r>
            <a:r>
              <a:rPr lang="en-US" sz="2200" b="1" dirty="0" err="1">
                <a:solidFill>
                  <a:srgbClr val="C00000"/>
                </a:solidFill>
                <a:latin typeface="Times New Roman" panose="02020603050405020304" pitchFamily="18" charset="0"/>
                <a:cs typeface="Times New Roman" panose="02020603050405020304" pitchFamily="18" charset="0"/>
              </a:rPr>
              <a:t>noframes</a:t>
            </a:r>
            <a:r>
              <a:rPr lang="en-US" sz="2200" b="1" dirty="0">
                <a:solidFill>
                  <a:srgbClr val="C00000"/>
                </a:solidFill>
                <a:latin typeface="Times New Roman" panose="02020603050405020304" pitchFamily="18" charset="0"/>
                <a:cs typeface="Times New Roman" panose="02020603050405020304" pitchFamily="18" charset="0"/>
              </a:rPr>
              <a:t>&gt;</a:t>
            </a:r>
          </a:p>
          <a:p>
            <a:pPr marL="1508760" lvl="3" indent="0">
              <a:buNone/>
            </a:pPr>
            <a:r>
              <a:rPr lang="en-US" sz="2200" b="1" dirty="0">
                <a:solidFill>
                  <a:srgbClr val="C00000"/>
                </a:solidFill>
                <a:latin typeface="Times New Roman" panose="02020603050405020304" pitchFamily="18" charset="0"/>
                <a:cs typeface="Times New Roman" panose="02020603050405020304" pitchFamily="18" charset="0"/>
              </a:rPr>
              <a:t>   &lt;/frameset&gt;</a:t>
            </a:r>
          </a:p>
        </p:txBody>
      </p:sp>
      <p:sp>
        <p:nvSpPr>
          <p:cNvPr id="5" name="Footer Placeholder 4"/>
          <p:cNvSpPr>
            <a:spLocks noGrp="1"/>
          </p:cNvSpPr>
          <p:nvPr>
            <p:ph type="ftr" sz="quarter" idx="11"/>
          </p:nvPr>
        </p:nvSpPr>
        <p:spPr/>
        <p:txBody>
          <a:bodyPr/>
          <a:lstStyle/>
          <a:p>
            <a:pPr>
              <a:defRPr/>
            </a:pPr>
            <a:r>
              <a:rPr lang="en-IN" dirty="0" smtClean="0"/>
              <a:t> </a:t>
            </a:r>
            <a:endParaRPr lang="en-IN" dirty="0"/>
          </a:p>
        </p:txBody>
      </p:sp>
    </p:spTree>
    <p:extLst>
      <p:ext uri="{BB962C8B-B14F-4D97-AF65-F5344CB8AC3E}">
        <p14:creationId xmlns:p14="http://schemas.microsoft.com/office/powerpoint/2010/main" val="22008154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308E6CD-46F5-457E-8B22-A7893A1A4D45}"/>
              </a:ext>
            </a:extLst>
          </p:cNvPr>
          <p:cNvSpPr>
            <a:spLocks noGrp="1"/>
          </p:cNvSpPr>
          <p:nvPr>
            <p:ph type="title"/>
          </p:nvPr>
        </p:nvSpPr>
        <p:spPr/>
        <p:txBody>
          <a:bodyPr/>
          <a:lstStyle/>
          <a:p>
            <a:r>
              <a:rPr lang="en-IN" dirty="0"/>
              <a:t>iframe</a:t>
            </a:r>
          </a:p>
        </p:txBody>
      </p:sp>
      <p:sp>
        <p:nvSpPr>
          <p:cNvPr id="3" name="Content Placeholder 2">
            <a:extLst>
              <a:ext uri="{FF2B5EF4-FFF2-40B4-BE49-F238E27FC236}">
                <a16:creationId xmlns:a16="http://schemas.microsoft.com/office/drawing/2014/main" xmlns="" id="{F3B80858-051E-457E-AC8A-4A5DF5B24F0C}"/>
              </a:ext>
            </a:extLst>
          </p:cNvPr>
          <p:cNvSpPr>
            <a:spLocks noGrp="1"/>
          </p:cNvSpPr>
          <p:nvPr>
            <p:ph idx="1"/>
          </p:nvPr>
        </p:nvSpPr>
        <p:spPr>
          <a:xfrm>
            <a:off x="581025" y="1368425"/>
            <a:ext cx="10515600" cy="4351338"/>
          </a:xfrm>
        </p:spPr>
        <p:txBody>
          <a:bodyPr>
            <a:normAutofit/>
          </a:bodyPr>
          <a:lstStyle/>
          <a:p>
            <a:r>
              <a:rPr lang="en-US" sz="2400" b="1" dirty="0">
                <a:solidFill>
                  <a:srgbClr val="C00000"/>
                </a:solidFill>
                <a:latin typeface="Times New Roman" panose="02020603050405020304" pitchFamily="18" charset="0"/>
                <a:cs typeface="Times New Roman" panose="02020603050405020304" pitchFamily="18" charset="0"/>
                <a:hlinkClick r:id="rId2"/>
              </a:rPr>
              <a:t>&lt;iframe&gt;</a:t>
            </a:r>
            <a:r>
              <a:rPr lang="en-US" sz="2400" b="1" dirty="0">
                <a:latin typeface="Times New Roman" panose="02020603050405020304" pitchFamily="18" charset="0"/>
                <a:cs typeface="Times New Roman" panose="02020603050405020304" pitchFamily="18" charset="0"/>
              </a:rPr>
              <a:t> tag to embed another document within the current HTML document.</a:t>
            </a:r>
          </a:p>
          <a:p>
            <a:endParaRPr lang="en-US" sz="2400" b="1" dirty="0">
              <a:solidFill>
                <a:srgbClr val="C00000"/>
              </a:solidFill>
              <a:latin typeface="Times New Roman" panose="02020603050405020304" pitchFamily="18" charset="0"/>
              <a:cs typeface="Times New Roman" panose="02020603050405020304" pitchFamily="18" charset="0"/>
            </a:endParaRPr>
          </a:p>
          <a:p>
            <a:pPr marL="960120" lvl="2" indent="0">
              <a:buNone/>
            </a:pPr>
            <a:r>
              <a:rPr lang="en-US" sz="2400" b="1" dirty="0">
                <a:solidFill>
                  <a:srgbClr val="0070C0"/>
                </a:solidFill>
                <a:latin typeface="Times New Roman" panose="02020603050405020304" pitchFamily="18" charset="0"/>
                <a:cs typeface="Times New Roman" panose="02020603050405020304" pitchFamily="18" charset="0"/>
              </a:rPr>
              <a:t>&lt;iframe </a:t>
            </a:r>
            <a:r>
              <a:rPr lang="en-US" sz="2400" b="1" dirty="0" err="1">
                <a:solidFill>
                  <a:srgbClr val="0070C0"/>
                </a:solidFill>
                <a:latin typeface="Times New Roman" panose="02020603050405020304" pitchFamily="18" charset="0"/>
                <a:cs typeface="Times New Roman" panose="02020603050405020304" pitchFamily="18" charset="0"/>
              </a:rPr>
              <a:t>src</a:t>
            </a:r>
            <a:r>
              <a:rPr lang="en-US" sz="2400" b="1" dirty="0">
                <a:solidFill>
                  <a:srgbClr val="0070C0"/>
                </a:solidFill>
                <a:latin typeface="Times New Roman" panose="02020603050405020304" pitchFamily="18" charset="0"/>
                <a:cs typeface="Times New Roman" panose="02020603050405020304" pitchFamily="18" charset="0"/>
              </a:rPr>
              <a:t>=“www.HTMLSamples.com" title=“Sample HTML Page"&gt;</a:t>
            </a:r>
          </a:p>
          <a:p>
            <a:pPr marL="960120" lvl="2" indent="0">
              <a:buNone/>
            </a:pPr>
            <a:r>
              <a:rPr lang="en-US" sz="2400" b="1" dirty="0">
                <a:solidFill>
                  <a:srgbClr val="0070C0"/>
                </a:solidFill>
                <a:latin typeface="Times New Roman" panose="02020603050405020304" pitchFamily="18" charset="0"/>
                <a:cs typeface="Times New Roman" panose="02020603050405020304" pitchFamily="18" charset="0"/>
              </a:rPr>
              <a:t>&lt;/iframe&gt;</a:t>
            </a:r>
          </a:p>
          <a:p>
            <a:endParaRPr lang="en-IN" sz="2400"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xmlns="" id="{0A8AB701-EACD-4A52-B12D-3F4D4A80A48A}"/>
              </a:ext>
            </a:extLst>
          </p:cNvPr>
          <p:cNvSpPr>
            <a:spLocks noGrp="1"/>
          </p:cNvSpPr>
          <p:nvPr>
            <p:ph type="ftr" sz="quarter" idx="11"/>
          </p:nvPr>
        </p:nvSpPr>
        <p:spPr/>
        <p:txBody>
          <a:bodyPr/>
          <a:lstStyle/>
          <a:p>
            <a:pPr>
              <a:defRPr/>
            </a:pPr>
            <a:r>
              <a:rPr lang="en-IN" dirty="0" smtClean="0"/>
              <a:t> </a:t>
            </a:r>
            <a:endParaRPr lang="en-IN" dirty="0"/>
          </a:p>
        </p:txBody>
      </p:sp>
    </p:spTree>
    <p:extLst>
      <p:ext uri="{BB962C8B-B14F-4D97-AF65-F5344CB8AC3E}">
        <p14:creationId xmlns:p14="http://schemas.microsoft.com/office/powerpoint/2010/main" val="2647155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1981200" y="274638"/>
            <a:ext cx="8229600" cy="792162"/>
          </a:xfrm>
        </p:spPr>
        <p:txBody>
          <a:bodyPr>
            <a:normAutofit/>
          </a:bodyPr>
          <a:lstStyle/>
          <a:p>
            <a:pPr algn="l"/>
            <a:r>
              <a:rPr lang="en-US" altLang="en-US" sz="3200" b="1" dirty="0">
                <a:solidFill>
                  <a:srgbClr val="0070C0"/>
                </a:solidFill>
                <a:latin typeface="Times New Roman" pitchFamily="18" charset="0"/>
                <a:cs typeface="Times New Roman" pitchFamily="18" charset="0"/>
              </a:rPr>
              <a:t>FORMS</a:t>
            </a:r>
          </a:p>
        </p:txBody>
      </p:sp>
      <p:sp>
        <p:nvSpPr>
          <p:cNvPr id="13315" name="Content Placeholder 2"/>
          <p:cNvSpPr>
            <a:spLocks noGrp="1"/>
          </p:cNvSpPr>
          <p:nvPr>
            <p:ph idx="1"/>
          </p:nvPr>
        </p:nvSpPr>
        <p:spPr>
          <a:xfrm>
            <a:off x="1752600" y="1219200"/>
            <a:ext cx="8763000" cy="5029200"/>
          </a:xfrm>
        </p:spPr>
        <p:txBody>
          <a:bodyPr>
            <a:noAutofit/>
          </a:bodyPr>
          <a:lstStyle/>
          <a:p>
            <a:pPr algn="just"/>
            <a:r>
              <a:rPr lang="en-US" dirty="0">
                <a:latin typeface="Times New Roman" pitchFamily="18" charset="0"/>
                <a:cs typeface="Times New Roman" pitchFamily="18" charset="0"/>
              </a:rPr>
              <a:t>HTML Forms are required when you want to collect data from the user.</a:t>
            </a:r>
          </a:p>
          <a:p>
            <a:pPr algn="just"/>
            <a:r>
              <a:rPr lang="en-US" dirty="0">
                <a:latin typeface="Times New Roman" pitchFamily="18" charset="0"/>
                <a:cs typeface="Times New Roman" pitchFamily="18" charset="0"/>
              </a:rPr>
              <a:t>For example during user registration you would like to collect information such as name, email address, credit card, etc.</a:t>
            </a:r>
          </a:p>
          <a:p>
            <a:pPr algn="just"/>
            <a:r>
              <a:rPr lang="en-US" dirty="0">
                <a:latin typeface="Times New Roman" pitchFamily="18" charset="0"/>
                <a:cs typeface="Times New Roman" pitchFamily="18" charset="0"/>
              </a:rPr>
              <a:t>A form will take input from the user and then will post it to a back-end application such as CGI, Servlets ,JSP  or PHP script etc.</a:t>
            </a:r>
          </a:p>
          <a:p>
            <a:pPr algn="just"/>
            <a:r>
              <a:rPr lang="en-US" dirty="0">
                <a:latin typeface="Times New Roman" pitchFamily="18" charset="0"/>
                <a:cs typeface="Times New Roman" pitchFamily="18" charset="0"/>
              </a:rPr>
              <a:t>There are various form elements available like </a:t>
            </a:r>
            <a:r>
              <a:rPr lang="en-US" dirty="0">
                <a:solidFill>
                  <a:srgbClr val="7030A0"/>
                </a:solidFill>
                <a:latin typeface="Times New Roman" pitchFamily="18" charset="0"/>
                <a:cs typeface="Times New Roman" pitchFamily="18" charset="0"/>
              </a:rPr>
              <a:t>text fields, text area fields, drop-down menus, radio buttons, checkboxes</a:t>
            </a:r>
            <a:r>
              <a:rPr lang="en-US" dirty="0">
                <a:latin typeface="Times New Roman" pitchFamily="18" charset="0"/>
                <a:cs typeface="Times New Roman" pitchFamily="18" charset="0"/>
              </a:rPr>
              <a:t>, etc.</a:t>
            </a:r>
          </a:p>
        </p:txBody>
      </p:sp>
    </p:spTree>
    <p:extLst>
      <p:ext uri="{BB962C8B-B14F-4D97-AF65-F5344CB8AC3E}">
        <p14:creationId xmlns:p14="http://schemas.microsoft.com/office/powerpoint/2010/main" val="393396540"/>
      </p:ext>
    </p:extLst>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23914" y="257153"/>
            <a:ext cx="11068085" cy="3514750"/>
          </a:xfrm>
        </p:spPr>
        <p:txBody>
          <a:bodyPr>
            <a:noAutofit/>
          </a:bodyPr>
          <a:lstStyle/>
          <a:p>
            <a:pPr>
              <a:buNone/>
            </a:pPr>
            <a:r>
              <a:rPr lang="en-IN" sz="2600" b="1" dirty="0">
                <a:solidFill>
                  <a:srgbClr val="7030A0"/>
                </a:solidFill>
                <a:latin typeface="Times New Roman" panose="02020603050405020304" pitchFamily="18" charset="0"/>
                <a:cs typeface="Times New Roman" panose="02020603050405020304" pitchFamily="18" charset="0"/>
              </a:rPr>
              <a:t>HTML Forms</a:t>
            </a:r>
            <a:r>
              <a:rPr lang="en-US" sz="2600" b="1" dirty="0">
                <a:solidFill>
                  <a:srgbClr val="7030A0"/>
                </a:solidFill>
                <a:latin typeface="Times New Roman" panose="02020603050405020304" pitchFamily="18" charset="0"/>
                <a:cs typeface="Times New Roman" panose="02020603050405020304" pitchFamily="18" charset="0"/>
              </a:rPr>
              <a:t>:</a:t>
            </a:r>
          </a:p>
          <a:p>
            <a:r>
              <a:rPr lang="en-US" sz="2600" dirty="0">
                <a:latin typeface="Times New Roman" panose="02020603050405020304" pitchFamily="18" charset="0"/>
                <a:cs typeface="Times New Roman" panose="02020603050405020304" pitchFamily="18" charset="0"/>
              </a:rPr>
              <a:t>An HTML form is used to collect user input. </a:t>
            </a:r>
          </a:p>
          <a:p>
            <a:r>
              <a:rPr lang="en-US" sz="2600" dirty="0">
                <a:latin typeface="Times New Roman" panose="02020603050405020304" pitchFamily="18" charset="0"/>
                <a:cs typeface="Times New Roman" panose="02020603050405020304" pitchFamily="18" charset="0"/>
              </a:rPr>
              <a:t>The user input is most often sent to a server for processing.</a:t>
            </a:r>
          </a:p>
          <a:p>
            <a:r>
              <a:rPr lang="en-US" sz="2600" dirty="0">
                <a:latin typeface="Times New Roman" panose="02020603050405020304" pitchFamily="18" charset="0"/>
                <a:cs typeface="Times New Roman" panose="02020603050405020304" pitchFamily="18" charset="0"/>
              </a:rPr>
              <a:t>The HTML &lt;form&gt; element is used to create an HTML form</a:t>
            </a:r>
          </a:p>
          <a:p>
            <a:r>
              <a:rPr lang="en-US" sz="2600" dirty="0">
                <a:latin typeface="Times New Roman" panose="02020603050405020304" pitchFamily="18" charset="0"/>
                <a:cs typeface="Times New Roman" panose="02020603050405020304" pitchFamily="18" charset="0"/>
              </a:rPr>
              <a:t>The &lt;form&gt; element is a container for different types of input elements: text fields, checkboxes, radio buttons, submit buttons, etc.</a:t>
            </a:r>
          </a:p>
          <a:p>
            <a:r>
              <a:rPr lang="en-US" sz="2600" dirty="0">
                <a:latin typeface="Times New Roman" panose="02020603050405020304" pitchFamily="18" charset="0"/>
                <a:cs typeface="Times New Roman" panose="02020603050405020304" pitchFamily="18" charset="0"/>
              </a:rPr>
              <a:t>The HTML &lt;input&gt; element is the most used form element.</a:t>
            </a:r>
          </a:p>
          <a:p>
            <a:r>
              <a:rPr lang="en-US" sz="2600" dirty="0">
                <a:latin typeface="Times New Roman" panose="02020603050405020304" pitchFamily="18" charset="0"/>
                <a:cs typeface="Times New Roman" panose="02020603050405020304" pitchFamily="18" charset="0"/>
              </a:rPr>
              <a:t>It can be displayed in many ways, depending on the </a:t>
            </a:r>
            <a:r>
              <a:rPr lang="en-US" sz="2600" i="1" dirty="0">
                <a:solidFill>
                  <a:schemeClr val="accent1">
                    <a:lumMod val="50000"/>
                  </a:schemeClr>
                </a:solidFill>
                <a:latin typeface="Times New Roman" panose="02020603050405020304" pitchFamily="18" charset="0"/>
                <a:cs typeface="Times New Roman" panose="02020603050405020304" pitchFamily="18" charset="0"/>
              </a:rPr>
              <a:t>type</a:t>
            </a:r>
            <a:r>
              <a:rPr lang="en-US" sz="2600" dirty="0">
                <a:latin typeface="Times New Roman" panose="02020603050405020304" pitchFamily="18" charset="0"/>
                <a:cs typeface="Times New Roman" panose="02020603050405020304" pitchFamily="18" charset="0"/>
              </a:rPr>
              <a:t> attribute.</a:t>
            </a:r>
            <a:endParaRPr lang="en-IN" sz="2600" dirty="0">
              <a:latin typeface="Times New Roman" panose="02020603050405020304" pitchFamily="18" charset="0"/>
              <a:cs typeface="Times New Roman" panose="02020603050405020304" pitchFamily="18" charset="0"/>
            </a:endParaRPr>
          </a:p>
          <a:p>
            <a:pPr>
              <a:buNone/>
            </a:pPr>
            <a:endParaRPr lang="en-US" sz="2600" dirty="0">
              <a:latin typeface="Times New Roman" panose="02020603050405020304" pitchFamily="18" charset="0"/>
              <a:cs typeface="Times New Roman" panose="02020603050405020304" pitchFamily="18" charset="0"/>
            </a:endParaRPr>
          </a:p>
          <a:p>
            <a:pPr>
              <a:buNone/>
            </a:pPr>
            <a:endParaRPr lang="en-IN" sz="2600" dirty="0">
              <a:latin typeface="Times New Roman" pitchFamily="18" charset="0"/>
              <a:cs typeface="Times New Roman" pitchFamily="18" charset="0"/>
            </a:endParaRPr>
          </a:p>
          <a:p>
            <a:pPr>
              <a:buNone/>
            </a:pPr>
            <a:endParaRPr lang="en-US" sz="2600" dirty="0">
              <a:latin typeface="Times New Roman" pitchFamily="18" charset="0"/>
              <a:cs typeface="Times New Roman" pitchFamily="18" charset="0"/>
            </a:endParaRPr>
          </a:p>
          <a:p>
            <a:pPr marL="548640" lvl="1" indent="0">
              <a:buNone/>
            </a:pPr>
            <a:endParaRPr lang="en-US" sz="2600" dirty="0">
              <a:latin typeface="Times New Roman" pitchFamily="18" charset="0"/>
              <a:cs typeface="Times New Roman" pitchFamily="18" charset="0"/>
            </a:endParaRPr>
          </a:p>
        </p:txBody>
      </p:sp>
      <p:sp>
        <p:nvSpPr>
          <p:cNvPr id="5" name="Footer Placeholder 4"/>
          <p:cNvSpPr>
            <a:spLocks noGrp="1"/>
          </p:cNvSpPr>
          <p:nvPr>
            <p:ph type="ftr" sz="quarter" idx="11"/>
          </p:nvPr>
        </p:nvSpPr>
        <p:spPr/>
        <p:txBody>
          <a:bodyPr/>
          <a:lstStyle/>
          <a:p>
            <a:pPr>
              <a:defRPr/>
            </a:pPr>
            <a:r>
              <a:rPr lang="en-IN" dirty="0" smtClean="0"/>
              <a:t> </a:t>
            </a:r>
            <a:endParaRPr lang="en-IN" dirty="0"/>
          </a:p>
        </p:txBody>
      </p:sp>
      <p:pic>
        <p:nvPicPr>
          <p:cNvPr id="1027" name="Picture 3"/>
          <p:cNvPicPr>
            <a:picLocks noChangeAspect="1" noChangeArrowheads="1"/>
          </p:cNvPicPr>
          <p:nvPr/>
        </p:nvPicPr>
        <p:blipFill>
          <a:blip r:embed="rId2"/>
          <a:srcRect/>
          <a:stretch>
            <a:fillRect/>
          </a:stretch>
        </p:blipFill>
        <p:spPr bwMode="auto">
          <a:xfrm>
            <a:off x="1852583" y="3956050"/>
            <a:ext cx="8486834" cy="2400300"/>
          </a:xfrm>
          <a:prstGeom prst="rect">
            <a:avLst/>
          </a:prstGeom>
          <a:noFill/>
          <a:ln w="9525">
            <a:noFill/>
            <a:miter lim="800000"/>
            <a:headEnd/>
            <a:tailEnd/>
          </a:ln>
          <a:effectLst/>
        </p:spPr>
      </p:pic>
    </p:spTree>
    <p:extLst>
      <p:ext uri="{BB962C8B-B14F-4D97-AF65-F5344CB8AC3E}">
        <p14:creationId xmlns:p14="http://schemas.microsoft.com/office/powerpoint/2010/main" val="19458739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normAutofit/>
          </a:bodyPr>
          <a:lstStyle/>
          <a:p>
            <a:pPr algn="l"/>
            <a:r>
              <a:rPr lang="en-US" altLang="en-US" sz="3200" b="1" dirty="0">
                <a:solidFill>
                  <a:srgbClr val="0070C0"/>
                </a:solidFill>
                <a:latin typeface="Times New Roman" pitchFamily="18" charset="0"/>
                <a:cs typeface="Times New Roman" pitchFamily="18" charset="0"/>
              </a:rPr>
              <a:t>FORMS</a:t>
            </a:r>
          </a:p>
        </p:txBody>
      </p:sp>
      <p:sp>
        <p:nvSpPr>
          <p:cNvPr id="13315" name="Content Placeholder 2"/>
          <p:cNvSpPr>
            <a:spLocks noGrp="1"/>
          </p:cNvSpPr>
          <p:nvPr>
            <p:ph idx="1"/>
          </p:nvPr>
        </p:nvSpPr>
        <p:spPr>
          <a:xfrm>
            <a:off x="1752600" y="1219200"/>
            <a:ext cx="8763000" cy="5029200"/>
          </a:xfrm>
        </p:spPr>
        <p:txBody>
          <a:bodyPr/>
          <a:lstStyle/>
          <a:p>
            <a:r>
              <a:rPr lang="en-US" sz="2400" dirty="0"/>
              <a:t>The HTML </a:t>
            </a:r>
            <a:r>
              <a:rPr lang="en-US" sz="2400" b="1" dirty="0"/>
              <a:t>&lt;form&gt;</a:t>
            </a:r>
            <a:r>
              <a:rPr lang="en-US" sz="2400" dirty="0"/>
              <a:t> tag is used to create an HTML form and it has following syntax:</a:t>
            </a:r>
          </a:p>
          <a:p>
            <a:pPr marL="0" indent="0">
              <a:buNone/>
            </a:pPr>
            <a:r>
              <a:rPr lang="en-US" sz="2400" dirty="0">
                <a:solidFill>
                  <a:srgbClr val="FF0000"/>
                </a:solidFill>
              </a:rPr>
              <a:t>	&lt;form action="Script URL" method="GET|POST"&gt; </a:t>
            </a:r>
          </a:p>
          <a:p>
            <a:pPr marL="0" indent="0">
              <a:buNone/>
            </a:pPr>
            <a:r>
              <a:rPr lang="en-US" sz="2400" dirty="0">
                <a:solidFill>
                  <a:srgbClr val="FF0000"/>
                </a:solidFill>
              </a:rPr>
              <a:t>     	form elements like input, text area etc. </a:t>
            </a:r>
          </a:p>
          <a:p>
            <a:pPr marL="0" indent="0">
              <a:buNone/>
            </a:pPr>
            <a:r>
              <a:rPr lang="en-US" sz="2400" dirty="0">
                <a:solidFill>
                  <a:srgbClr val="FF0000"/>
                </a:solidFill>
              </a:rPr>
              <a:t>    	&lt;/form&gt;</a:t>
            </a: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p:txBody>
      </p:sp>
      <p:graphicFrame>
        <p:nvGraphicFramePr>
          <p:cNvPr id="2" name="Table 1"/>
          <p:cNvGraphicFramePr>
            <a:graphicFrameLocks noGrp="1"/>
          </p:cNvGraphicFramePr>
          <p:nvPr>
            <p:extLst/>
          </p:nvPr>
        </p:nvGraphicFramePr>
        <p:xfrm>
          <a:off x="2514600" y="3581400"/>
          <a:ext cx="7239000" cy="2072640"/>
        </p:xfrm>
        <a:graphic>
          <a:graphicData uri="http://schemas.openxmlformats.org/drawingml/2006/table">
            <a:tbl>
              <a:tblPr/>
              <a:tblGrid>
                <a:gridCol w="2023806">
                  <a:extLst>
                    <a:ext uri="{9D8B030D-6E8A-4147-A177-3AD203B41FA5}">
                      <a16:colId xmlns:a16="http://schemas.microsoft.com/office/drawing/2014/main" xmlns="" val="20000"/>
                    </a:ext>
                  </a:extLst>
                </a:gridCol>
                <a:gridCol w="5215194">
                  <a:extLst>
                    <a:ext uri="{9D8B030D-6E8A-4147-A177-3AD203B41FA5}">
                      <a16:colId xmlns:a16="http://schemas.microsoft.com/office/drawing/2014/main" xmlns="" val="20001"/>
                    </a:ext>
                  </a:extLst>
                </a:gridCol>
              </a:tblGrid>
              <a:tr h="0">
                <a:tc>
                  <a:txBody>
                    <a:bodyPr/>
                    <a:lstStyle/>
                    <a:p>
                      <a:pPr algn="l" fontAlgn="t"/>
                      <a:r>
                        <a:rPr lang="en-US" sz="2600" dirty="0">
                          <a:solidFill>
                            <a:schemeClr val="tx2"/>
                          </a:solidFill>
                          <a:effectLst/>
                          <a:latin typeface="Times New Roman" pitchFamily="18" charset="0"/>
                          <a:cs typeface="Times New Roman" pitchFamily="18" charset="0"/>
                        </a:rPr>
                        <a:t>Attribute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l" fontAlgn="t"/>
                      <a:r>
                        <a:rPr lang="en-US" sz="2600" dirty="0">
                          <a:solidFill>
                            <a:schemeClr val="tx2"/>
                          </a:solidFill>
                          <a:effectLst/>
                          <a:latin typeface="Times New Roman" pitchFamily="18" charset="0"/>
                          <a:cs typeface="Times New Roman" pitchFamily="18" charset="0"/>
                        </a:rPr>
                        <a:t>Description</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xmlns="" val="10000"/>
                  </a:ext>
                </a:extLst>
              </a:tr>
              <a:tr h="0">
                <a:tc>
                  <a:txBody>
                    <a:bodyPr/>
                    <a:lstStyle/>
                    <a:p>
                      <a:pPr algn="just" fontAlgn="t"/>
                      <a:r>
                        <a:rPr lang="en-US" sz="2000" dirty="0">
                          <a:effectLst/>
                        </a:rPr>
                        <a:t>action</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2000" dirty="0">
                          <a:effectLst/>
                        </a:rPr>
                        <a:t>url of Backend script ready to process your passed data.</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xmlns="" val="10001"/>
                  </a:ext>
                </a:extLst>
              </a:tr>
              <a:tr h="0">
                <a:tc>
                  <a:txBody>
                    <a:bodyPr/>
                    <a:lstStyle/>
                    <a:p>
                      <a:pPr algn="just" fontAlgn="t"/>
                      <a:r>
                        <a:rPr lang="en-US" sz="2000">
                          <a:effectLst/>
                        </a:rPr>
                        <a:t>method</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2000" dirty="0">
                          <a:effectLst/>
                        </a:rPr>
                        <a:t>Method to be used to send data. The most frequently used are GET and POST methods.</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xmlns="" val="10002"/>
                  </a:ext>
                </a:extLst>
              </a:tr>
            </a:tbl>
          </a:graphicData>
        </a:graphic>
      </p:graphicFrame>
    </p:spTree>
    <p:extLst>
      <p:ext uri="{BB962C8B-B14F-4D97-AF65-F5344CB8AC3E}">
        <p14:creationId xmlns:p14="http://schemas.microsoft.com/office/powerpoint/2010/main" val="1231158496"/>
      </p:ext>
    </p:extLst>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1981200" y="274638"/>
            <a:ext cx="8229600" cy="715962"/>
          </a:xfrm>
        </p:spPr>
        <p:txBody>
          <a:bodyPr>
            <a:normAutofit/>
          </a:bodyPr>
          <a:lstStyle/>
          <a:p>
            <a:pPr algn="l"/>
            <a:r>
              <a:rPr lang="en-US" sz="3200" dirty="0">
                <a:solidFill>
                  <a:schemeClr val="accent1"/>
                </a:solidFill>
              </a:rPr>
              <a:t>HTML Form Controls or Elements</a:t>
            </a:r>
          </a:p>
        </p:txBody>
      </p:sp>
      <p:sp>
        <p:nvSpPr>
          <p:cNvPr id="13315" name="Content Placeholder 2"/>
          <p:cNvSpPr>
            <a:spLocks noGrp="1"/>
          </p:cNvSpPr>
          <p:nvPr>
            <p:ph idx="1"/>
          </p:nvPr>
        </p:nvSpPr>
        <p:spPr>
          <a:xfrm>
            <a:off x="1752600" y="1219200"/>
            <a:ext cx="8763000" cy="5029200"/>
          </a:xfrm>
        </p:spPr>
        <p:txBody>
          <a:bodyPr>
            <a:noAutofit/>
          </a:bodyPr>
          <a:lstStyle/>
          <a:p>
            <a:r>
              <a:rPr lang="en-US" dirty="0"/>
              <a:t>There are different types of form controls that you can use to collect data using HTML form </a:t>
            </a:r>
          </a:p>
          <a:p>
            <a:pPr algn="just"/>
            <a:r>
              <a:rPr lang="en-US" dirty="0">
                <a:solidFill>
                  <a:srgbClr val="00B050"/>
                </a:solidFill>
              </a:rPr>
              <a:t>Text Input Controls</a:t>
            </a:r>
          </a:p>
          <a:p>
            <a:pPr algn="just"/>
            <a:r>
              <a:rPr lang="en-US" dirty="0">
                <a:solidFill>
                  <a:srgbClr val="00B050"/>
                </a:solidFill>
              </a:rPr>
              <a:t>Radio Box Controls</a:t>
            </a:r>
          </a:p>
          <a:p>
            <a:pPr algn="just"/>
            <a:r>
              <a:rPr lang="en-US" dirty="0">
                <a:solidFill>
                  <a:srgbClr val="00B050"/>
                </a:solidFill>
              </a:rPr>
              <a:t>Checkboxes Controls</a:t>
            </a:r>
          </a:p>
          <a:p>
            <a:pPr algn="just"/>
            <a:r>
              <a:rPr lang="en-US" dirty="0">
                <a:solidFill>
                  <a:srgbClr val="00B050"/>
                </a:solidFill>
              </a:rPr>
              <a:t>Select Box Controls</a:t>
            </a:r>
          </a:p>
          <a:p>
            <a:pPr algn="just"/>
            <a:r>
              <a:rPr lang="en-US" dirty="0">
                <a:solidFill>
                  <a:srgbClr val="00B050"/>
                </a:solidFill>
              </a:rPr>
              <a:t>File Select boxes</a:t>
            </a:r>
          </a:p>
          <a:p>
            <a:pPr algn="just"/>
            <a:r>
              <a:rPr lang="en-US" dirty="0">
                <a:solidFill>
                  <a:srgbClr val="00B050"/>
                </a:solidFill>
              </a:rPr>
              <a:t>Submit and Reset Button</a:t>
            </a:r>
          </a:p>
          <a:p>
            <a:pPr marL="0" indent="0">
              <a:buNone/>
            </a:pP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128737352"/>
      </p:ext>
    </p:extLst>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normAutofit/>
          </a:bodyPr>
          <a:lstStyle/>
          <a:p>
            <a:pPr algn="l"/>
            <a:r>
              <a:rPr lang="en-US" sz="2800" dirty="0">
                <a:solidFill>
                  <a:srgbClr val="00B050"/>
                </a:solidFill>
              </a:rPr>
              <a:t>Text Input Controls</a:t>
            </a:r>
          </a:p>
        </p:txBody>
      </p:sp>
      <p:sp>
        <p:nvSpPr>
          <p:cNvPr id="38915" name="Content Placeholder 2"/>
          <p:cNvSpPr>
            <a:spLocks noGrp="1"/>
          </p:cNvSpPr>
          <p:nvPr>
            <p:ph idx="1"/>
          </p:nvPr>
        </p:nvSpPr>
        <p:spPr>
          <a:xfrm>
            <a:off x="1752600" y="1295400"/>
            <a:ext cx="8686800" cy="4800600"/>
          </a:xfrm>
        </p:spPr>
        <p:txBody>
          <a:bodyPr>
            <a:noAutofit/>
          </a:bodyPr>
          <a:lstStyle/>
          <a:p>
            <a:pPr marL="457200" indent="-457200" algn="just">
              <a:buFont typeface="Wingdings" pitchFamily="2" charset="2"/>
              <a:buAutoNum type="arabicPeriod"/>
            </a:pPr>
            <a:r>
              <a:rPr lang="en-US" altLang="en-US" dirty="0">
                <a:latin typeface="Times New Roman" pitchFamily="18" charset="0"/>
                <a:cs typeface="Times New Roman" pitchFamily="18" charset="0"/>
              </a:rPr>
              <a:t>Text Field</a:t>
            </a:r>
          </a:p>
          <a:p>
            <a:pPr marL="457200" indent="-457200" algn="just">
              <a:buFont typeface="Wingdings" pitchFamily="2" charset="2"/>
              <a:buAutoNum type="arabicPeriod"/>
            </a:pPr>
            <a:r>
              <a:rPr lang="en-US" altLang="en-US" dirty="0">
                <a:latin typeface="Times New Roman" pitchFamily="18" charset="0"/>
                <a:cs typeface="Times New Roman" pitchFamily="18" charset="0"/>
              </a:rPr>
              <a:t>Password field</a:t>
            </a:r>
          </a:p>
          <a:p>
            <a:pPr marL="457200" indent="-457200" algn="just">
              <a:buFont typeface="Wingdings" pitchFamily="2" charset="2"/>
              <a:buAutoNum type="arabicPeriod"/>
            </a:pPr>
            <a:r>
              <a:rPr lang="en-US" altLang="en-US" dirty="0">
                <a:latin typeface="Times New Roman" pitchFamily="18" charset="0"/>
                <a:cs typeface="Times New Roman" pitchFamily="18" charset="0"/>
              </a:rPr>
              <a:t>Text Area </a:t>
            </a:r>
          </a:p>
          <a:p>
            <a:pPr marL="0" indent="0" algn="just">
              <a:buNone/>
            </a:pPr>
            <a:r>
              <a:rPr lang="en-US" altLang="en-US" dirty="0">
                <a:solidFill>
                  <a:srgbClr val="FF0000"/>
                </a:solidFill>
                <a:latin typeface="Times New Roman" pitchFamily="18" charset="0"/>
                <a:cs typeface="Times New Roman" pitchFamily="18" charset="0"/>
              </a:rPr>
              <a:t>Text Field:</a:t>
            </a:r>
          </a:p>
          <a:p>
            <a:pPr marL="0" indent="0" algn="just"/>
            <a:r>
              <a:rPr lang="en-US" dirty="0">
                <a:latin typeface="Times New Roman" pitchFamily="18" charset="0"/>
                <a:cs typeface="Times New Roman" pitchFamily="18" charset="0"/>
              </a:rPr>
              <a:t>This is used for items that require only one line of user input, such as search boxes or names. </a:t>
            </a:r>
          </a:p>
          <a:p>
            <a:pPr marL="0" indent="0" algn="just"/>
            <a:r>
              <a:rPr lang="en-US" dirty="0">
                <a:latin typeface="Times New Roman" pitchFamily="18" charset="0"/>
                <a:cs typeface="Times New Roman" pitchFamily="18" charset="0"/>
              </a:rPr>
              <a:t>They are created using HTML </a:t>
            </a:r>
            <a:r>
              <a:rPr lang="en-US" b="1" dirty="0">
                <a:latin typeface="Times New Roman" pitchFamily="18" charset="0"/>
                <a:cs typeface="Times New Roman" pitchFamily="18" charset="0"/>
              </a:rPr>
              <a:t>&lt;input&gt;</a:t>
            </a:r>
            <a:r>
              <a:rPr lang="en-US" dirty="0">
                <a:latin typeface="Times New Roman" pitchFamily="18" charset="0"/>
                <a:cs typeface="Times New Roman" pitchFamily="18" charset="0"/>
              </a:rPr>
              <a:t> tag.</a:t>
            </a:r>
          </a:p>
          <a:p>
            <a:pPr marL="0" indent="0" algn="just">
              <a:buNone/>
            </a:pPr>
            <a:r>
              <a:rPr lang="en-US" altLang="en-US" dirty="0">
                <a:latin typeface="Times New Roman" pitchFamily="18" charset="0"/>
                <a:cs typeface="Times New Roman" pitchFamily="18" charset="0"/>
              </a:rPr>
              <a:t>Syntax:</a:t>
            </a:r>
          </a:p>
          <a:p>
            <a:pPr marL="0" indent="0" algn="just">
              <a:buNone/>
            </a:pPr>
            <a:r>
              <a:rPr lang="en-US" altLang="en-US" dirty="0">
                <a:solidFill>
                  <a:srgbClr val="7030A0"/>
                </a:solidFill>
                <a:latin typeface="Times New Roman" pitchFamily="18" charset="0"/>
                <a:cs typeface="Times New Roman" pitchFamily="18" charset="0"/>
              </a:rPr>
              <a:t>&lt;input type="text" name="</a:t>
            </a:r>
            <a:r>
              <a:rPr lang="en-US" altLang="en-US" dirty="0" err="1">
                <a:solidFill>
                  <a:srgbClr val="7030A0"/>
                </a:solidFill>
                <a:latin typeface="Times New Roman" pitchFamily="18" charset="0"/>
                <a:cs typeface="Times New Roman" pitchFamily="18" charset="0"/>
              </a:rPr>
              <a:t>first_name</a:t>
            </a:r>
            <a:r>
              <a:rPr lang="en-US" altLang="en-US" dirty="0">
                <a:solidFill>
                  <a:srgbClr val="7030A0"/>
                </a:solidFill>
                <a:latin typeface="Times New Roman" pitchFamily="18" charset="0"/>
                <a:cs typeface="Times New Roman" pitchFamily="18" charset="0"/>
              </a:rPr>
              <a:t>"  value=“initial value”/&gt;</a:t>
            </a:r>
          </a:p>
        </p:txBody>
      </p:sp>
    </p:spTree>
    <p:extLst>
      <p:ext uri="{BB962C8B-B14F-4D97-AF65-F5344CB8AC3E}">
        <p14:creationId xmlns:p14="http://schemas.microsoft.com/office/powerpoint/2010/main" val="470053188"/>
      </p:ext>
    </p:extLst>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a:xfrm>
            <a:off x="1981200" y="274638"/>
            <a:ext cx="8229600" cy="563562"/>
          </a:xfrm>
        </p:spPr>
        <p:txBody>
          <a:bodyPr>
            <a:normAutofit/>
          </a:bodyPr>
          <a:lstStyle/>
          <a:p>
            <a:pPr algn="l"/>
            <a:r>
              <a:rPr lang="en-US" sz="2800" dirty="0" err="1">
                <a:solidFill>
                  <a:srgbClr val="00B050"/>
                </a:solidFill>
              </a:rPr>
              <a:t>Cont</a:t>
            </a:r>
            <a:r>
              <a:rPr lang="en-US" sz="2800" dirty="0">
                <a:solidFill>
                  <a:srgbClr val="00B050"/>
                </a:solidFill>
              </a:rPr>
              <a:t> … </a:t>
            </a:r>
          </a:p>
        </p:txBody>
      </p:sp>
      <p:sp>
        <p:nvSpPr>
          <p:cNvPr id="38915" name="Content Placeholder 2"/>
          <p:cNvSpPr>
            <a:spLocks noGrp="1"/>
          </p:cNvSpPr>
          <p:nvPr>
            <p:ph idx="1"/>
          </p:nvPr>
        </p:nvSpPr>
        <p:spPr>
          <a:xfrm>
            <a:off x="1752600" y="914400"/>
            <a:ext cx="8839200" cy="5334000"/>
          </a:xfrm>
        </p:spPr>
        <p:txBody>
          <a:bodyPr>
            <a:normAutofit/>
          </a:bodyPr>
          <a:lstStyle/>
          <a:p>
            <a:pPr marL="0" indent="0">
              <a:buNone/>
            </a:pPr>
            <a:r>
              <a:rPr lang="en-US" altLang="en-US" sz="2400" dirty="0">
                <a:solidFill>
                  <a:srgbClr val="FF0000"/>
                </a:solidFill>
                <a:latin typeface="Times New Roman" pitchFamily="18" charset="0"/>
                <a:cs typeface="Times New Roman" pitchFamily="18" charset="0"/>
              </a:rPr>
              <a:t>Password field:</a:t>
            </a:r>
          </a:p>
          <a:p>
            <a:pPr algn="just"/>
            <a:r>
              <a:rPr lang="en-US" sz="2400" dirty="0">
                <a:latin typeface="Times New Roman" pitchFamily="18" charset="0"/>
                <a:cs typeface="Times New Roman" pitchFamily="18" charset="0"/>
              </a:rPr>
              <a:t>This is also a single-line text input but it masks the character as soon as a user enters it. </a:t>
            </a:r>
          </a:p>
          <a:p>
            <a:pPr algn="just"/>
            <a:r>
              <a:rPr lang="en-US" sz="2400" dirty="0">
                <a:latin typeface="Times New Roman" pitchFamily="18" charset="0"/>
                <a:cs typeface="Times New Roman" pitchFamily="18" charset="0"/>
              </a:rPr>
              <a:t>They are also created using HTML &lt;input&gt; tag but type attribute is set to </a:t>
            </a:r>
            <a:r>
              <a:rPr lang="en-US" sz="2400" b="1" dirty="0">
                <a:latin typeface="Times New Roman" pitchFamily="18" charset="0"/>
                <a:cs typeface="Times New Roman" pitchFamily="18" charset="0"/>
              </a:rPr>
              <a:t>password</a:t>
            </a:r>
            <a:r>
              <a:rPr lang="en-US" sz="2400" dirty="0">
                <a:latin typeface="Times New Roman" pitchFamily="18" charset="0"/>
                <a:cs typeface="Times New Roman" pitchFamily="18" charset="0"/>
              </a:rPr>
              <a:t>.</a:t>
            </a:r>
            <a:endParaRPr lang="en-US" altLang="en-US" sz="2400" dirty="0">
              <a:latin typeface="Times New Roman" pitchFamily="18" charset="0"/>
              <a:cs typeface="Times New Roman" pitchFamily="18" charset="0"/>
            </a:endParaRPr>
          </a:p>
          <a:p>
            <a:pPr marL="0" indent="0">
              <a:buNone/>
            </a:pPr>
            <a:r>
              <a:rPr lang="en-US" altLang="en-US" sz="2400" dirty="0">
                <a:solidFill>
                  <a:srgbClr val="FF0000"/>
                </a:solidFill>
                <a:latin typeface="Times New Roman" pitchFamily="18" charset="0"/>
                <a:cs typeface="Times New Roman" pitchFamily="18" charset="0"/>
              </a:rPr>
              <a:t>Syntax:</a:t>
            </a:r>
          </a:p>
          <a:p>
            <a:pPr marL="0" indent="0">
              <a:buNone/>
            </a:pPr>
            <a:r>
              <a:rPr lang="en-US" altLang="en-US" sz="2400" dirty="0">
                <a:solidFill>
                  <a:srgbClr val="7030A0"/>
                </a:solidFill>
                <a:latin typeface="Times New Roman" pitchFamily="18" charset="0"/>
                <a:cs typeface="Times New Roman" pitchFamily="18" charset="0"/>
              </a:rPr>
              <a:t>&lt;input  type=“password" name=“password" /&gt;</a:t>
            </a:r>
          </a:p>
          <a:p>
            <a:pPr marL="0" indent="0">
              <a:buNone/>
            </a:pPr>
            <a:r>
              <a:rPr lang="en-US" sz="2400" dirty="0" err="1">
                <a:solidFill>
                  <a:srgbClr val="FF0000"/>
                </a:solidFill>
                <a:latin typeface="Times New Roman" pitchFamily="18" charset="0"/>
                <a:cs typeface="Times New Roman" pitchFamily="18" charset="0"/>
              </a:rPr>
              <a:t>Textarea</a:t>
            </a:r>
            <a:r>
              <a:rPr lang="en-US" sz="2400" dirty="0">
                <a:solidFill>
                  <a:srgbClr val="FF0000"/>
                </a:solidFill>
                <a:latin typeface="Times New Roman" pitchFamily="18" charset="0"/>
                <a:cs typeface="Times New Roman" pitchFamily="18" charset="0"/>
              </a:rPr>
              <a:t>:</a:t>
            </a:r>
            <a:endParaRPr lang="en-US" altLang="en-US" sz="2400" dirty="0">
              <a:solidFill>
                <a:srgbClr val="FF0000"/>
              </a:solidFill>
              <a:latin typeface="Times New Roman" pitchFamily="18" charset="0"/>
              <a:cs typeface="Times New Roman" pitchFamily="18" charset="0"/>
            </a:endParaRPr>
          </a:p>
          <a:p>
            <a:r>
              <a:rPr lang="en-US" sz="2400" dirty="0">
                <a:latin typeface="Times New Roman" pitchFamily="18" charset="0"/>
                <a:cs typeface="Times New Roman" pitchFamily="18" charset="0"/>
              </a:rPr>
              <a:t>This is used when the user is required to give details that may be longer than a single sentence. </a:t>
            </a:r>
          </a:p>
          <a:p>
            <a:r>
              <a:rPr lang="en-US" sz="2400" dirty="0">
                <a:latin typeface="Times New Roman" pitchFamily="18" charset="0"/>
                <a:cs typeface="Times New Roman" pitchFamily="18" charset="0"/>
              </a:rPr>
              <a:t>Multi-line input controls are created using HTML &lt;</a:t>
            </a:r>
            <a:r>
              <a:rPr lang="en-US" sz="2400" dirty="0" err="1">
                <a:latin typeface="Times New Roman" pitchFamily="18" charset="0"/>
                <a:cs typeface="Times New Roman" pitchFamily="18" charset="0"/>
              </a:rPr>
              <a:t>textarea</a:t>
            </a:r>
            <a:r>
              <a:rPr lang="en-US" sz="2400" dirty="0">
                <a:latin typeface="Times New Roman" pitchFamily="18" charset="0"/>
                <a:cs typeface="Times New Roman" pitchFamily="18" charset="0"/>
              </a:rPr>
              <a:t>&gt; tag.</a:t>
            </a:r>
          </a:p>
          <a:p>
            <a:pPr marL="0" indent="0">
              <a:buNone/>
            </a:pPr>
            <a:r>
              <a:rPr lang="en-US" sz="2600" dirty="0">
                <a:solidFill>
                  <a:srgbClr val="00B050"/>
                </a:solidFill>
              </a:rPr>
              <a:t>&lt;</a:t>
            </a:r>
            <a:r>
              <a:rPr lang="en-US" sz="2600" dirty="0" err="1">
                <a:solidFill>
                  <a:srgbClr val="00B050"/>
                </a:solidFill>
              </a:rPr>
              <a:t>textarea</a:t>
            </a:r>
            <a:r>
              <a:rPr lang="en-US" sz="2600" dirty="0">
                <a:solidFill>
                  <a:srgbClr val="00B050"/>
                </a:solidFill>
              </a:rPr>
              <a:t> rows="5" cols="50" name="description"&gt;</a:t>
            </a:r>
            <a:endParaRPr lang="en-US" altLang="en-US" sz="2600" dirty="0">
              <a:solidFill>
                <a:srgbClr val="00B050"/>
              </a:solidFill>
              <a:latin typeface="Times New Roman" pitchFamily="18" charset="0"/>
              <a:cs typeface="Times New Roman" pitchFamily="18" charset="0"/>
            </a:endParaRPr>
          </a:p>
        </p:txBody>
      </p:sp>
    </p:spTree>
    <p:extLst>
      <p:ext uri="{BB962C8B-B14F-4D97-AF65-F5344CB8AC3E}">
        <p14:creationId xmlns:p14="http://schemas.microsoft.com/office/powerpoint/2010/main" val="1572899402"/>
      </p:ext>
    </p:extLst>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a:normAutofit/>
          </a:bodyPr>
          <a:lstStyle/>
          <a:p>
            <a:pPr algn="l"/>
            <a:r>
              <a:rPr lang="en-US" altLang="en-US" sz="3200" b="1" dirty="0">
                <a:solidFill>
                  <a:srgbClr val="0070C0"/>
                </a:solidFill>
                <a:latin typeface="Times New Roman" pitchFamily="18" charset="0"/>
                <a:cs typeface="Times New Roman" pitchFamily="18" charset="0"/>
              </a:rPr>
              <a:t>Example</a:t>
            </a:r>
          </a:p>
        </p:txBody>
      </p:sp>
      <p:sp>
        <p:nvSpPr>
          <p:cNvPr id="39939" name="Content Placeholder 2"/>
          <p:cNvSpPr>
            <a:spLocks noGrp="1"/>
          </p:cNvSpPr>
          <p:nvPr>
            <p:ph idx="1"/>
          </p:nvPr>
        </p:nvSpPr>
        <p:spPr>
          <a:xfrm>
            <a:off x="2438400" y="1371600"/>
            <a:ext cx="8001000" cy="5486400"/>
          </a:xfrm>
        </p:spPr>
        <p:txBody>
          <a:bodyPr>
            <a:normAutofit lnSpcReduction="10000"/>
          </a:bodyPr>
          <a:lstStyle/>
          <a:p>
            <a:pPr>
              <a:buFont typeface="Wingdings" pitchFamily="2" charset="2"/>
              <a:buNone/>
            </a:pPr>
            <a:r>
              <a:rPr lang="en-US" altLang="en-US" sz="2400" dirty="0">
                <a:latin typeface="Times New Roman" pitchFamily="18" charset="0"/>
                <a:cs typeface="Times New Roman" pitchFamily="18" charset="0"/>
              </a:rPr>
              <a:t>&lt;html&gt;</a:t>
            </a:r>
          </a:p>
          <a:p>
            <a:pPr>
              <a:buFont typeface="Wingdings" pitchFamily="2" charset="2"/>
              <a:buNone/>
            </a:pPr>
            <a:r>
              <a:rPr lang="en-US" altLang="en-US" sz="2400" dirty="0">
                <a:latin typeface="Times New Roman" pitchFamily="18" charset="0"/>
                <a:cs typeface="Times New Roman" pitchFamily="18" charset="0"/>
              </a:rPr>
              <a:t>&lt;body </a:t>
            </a:r>
            <a:r>
              <a:rPr lang="en-US" altLang="en-US" sz="2400" dirty="0" err="1">
                <a:latin typeface="Times New Roman" pitchFamily="18" charset="0"/>
                <a:cs typeface="Times New Roman" pitchFamily="18" charset="0"/>
              </a:rPr>
              <a:t>bgcolor</a:t>
            </a:r>
            <a:r>
              <a:rPr lang="en-US" altLang="en-US" sz="2400" dirty="0">
                <a:latin typeface="Times New Roman" pitchFamily="18" charset="0"/>
                <a:cs typeface="Times New Roman" pitchFamily="18" charset="0"/>
              </a:rPr>
              <a:t>="green"&gt;</a:t>
            </a:r>
          </a:p>
          <a:p>
            <a:pPr>
              <a:buFont typeface="Wingdings" pitchFamily="2" charset="2"/>
              <a:buNone/>
            </a:pPr>
            <a:r>
              <a:rPr lang="en-US" altLang="en-US" sz="2400" dirty="0">
                <a:latin typeface="Times New Roman" pitchFamily="18" charset="0"/>
                <a:cs typeface="Times New Roman" pitchFamily="18" charset="0"/>
              </a:rPr>
              <a:t>&lt;form &gt;</a:t>
            </a:r>
          </a:p>
          <a:p>
            <a:pPr>
              <a:buFont typeface="Wingdings" pitchFamily="2" charset="2"/>
              <a:buNone/>
            </a:pPr>
            <a:r>
              <a:rPr lang="en-US" altLang="en-US" sz="2400" dirty="0">
                <a:latin typeface="Times New Roman" pitchFamily="18" charset="0"/>
                <a:cs typeface="Times New Roman" pitchFamily="18" charset="0"/>
              </a:rPr>
              <a:t>User ID :  &lt;input type="text" name="</a:t>
            </a:r>
            <a:r>
              <a:rPr lang="en-US" altLang="en-US" sz="2400" dirty="0" err="1">
                <a:latin typeface="Times New Roman" pitchFamily="18" charset="0"/>
                <a:cs typeface="Times New Roman" pitchFamily="18" charset="0"/>
              </a:rPr>
              <a:t>user_id</a:t>
            </a:r>
            <a:r>
              <a:rPr lang="en-US" altLang="en-US" sz="2400" dirty="0">
                <a:latin typeface="Times New Roman" pitchFamily="18" charset="0"/>
                <a:cs typeface="Times New Roman" pitchFamily="18" charset="0"/>
              </a:rPr>
              <a:t>" /&gt;</a:t>
            </a:r>
          </a:p>
          <a:p>
            <a:pPr>
              <a:buFont typeface="Wingdings" pitchFamily="2" charset="2"/>
              <a:buNone/>
            </a:pPr>
            <a:r>
              <a:rPr lang="en-US" altLang="en-US" sz="2400" dirty="0">
                <a:latin typeface="Times New Roman" pitchFamily="18" charset="0"/>
                <a:cs typeface="Times New Roman" pitchFamily="18" charset="0"/>
              </a:rPr>
              <a:t>&lt;</a:t>
            </a:r>
            <a:r>
              <a:rPr lang="en-US" altLang="en-US" sz="2400" dirty="0" err="1">
                <a:latin typeface="Times New Roman" pitchFamily="18" charset="0"/>
                <a:cs typeface="Times New Roman" pitchFamily="18" charset="0"/>
              </a:rPr>
              <a:t>br</a:t>
            </a:r>
            <a:r>
              <a:rPr lang="en-US" altLang="en-US" sz="2400" dirty="0">
                <a:latin typeface="Times New Roman" pitchFamily="18" charset="0"/>
                <a:cs typeface="Times New Roman" pitchFamily="18" charset="0"/>
              </a:rPr>
              <a:t>&gt;</a:t>
            </a:r>
          </a:p>
          <a:p>
            <a:pPr>
              <a:buFont typeface="Wingdings" pitchFamily="2" charset="2"/>
              <a:buNone/>
            </a:pPr>
            <a:r>
              <a:rPr lang="en-US" altLang="en-US" sz="2400" dirty="0">
                <a:latin typeface="Times New Roman" pitchFamily="18" charset="0"/>
                <a:cs typeface="Times New Roman" pitchFamily="18" charset="0"/>
              </a:rPr>
              <a:t>Password:  &lt;input type="password" name="password" /&gt;&lt;</a:t>
            </a:r>
            <a:r>
              <a:rPr lang="en-US" altLang="en-US" sz="2400" dirty="0" err="1">
                <a:latin typeface="Times New Roman" pitchFamily="18" charset="0"/>
                <a:cs typeface="Times New Roman" pitchFamily="18" charset="0"/>
              </a:rPr>
              <a:t>br</a:t>
            </a:r>
            <a:r>
              <a:rPr lang="en-US" altLang="en-US" sz="2400" dirty="0">
                <a:latin typeface="Times New Roman" pitchFamily="18" charset="0"/>
                <a:cs typeface="Times New Roman" pitchFamily="18" charset="0"/>
              </a:rPr>
              <a:t>&gt;</a:t>
            </a:r>
          </a:p>
          <a:p>
            <a:pPr>
              <a:buFont typeface="Wingdings" pitchFamily="2" charset="2"/>
              <a:buNone/>
            </a:pPr>
            <a:r>
              <a:rPr lang="en-US" altLang="en-US" sz="2400" dirty="0">
                <a:latin typeface="Times New Roman" pitchFamily="18" charset="0"/>
                <a:cs typeface="Times New Roman" pitchFamily="18" charset="0"/>
              </a:rPr>
              <a:t>Description : &lt;</a:t>
            </a:r>
            <a:r>
              <a:rPr lang="en-US" altLang="en-US" sz="2400" dirty="0" err="1">
                <a:latin typeface="Times New Roman" pitchFamily="18" charset="0"/>
                <a:cs typeface="Times New Roman" pitchFamily="18" charset="0"/>
              </a:rPr>
              <a:t>br</a:t>
            </a:r>
            <a:r>
              <a:rPr lang="en-US" altLang="en-US" sz="2400" dirty="0">
                <a:latin typeface="Times New Roman" pitchFamily="18" charset="0"/>
                <a:cs typeface="Times New Roman" pitchFamily="18" charset="0"/>
              </a:rPr>
              <a:t>&gt;</a:t>
            </a:r>
          </a:p>
          <a:p>
            <a:pPr>
              <a:buFont typeface="Wingdings" pitchFamily="2" charset="2"/>
              <a:buNone/>
            </a:pPr>
            <a:r>
              <a:rPr lang="en-US" altLang="en-US" sz="2400" dirty="0">
                <a:latin typeface="Times New Roman" pitchFamily="18" charset="0"/>
                <a:cs typeface="Times New Roman" pitchFamily="18" charset="0"/>
              </a:rPr>
              <a:t>&lt;</a:t>
            </a:r>
            <a:r>
              <a:rPr lang="en-US" altLang="en-US" sz="2400" dirty="0" err="1">
                <a:latin typeface="Times New Roman" pitchFamily="18" charset="0"/>
                <a:cs typeface="Times New Roman" pitchFamily="18" charset="0"/>
              </a:rPr>
              <a:t>textarea</a:t>
            </a:r>
            <a:r>
              <a:rPr lang="en-US" altLang="en-US" sz="2400" dirty="0">
                <a:latin typeface="Times New Roman" pitchFamily="18" charset="0"/>
                <a:cs typeface="Times New Roman" pitchFamily="18" charset="0"/>
              </a:rPr>
              <a:t> rows="5" cols="50" name="description"&gt;</a:t>
            </a:r>
          </a:p>
          <a:p>
            <a:pPr>
              <a:buFont typeface="Wingdings" pitchFamily="2" charset="2"/>
              <a:buNone/>
            </a:pPr>
            <a:r>
              <a:rPr lang="en-US" altLang="en-US" sz="2400" dirty="0">
                <a:latin typeface="Times New Roman" pitchFamily="18" charset="0"/>
                <a:cs typeface="Times New Roman" pitchFamily="18" charset="0"/>
              </a:rPr>
              <a:t>Enter description here...</a:t>
            </a:r>
          </a:p>
          <a:p>
            <a:pPr>
              <a:buFont typeface="Wingdings" pitchFamily="2" charset="2"/>
              <a:buNone/>
            </a:pPr>
            <a:r>
              <a:rPr lang="en-US" altLang="en-US" sz="2400" dirty="0">
                <a:latin typeface="Times New Roman" pitchFamily="18" charset="0"/>
                <a:cs typeface="Times New Roman" pitchFamily="18" charset="0"/>
              </a:rPr>
              <a:t>&lt;/</a:t>
            </a:r>
            <a:r>
              <a:rPr lang="en-US" altLang="en-US" sz="2400" dirty="0" err="1">
                <a:latin typeface="Times New Roman" pitchFamily="18" charset="0"/>
                <a:cs typeface="Times New Roman" pitchFamily="18" charset="0"/>
              </a:rPr>
              <a:t>textarea</a:t>
            </a:r>
            <a:r>
              <a:rPr lang="en-US" altLang="en-US" sz="2400" dirty="0">
                <a:latin typeface="Times New Roman" pitchFamily="18" charset="0"/>
                <a:cs typeface="Times New Roman" pitchFamily="18" charset="0"/>
              </a:rPr>
              <a:t>&gt;</a:t>
            </a:r>
          </a:p>
          <a:p>
            <a:pPr>
              <a:buFont typeface="Wingdings" pitchFamily="2" charset="2"/>
              <a:buNone/>
            </a:pPr>
            <a:r>
              <a:rPr lang="en-US" altLang="en-US" sz="2400" dirty="0">
                <a:latin typeface="Times New Roman" pitchFamily="18" charset="0"/>
                <a:cs typeface="Times New Roman" pitchFamily="18" charset="0"/>
              </a:rPr>
              <a:t>&lt;/form&gt;</a:t>
            </a:r>
          </a:p>
          <a:p>
            <a:pPr>
              <a:buFont typeface="Wingdings" pitchFamily="2" charset="2"/>
              <a:buNone/>
            </a:pPr>
            <a:r>
              <a:rPr lang="en-US" altLang="en-US" sz="2400" dirty="0">
                <a:latin typeface="Times New Roman" pitchFamily="18" charset="0"/>
                <a:cs typeface="Times New Roman" pitchFamily="18" charset="0"/>
              </a:rPr>
              <a:t>&lt;/body&gt;</a:t>
            </a:r>
          </a:p>
          <a:p>
            <a:pPr>
              <a:buFont typeface="Wingdings" pitchFamily="2" charset="2"/>
              <a:buNone/>
            </a:pPr>
            <a:r>
              <a:rPr lang="en-US" altLang="en-US" sz="2400" dirty="0">
                <a:latin typeface="Times New Roman" pitchFamily="18" charset="0"/>
                <a:cs typeface="Times New Roman" pitchFamily="18" charset="0"/>
              </a:rPr>
              <a:t>&lt;/html&gt;</a:t>
            </a:r>
          </a:p>
        </p:txBody>
      </p:sp>
    </p:spTree>
    <p:extLst>
      <p:ext uri="{BB962C8B-B14F-4D97-AF65-F5344CB8AC3E}">
        <p14:creationId xmlns:p14="http://schemas.microsoft.com/office/powerpoint/2010/main" val="1116480593"/>
      </p:ext>
    </p:extLst>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normAutofit/>
          </a:bodyPr>
          <a:lstStyle/>
          <a:p>
            <a:pPr algn="l"/>
            <a:r>
              <a:rPr lang="en-US" altLang="en-US" sz="3200" b="1" dirty="0">
                <a:solidFill>
                  <a:srgbClr val="0070C0"/>
                </a:solidFill>
                <a:latin typeface="Times New Roman" pitchFamily="18" charset="0"/>
                <a:cs typeface="Times New Roman" pitchFamily="18" charset="0"/>
              </a:rPr>
              <a:t>OUTPUT:</a:t>
            </a:r>
          </a:p>
        </p:txBody>
      </p:sp>
      <p:sp>
        <p:nvSpPr>
          <p:cNvPr id="2" name="Content Placeholder 1"/>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4" y="33337"/>
            <a:ext cx="11363325" cy="70246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8685257"/>
      </p:ext>
    </p:extLst>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a:xfrm>
            <a:off x="1981200" y="274638"/>
            <a:ext cx="8229600" cy="868362"/>
          </a:xfrm>
        </p:spPr>
        <p:txBody>
          <a:bodyPr>
            <a:normAutofit fontScale="90000"/>
          </a:bodyPr>
          <a:lstStyle/>
          <a:p>
            <a:pPr algn="l"/>
            <a:r>
              <a:rPr lang="en-US" sz="3200" dirty="0">
                <a:solidFill>
                  <a:srgbClr val="00B050"/>
                </a:solidFill>
              </a:rPr>
              <a:t>Radio Buttons</a:t>
            </a:r>
            <a:r>
              <a:rPr lang="en-US" sz="3200" dirty="0"/>
              <a:t/>
            </a:r>
            <a:br>
              <a:rPr lang="en-US" sz="3200" dirty="0"/>
            </a:br>
            <a:r>
              <a:rPr lang="en-US" sz="3200" dirty="0">
                <a:solidFill>
                  <a:srgbClr val="00B050"/>
                </a:solidFill>
              </a:rPr>
              <a:t> </a:t>
            </a:r>
          </a:p>
        </p:txBody>
      </p:sp>
      <p:sp>
        <p:nvSpPr>
          <p:cNvPr id="41987" name="Content Placeholder 2"/>
          <p:cNvSpPr>
            <a:spLocks noGrp="1"/>
          </p:cNvSpPr>
          <p:nvPr>
            <p:ph idx="1"/>
          </p:nvPr>
        </p:nvSpPr>
        <p:spPr>
          <a:xfrm>
            <a:off x="1981200" y="838200"/>
            <a:ext cx="8229600" cy="5410200"/>
          </a:xfrm>
        </p:spPr>
        <p:txBody>
          <a:bodyPr>
            <a:normAutofit/>
          </a:bodyPr>
          <a:lstStyle/>
          <a:p>
            <a:pPr algn="just"/>
            <a:r>
              <a:rPr lang="en-US" sz="2400" dirty="0"/>
              <a:t>Radio buttons are used when out of many options, just one option is required to be selected.</a:t>
            </a:r>
          </a:p>
          <a:p>
            <a:pPr algn="just"/>
            <a:r>
              <a:rPr lang="en-US" sz="2400" dirty="0"/>
              <a:t> They are also created using HTML &lt;input&gt; tag but type attribute is set to </a:t>
            </a:r>
            <a:r>
              <a:rPr lang="en-US" sz="2400" b="1" dirty="0"/>
              <a:t>radio</a:t>
            </a:r>
            <a:r>
              <a:rPr lang="en-US" sz="2400" dirty="0"/>
              <a:t>.</a:t>
            </a:r>
          </a:p>
          <a:p>
            <a:pPr marL="0" indent="0" algn="just">
              <a:buNone/>
            </a:pPr>
            <a:r>
              <a:rPr lang="en-US" sz="2400" dirty="0">
                <a:solidFill>
                  <a:srgbClr val="FF0000"/>
                </a:solidFill>
              </a:rPr>
              <a:t>Syntax:</a:t>
            </a:r>
            <a:endParaRPr lang="en-US" sz="2400" dirty="0">
              <a:solidFill>
                <a:srgbClr val="7030A0"/>
              </a:solidFill>
            </a:endParaRPr>
          </a:p>
          <a:p>
            <a:pPr marL="0" indent="0" algn="just">
              <a:buNone/>
            </a:pPr>
            <a:r>
              <a:rPr lang="en-US" sz="2400" dirty="0">
                <a:solidFill>
                  <a:srgbClr val="7030A0"/>
                </a:solidFill>
              </a:rPr>
              <a:t>&lt;input type="radio" name=“name" value=“value"&gt;</a:t>
            </a:r>
          </a:p>
          <a:p>
            <a:pPr marL="0" indent="0" algn="just">
              <a:buNone/>
            </a:pPr>
            <a:endParaRPr lang="en-US" sz="2400" dirty="0">
              <a:solidFill>
                <a:srgbClr val="7030A0"/>
              </a:solidFill>
            </a:endParaRPr>
          </a:p>
          <a:p>
            <a:pPr algn="just">
              <a:buFont typeface="Wingdings" pitchFamily="2" charset="2"/>
              <a:buNone/>
            </a:pPr>
            <a:endParaRPr lang="en-US" altLang="en-US" sz="2400" dirty="0">
              <a:latin typeface="Times New Roman" pitchFamily="18" charset="0"/>
              <a:cs typeface="Times New Roman" pitchFamily="18" charset="0"/>
            </a:endParaRPr>
          </a:p>
        </p:txBody>
      </p:sp>
      <p:graphicFrame>
        <p:nvGraphicFramePr>
          <p:cNvPr id="2" name="Table 1"/>
          <p:cNvGraphicFramePr>
            <a:graphicFrameLocks noGrp="1"/>
          </p:cNvGraphicFramePr>
          <p:nvPr>
            <p:extLst/>
          </p:nvPr>
        </p:nvGraphicFramePr>
        <p:xfrm>
          <a:off x="2362200" y="3693508"/>
          <a:ext cx="6762750" cy="2682240"/>
        </p:xfrm>
        <a:graphic>
          <a:graphicData uri="http://schemas.openxmlformats.org/drawingml/2006/table">
            <a:tbl>
              <a:tblPr/>
              <a:tblGrid>
                <a:gridCol w="1219200">
                  <a:extLst>
                    <a:ext uri="{9D8B030D-6E8A-4147-A177-3AD203B41FA5}">
                      <a16:colId xmlns:a16="http://schemas.microsoft.com/office/drawing/2014/main" xmlns="" val="20000"/>
                    </a:ext>
                  </a:extLst>
                </a:gridCol>
                <a:gridCol w="5543550">
                  <a:extLst>
                    <a:ext uri="{9D8B030D-6E8A-4147-A177-3AD203B41FA5}">
                      <a16:colId xmlns:a16="http://schemas.microsoft.com/office/drawing/2014/main" xmlns="" val="20001"/>
                    </a:ext>
                  </a:extLst>
                </a:gridCol>
              </a:tblGrid>
              <a:tr h="0">
                <a:tc>
                  <a:txBody>
                    <a:bodyPr/>
                    <a:lstStyle/>
                    <a:p>
                      <a:pPr algn="l" fontAlgn="t"/>
                      <a:r>
                        <a:rPr lang="en-US">
                          <a:solidFill>
                            <a:srgbClr val="FF0000"/>
                          </a:solidFill>
                          <a:effectLst/>
                        </a:rPr>
                        <a:t>Attribute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l" fontAlgn="t"/>
                      <a:r>
                        <a:rPr lang="en-US" dirty="0">
                          <a:solidFill>
                            <a:srgbClr val="FF0000"/>
                          </a:solidFill>
                          <a:effectLst/>
                        </a:rPr>
                        <a:t>Description</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xmlns="" val="10000"/>
                  </a:ext>
                </a:extLst>
              </a:tr>
              <a:tr h="398180">
                <a:tc>
                  <a:txBody>
                    <a:bodyPr/>
                    <a:lstStyle/>
                    <a:p>
                      <a:pPr fontAlgn="t"/>
                      <a:r>
                        <a:rPr lang="en-US">
                          <a:effectLst/>
                        </a:rPr>
                        <a:t>type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a:effectLst/>
                        </a:rPr>
                        <a:t>Indicates the type of input control and for checkbox input control it will be set to </a:t>
                      </a:r>
                      <a:r>
                        <a:rPr lang="en-US" b="1">
                          <a:effectLst/>
                        </a:rPr>
                        <a:t>radio</a:t>
                      </a:r>
                      <a:r>
                        <a:rPr lang="en-US">
                          <a:effectLst/>
                        </a:rPr>
                        <a: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xmlns="" val="10001"/>
                  </a:ext>
                </a:extLst>
              </a:tr>
              <a:tr h="398180">
                <a:tc>
                  <a:txBody>
                    <a:bodyPr/>
                    <a:lstStyle/>
                    <a:p>
                      <a:pPr fontAlgn="t"/>
                      <a:r>
                        <a:rPr lang="en-US">
                          <a:effectLst/>
                        </a:rPr>
                        <a:t>name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a:effectLst/>
                        </a:rPr>
                        <a:t>Used to give a name to the control which is sent to the server to be recognized and get the value.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xmlns="" val="10002"/>
                  </a:ext>
                </a:extLst>
              </a:tr>
              <a:tr h="223369">
                <a:tc>
                  <a:txBody>
                    <a:bodyPr/>
                    <a:lstStyle/>
                    <a:p>
                      <a:pPr fontAlgn="t"/>
                      <a:r>
                        <a:rPr lang="en-US">
                          <a:effectLst/>
                        </a:rPr>
                        <a:t>value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a:effectLst/>
                        </a:rPr>
                        <a:t>The value that will be used if the radio box is selected.</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xmlns="" val="10003"/>
                  </a:ext>
                </a:extLst>
              </a:tr>
              <a:tr h="223369">
                <a:tc>
                  <a:txBody>
                    <a:bodyPr/>
                    <a:lstStyle/>
                    <a:p>
                      <a:pPr fontAlgn="t"/>
                      <a:r>
                        <a:rPr lang="en-US">
                          <a:effectLst/>
                        </a:rPr>
                        <a:t>checked</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dirty="0">
                          <a:effectLst/>
                        </a:rPr>
                        <a:t>Set to </a:t>
                      </a:r>
                      <a:r>
                        <a:rPr lang="en-US" i="1" dirty="0">
                          <a:effectLst/>
                        </a:rPr>
                        <a:t>checked</a:t>
                      </a:r>
                      <a:r>
                        <a:rPr lang="en-US" dirty="0">
                          <a:effectLst/>
                        </a:rPr>
                        <a:t> if you want to select it by default.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xmlns="" val="10004"/>
                  </a:ext>
                </a:extLst>
              </a:tr>
            </a:tbl>
          </a:graphicData>
        </a:graphic>
      </p:graphicFrame>
    </p:spTree>
    <p:extLst>
      <p:ext uri="{BB962C8B-B14F-4D97-AF65-F5344CB8AC3E}">
        <p14:creationId xmlns:p14="http://schemas.microsoft.com/office/powerpoint/2010/main" val="878382148"/>
      </p:ext>
    </p:extLst>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981200" y="152401"/>
            <a:ext cx="8229600" cy="5973763"/>
          </a:xfrm>
        </p:spPr>
        <p:txBody>
          <a:bodyPr>
            <a:normAutofit/>
          </a:bodyPr>
          <a:lstStyle/>
          <a:p>
            <a:pPr marL="0" indent="0">
              <a:buNone/>
            </a:pPr>
            <a:r>
              <a:rPr lang="en-US" sz="2400" dirty="0"/>
              <a:t>&lt;html&gt;</a:t>
            </a:r>
          </a:p>
          <a:p>
            <a:pPr marL="0" indent="0">
              <a:buNone/>
            </a:pPr>
            <a:r>
              <a:rPr lang="en-US" sz="2400" dirty="0"/>
              <a:t>&lt;body </a:t>
            </a:r>
            <a:r>
              <a:rPr lang="en-US" sz="2400" dirty="0" err="1"/>
              <a:t>bgcolor</a:t>
            </a:r>
            <a:r>
              <a:rPr lang="en-US" sz="2400" dirty="0"/>
              <a:t>="pink"&gt;</a:t>
            </a:r>
          </a:p>
          <a:p>
            <a:pPr marL="0" indent="0">
              <a:buNone/>
            </a:pPr>
            <a:r>
              <a:rPr lang="en-US" sz="2400" dirty="0"/>
              <a:t>&lt;form&gt;</a:t>
            </a:r>
          </a:p>
          <a:p>
            <a:pPr marL="0" indent="0">
              <a:buNone/>
            </a:pPr>
            <a:r>
              <a:rPr lang="en-US" sz="2400" dirty="0"/>
              <a:t>&lt;input type="radio" name="subject" value="</a:t>
            </a:r>
            <a:r>
              <a:rPr lang="en-US" sz="2400" dirty="0" err="1"/>
              <a:t>maths</a:t>
            </a:r>
            <a:r>
              <a:rPr lang="en-US" sz="2400" dirty="0"/>
              <a:t>"&gt; </a:t>
            </a:r>
            <a:r>
              <a:rPr lang="en-US" sz="2400" dirty="0" err="1"/>
              <a:t>Maths</a:t>
            </a:r>
            <a:endParaRPr lang="en-US" sz="2400" dirty="0"/>
          </a:p>
          <a:p>
            <a:pPr marL="0" indent="0">
              <a:buNone/>
            </a:pPr>
            <a:r>
              <a:rPr lang="en-US" sz="2400" dirty="0"/>
              <a:t>&lt;input type="radio" name="subject" value="physics"&gt; Physics</a:t>
            </a:r>
          </a:p>
          <a:p>
            <a:pPr marL="0" indent="0">
              <a:buNone/>
            </a:pPr>
            <a:r>
              <a:rPr lang="en-US" sz="2400" dirty="0"/>
              <a:t>&lt;/form&gt;</a:t>
            </a:r>
          </a:p>
          <a:p>
            <a:pPr marL="0" indent="0">
              <a:buNone/>
            </a:pPr>
            <a:r>
              <a:rPr lang="en-US" sz="2400" dirty="0"/>
              <a:t>&lt;/body&gt;</a:t>
            </a:r>
          </a:p>
          <a:p>
            <a:pPr marL="0" indent="0">
              <a:buNone/>
            </a:pPr>
            <a:r>
              <a:rPr lang="en-US" sz="2400" dirty="0"/>
              <a:t>&lt;/html&gt;</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1" y="2667000"/>
            <a:ext cx="7010399" cy="37087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2219640"/>
      </p:ext>
    </p:extLst>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a:xfrm>
            <a:off x="1981200" y="152400"/>
            <a:ext cx="8229600" cy="609600"/>
          </a:xfrm>
        </p:spPr>
        <p:txBody>
          <a:bodyPr>
            <a:normAutofit/>
          </a:bodyPr>
          <a:lstStyle/>
          <a:p>
            <a:pPr algn="l"/>
            <a:r>
              <a:rPr lang="en-US" sz="3200" dirty="0">
                <a:solidFill>
                  <a:srgbClr val="00B050"/>
                </a:solidFill>
              </a:rPr>
              <a:t>Checkboxes</a:t>
            </a:r>
          </a:p>
        </p:txBody>
      </p:sp>
      <p:sp>
        <p:nvSpPr>
          <p:cNvPr id="3" name="Content Placeholder 2"/>
          <p:cNvSpPr>
            <a:spLocks noGrp="1"/>
          </p:cNvSpPr>
          <p:nvPr>
            <p:ph idx="1"/>
          </p:nvPr>
        </p:nvSpPr>
        <p:spPr>
          <a:xfrm>
            <a:off x="1981200" y="762001"/>
            <a:ext cx="8229600" cy="5364163"/>
          </a:xfrm>
        </p:spPr>
        <p:txBody>
          <a:bodyPr/>
          <a:lstStyle/>
          <a:p>
            <a:r>
              <a:rPr lang="en-US" sz="2400" dirty="0"/>
              <a:t>Checkboxes are used when more than one option is required to be selected. </a:t>
            </a:r>
          </a:p>
          <a:p>
            <a:r>
              <a:rPr lang="en-US" sz="2400" dirty="0"/>
              <a:t>They are also created using HTML &lt;input&gt; tag but type attribute is set to </a:t>
            </a:r>
            <a:r>
              <a:rPr lang="en-US" sz="2400" b="1" dirty="0"/>
              <a:t>checkbox</a:t>
            </a:r>
          </a:p>
          <a:p>
            <a:pPr marL="0" indent="0">
              <a:buNone/>
            </a:pPr>
            <a:r>
              <a:rPr lang="en-US" sz="2400" b="1" dirty="0">
                <a:solidFill>
                  <a:srgbClr val="FF0000"/>
                </a:solidFill>
              </a:rPr>
              <a:t>Syntax:</a:t>
            </a:r>
          </a:p>
          <a:p>
            <a:pPr marL="0" indent="0">
              <a:buNone/>
            </a:pPr>
            <a:r>
              <a:rPr lang="en-US" sz="2400" dirty="0">
                <a:solidFill>
                  <a:schemeClr val="accent6">
                    <a:lumMod val="50000"/>
                  </a:schemeClr>
                </a:solidFill>
              </a:rPr>
              <a:t>&lt;input type="checkbox" name=“name" value=“value"&gt; </a:t>
            </a:r>
          </a:p>
          <a:p>
            <a:pPr marL="0" indent="0">
              <a:buNone/>
            </a:pPr>
            <a:endParaRPr lang="en-US" sz="2400" dirty="0">
              <a:solidFill>
                <a:schemeClr val="accent6">
                  <a:lumMod val="50000"/>
                </a:schemeClr>
              </a:solidFill>
            </a:endParaRPr>
          </a:p>
        </p:txBody>
      </p:sp>
      <p:graphicFrame>
        <p:nvGraphicFramePr>
          <p:cNvPr id="2" name="Table 1"/>
          <p:cNvGraphicFramePr>
            <a:graphicFrameLocks noGrp="1"/>
          </p:cNvGraphicFramePr>
          <p:nvPr>
            <p:extLst/>
          </p:nvPr>
        </p:nvGraphicFramePr>
        <p:xfrm>
          <a:off x="2133600" y="3276600"/>
          <a:ext cx="8077200" cy="2682240"/>
        </p:xfrm>
        <a:graphic>
          <a:graphicData uri="http://schemas.openxmlformats.org/drawingml/2006/table">
            <a:tbl>
              <a:tblPr/>
              <a:tblGrid>
                <a:gridCol w="990600">
                  <a:extLst>
                    <a:ext uri="{9D8B030D-6E8A-4147-A177-3AD203B41FA5}">
                      <a16:colId xmlns:a16="http://schemas.microsoft.com/office/drawing/2014/main" xmlns="" val="20000"/>
                    </a:ext>
                  </a:extLst>
                </a:gridCol>
                <a:gridCol w="7086600">
                  <a:extLst>
                    <a:ext uri="{9D8B030D-6E8A-4147-A177-3AD203B41FA5}">
                      <a16:colId xmlns:a16="http://schemas.microsoft.com/office/drawing/2014/main" xmlns="" val="20001"/>
                    </a:ext>
                  </a:extLst>
                </a:gridCol>
              </a:tblGrid>
              <a:tr h="0">
                <a:tc>
                  <a:txBody>
                    <a:bodyPr/>
                    <a:lstStyle/>
                    <a:p>
                      <a:pPr algn="l" fontAlgn="t"/>
                      <a:r>
                        <a:rPr lang="en-US" dirty="0">
                          <a:solidFill>
                            <a:srgbClr val="FF0000"/>
                          </a:solidFill>
                          <a:effectLst/>
                        </a:rPr>
                        <a:t>Attribute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l" fontAlgn="t"/>
                      <a:r>
                        <a:rPr lang="en-US" dirty="0">
                          <a:solidFill>
                            <a:srgbClr val="FF0000"/>
                          </a:solidFill>
                          <a:effectLst/>
                        </a:rPr>
                        <a:t>Description</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xmlns="" val="10000"/>
                  </a:ext>
                </a:extLst>
              </a:tr>
              <a:tr h="0">
                <a:tc>
                  <a:txBody>
                    <a:bodyPr/>
                    <a:lstStyle/>
                    <a:p>
                      <a:pPr fontAlgn="t"/>
                      <a:r>
                        <a:rPr lang="en-US">
                          <a:effectLst/>
                        </a:rPr>
                        <a:t>type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a:effectLst/>
                        </a:rPr>
                        <a:t>Indicates the type of input control and for checkbox input control it will be set to </a:t>
                      </a:r>
                      <a:r>
                        <a:rPr lang="en-US" b="1">
                          <a:effectLst/>
                        </a:rPr>
                        <a:t>checkbox</a:t>
                      </a:r>
                      <a:r>
                        <a:rPr lang="en-US">
                          <a:effectLst/>
                        </a:rPr>
                        <a: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xmlns="" val="10001"/>
                  </a:ext>
                </a:extLst>
              </a:tr>
              <a:tr h="0">
                <a:tc>
                  <a:txBody>
                    <a:bodyPr/>
                    <a:lstStyle/>
                    <a:p>
                      <a:pPr fontAlgn="t"/>
                      <a:r>
                        <a:rPr lang="en-US">
                          <a:effectLst/>
                        </a:rPr>
                        <a:t>name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a:effectLst/>
                        </a:rPr>
                        <a:t>Used to give a name to the control which is sent to the server to be recognized and get the value.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xmlns="" val="10002"/>
                  </a:ext>
                </a:extLst>
              </a:tr>
              <a:tr h="0">
                <a:tc>
                  <a:txBody>
                    <a:bodyPr/>
                    <a:lstStyle/>
                    <a:p>
                      <a:pPr fontAlgn="t"/>
                      <a:r>
                        <a:rPr lang="en-US">
                          <a:effectLst/>
                        </a:rPr>
                        <a:t>value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a:effectLst/>
                        </a:rPr>
                        <a:t>The value that will be used if the checkbox is selected.</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xmlns="" val="10003"/>
                  </a:ext>
                </a:extLst>
              </a:tr>
              <a:tr h="0">
                <a:tc>
                  <a:txBody>
                    <a:bodyPr/>
                    <a:lstStyle/>
                    <a:p>
                      <a:pPr fontAlgn="t"/>
                      <a:r>
                        <a:rPr lang="en-US">
                          <a:effectLst/>
                        </a:rPr>
                        <a:t>checked</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dirty="0">
                          <a:effectLst/>
                        </a:rPr>
                        <a:t>Set to </a:t>
                      </a:r>
                      <a:r>
                        <a:rPr lang="en-US" i="1" dirty="0">
                          <a:effectLst/>
                        </a:rPr>
                        <a:t>checked</a:t>
                      </a:r>
                      <a:r>
                        <a:rPr lang="en-US" dirty="0">
                          <a:effectLst/>
                        </a:rPr>
                        <a:t> if you want to select it by default.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xmlns="" val="10004"/>
                  </a:ext>
                </a:extLst>
              </a:tr>
            </a:tbl>
          </a:graphicData>
        </a:graphic>
      </p:graphicFrame>
    </p:spTree>
    <p:extLst>
      <p:ext uri="{BB962C8B-B14F-4D97-AF65-F5344CB8AC3E}">
        <p14:creationId xmlns:p14="http://schemas.microsoft.com/office/powerpoint/2010/main" val="3336823442"/>
      </p:ext>
    </p:extLst>
  </p:cSld>
  <p:clrMapOvr>
    <a:masterClrMapping/>
  </p:clrMapOv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a:xfrm>
            <a:off x="1981200" y="152400"/>
            <a:ext cx="8229600" cy="685800"/>
          </a:xfrm>
        </p:spPr>
        <p:txBody>
          <a:bodyPr>
            <a:normAutofit/>
          </a:bodyPr>
          <a:lstStyle/>
          <a:p>
            <a:pPr algn="l"/>
            <a:r>
              <a:rPr lang="en-US" altLang="en-US" sz="3200" b="1" dirty="0">
                <a:solidFill>
                  <a:srgbClr val="0070C0"/>
                </a:solidFill>
                <a:latin typeface="Times New Roman" pitchFamily="18" charset="0"/>
                <a:cs typeface="Times New Roman" pitchFamily="18" charset="0"/>
              </a:rPr>
              <a:t>Example</a:t>
            </a:r>
          </a:p>
        </p:txBody>
      </p:sp>
      <p:sp>
        <p:nvSpPr>
          <p:cNvPr id="45059" name="Content Placeholder 2"/>
          <p:cNvSpPr>
            <a:spLocks noGrp="1"/>
          </p:cNvSpPr>
          <p:nvPr>
            <p:ph idx="1"/>
          </p:nvPr>
        </p:nvSpPr>
        <p:spPr>
          <a:xfrm>
            <a:off x="1828800" y="762000"/>
            <a:ext cx="8610600" cy="5486400"/>
          </a:xfrm>
        </p:spPr>
        <p:txBody>
          <a:bodyPr>
            <a:normAutofit/>
          </a:bodyPr>
          <a:lstStyle/>
          <a:p>
            <a:pPr>
              <a:buFont typeface="Wingdings" pitchFamily="2" charset="2"/>
              <a:buNone/>
            </a:pPr>
            <a:r>
              <a:rPr lang="en-US" altLang="en-US" sz="2000" dirty="0">
                <a:latin typeface="Times New Roman" pitchFamily="18" charset="0"/>
                <a:cs typeface="Times New Roman" pitchFamily="18" charset="0"/>
              </a:rPr>
              <a:t>&lt;html&gt;</a:t>
            </a:r>
          </a:p>
          <a:p>
            <a:pPr>
              <a:buFont typeface="Wingdings" pitchFamily="2" charset="2"/>
              <a:buNone/>
            </a:pPr>
            <a:r>
              <a:rPr lang="en-US" altLang="en-US" sz="2000" dirty="0">
                <a:latin typeface="Times New Roman" pitchFamily="18" charset="0"/>
                <a:cs typeface="Times New Roman" pitchFamily="18" charset="0"/>
              </a:rPr>
              <a:t>&lt;body </a:t>
            </a:r>
            <a:r>
              <a:rPr lang="en-US" altLang="en-US" sz="2000" dirty="0" err="1">
                <a:latin typeface="Times New Roman" pitchFamily="18" charset="0"/>
                <a:cs typeface="Times New Roman" pitchFamily="18" charset="0"/>
              </a:rPr>
              <a:t>bgcolor</a:t>
            </a:r>
            <a:r>
              <a:rPr lang="en-US" altLang="en-US" sz="2000" dirty="0">
                <a:latin typeface="Times New Roman" pitchFamily="18" charset="0"/>
                <a:cs typeface="Times New Roman" pitchFamily="18" charset="0"/>
              </a:rPr>
              <a:t>="blue"&gt;</a:t>
            </a:r>
          </a:p>
          <a:p>
            <a:pPr>
              <a:buFont typeface="Wingdings" pitchFamily="2" charset="2"/>
              <a:buNone/>
            </a:pPr>
            <a:r>
              <a:rPr lang="en-US" altLang="en-US" sz="2000" dirty="0">
                <a:latin typeface="Times New Roman" pitchFamily="18" charset="0"/>
                <a:cs typeface="Times New Roman" pitchFamily="18" charset="0"/>
              </a:rPr>
              <a:t>&lt;form&gt;</a:t>
            </a:r>
          </a:p>
          <a:p>
            <a:pPr>
              <a:buFont typeface="Wingdings" pitchFamily="2" charset="2"/>
              <a:buNone/>
            </a:pPr>
            <a:r>
              <a:rPr lang="en-US" altLang="en-US" sz="2000" dirty="0">
                <a:latin typeface="Times New Roman" pitchFamily="18" charset="0"/>
                <a:cs typeface="Times New Roman" pitchFamily="18" charset="0"/>
              </a:rPr>
              <a:t>&lt;input type="checkbox" name="</a:t>
            </a:r>
            <a:r>
              <a:rPr lang="en-US" altLang="en-US" sz="2000" dirty="0" err="1">
                <a:latin typeface="Times New Roman" pitchFamily="18" charset="0"/>
                <a:cs typeface="Times New Roman" pitchFamily="18" charset="0"/>
              </a:rPr>
              <a:t>maths</a:t>
            </a:r>
            <a:r>
              <a:rPr lang="en-US" altLang="en-US" sz="2000" dirty="0">
                <a:latin typeface="Times New Roman" pitchFamily="18" charset="0"/>
                <a:cs typeface="Times New Roman" pitchFamily="18" charset="0"/>
              </a:rPr>
              <a:t>" value="on"&gt; </a:t>
            </a:r>
            <a:r>
              <a:rPr lang="en-US" altLang="en-US" sz="2000" dirty="0" err="1">
                <a:latin typeface="Times New Roman" pitchFamily="18" charset="0"/>
                <a:cs typeface="Times New Roman" pitchFamily="18" charset="0"/>
              </a:rPr>
              <a:t>Maths</a:t>
            </a:r>
            <a:endParaRPr lang="en-US" altLang="en-US" sz="2000" dirty="0">
              <a:latin typeface="Times New Roman" pitchFamily="18" charset="0"/>
              <a:cs typeface="Times New Roman" pitchFamily="18" charset="0"/>
            </a:endParaRPr>
          </a:p>
          <a:p>
            <a:pPr>
              <a:buFont typeface="Wingdings" pitchFamily="2" charset="2"/>
              <a:buNone/>
            </a:pPr>
            <a:r>
              <a:rPr lang="en-US" altLang="en-US" sz="2000" dirty="0">
                <a:latin typeface="Times New Roman" pitchFamily="18" charset="0"/>
                <a:cs typeface="Times New Roman" pitchFamily="18" charset="0"/>
              </a:rPr>
              <a:t>&lt;input type="checkbox" name="physics" value="on"&gt; Physics</a:t>
            </a:r>
          </a:p>
          <a:p>
            <a:pPr>
              <a:buFont typeface="Wingdings" pitchFamily="2" charset="2"/>
              <a:buNone/>
            </a:pPr>
            <a:r>
              <a:rPr lang="en-US" altLang="en-US" sz="2000" dirty="0">
                <a:latin typeface="Times New Roman" pitchFamily="18" charset="0"/>
                <a:cs typeface="Times New Roman" pitchFamily="18" charset="0"/>
              </a:rPr>
              <a:t>&lt;/form&gt;</a:t>
            </a:r>
          </a:p>
          <a:p>
            <a:pPr>
              <a:buFont typeface="Wingdings" pitchFamily="2" charset="2"/>
              <a:buNone/>
            </a:pPr>
            <a:r>
              <a:rPr lang="en-US" altLang="en-US" sz="2000" dirty="0">
                <a:latin typeface="Times New Roman" pitchFamily="18" charset="0"/>
                <a:cs typeface="Times New Roman" pitchFamily="18" charset="0"/>
              </a:rPr>
              <a:t>&lt;/body&gt;</a:t>
            </a:r>
          </a:p>
          <a:p>
            <a:pPr>
              <a:buFont typeface="Wingdings" pitchFamily="2" charset="2"/>
              <a:buNone/>
            </a:pPr>
            <a:r>
              <a:rPr lang="en-US" altLang="en-US" sz="2000" dirty="0">
                <a:latin typeface="Times New Roman" pitchFamily="18" charset="0"/>
                <a:cs typeface="Times New Roman" pitchFamily="18" charset="0"/>
              </a:rPr>
              <a:t>&lt;/html&gt;</a:t>
            </a: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6554" y="3067050"/>
            <a:ext cx="7881545" cy="37087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3507992"/>
      </p:ext>
    </p:extLst>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a:xfrm>
            <a:off x="1981200" y="274638"/>
            <a:ext cx="8229600" cy="639762"/>
          </a:xfrm>
        </p:spPr>
        <p:txBody>
          <a:bodyPr>
            <a:normAutofit/>
          </a:bodyPr>
          <a:lstStyle/>
          <a:p>
            <a:pPr algn="l"/>
            <a:r>
              <a:rPr lang="en-US" sz="3200" dirty="0">
                <a:solidFill>
                  <a:srgbClr val="00B050"/>
                </a:solidFill>
              </a:rPr>
              <a:t>Select Box </a:t>
            </a:r>
            <a:endParaRPr lang="en-US" altLang="en-US" sz="3200" b="1" dirty="0">
              <a:solidFill>
                <a:srgbClr val="00B050"/>
              </a:solidFill>
              <a:latin typeface="Times New Roman" pitchFamily="18" charset="0"/>
              <a:cs typeface="Times New Roman" pitchFamily="18" charset="0"/>
            </a:endParaRPr>
          </a:p>
        </p:txBody>
      </p:sp>
      <p:sp>
        <p:nvSpPr>
          <p:cNvPr id="3" name="Content Placeholder 2"/>
          <p:cNvSpPr>
            <a:spLocks noGrp="1"/>
          </p:cNvSpPr>
          <p:nvPr>
            <p:ph idx="1"/>
          </p:nvPr>
        </p:nvSpPr>
        <p:spPr>
          <a:xfrm>
            <a:off x="1752600" y="838201"/>
            <a:ext cx="8763000" cy="5287963"/>
          </a:xfrm>
        </p:spPr>
        <p:txBody>
          <a:bodyPr>
            <a:normAutofit/>
          </a:bodyPr>
          <a:lstStyle/>
          <a:p>
            <a:pPr algn="just"/>
            <a:r>
              <a:rPr lang="en-US" dirty="0"/>
              <a:t>A select box, also called drop down box which provides option to list down various options in the form of drop down list, from where a user can select one or more options.</a:t>
            </a:r>
          </a:p>
          <a:p>
            <a:pPr algn="just"/>
            <a:r>
              <a:rPr lang="en-US" b="1" dirty="0"/>
              <a:t>multiple</a:t>
            </a:r>
            <a:r>
              <a:rPr lang="en-US" dirty="0"/>
              <a:t> attribute specifies that multiple options can be selected at once.</a:t>
            </a:r>
          </a:p>
          <a:p>
            <a:pPr algn="just"/>
            <a:r>
              <a:rPr lang="en-US" sz="2400" b="1" dirty="0"/>
              <a:t>Size</a:t>
            </a:r>
            <a:r>
              <a:rPr lang="en-US" sz="2400" dirty="0"/>
              <a:t> attribute specifies that no of options can be visible  at once.</a:t>
            </a:r>
          </a:p>
          <a:p>
            <a:pPr marL="0" indent="0" algn="just">
              <a:buNone/>
            </a:pPr>
            <a:r>
              <a:rPr lang="en-US" sz="2400" dirty="0">
                <a:solidFill>
                  <a:schemeClr val="accent6">
                    <a:lumMod val="50000"/>
                  </a:schemeClr>
                </a:solidFill>
              </a:rPr>
              <a:t>&lt;select  name="dropdown"&gt;</a:t>
            </a:r>
          </a:p>
          <a:p>
            <a:pPr marL="0" indent="0" algn="just">
              <a:buNone/>
            </a:pPr>
            <a:r>
              <a:rPr lang="en-US" sz="2400" dirty="0">
                <a:solidFill>
                  <a:schemeClr val="accent6">
                    <a:lumMod val="50000"/>
                  </a:schemeClr>
                </a:solidFill>
              </a:rPr>
              <a:t> &lt;option  value="</a:t>
            </a:r>
            <a:r>
              <a:rPr lang="en-US" sz="2400" dirty="0" err="1">
                <a:solidFill>
                  <a:schemeClr val="accent6">
                    <a:lumMod val="50000"/>
                  </a:schemeClr>
                </a:solidFill>
              </a:rPr>
              <a:t>Maths</a:t>
            </a:r>
            <a:r>
              <a:rPr lang="en-US" sz="2400" dirty="0">
                <a:solidFill>
                  <a:schemeClr val="accent6">
                    <a:lumMod val="50000"/>
                  </a:schemeClr>
                </a:solidFill>
              </a:rPr>
              <a:t>" selected&gt;</a:t>
            </a:r>
            <a:r>
              <a:rPr lang="en-US" sz="2400" dirty="0" err="1">
                <a:solidFill>
                  <a:schemeClr val="accent6">
                    <a:lumMod val="50000"/>
                  </a:schemeClr>
                </a:solidFill>
              </a:rPr>
              <a:t>Maths</a:t>
            </a:r>
            <a:r>
              <a:rPr lang="en-US" sz="2400" dirty="0">
                <a:solidFill>
                  <a:schemeClr val="accent6">
                    <a:lumMod val="50000"/>
                  </a:schemeClr>
                </a:solidFill>
              </a:rPr>
              <a:t>&lt;/option&gt;</a:t>
            </a:r>
          </a:p>
          <a:p>
            <a:pPr marL="0" indent="0" algn="just">
              <a:buNone/>
            </a:pPr>
            <a:r>
              <a:rPr lang="en-US" sz="2400" dirty="0">
                <a:solidFill>
                  <a:schemeClr val="accent6">
                    <a:lumMod val="50000"/>
                  </a:schemeClr>
                </a:solidFill>
              </a:rPr>
              <a:t> &lt;option  value="Physics"&gt;Physics&lt;/option&gt; &lt;/select&gt;</a:t>
            </a:r>
          </a:p>
          <a:p>
            <a:pPr marL="0" indent="0" algn="just">
              <a:buNone/>
            </a:pPr>
            <a:endParaRPr lang="en-US" sz="2400" dirty="0"/>
          </a:p>
        </p:txBody>
      </p:sp>
    </p:spTree>
    <p:extLst>
      <p:ext uri="{BB962C8B-B14F-4D97-AF65-F5344CB8AC3E}">
        <p14:creationId xmlns:p14="http://schemas.microsoft.com/office/powerpoint/2010/main" val="232450234"/>
      </p:ext>
    </p:extLst>
  </p:cSld>
  <p:clrMapOvr>
    <a:masterClrMapping/>
  </p:clrMapOv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p:txBody>
          <a:bodyPr>
            <a:normAutofit/>
          </a:bodyPr>
          <a:lstStyle/>
          <a:p>
            <a:r>
              <a:rPr lang="en-US" altLang="en-US" sz="3200" b="1" dirty="0">
                <a:solidFill>
                  <a:srgbClr val="0070C0"/>
                </a:solidFill>
                <a:latin typeface="Times New Roman" pitchFamily="18" charset="0"/>
                <a:cs typeface="Times New Roman" pitchFamily="18" charset="0"/>
              </a:rPr>
              <a:t>Example</a:t>
            </a:r>
          </a:p>
        </p:txBody>
      </p:sp>
      <p:sp>
        <p:nvSpPr>
          <p:cNvPr id="54275" name="Content Placeholder 2"/>
          <p:cNvSpPr>
            <a:spLocks noGrp="1"/>
          </p:cNvSpPr>
          <p:nvPr>
            <p:ph idx="1"/>
          </p:nvPr>
        </p:nvSpPr>
        <p:spPr/>
        <p:txBody>
          <a:bodyPr/>
          <a:lstStyle/>
          <a:p>
            <a:pPr>
              <a:lnSpc>
                <a:spcPct val="150000"/>
              </a:lnSpc>
              <a:buFont typeface="Wingdings" pitchFamily="2" charset="2"/>
              <a:buNone/>
            </a:pPr>
            <a:r>
              <a:rPr lang="en-US" altLang="en-US" sz="2400" dirty="0">
                <a:latin typeface="Times New Roman" pitchFamily="18" charset="0"/>
                <a:cs typeface="Times New Roman" pitchFamily="18" charset="0"/>
              </a:rPr>
              <a:t>&lt;select name=”</a:t>
            </a:r>
            <a:r>
              <a:rPr lang="en-US" altLang="en-US" sz="2400" dirty="0" err="1">
                <a:latin typeface="Times New Roman" pitchFamily="18" charset="0"/>
                <a:cs typeface="Times New Roman" pitchFamily="18" charset="0"/>
              </a:rPr>
              <a:t>selColor</a:t>
            </a:r>
            <a:r>
              <a:rPr lang="en-US" altLang="en-US" sz="2400" dirty="0">
                <a:latin typeface="Times New Roman" pitchFamily="18" charset="0"/>
                <a:cs typeface="Times New Roman" pitchFamily="18" charset="0"/>
              </a:rPr>
              <a:t>”&gt;</a:t>
            </a:r>
          </a:p>
          <a:p>
            <a:pPr>
              <a:lnSpc>
                <a:spcPct val="150000"/>
              </a:lnSpc>
              <a:buFont typeface="Wingdings" pitchFamily="2" charset="2"/>
              <a:buNone/>
            </a:pPr>
            <a:r>
              <a:rPr lang="en-US" altLang="en-US" sz="2400" dirty="0">
                <a:latin typeface="Times New Roman" pitchFamily="18" charset="0"/>
                <a:cs typeface="Times New Roman" pitchFamily="18" charset="0"/>
              </a:rPr>
              <a:t>&lt;option selected=”selected” value=”“&gt;Select color&lt;/option&gt;</a:t>
            </a:r>
          </a:p>
          <a:p>
            <a:pPr>
              <a:lnSpc>
                <a:spcPct val="150000"/>
              </a:lnSpc>
              <a:buFont typeface="Wingdings" pitchFamily="2" charset="2"/>
              <a:buNone/>
            </a:pPr>
            <a:r>
              <a:rPr lang="en-US" altLang="en-US" sz="2400" dirty="0">
                <a:latin typeface="Times New Roman" pitchFamily="18" charset="0"/>
                <a:cs typeface="Times New Roman" pitchFamily="18" charset="0"/>
              </a:rPr>
              <a:t>&lt;option value=”red”&gt;Red&lt;/option&gt;</a:t>
            </a:r>
          </a:p>
          <a:p>
            <a:pPr>
              <a:lnSpc>
                <a:spcPct val="150000"/>
              </a:lnSpc>
              <a:buFont typeface="Wingdings" pitchFamily="2" charset="2"/>
              <a:buNone/>
            </a:pPr>
            <a:r>
              <a:rPr lang="en-US" altLang="en-US" sz="2400" dirty="0">
                <a:latin typeface="Times New Roman" pitchFamily="18" charset="0"/>
                <a:cs typeface="Times New Roman" pitchFamily="18" charset="0"/>
              </a:rPr>
              <a:t>&lt;option value=”green” </a:t>
            </a:r>
            <a:r>
              <a:rPr lang="en-US" altLang="en-US" sz="2400" dirty="0">
                <a:solidFill>
                  <a:srgbClr val="FF0000"/>
                </a:solidFill>
                <a:latin typeface="Times New Roman" pitchFamily="18" charset="0"/>
                <a:cs typeface="Times New Roman" pitchFamily="18" charset="0"/>
              </a:rPr>
              <a:t>selected</a:t>
            </a:r>
            <a:r>
              <a:rPr lang="en-US" altLang="en-US" sz="2400" dirty="0">
                <a:latin typeface="Times New Roman" pitchFamily="18" charset="0"/>
                <a:cs typeface="Times New Roman" pitchFamily="18" charset="0"/>
              </a:rPr>
              <a:t>&gt;Green&lt;/option&gt;</a:t>
            </a:r>
          </a:p>
          <a:p>
            <a:pPr>
              <a:lnSpc>
                <a:spcPct val="150000"/>
              </a:lnSpc>
              <a:buFont typeface="Wingdings" pitchFamily="2" charset="2"/>
              <a:buNone/>
            </a:pPr>
            <a:r>
              <a:rPr lang="en-US" altLang="en-US" sz="2400" dirty="0">
                <a:latin typeface="Times New Roman" pitchFamily="18" charset="0"/>
                <a:cs typeface="Times New Roman" pitchFamily="18" charset="0"/>
              </a:rPr>
              <a:t>&lt;option value=”blue”&gt;Blue&lt;/option&gt;</a:t>
            </a:r>
          </a:p>
          <a:p>
            <a:pPr>
              <a:lnSpc>
                <a:spcPct val="150000"/>
              </a:lnSpc>
              <a:buFont typeface="Wingdings" pitchFamily="2" charset="2"/>
              <a:buNone/>
            </a:pPr>
            <a:r>
              <a:rPr lang="en-US" altLang="en-US" sz="2400" dirty="0">
                <a:latin typeface="Times New Roman" pitchFamily="18" charset="0"/>
                <a:cs typeface="Times New Roman" pitchFamily="18" charset="0"/>
              </a:rPr>
              <a:t>&lt;/select&gt;</a:t>
            </a:r>
          </a:p>
          <a:p>
            <a:pPr>
              <a:buFont typeface="Wingdings" pitchFamily="2" charset="2"/>
              <a:buNone/>
            </a:pPr>
            <a:endParaRPr lang="en-US" alt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934988403"/>
      </p:ext>
    </p:extLst>
  </p:cSld>
  <p:clrMapOvr>
    <a:masterClrMapping/>
  </p:clrMapOv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title"/>
          </p:nvPr>
        </p:nvSpPr>
        <p:spPr/>
        <p:txBody>
          <a:bodyPr>
            <a:normAutofit/>
          </a:bodyPr>
          <a:lstStyle/>
          <a:p>
            <a:r>
              <a:rPr lang="en-US" altLang="en-US" sz="3200" b="1" dirty="0">
                <a:solidFill>
                  <a:srgbClr val="0070C0"/>
                </a:solidFill>
                <a:latin typeface="Times New Roman" pitchFamily="18" charset="0"/>
                <a:cs typeface="Times New Roman" pitchFamily="18" charset="0"/>
              </a:rPr>
              <a:t>Output</a:t>
            </a:r>
          </a:p>
        </p:txBody>
      </p:sp>
      <p:pic>
        <p:nvPicPr>
          <p:cNvPr id="55300" name="Content Placeholder 4"/>
          <p:cNvPicPr>
            <a:picLocks noGrp="1"/>
          </p:cNvPicPr>
          <p:nvPr>
            <p:ph idx="1"/>
          </p:nvPr>
        </p:nvPicPr>
        <p:blipFill>
          <a:blip r:embed="rId2"/>
          <a:srcRect/>
          <a:stretch>
            <a:fillRect/>
          </a:stretch>
        </p:blipFill>
        <p:spPr>
          <a:xfrm>
            <a:off x="2971800" y="1676400"/>
            <a:ext cx="6781800" cy="3962400"/>
          </a:xfrm>
        </p:spPr>
      </p:pic>
    </p:spTree>
    <p:extLst>
      <p:ext uri="{BB962C8B-B14F-4D97-AF65-F5344CB8AC3E}">
        <p14:creationId xmlns:p14="http://schemas.microsoft.com/office/powerpoint/2010/main" val="1506413467"/>
      </p:ext>
    </p:extLst>
  </p:cSld>
  <p:clrMapOvr>
    <a:masterClrMapping/>
  </p:clrMapOv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a:xfrm>
            <a:off x="1981200" y="274638"/>
            <a:ext cx="8229600" cy="563562"/>
          </a:xfrm>
        </p:spPr>
        <p:txBody>
          <a:bodyPr>
            <a:normAutofit/>
          </a:bodyPr>
          <a:lstStyle/>
          <a:p>
            <a:pPr algn="l"/>
            <a:r>
              <a:rPr lang="en-US" sz="3200" dirty="0">
                <a:solidFill>
                  <a:srgbClr val="00B050"/>
                </a:solidFill>
              </a:rPr>
              <a:t>File Select boxes</a:t>
            </a:r>
          </a:p>
        </p:txBody>
      </p:sp>
      <p:sp>
        <p:nvSpPr>
          <p:cNvPr id="2" name="Content Placeholder 1"/>
          <p:cNvSpPr>
            <a:spLocks noGrp="1"/>
          </p:cNvSpPr>
          <p:nvPr>
            <p:ph idx="1"/>
          </p:nvPr>
        </p:nvSpPr>
        <p:spPr>
          <a:xfrm>
            <a:off x="1828800" y="914400"/>
            <a:ext cx="8610600" cy="5334000"/>
          </a:xfrm>
        </p:spPr>
        <p:txBody>
          <a:bodyPr/>
          <a:lstStyle/>
          <a:p>
            <a:pPr algn="just"/>
            <a:r>
              <a:rPr lang="en-US" sz="2600" dirty="0"/>
              <a:t>If you want to allow a user to upload a file to your web site, you will need to use a file upload box, also known as a file select box. </a:t>
            </a:r>
          </a:p>
          <a:p>
            <a:pPr algn="just"/>
            <a:r>
              <a:rPr lang="en-US" sz="2600" dirty="0"/>
              <a:t>This is also created using the &lt;input&gt; element but type attribute is set to </a:t>
            </a:r>
            <a:r>
              <a:rPr lang="en-US" sz="2600" b="1" dirty="0"/>
              <a:t>file</a:t>
            </a:r>
            <a:r>
              <a:rPr lang="en-US" sz="2600" dirty="0"/>
              <a:t>.</a:t>
            </a:r>
          </a:p>
          <a:p>
            <a:pPr marL="0" indent="0">
              <a:buNone/>
            </a:pPr>
            <a:r>
              <a:rPr lang="en-US" dirty="0">
                <a:solidFill>
                  <a:srgbClr val="002060"/>
                </a:solidFill>
              </a:rPr>
              <a:t>Syntax :</a:t>
            </a:r>
          </a:p>
          <a:p>
            <a:pPr marL="0" indent="0">
              <a:buNone/>
            </a:pPr>
            <a:r>
              <a:rPr lang="en-US" sz="2600" dirty="0">
                <a:solidFill>
                  <a:schemeClr val="accent6">
                    <a:lumMod val="50000"/>
                  </a:schemeClr>
                </a:solidFill>
              </a:rPr>
              <a:t>&lt;input type="file" name="</a:t>
            </a:r>
            <a:r>
              <a:rPr lang="en-US" sz="2600" dirty="0" err="1">
                <a:solidFill>
                  <a:schemeClr val="accent6">
                    <a:lumMod val="50000"/>
                  </a:schemeClr>
                </a:solidFill>
              </a:rPr>
              <a:t>fileupload</a:t>
            </a:r>
            <a:r>
              <a:rPr lang="en-US" sz="2600" dirty="0">
                <a:solidFill>
                  <a:schemeClr val="accent6">
                    <a:lumMod val="50000"/>
                  </a:schemeClr>
                </a:solidFill>
              </a:rPr>
              <a:t>" accept="image/*" /&gt;</a:t>
            </a:r>
          </a:p>
          <a:p>
            <a:pPr marL="0" indent="0">
              <a:buNone/>
            </a:pPr>
            <a:endParaRPr lang="en-US" sz="2600" dirty="0">
              <a:solidFill>
                <a:schemeClr val="accent6">
                  <a:lumMod val="50000"/>
                </a:schemeClr>
              </a:solidFill>
            </a:endParaRPr>
          </a:p>
          <a:p>
            <a:endParaRPr lang="en-US" dirty="0"/>
          </a:p>
        </p:txBody>
      </p:sp>
      <p:graphicFrame>
        <p:nvGraphicFramePr>
          <p:cNvPr id="3" name="Table 2"/>
          <p:cNvGraphicFramePr>
            <a:graphicFrameLocks noGrp="1"/>
          </p:cNvGraphicFramePr>
          <p:nvPr>
            <p:extLst/>
          </p:nvPr>
        </p:nvGraphicFramePr>
        <p:xfrm>
          <a:off x="3048000" y="4419600"/>
          <a:ext cx="7143750" cy="1676400"/>
        </p:xfrm>
        <a:graphic>
          <a:graphicData uri="http://schemas.openxmlformats.org/drawingml/2006/table">
            <a:tbl>
              <a:tblPr/>
              <a:tblGrid>
                <a:gridCol w="1276350">
                  <a:extLst>
                    <a:ext uri="{9D8B030D-6E8A-4147-A177-3AD203B41FA5}">
                      <a16:colId xmlns:a16="http://schemas.microsoft.com/office/drawing/2014/main" xmlns="" val="20000"/>
                    </a:ext>
                  </a:extLst>
                </a:gridCol>
                <a:gridCol w="5867400">
                  <a:extLst>
                    <a:ext uri="{9D8B030D-6E8A-4147-A177-3AD203B41FA5}">
                      <a16:colId xmlns:a16="http://schemas.microsoft.com/office/drawing/2014/main" xmlns="" val="20001"/>
                    </a:ext>
                  </a:extLst>
                </a:gridCol>
              </a:tblGrid>
              <a:tr h="0">
                <a:tc>
                  <a:txBody>
                    <a:bodyPr/>
                    <a:lstStyle/>
                    <a:p>
                      <a:pPr algn="l" fontAlgn="t"/>
                      <a:r>
                        <a:rPr lang="en-US" sz="2000">
                          <a:solidFill>
                            <a:srgbClr val="FF0000"/>
                          </a:solidFill>
                          <a:effectLst/>
                        </a:rPr>
                        <a:t>Attribute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l" fontAlgn="t"/>
                      <a:r>
                        <a:rPr lang="en-US" sz="2000" dirty="0">
                          <a:solidFill>
                            <a:srgbClr val="FF0000"/>
                          </a:solidFill>
                          <a:effectLst/>
                        </a:rPr>
                        <a:t>Description</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xmlns="" val="10000"/>
                  </a:ext>
                </a:extLst>
              </a:tr>
              <a:tr h="0">
                <a:tc>
                  <a:txBody>
                    <a:bodyPr/>
                    <a:lstStyle/>
                    <a:p>
                      <a:pPr fontAlgn="t"/>
                      <a:r>
                        <a:rPr lang="en-US" sz="2000">
                          <a:effectLst/>
                        </a:rPr>
                        <a:t>name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000">
                          <a:effectLst/>
                        </a:rPr>
                        <a:t>Used to give a name to the control which is sent to the server to be recognized and get the value.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xmlns="" val="10001"/>
                  </a:ext>
                </a:extLst>
              </a:tr>
              <a:tr h="0">
                <a:tc>
                  <a:txBody>
                    <a:bodyPr/>
                    <a:lstStyle/>
                    <a:p>
                      <a:pPr fontAlgn="t"/>
                      <a:r>
                        <a:rPr lang="en-US" sz="2000">
                          <a:effectLst/>
                        </a:rPr>
                        <a:t>accept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000" dirty="0">
                          <a:effectLst/>
                        </a:rPr>
                        <a:t>Specifies the types of files that the server accepts.</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xmlns="" val="10002"/>
                  </a:ext>
                </a:extLst>
              </a:tr>
            </a:tbl>
          </a:graphicData>
        </a:graphic>
      </p:graphicFrame>
    </p:spTree>
    <p:extLst>
      <p:ext uri="{BB962C8B-B14F-4D97-AF65-F5344CB8AC3E}">
        <p14:creationId xmlns:p14="http://schemas.microsoft.com/office/powerpoint/2010/main" val="3084882825"/>
      </p:ext>
    </p:extLst>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a:xfrm>
            <a:off x="1981200" y="274638"/>
            <a:ext cx="8229600" cy="563562"/>
          </a:xfrm>
        </p:spPr>
        <p:txBody>
          <a:bodyPr>
            <a:normAutofit/>
          </a:bodyPr>
          <a:lstStyle/>
          <a:p>
            <a:pPr algn="l"/>
            <a:r>
              <a:rPr lang="en-US" sz="3200" dirty="0">
                <a:solidFill>
                  <a:srgbClr val="00B050"/>
                </a:solidFill>
              </a:rPr>
              <a:t>File Select boxes</a:t>
            </a:r>
          </a:p>
        </p:txBody>
      </p:sp>
      <p:sp>
        <p:nvSpPr>
          <p:cNvPr id="2" name="Content Placeholder 1"/>
          <p:cNvSpPr>
            <a:spLocks noGrp="1"/>
          </p:cNvSpPr>
          <p:nvPr>
            <p:ph idx="1"/>
          </p:nvPr>
        </p:nvSpPr>
        <p:spPr>
          <a:xfrm>
            <a:off x="1828800" y="914400"/>
            <a:ext cx="8610600" cy="5334000"/>
          </a:xfrm>
        </p:spPr>
        <p:txBody>
          <a:bodyPr/>
          <a:lstStyle/>
          <a:p>
            <a:pPr marL="0" indent="0" algn="just">
              <a:spcBef>
                <a:spcPts val="0"/>
              </a:spcBef>
              <a:buNone/>
            </a:pPr>
            <a:r>
              <a:rPr lang="en-US" sz="2600" dirty="0"/>
              <a:t>&lt;html&gt;</a:t>
            </a:r>
          </a:p>
          <a:p>
            <a:pPr marL="0" indent="0" algn="just">
              <a:spcBef>
                <a:spcPts val="0"/>
              </a:spcBef>
              <a:buNone/>
            </a:pPr>
            <a:r>
              <a:rPr lang="en-US" sz="2600" dirty="0"/>
              <a:t>&lt;body&gt;</a:t>
            </a:r>
          </a:p>
          <a:p>
            <a:pPr marL="0" indent="0" algn="just">
              <a:spcBef>
                <a:spcPts val="0"/>
              </a:spcBef>
              <a:buNone/>
            </a:pPr>
            <a:r>
              <a:rPr lang="en-US" sz="2600" dirty="0"/>
              <a:t>&lt;form&gt;</a:t>
            </a:r>
          </a:p>
          <a:p>
            <a:pPr marL="0" indent="0" algn="just">
              <a:spcBef>
                <a:spcPts val="0"/>
              </a:spcBef>
              <a:buNone/>
            </a:pPr>
            <a:r>
              <a:rPr lang="en-US" sz="2600" dirty="0"/>
              <a:t>&lt;input type="file" name="</a:t>
            </a:r>
            <a:r>
              <a:rPr lang="en-US" sz="2600" dirty="0" err="1"/>
              <a:t>fileupload</a:t>
            </a:r>
            <a:r>
              <a:rPr lang="en-US" sz="2600" dirty="0"/>
              <a:t>" accept="image/*" /&gt;</a:t>
            </a:r>
          </a:p>
          <a:p>
            <a:pPr marL="0" indent="0" algn="just">
              <a:spcBef>
                <a:spcPts val="0"/>
              </a:spcBef>
              <a:buNone/>
            </a:pPr>
            <a:r>
              <a:rPr lang="en-US" sz="2600" dirty="0"/>
              <a:t>&lt;/form&gt;</a:t>
            </a:r>
          </a:p>
          <a:p>
            <a:pPr marL="0" indent="0" algn="just">
              <a:spcBef>
                <a:spcPts val="0"/>
              </a:spcBef>
              <a:buNone/>
            </a:pPr>
            <a:r>
              <a:rPr lang="en-US" sz="2600" dirty="0"/>
              <a:t>&lt;/body&gt;</a:t>
            </a:r>
          </a:p>
          <a:p>
            <a:pPr marL="0" indent="0" algn="just">
              <a:spcBef>
                <a:spcPts val="0"/>
              </a:spcBef>
              <a:buNone/>
            </a:pPr>
            <a:r>
              <a:rPr lang="en-US" sz="2600" dirty="0"/>
              <a:t>&lt;/html&gt;</a:t>
            </a: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2800" y="2590801"/>
            <a:ext cx="7239000" cy="36771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54836212"/>
      </p:ext>
    </p:extLst>
  </p:cSld>
  <p:clrMapOvr>
    <a:masterClrMapping/>
  </p:clrMapOv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a:xfrm>
            <a:off x="1981200" y="274638"/>
            <a:ext cx="8229600" cy="563562"/>
          </a:xfrm>
        </p:spPr>
        <p:txBody>
          <a:bodyPr>
            <a:normAutofit/>
          </a:bodyPr>
          <a:lstStyle/>
          <a:p>
            <a:pPr algn="l"/>
            <a:r>
              <a:rPr lang="en-US" sz="2800" dirty="0">
                <a:solidFill>
                  <a:srgbClr val="FF0000"/>
                </a:solidFill>
              </a:rPr>
              <a:t>Button Controls</a:t>
            </a:r>
          </a:p>
        </p:txBody>
      </p:sp>
      <p:sp>
        <p:nvSpPr>
          <p:cNvPr id="2" name="Content Placeholder 1"/>
          <p:cNvSpPr>
            <a:spLocks noGrp="1"/>
          </p:cNvSpPr>
          <p:nvPr>
            <p:ph idx="1"/>
          </p:nvPr>
        </p:nvSpPr>
        <p:spPr>
          <a:xfrm>
            <a:off x="1828800" y="914400"/>
            <a:ext cx="8610600" cy="5334000"/>
          </a:xfrm>
        </p:spPr>
        <p:txBody>
          <a:bodyPr>
            <a:normAutofit/>
          </a:bodyPr>
          <a:lstStyle/>
          <a:p>
            <a:pPr algn="just">
              <a:spcBef>
                <a:spcPts val="0"/>
              </a:spcBef>
            </a:pPr>
            <a:r>
              <a:rPr lang="en-US" sz="2600" dirty="0"/>
              <a:t>There are various ways in HTML to create clickable buttons. You can also create a clickable button using &lt;input&gt; tag by setting its type attribute to </a:t>
            </a:r>
            <a:r>
              <a:rPr lang="en-US" sz="2600" b="1" dirty="0"/>
              <a:t>button</a:t>
            </a:r>
            <a:r>
              <a:rPr lang="en-US" sz="2600" dirty="0"/>
              <a:t>.</a:t>
            </a:r>
          </a:p>
          <a:p>
            <a:pPr algn="just">
              <a:spcBef>
                <a:spcPts val="0"/>
              </a:spcBef>
            </a:pPr>
            <a:r>
              <a:rPr lang="en-US" sz="2600" dirty="0"/>
              <a:t> The type attribute can take the following values:</a:t>
            </a:r>
          </a:p>
        </p:txBody>
      </p:sp>
      <p:graphicFrame>
        <p:nvGraphicFramePr>
          <p:cNvPr id="5" name="Table 4"/>
          <p:cNvGraphicFramePr>
            <a:graphicFrameLocks noGrp="1"/>
          </p:cNvGraphicFramePr>
          <p:nvPr>
            <p:extLst/>
          </p:nvPr>
        </p:nvGraphicFramePr>
        <p:xfrm>
          <a:off x="2286000" y="2895600"/>
          <a:ext cx="7924800" cy="3124201"/>
        </p:xfrm>
        <a:graphic>
          <a:graphicData uri="http://schemas.openxmlformats.org/drawingml/2006/table">
            <a:tbl>
              <a:tblPr/>
              <a:tblGrid>
                <a:gridCol w="1219200">
                  <a:extLst>
                    <a:ext uri="{9D8B030D-6E8A-4147-A177-3AD203B41FA5}">
                      <a16:colId xmlns:a16="http://schemas.microsoft.com/office/drawing/2014/main" xmlns="" val="20000"/>
                    </a:ext>
                  </a:extLst>
                </a:gridCol>
                <a:gridCol w="6705600">
                  <a:extLst>
                    <a:ext uri="{9D8B030D-6E8A-4147-A177-3AD203B41FA5}">
                      <a16:colId xmlns:a16="http://schemas.microsoft.com/office/drawing/2014/main" xmlns="" val="20001"/>
                    </a:ext>
                  </a:extLst>
                </a:gridCol>
              </a:tblGrid>
              <a:tr h="638117">
                <a:tc>
                  <a:txBody>
                    <a:bodyPr/>
                    <a:lstStyle/>
                    <a:p>
                      <a:pPr algn="l" fontAlgn="t"/>
                      <a:r>
                        <a:rPr lang="en-US" sz="2200" dirty="0">
                          <a:effectLst/>
                        </a:rPr>
                        <a:t>Type</a:t>
                      </a:r>
                    </a:p>
                  </a:txBody>
                  <a:tcPr marL="66952" marR="66952" marT="66952" marB="6695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l" fontAlgn="t"/>
                      <a:r>
                        <a:rPr lang="en-US" sz="2200">
                          <a:effectLst/>
                        </a:rPr>
                        <a:t>Description</a:t>
                      </a:r>
                    </a:p>
                  </a:txBody>
                  <a:tcPr marL="66952" marR="66952" marT="66952" marB="6695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xmlns="" val="10000"/>
                  </a:ext>
                </a:extLst>
              </a:tr>
              <a:tr h="561294">
                <a:tc>
                  <a:txBody>
                    <a:bodyPr/>
                    <a:lstStyle/>
                    <a:p>
                      <a:pPr fontAlgn="t"/>
                      <a:r>
                        <a:rPr lang="en-US" sz="2200">
                          <a:solidFill>
                            <a:srgbClr val="00B050"/>
                          </a:solidFill>
                          <a:effectLst/>
                        </a:rPr>
                        <a:t>submit</a:t>
                      </a:r>
                    </a:p>
                  </a:txBody>
                  <a:tcPr marL="66952" marR="66952" marT="66952" marB="6695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200">
                          <a:effectLst/>
                        </a:rPr>
                        <a:t>This creates a button that automatically submits a form.</a:t>
                      </a:r>
                    </a:p>
                  </a:txBody>
                  <a:tcPr marL="66952" marR="66952" marT="66952" marB="6695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xmlns="" val="10001"/>
                  </a:ext>
                </a:extLst>
              </a:tr>
              <a:tr h="962395">
                <a:tc>
                  <a:txBody>
                    <a:bodyPr/>
                    <a:lstStyle/>
                    <a:p>
                      <a:pPr fontAlgn="t"/>
                      <a:r>
                        <a:rPr lang="en-US" sz="2200">
                          <a:solidFill>
                            <a:srgbClr val="00B050"/>
                          </a:solidFill>
                          <a:effectLst/>
                        </a:rPr>
                        <a:t>reset</a:t>
                      </a:r>
                    </a:p>
                  </a:txBody>
                  <a:tcPr marL="66952" marR="66952" marT="66952" marB="6695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200">
                          <a:effectLst/>
                        </a:rPr>
                        <a:t>This creates a button that automatically resets form controls to their initial values.</a:t>
                      </a:r>
                    </a:p>
                  </a:txBody>
                  <a:tcPr marL="66952" marR="66952" marT="66952" marB="6695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xmlns="" val="10002"/>
                  </a:ext>
                </a:extLst>
              </a:tr>
              <a:tr h="962395">
                <a:tc>
                  <a:txBody>
                    <a:bodyPr/>
                    <a:lstStyle/>
                    <a:p>
                      <a:pPr fontAlgn="t"/>
                      <a:r>
                        <a:rPr lang="en-US" sz="2200" dirty="0">
                          <a:solidFill>
                            <a:srgbClr val="00B050"/>
                          </a:solidFill>
                          <a:effectLst/>
                        </a:rPr>
                        <a:t>image</a:t>
                      </a:r>
                    </a:p>
                  </a:txBody>
                  <a:tcPr marL="66952" marR="66952" marT="66952" marB="6695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200" dirty="0">
                          <a:effectLst/>
                        </a:rPr>
                        <a:t>This creates a clickable button but we can use an image as background of the button.</a:t>
                      </a:r>
                    </a:p>
                  </a:txBody>
                  <a:tcPr marL="66952" marR="66952" marT="66952" marB="6695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xmlns="" val="10003"/>
                  </a:ext>
                </a:extLst>
              </a:tr>
            </a:tbl>
          </a:graphicData>
        </a:graphic>
      </p:graphicFrame>
    </p:spTree>
    <p:extLst>
      <p:ext uri="{BB962C8B-B14F-4D97-AF65-F5344CB8AC3E}">
        <p14:creationId xmlns:p14="http://schemas.microsoft.com/office/powerpoint/2010/main" val="865454177"/>
      </p:ext>
    </p:extLst>
  </p:cSld>
  <p:clrMapOvr>
    <a:masterClrMapping/>
  </p:clrMapOv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828800" y="228600"/>
            <a:ext cx="8610600" cy="6019800"/>
          </a:xfrm>
        </p:spPr>
        <p:txBody>
          <a:bodyPr>
            <a:normAutofit/>
          </a:bodyPr>
          <a:lstStyle/>
          <a:p>
            <a:pPr marL="0" indent="0" algn="just">
              <a:spcBef>
                <a:spcPts val="0"/>
              </a:spcBef>
              <a:buNone/>
            </a:pPr>
            <a:r>
              <a:rPr lang="en-US" sz="2200" dirty="0"/>
              <a:t>&lt;html&gt;</a:t>
            </a:r>
          </a:p>
          <a:p>
            <a:pPr marL="0" indent="0" algn="just">
              <a:spcBef>
                <a:spcPts val="0"/>
              </a:spcBef>
              <a:buNone/>
            </a:pPr>
            <a:r>
              <a:rPr lang="en-US" sz="2200" dirty="0"/>
              <a:t>&lt;body </a:t>
            </a:r>
            <a:r>
              <a:rPr lang="en-US" sz="2200" dirty="0" err="1"/>
              <a:t>bgcolor</a:t>
            </a:r>
            <a:r>
              <a:rPr lang="en-US" sz="2200" dirty="0"/>
              <a:t>="green"&gt;</a:t>
            </a:r>
          </a:p>
          <a:p>
            <a:pPr marL="0" indent="0" algn="just">
              <a:spcBef>
                <a:spcPts val="0"/>
              </a:spcBef>
              <a:buNone/>
            </a:pPr>
            <a:r>
              <a:rPr lang="en-US" sz="2200" dirty="0"/>
              <a:t>&lt;form&gt;</a:t>
            </a:r>
          </a:p>
          <a:p>
            <a:pPr marL="0" indent="0" algn="just">
              <a:spcBef>
                <a:spcPts val="0"/>
              </a:spcBef>
              <a:buNone/>
            </a:pPr>
            <a:r>
              <a:rPr lang="en-US" sz="2200" dirty="0"/>
              <a:t>&lt;input type="submit" name="submit" value="Submit" /&gt;</a:t>
            </a:r>
          </a:p>
          <a:p>
            <a:pPr marL="0" indent="0" algn="just">
              <a:spcBef>
                <a:spcPts val="0"/>
              </a:spcBef>
              <a:buNone/>
            </a:pPr>
            <a:r>
              <a:rPr lang="en-US" sz="2200" dirty="0"/>
              <a:t>&lt;input type="reset" name="reset"  value="Reset" /&gt;</a:t>
            </a:r>
          </a:p>
          <a:p>
            <a:pPr marL="0" indent="0" algn="just">
              <a:spcBef>
                <a:spcPts val="0"/>
              </a:spcBef>
              <a:buNone/>
            </a:pPr>
            <a:r>
              <a:rPr lang="en-US" sz="2200" dirty="0"/>
              <a:t>&lt;input type="image" name="</a:t>
            </a:r>
            <a:r>
              <a:rPr lang="en-US" sz="2200" dirty="0" err="1"/>
              <a:t>imagebutton</a:t>
            </a:r>
            <a:r>
              <a:rPr lang="en-US" sz="2200" dirty="0"/>
              <a:t>" </a:t>
            </a:r>
            <a:r>
              <a:rPr lang="en-US" sz="2200" dirty="0" err="1"/>
              <a:t>src</a:t>
            </a:r>
            <a:r>
              <a:rPr lang="en-US" sz="2200" dirty="0"/>
              <a:t>="fl.jpg" /&gt;</a:t>
            </a:r>
          </a:p>
          <a:p>
            <a:pPr marL="0" indent="0" algn="just">
              <a:spcBef>
                <a:spcPts val="0"/>
              </a:spcBef>
              <a:buNone/>
            </a:pPr>
            <a:r>
              <a:rPr lang="en-US" sz="2200" dirty="0"/>
              <a:t>&lt;/form&gt;</a:t>
            </a:r>
          </a:p>
          <a:p>
            <a:pPr marL="0" indent="0" algn="just">
              <a:spcBef>
                <a:spcPts val="0"/>
              </a:spcBef>
              <a:buNone/>
            </a:pPr>
            <a:r>
              <a:rPr lang="en-US" sz="2200" dirty="0"/>
              <a:t>&lt;/body&gt;</a:t>
            </a:r>
          </a:p>
          <a:p>
            <a:pPr marL="0" indent="0" algn="just">
              <a:spcBef>
                <a:spcPts val="0"/>
              </a:spcBef>
              <a:buNone/>
            </a:pPr>
            <a:r>
              <a:rPr lang="en-US" sz="2200" dirty="0"/>
              <a:t>&lt;/html&gt;</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3758" y="2356708"/>
            <a:ext cx="7653138" cy="40190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76658763"/>
      </p:ext>
    </p:extLst>
  </p:cSld>
  <p:clrMapOvr>
    <a:masterClrMapping/>
  </p:clrMapOvr>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828800" y="1295400"/>
            <a:ext cx="8610600" cy="4953000"/>
          </a:xfrm>
        </p:spPr>
        <p:txBody>
          <a:bodyPr>
            <a:normAutofit/>
          </a:bodyPr>
          <a:lstStyle/>
          <a:p>
            <a:pPr>
              <a:lnSpc>
                <a:spcPct val="90000"/>
              </a:lnSpc>
            </a:pPr>
            <a:r>
              <a:rPr lang="en-US" sz="2400" dirty="0" err="1"/>
              <a:t>Fieldsets</a:t>
            </a:r>
            <a:r>
              <a:rPr lang="en-US" sz="2400" dirty="0"/>
              <a:t> are used to enclose a group of related form fields:</a:t>
            </a:r>
          </a:p>
          <a:p>
            <a:pPr>
              <a:lnSpc>
                <a:spcPct val="90000"/>
              </a:lnSpc>
            </a:pPr>
            <a:r>
              <a:rPr lang="en-US" sz="2400" dirty="0"/>
              <a:t>The &lt;legend&gt; is used to set  the </a:t>
            </a:r>
            <a:r>
              <a:rPr lang="en-US" sz="2400" dirty="0" err="1"/>
              <a:t>fieldset's</a:t>
            </a:r>
            <a:r>
              <a:rPr lang="en-US" sz="2400" dirty="0"/>
              <a:t> title.</a:t>
            </a:r>
          </a:p>
          <a:p>
            <a:pPr marL="0" indent="0" eaLnBrk="0" hangingPunct="0">
              <a:lnSpc>
                <a:spcPts val="2400"/>
              </a:lnSpc>
              <a:buClr>
                <a:schemeClr val="accent5">
                  <a:lumMod val="40000"/>
                  <a:lumOff val="60000"/>
                </a:schemeClr>
              </a:buClr>
              <a:buSzPct val="70000"/>
              <a:buNone/>
              <a:defRPr/>
            </a:pPr>
            <a:r>
              <a:rPr lang="en-US" sz="2400" b="1" noProof="1">
                <a:effectLst>
                  <a:outerShdw blurRad="38100" dist="38100" dir="2700000" algn="tl">
                    <a:srgbClr val="000000">
                      <a:alpha val="43137"/>
                    </a:srgbClr>
                  </a:outerShdw>
                </a:effectLst>
                <a:latin typeface="Consolas" pitchFamily="49" charset="0"/>
                <a:cs typeface="Consolas" pitchFamily="49" charset="0"/>
              </a:rPr>
              <a:t>&lt;fieldset&gt;</a:t>
            </a:r>
          </a:p>
          <a:p>
            <a:pPr marL="0" indent="0" eaLnBrk="0" hangingPunct="0">
              <a:lnSpc>
                <a:spcPts val="2400"/>
              </a:lnSpc>
              <a:buClr>
                <a:schemeClr val="accent5">
                  <a:lumMod val="40000"/>
                  <a:lumOff val="60000"/>
                </a:schemeClr>
              </a:buClr>
              <a:buSzPct val="70000"/>
              <a:buNone/>
              <a:defRPr/>
            </a:pPr>
            <a:r>
              <a:rPr lang="en-US" sz="2400" b="1" noProof="1">
                <a:effectLst>
                  <a:outerShdw blurRad="38100" dist="38100" dir="2700000" algn="tl">
                    <a:srgbClr val="000000">
                      <a:alpha val="43137"/>
                    </a:srgbClr>
                  </a:outerShdw>
                </a:effectLst>
                <a:latin typeface="Consolas" pitchFamily="49" charset="0"/>
                <a:cs typeface="Consolas" pitchFamily="49" charset="0"/>
              </a:rPr>
              <a:t>      &lt;legend&gt;Title&lt;/legend&gt;</a:t>
            </a:r>
          </a:p>
          <a:p>
            <a:pPr marL="0" indent="0" eaLnBrk="0" hangingPunct="0">
              <a:lnSpc>
                <a:spcPts val="2400"/>
              </a:lnSpc>
              <a:buClr>
                <a:schemeClr val="accent5">
                  <a:lumMod val="40000"/>
                  <a:lumOff val="60000"/>
                </a:schemeClr>
              </a:buClr>
              <a:buSzPct val="70000"/>
              <a:buNone/>
              <a:defRPr/>
            </a:pPr>
            <a:r>
              <a:rPr lang="en-US" sz="2400" b="1" noProof="1">
                <a:effectLst>
                  <a:outerShdw blurRad="38100" dist="38100" dir="2700000" algn="tl">
                    <a:srgbClr val="000000">
                      <a:alpha val="43137"/>
                    </a:srgbClr>
                  </a:outerShdw>
                </a:effectLst>
                <a:latin typeface="Consolas" pitchFamily="49" charset="0"/>
                <a:cs typeface="Consolas" pitchFamily="49" charset="0"/>
              </a:rPr>
              <a:t>&lt;/fieldset&gt;</a:t>
            </a:r>
          </a:p>
          <a:p>
            <a:pPr marL="0" indent="0" eaLnBrk="0" hangingPunct="0">
              <a:lnSpc>
                <a:spcPts val="2400"/>
              </a:lnSpc>
              <a:buClr>
                <a:schemeClr val="accent5">
                  <a:lumMod val="40000"/>
                  <a:lumOff val="60000"/>
                </a:schemeClr>
              </a:buClr>
              <a:buSzPct val="70000"/>
              <a:buNone/>
              <a:defRPr/>
            </a:pPr>
            <a:endParaRPr lang="en-US" sz="2400" b="1" noProof="1">
              <a:effectLst>
                <a:outerShdw blurRad="38100" dist="38100" dir="2700000" algn="tl">
                  <a:srgbClr val="000000">
                    <a:alpha val="43137"/>
                  </a:srgbClr>
                </a:outerShdw>
              </a:effectLst>
              <a:latin typeface="Consolas" pitchFamily="49" charset="0"/>
              <a:cs typeface="Consolas" pitchFamily="49" charset="0"/>
            </a:endParaRPr>
          </a:p>
          <a:p>
            <a:pPr eaLnBrk="0" hangingPunct="0">
              <a:lnSpc>
                <a:spcPts val="2400"/>
              </a:lnSpc>
              <a:buSzPct val="70000"/>
              <a:defRPr/>
            </a:pPr>
            <a:r>
              <a:rPr lang="en-US" sz="2400" dirty="0"/>
              <a:t>Form labels are used to associate an text to a form field</a:t>
            </a:r>
            <a:endParaRPr lang="en-US" sz="2400" b="1" noProof="1">
              <a:effectLst>
                <a:outerShdw blurRad="38100" dist="38100" dir="2700000" algn="tl">
                  <a:srgbClr val="000000">
                    <a:alpha val="43137"/>
                  </a:srgbClr>
                </a:outerShdw>
              </a:effectLst>
              <a:latin typeface="Consolas" pitchFamily="49" charset="0"/>
              <a:cs typeface="Consolas" pitchFamily="49" charset="0"/>
            </a:endParaRPr>
          </a:p>
          <a:p>
            <a:pPr eaLnBrk="0" hangingPunct="0">
              <a:lnSpc>
                <a:spcPts val="2400"/>
              </a:lnSpc>
              <a:buClr>
                <a:schemeClr val="accent5">
                  <a:lumMod val="40000"/>
                  <a:lumOff val="60000"/>
                </a:schemeClr>
              </a:buClr>
              <a:buSzPct val="70000"/>
              <a:defRPr/>
            </a:pPr>
            <a:endParaRPr lang="en-US" sz="2400" b="1" noProof="1">
              <a:solidFill>
                <a:srgbClr val="FF0000"/>
              </a:solidFill>
              <a:effectLst>
                <a:outerShdw blurRad="38100" dist="38100" dir="2700000" algn="tl">
                  <a:srgbClr val="000000">
                    <a:alpha val="43137"/>
                  </a:srgbClr>
                </a:outerShdw>
              </a:effectLst>
              <a:latin typeface="Consolas" pitchFamily="49" charset="0"/>
              <a:cs typeface="Consolas" pitchFamily="49" charset="0"/>
            </a:endParaRPr>
          </a:p>
          <a:p>
            <a:pPr marL="0" indent="0">
              <a:buNone/>
            </a:pPr>
            <a:r>
              <a:rPr lang="en-US" sz="2400" b="1" noProof="1">
                <a:solidFill>
                  <a:srgbClr val="FF0000"/>
                </a:solidFill>
                <a:effectLst>
                  <a:outerShdw blurRad="38100" dist="38100" dir="2700000" algn="tl">
                    <a:srgbClr val="000000">
                      <a:alpha val="43137"/>
                    </a:srgbClr>
                  </a:outerShdw>
                </a:effectLst>
                <a:latin typeface="Consolas" pitchFamily="49" charset="0"/>
                <a:cs typeface="Consolas" pitchFamily="49" charset="0"/>
              </a:rPr>
              <a:t>&lt;label&gt;First Name&lt;/label&gt;</a:t>
            </a:r>
          </a:p>
          <a:p>
            <a:pPr>
              <a:lnSpc>
                <a:spcPct val="90000"/>
              </a:lnSpc>
            </a:pPr>
            <a:endParaRPr lang="en-US" sz="2400" dirty="0"/>
          </a:p>
        </p:txBody>
      </p:sp>
      <p:sp>
        <p:nvSpPr>
          <p:cNvPr id="5" name="Title 1"/>
          <p:cNvSpPr>
            <a:spLocks noGrp="1"/>
          </p:cNvSpPr>
          <p:nvPr>
            <p:ph type="title"/>
          </p:nvPr>
        </p:nvSpPr>
        <p:spPr>
          <a:xfrm>
            <a:off x="1981200" y="274638"/>
            <a:ext cx="8229600" cy="563562"/>
          </a:xfrm>
        </p:spPr>
        <p:txBody>
          <a:bodyPr>
            <a:noAutofit/>
          </a:bodyPr>
          <a:lstStyle/>
          <a:p>
            <a:pPr>
              <a:spcBef>
                <a:spcPts val="0"/>
              </a:spcBef>
            </a:pPr>
            <a:r>
              <a:rPr lang="en-US" sz="3600" dirty="0" err="1">
                <a:solidFill>
                  <a:srgbClr val="002060"/>
                </a:solidFill>
              </a:rPr>
              <a:t>Fieldsets</a:t>
            </a:r>
            <a:r>
              <a:rPr lang="en-US" sz="3600" dirty="0">
                <a:solidFill>
                  <a:srgbClr val="002060"/>
                </a:solidFill>
              </a:rPr>
              <a:t> &amp; Labels</a:t>
            </a:r>
          </a:p>
        </p:txBody>
      </p:sp>
    </p:spTree>
    <p:extLst>
      <p:ext uri="{BB962C8B-B14F-4D97-AF65-F5344CB8AC3E}">
        <p14:creationId xmlns:p14="http://schemas.microsoft.com/office/powerpoint/2010/main" val="487701801"/>
      </p:ext>
    </p:extLst>
  </p:cSld>
  <p:clrMapOvr>
    <a:masterClrMapping/>
  </p:clrMapOvr>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828800" y="228600"/>
            <a:ext cx="8610600" cy="6019800"/>
          </a:xfrm>
        </p:spPr>
        <p:txBody>
          <a:bodyPr>
            <a:normAutofit/>
          </a:bodyPr>
          <a:lstStyle/>
          <a:p>
            <a:pPr marL="0" indent="0">
              <a:buNone/>
            </a:pPr>
            <a:r>
              <a:rPr lang="en-US" sz="2400" dirty="0"/>
              <a:t>&lt;html&gt;</a:t>
            </a:r>
          </a:p>
          <a:p>
            <a:pPr marL="0" indent="0">
              <a:buNone/>
            </a:pPr>
            <a:r>
              <a:rPr lang="en-US" sz="2400" dirty="0"/>
              <a:t>&lt;form method="post" action="form.aspx"&gt;</a:t>
            </a:r>
          </a:p>
          <a:p>
            <a:pPr marL="0" indent="0">
              <a:buNone/>
            </a:pPr>
            <a:r>
              <a:rPr lang="en-US" sz="2400" dirty="0"/>
              <a:t>   &lt;</a:t>
            </a:r>
            <a:r>
              <a:rPr lang="en-US" sz="2400" dirty="0" err="1"/>
              <a:t>fieldset</a:t>
            </a:r>
            <a:r>
              <a:rPr lang="en-US" sz="2400" dirty="0"/>
              <a:t>&gt;</a:t>
            </a:r>
          </a:p>
          <a:p>
            <a:pPr marL="0" indent="0">
              <a:buNone/>
            </a:pPr>
            <a:r>
              <a:rPr lang="en-US" sz="2400" dirty="0"/>
              <a:t>      &lt;legend&gt;Client Details&lt;/legend&gt;</a:t>
            </a:r>
          </a:p>
          <a:p>
            <a:pPr marL="0" indent="0">
              <a:buNone/>
            </a:pPr>
            <a:r>
              <a:rPr lang="en-US" sz="2400" dirty="0"/>
              <a:t>      &lt;Label&gt;Name:&lt;/label&gt;&lt;input type="text" id="Name" /&gt;</a:t>
            </a:r>
          </a:p>
          <a:p>
            <a:pPr marL="0" indent="0">
              <a:buNone/>
            </a:pPr>
            <a:r>
              <a:rPr lang="en-US" sz="2400" dirty="0"/>
              <a:t>     &lt;Label&gt;Mobile :&lt;/label&gt; &lt;input type="text" id="Phone" /&gt;</a:t>
            </a:r>
          </a:p>
          <a:p>
            <a:pPr marL="0" indent="0">
              <a:buNone/>
            </a:pPr>
            <a:r>
              <a:rPr lang="en-US" sz="2400" dirty="0"/>
              <a:t>   &lt;/</a:t>
            </a:r>
            <a:r>
              <a:rPr lang="en-US" sz="2400" dirty="0" err="1"/>
              <a:t>fieldset</a:t>
            </a:r>
            <a:r>
              <a:rPr lang="en-US" sz="2400" dirty="0"/>
              <a:t>&gt;</a:t>
            </a:r>
          </a:p>
          <a:p>
            <a:pPr marL="0" indent="0">
              <a:buNone/>
            </a:pPr>
            <a:r>
              <a:rPr lang="en-US" sz="2400" dirty="0"/>
              <a:t>&lt;/html&gt;</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3800" y="2667000"/>
            <a:ext cx="6858000" cy="37087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25143447"/>
      </p:ext>
    </p:extLst>
  </p:cSld>
  <p:clrMapOvr>
    <a:masterClrMapping/>
  </p:clrMapOv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828800" y="1371600"/>
            <a:ext cx="8610600" cy="4876800"/>
          </a:xfrm>
        </p:spPr>
        <p:txBody>
          <a:bodyPr>
            <a:noAutofit/>
          </a:bodyPr>
          <a:lstStyle/>
          <a:p>
            <a:r>
              <a:rPr lang="en-US" dirty="0"/>
              <a:t>An HTML marquee is a scrolling piece of text displayed either horizontally across or vertically down your webpage depending on the settings.</a:t>
            </a:r>
          </a:p>
          <a:p>
            <a:r>
              <a:rPr lang="en-US" dirty="0"/>
              <a:t> This is created by using HTML &lt;marquee&gt; tag.</a:t>
            </a:r>
          </a:p>
          <a:p>
            <a:r>
              <a:rPr lang="en-US" dirty="0">
                <a:solidFill>
                  <a:srgbClr val="002060"/>
                </a:solidFill>
              </a:rPr>
              <a:t>&lt;marquee </a:t>
            </a:r>
            <a:r>
              <a:rPr lang="en-US" dirty="0" err="1">
                <a:solidFill>
                  <a:srgbClr val="002060"/>
                </a:solidFill>
              </a:rPr>
              <a:t>attribute_name</a:t>
            </a:r>
            <a:r>
              <a:rPr lang="en-US" dirty="0">
                <a:solidFill>
                  <a:srgbClr val="002060"/>
                </a:solidFill>
              </a:rPr>
              <a:t>="</a:t>
            </a:r>
            <a:r>
              <a:rPr lang="en-US" dirty="0" err="1">
                <a:solidFill>
                  <a:srgbClr val="002060"/>
                </a:solidFill>
              </a:rPr>
              <a:t>attribute_value</a:t>
            </a:r>
            <a:r>
              <a:rPr lang="en-US" dirty="0">
                <a:solidFill>
                  <a:srgbClr val="002060"/>
                </a:solidFill>
              </a:rPr>
              <a:t>"....more attributes&gt; One or more lines or text message or image &lt;/marquee&gt;</a:t>
            </a:r>
            <a:r>
              <a:rPr lang="en-US" dirty="0"/>
              <a:t/>
            </a:r>
            <a:br>
              <a:rPr lang="en-US" dirty="0"/>
            </a:br>
            <a:endParaRPr lang="en-US" dirty="0"/>
          </a:p>
        </p:txBody>
      </p:sp>
      <p:sp>
        <p:nvSpPr>
          <p:cNvPr id="7" name="Title 1"/>
          <p:cNvSpPr>
            <a:spLocks noGrp="1"/>
          </p:cNvSpPr>
          <p:nvPr>
            <p:ph type="title"/>
          </p:nvPr>
        </p:nvSpPr>
        <p:spPr>
          <a:xfrm>
            <a:off x="1981200" y="274638"/>
            <a:ext cx="8229600" cy="563562"/>
          </a:xfrm>
        </p:spPr>
        <p:txBody>
          <a:bodyPr>
            <a:noAutofit/>
          </a:bodyPr>
          <a:lstStyle/>
          <a:p>
            <a:pPr>
              <a:spcBef>
                <a:spcPts val="0"/>
              </a:spcBef>
            </a:pPr>
            <a:r>
              <a:rPr lang="en-US" sz="3600" dirty="0">
                <a:solidFill>
                  <a:srgbClr val="FF0000"/>
                </a:solidFill>
              </a:rPr>
              <a:t>&lt;marquee&gt; tag</a:t>
            </a:r>
          </a:p>
        </p:txBody>
      </p:sp>
    </p:spTree>
    <p:extLst>
      <p:ext uri="{BB962C8B-B14F-4D97-AF65-F5344CB8AC3E}">
        <p14:creationId xmlns:p14="http://schemas.microsoft.com/office/powerpoint/2010/main" val="3833735430"/>
      </p:ext>
    </p:extLst>
  </p:cSld>
  <p:clrMapOvr>
    <a:masterClrMapping/>
  </p:clrMapOv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ontent Placeholder 2"/>
          <p:cNvGraphicFramePr>
            <a:graphicFrameLocks noGrp="1"/>
          </p:cNvGraphicFramePr>
          <p:nvPr>
            <p:ph idx="1"/>
            <p:extLst/>
          </p:nvPr>
        </p:nvGraphicFramePr>
        <p:xfrm>
          <a:off x="2133600" y="1371600"/>
          <a:ext cx="8382000" cy="4724400"/>
        </p:xfrm>
        <a:graphic>
          <a:graphicData uri="http://schemas.openxmlformats.org/drawingml/2006/table">
            <a:tbl>
              <a:tblPr/>
              <a:tblGrid>
                <a:gridCol w="3788019">
                  <a:extLst>
                    <a:ext uri="{9D8B030D-6E8A-4147-A177-3AD203B41FA5}">
                      <a16:colId xmlns:a16="http://schemas.microsoft.com/office/drawing/2014/main" xmlns="" val="20000"/>
                    </a:ext>
                  </a:extLst>
                </a:gridCol>
                <a:gridCol w="4593981">
                  <a:extLst>
                    <a:ext uri="{9D8B030D-6E8A-4147-A177-3AD203B41FA5}">
                      <a16:colId xmlns:a16="http://schemas.microsoft.com/office/drawing/2014/main" xmlns="" val="20001"/>
                    </a:ext>
                  </a:extLst>
                </a:gridCol>
              </a:tblGrid>
              <a:tr h="398760">
                <a:tc>
                  <a:txBody>
                    <a:bodyPr/>
                    <a:lstStyle/>
                    <a:p>
                      <a:pPr algn="l" fontAlgn="t"/>
                      <a:r>
                        <a:rPr lang="en-US" sz="2000" dirty="0">
                          <a:effectLst/>
                        </a:rPr>
                        <a:t>Attribute</a:t>
                      </a:r>
                    </a:p>
                  </a:txBody>
                  <a:tcPr marL="30030" marR="30030" marT="30030" marB="3003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l" fontAlgn="t"/>
                      <a:r>
                        <a:rPr lang="en-US" sz="2000">
                          <a:effectLst/>
                        </a:rPr>
                        <a:t>Description</a:t>
                      </a:r>
                    </a:p>
                  </a:txBody>
                  <a:tcPr marL="30030" marR="30030" marT="30030" marB="3003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xmlns="" val="10000"/>
                  </a:ext>
                </a:extLst>
              </a:tr>
              <a:tr h="731880">
                <a:tc>
                  <a:txBody>
                    <a:bodyPr/>
                    <a:lstStyle/>
                    <a:p>
                      <a:pPr fontAlgn="t"/>
                      <a:r>
                        <a:rPr lang="en-US" sz="2000" dirty="0">
                          <a:effectLst/>
                        </a:rPr>
                        <a:t>width</a:t>
                      </a:r>
                    </a:p>
                  </a:txBody>
                  <a:tcPr marL="30030" marR="30030" marT="30030" marB="3003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000">
                          <a:effectLst/>
                        </a:rPr>
                        <a:t>This specifies the width of the marquee. This can be a value like 10 or 20% etc.</a:t>
                      </a:r>
                    </a:p>
                  </a:txBody>
                  <a:tcPr marL="30030" marR="30030" marT="30030" marB="3003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xmlns="" val="10001"/>
                  </a:ext>
                </a:extLst>
              </a:tr>
              <a:tr h="731880">
                <a:tc>
                  <a:txBody>
                    <a:bodyPr/>
                    <a:lstStyle/>
                    <a:p>
                      <a:pPr fontAlgn="t"/>
                      <a:r>
                        <a:rPr lang="en-US" sz="2000">
                          <a:effectLst/>
                        </a:rPr>
                        <a:t>height</a:t>
                      </a:r>
                    </a:p>
                  </a:txBody>
                  <a:tcPr marL="30030" marR="30030" marT="30030" marB="3003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000">
                          <a:effectLst/>
                        </a:rPr>
                        <a:t>This specifies the height of the marquee. This can be a value like 10 or 20% etc.</a:t>
                      </a:r>
                    </a:p>
                  </a:txBody>
                  <a:tcPr marL="30030" marR="30030" marT="30030" marB="3003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xmlns="" val="10002"/>
                  </a:ext>
                </a:extLst>
              </a:tr>
              <a:tr h="1065000">
                <a:tc>
                  <a:txBody>
                    <a:bodyPr/>
                    <a:lstStyle/>
                    <a:p>
                      <a:pPr fontAlgn="t"/>
                      <a:r>
                        <a:rPr lang="en-US" sz="2000">
                          <a:effectLst/>
                        </a:rPr>
                        <a:t>direction</a:t>
                      </a:r>
                    </a:p>
                  </a:txBody>
                  <a:tcPr marL="30030" marR="30030" marT="30030" marB="3003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000">
                          <a:effectLst/>
                        </a:rPr>
                        <a:t>This specifies the direction in which marquee should scroll. This can be a value like </a:t>
                      </a:r>
                      <a:r>
                        <a:rPr lang="en-US" sz="2000" i="1">
                          <a:effectLst/>
                        </a:rPr>
                        <a:t>up</a:t>
                      </a:r>
                      <a:r>
                        <a:rPr lang="en-US" sz="2000">
                          <a:effectLst/>
                        </a:rPr>
                        <a:t>, </a:t>
                      </a:r>
                      <a:r>
                        <a:rPr lang="en-US" sz="2000" i="1">
                          <a:effectLst/>
                        </a:rPr>
                        <a:t>down</a:t>
                      </a:r>
                      <a:r>
                        <a:rPr lang="en-US" sz="2000">
                          <a:effectLst/>
                        </a:rPr>
                        <a:t>, </a:t>
                      </a:r>
                      <a:r>
                        <a:rPr lang="en-US" sz="2000" i="1">
                          <a:effectLst/>
                        </a:rPr>
                        <a:t>left</a:t>
                      </a:r>
                      <a:r>
                        <a:rPr lang="en-US" sz="2000">
                          <a:effectLst/>
                        </a:rPr>
                        <a:t> or </a:t>
                      </a:r>
                      <a:r>
                        <a:rPr lang="en-US" sz="2000" i="1">
                          <a:effectLst/>
                        </a:rPr>
                        <a:t>right</a:t>
                      </a:r>
                      <a:r>
                        <a:rPr lang="en-US" sz="2000">
                          <a:effectLst/>
                        </a:rPr>
                        <a:t>.</a:t>
                      </a:r>
                    </a:p>
                  </a:txBody>
                  <a:tcPr marL="30030" marR="30030" marT="30030" marB="3003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xmlns="" val="10003"/>
                  </a:ext>
                </a:extLst>
              </a:tr>
              <a:tr h="1065000">
                <a:tc>
                  <a:txBody>
                    <a:bodyPr/>
                    <a:lstStyle/>
                    <a:p>
                      <a:pPr fontAlgn="t"/>
                      <a:r>
                        <a:rPr lang="en-US" sz="2000" dirty="0">
                          <a:effectLst/>
                        </a:rPr>
                        <a:t>loop</a:t>
                      </a:r>
                    </a:p>
                  </a:txBody>
                  <a:tcPr marL="30030" marR="30030" marT="30030" marB="3003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000">
                          <a:effectLst/>
                        </a:rPr>
                        <a:t>This specifies how many times to loop. The default value is INFINITE, which means that the marquee loops endlessly.</a:t>
                      </a:r>
                    </a:p>
                  </a:txBody>
                  <a:tcPr marL="30030" marR="30030" marT="30030" marB="3003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xmlns="" val="10004"/>
                  </a:ext>
                </a:extLst>
              </a:tr>
              <a:tr h="731880">
                <a:tc>
                  <a:txBody>
                    <a:bodyPr/>
                    <a:lstStyle/>
                    <a:p>
                      <a:pPr fontAlgn="t"/>
                      <a:r>
                        <a:rPr lang="en-US" sz="2000">
                          <a:effectLst/>
                        </a:rPr>
                        <a:t>bgcolor</a:t>
                      </a:r>
                    </a:p>
                  </a:txBody>
                  <a:tcPr marL="30030" marR="30030" marT="30030" marB="3003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000" dirty="0">
                          <a:effectLst/>
                        </a:rPr>
                        <a:t>This specifies background color in terms of color name or color hex value.</a:t>
                      </a:r>
                    </a:p>
                  </a:txBody>
                  <a:tcPr marL="30030" marR="30030" marT="30030" marB="3003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xmlns="" val="10005"/>
                  </a:ext>
                </a:extLst>
              </a:tr>
            </a:tbl>
          </a:graphicData>
        </a:graphic>
      </p:graphicFrame>
      <p:sp>
        <p:nvSpPr>
          <p:cNvPr id="7" name="Title 1"/>
          <p:cNvSpPr>
            <a:spLocks noGrp="1"/>
          </p:cNvSpPr>
          <p:nvPr>
            <p:ph type="title"/>
          </p:nvPr>
        </p:nvSpPr>
        <p:spPr>
          <a:xfrm>
            <a:off x="1981200" y="274638"/>
            <a:ext cx="8229600" cy="563562"/>
          </a:xfrm>
        </p:spPr>
        <p:txBody>
          <a:bodyPr>
            <a:noAutofit/>
          </a:bodyPr>
          <a:lstStyle/>
          <a:p>
            <a:pPr>
              <a:spcBef>
                <a:spcPts val="0"/>
              </a:spcBef>
            </a:pPr>
            <a:r>
              <a:rPr lang="en-US" sz="3600" dirty="0"/>
              <a:t>&lt;marquees&gt; tag</a:t>
            </a:r>
            <a:endParaRPr lang="en-US" sz="3600" dirty="0">
              <a:solidFill>
                <a:srgbClr val="002060"/>
              </a:solidFill>
            </a:endParaRPr>
          </a:p>
        </p:txBody>
      </p:sp>
    </p:spTree>
    <p:extLst>
      <p:ext uri="{BB962C8B-B14F-4D97-AF65-F5344CB8AC3E}">
        <p14:creationId xmlns:p14="http://schemas.microsoft.com/office/powerpoint/2010/main" val="3754093867"/>
      </p:ext>
    </p:extLst>
  </p:cSld>
  <p:clrMapOvr>
    <a:masterClrMapping/>
  </p:clrMapOv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28624" y="609600"/>
            <a:ext cx="11763375" cy="5791200"/>
          </a:xfrm>
        </p:spPr>
        <p:txBody>
          <a:bodyPr>
            <a:noAutofit/>
          </a:bodyPr>
          <a:lstStyle/>
          <a:p>
            <a:r>
              <a:rPr lang="en-US" sz="2600" dirty="0">
                <a:latin typeface="Times New Roman" panose="02020603050405020304" pitchFamily="18" charset="0"/>
                <a:cs typeface="Times New Roman" panose="02020603050405020304" pitchFamily="18" charset="0"/>
              </a:rPr>
              <a:t>HTML5 events are actions or occurrences that happen in the browser, such as a user clicking a button, a page finishing loading, or a video starting to play. These events can be "listened" for by JavaScript code, which can then execute specific functions in response. This allows for dynamic and interactive web pages.   </a:t>
            </a:r>
          </a:p>
          <a:p>
            <a:r>
              <a:rPr lang="en-US" sz="2600" dirty="0">
                <a:latin typeface="Times New Roman" panose="02020603050405020304" pitchFamily="18" charset="0"/>
                <a:cs typeface="Times New Roman" panose="02020603050405020304" pitchFamily="18" charset="0"/>
              </a:rPr>
              <a:t>Here's a breakdown of common HTML5 event categories and some examples:</a:t>
            </a:r>
          </a:p>
          <a:p>
            <a:pPr>
              <a:buNone/>
            </a:pPr>
            <a:r>
              <a:rPr lang="en-US" sz="2600" b="1" dirty="0">
                <a:latin typeface="Times New Roman" panose="02020603050405020304" pitchFamily="18" charset="0"/>
                <a:cs typeface="Times New Roman" panose="02020603050405020304" pitchFamily="18" charset="0"/>
              </a:rPr>
              <a:t>1. Window Events:</a:t>
            </a:r>
            <a:r>
              <a:rPr lang="en-US" sz="2600" dirty="0">
                <a:latin typeface="Times New Roman" panose="02020603050405020304" pitchFamily="18" charset="0"/>
                <a:cs typeface="Times New Roman" panose="02020603050405020304" pitchFamily="18" charset="0"/>
              </a:rPr>
              <a:t> These events are triggered on the window object.</a:t>
            </a:r>
          </a:p>
          <a:p>
            <a:r>
              <a:rPr lang="en-US" sz="2600" dirty="0" err="1">
                <a:latin typeface="Times New Roman" panose="02020603050405020304" pitchFamily="18" charset="0"/>
                <a:cs typeface="Times New Roman" panose="02020603050405020304" pitchFamily="18" charset="0"/>
              </a:rPr>
              <a:t>onload</a:t>
            </a:r>
            <a:r>
              <a:rPr lang="en-US" sz="2600" dirty="0">
                <a:latin typeface="Times New Roman" panose="02020603050405020304" pitchFamily="18" charset="0"/>
                <a:cs typeface="Times New Roman" panose="02020603050405020304" pitchFamily="18" charset="0"/>
              </a:rPr>
              <a:t>: Triggered once the entire page (including all resources like images and scripts) has finished loading.   </a:t>
            </a:r>
          </a:p>
          <a:p>
            <a:r>
              <a:rPr lang="en-US" sz="2600" dirty="0" err="1">
                <a:latin typeface="Times New Roman" panose="02020603050405020304" pitchFamily="18" charset="0"/>
                <a:cs typeface="Times New Roman" panose="02020603050405020304" pitchFamily="18" charset="0"/>
              </a:rPr>
              <a:t>onunload</a:t>
            </a:r>
            <a:r>
              <a:rPr lang="en-US" sz="2600" dirty="0">
                <a:latin typeface="Times New Roman" panose="02020603050405020304" pitchFamily="18" charset="0"/>
                <a:cs typeface="Times New Roman" panose="02020603050405020304" pitchFamily="18" charset="0"/>
              </a:rPr>
              <a:t>: Triggered just before the page is unloaded (e.g., when the user navigates away or closes the window).   </a:t>
            </a:r>
          </a:p>
          <a:p>
            <a:r>
              <a:rPr lang="en-US" sz="2600" dirty="0" err="1">
                <a:latin typeface="Times New Roman" panose="02020603050405020304" pitchFamily="18" charset="0"/>
                <a:cs typeface="Times New Roman" panose="02020603050405020304" pitchFamily="18" charset="0"/>
              </a:rPr>
              <a:t>onresize</a:t>
            </a:r>
            <a:r>
              <a:rPr lang="en-US" sz="2600" dirty="0">
                <a:latin typeface="Times New Roman" panose="02020603050405020304" pitchFamily="18" charset="0"/>
                <a:cs typeface="Times New Roman" panose="02020603050405020304" pitchFamily="18" charset="0"/>
              </a:rPr>
              <a:t>: Triggered when the browser window has been resized.   </a:t>
            </a:r>
          </a:p>
          <a:p>
            <a:r>
              <a:rPr lang="en-US" sz="2600" dirty="0" err="1">
                <a:latin typeface="Times New Roman" panose="02020603050405020304" pitchFamily="18" charset="0"/>
                <a:cs typeface="Times New Roman" panose="02020603050405020304" pitchFamily="18" charset="0"/>
              </a:rPr>
              <a:t>onscroll</a:t>
            </a:r>
            <a:r>
              <a:rPr lang="en-US" sz="2600" dirty="0">
                <a:latin typeface="Times New Roman" panose="02020603050405020304" pitchFamily="18" charset="0"/>
                <a:cs typeface="Times New Roman" panose="02020603050405020304" pitchFamily="18" charset="0"/>
              </a:rPr>
              <a:t>: Triggered when the user scrolls the window.     </a:t>
            </a:r>
          </a:p>
          <a:p>
            <a:pPr marL="0" indent="0">
              <a:buNone/>
            </a:pPr>
            <a:r>
              <a:rPr lang="en-US" sz="2600" dirty="0">
                <a:latin typeface="Times New Roman" panose="02020603050405020304" pitchFamily="18" charset="0"/>
                <a:cs typeface="Times New Roman" panose="02020603050405020304" pitchFamily="18" charset="0"/>
              </a:rPr>
              <a:t>  </a:t>
            </a:r>
          </a:p>
          <a:p>
            <a:endParaRPr lang="en-US" sz="2600" dirty="0">
              <a:latin typeface="Times New Roman" panose="02020603050405020304" pitchFamily="18" charset="0"/>
              <a:cs typeface="Times New Roman" panose="02020603050405020304" pitchFamily="18" charset="0"/>
            </a:endParaRPr>
          </a:p>
        </p:txBody>
      </p:sp>
      <p:sp>
        <p:nvSpPr>
          <p:cNvPr id="4" name="Title 1"/>
          <p:cNvSpPr>
            <a:spLocks noGrp="1"/>
          </p:cNvSpPr>
          <p:nvPr>
            <p:ph type="title"/>
          </p:nvPr>
        </p:nvSpPr>
        <p:spPr>
          <a:xfrm>
            <a:off x="1981200" y="274638"/>
            <a:ext cx="7467600" cy="334962"/>
          </a:xfrm>
        </p:spPr>
        <p:txBody>
          <a:bodyPr>
            <a:normAutofit fontScale="90000"/>
          </a:bodyPr>
          <a:lstStyle/>
          <a:p>
            <a:pPr algn="ctr"/>
            <a:r>
              <a:rPr lang="en-US" b="1" dirty="0">
                <a:solidFill>
                  <a:srgbClr val="FF0000"/>
                </a:solidFill>
              </a:rPr>
              <a:t>EVENTS</a:t>
            </a:r>
          </a:p>
        </p:txBody>
      </p:sp>
    </p:spTree>
    <p:extLst>
      <p:ext uri="{BB962C8B-B14F-4D97-AF65-F5344CB8AC3E}">
        <p14:creationId xmlns:p14="http://schemas.microsoft.com/office/powerpoint/2010/main" val="2641575877"/>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14300" y="0"/>
            <a:ext cx="11696700" cy="6169152"/>
          </a:xfrm>
        </p:spPr>
        <p:txBody>
          <a:bodyPr>
            <a:normAutofit/>
          </a:bodyPr>
          <a:lstStyle/>
          <a:p>
            <a:pPr algn="just">
              <a:buNone/>
            </a:pPr>
            <a:r>
              <a:rPr lang="en-US" b="1" dirty="0">
                <a:latin typeface="Times New Roman" panose="02020603050405020304" pitchFamily="18" charset="0"/>
                <a:cs typeface="Times New Roman" panose="02020603050405020304" pitchFamily="18" charset="0"/>
              </a:rPr>
              <a:t>2. Form Events:</a:t>
            </a:r>
            <a:r>
              <a:rPr lang="en-US" dirty="0">
                <a:latin typeface="Times New Roman" panose="02020603050405020304" pitchFamily="18" charset="0"/>
                <a:cs typeface="Times New Roman" panose="02020603050405020304" pitchFamily="18" charset="0"/>
              </a:rPr>
              <a:t> These events are related to HTML forms and their elements.</a:t>
            </a:r>
          </a:p>
          <a:p>
            <a:pPr algn="just"/>
            <a:r>
              <a:rPr lang="en-US" dirty="0" err="1">
                <a:latin typeface="Times New Roman" panose="02020603050405020304" pitchFamily="18" charset="0"/>
                <a:cs typeface="Times New Roman" panose="02020603050405020304" pitchFamily="18" charset="0"/>
              </a:rPr>
              <a:t>onsubmit</a:t>
            </a:r>
            <a:r>
              <a:rPr lang="en-US" dirty="0">
                <a:latin typeface="Times New Roman" panose="02020603050405020304" pitchFamily="18" charset="0"/>
                <a:cs typeface="Times New Roman" panose="02020603050405020304" pitchFamily="18" charset="0"/>
              </a:rPr>
              <a:t>: Triggered when a form is submitted.   </a:t>
            </a:r>
          </a:p>
          <a:p>
            <a:pPr algn="just"/>
            <a:r>
              <a:rPr lang="en-US" dirty="0" err="1">
                <a:latin typeface="Times New Roman" panose="02020603050405020304" pitchFamily="18" charset="0"/>
                <a:cs typeface="Times New Roman" panose="02020603050405020304" pitchFamily="18" charset="0"/>
              </a:rPr>
              <a:t>onreset</a:t>
            </a:r>
            <a:r>
              <a:rPr lang="en-US" dirty="0">
                <a:latin typeface="Times New Roman" panose="02020603050405020304" pitchFamily="18" charset="0"/>
                <a:cs typeface="Times New Roman" panose="02020603050405020304" pitchFamily="18" charset="0"/>
              </a:rPr>
              <a:t>: Triggered when a form is reset to its default values.   </a:t>
            </a:r>
          </a:p>
          <a:p>
            <a:pPr algn="just"/>
            <a:r>
              <a:rPr lang="en-US" dirty="0" err="1">
                <a:latin typeface="Times New Roman" panose="02020603050405020304" pitchFamily="18" charset="0"/>
                <a:cs typeface="Times New Roman" panose="02020603050405020304" pitchFamily="18" charset="0"/>
              </a:rPr>
              <a:t>onfocus</a:t>
            </a:r>
            <a:r>
              <a:rPr lang="en-US" dirty="0">
                <a:latin typeface="Times New Roman" panose="02020603050405020304" pitchFamily="18" charset="0"/>
                <a:cs typeface="Times New Roman" panose="02020603050405020304" pitchFamily="18" charset="0"/>
              </a:rPr>
              <a:t>: Triggered when an element (like an input field) gains focus.   </a:t>
            </a:r>
          </a:p>
          <a:p>
            <a:pPr algn="just"/>
            <a:r>
              <a:rPr lang="en-US" dirty="0" err="1">
                <a:latin typeface="Times New Roman" panose="02020603050405020304" pitchFamily="18" charset="0"/>
                <a:cs typeface="Times New Roman" panose="02020603050405020304" pitchFamily="18" charset="0"/>
              </a:rPr>
              <a:t>onblur</a:t>
            </a:r>
            <a:r>
              <a:rPr lang="en-US" dirty="0">
                <a:latin typeface="Times New Roman" panose="02020603050405020304" pitchFamily="18" charset="0"/>
                <a:cs typeface="Times New Roman" panose="02020603050405020304" pitchFamily="18" charset="0"/>
              </a:rPr>
              <a:t>: Triggered when an element loses focus.   </a:t>
            </a:r>
          </a:p>
          <a:p>
            <a:pPr algn="just"/>
            <a:r>
              <a:rPr lang="en-US" dirty="0" err="1">
                <a:latin typeface="Times New Roman" panose="02020603050405020304" pitchFamily="18" charset="0"/>
                <a:cs typeface="Times New Roman" panose="02020603050405020304" pitchFamily="18" charset="0"/>
              </a:rPr>
              <a:t>onchange</a:t>
            </a:r>
            <a:r>
              <a:rPr lang="en-US" dirty="0">
                <a:latin typeface="Times New Roman" panose="02020603050405020304" pitchFamily="18" charset="0"/>
                <a:cs typeface="Times New Roman" panose="02020603050405020304" pitchFamily="18" charset="0"/>
              </a:rPr>
              <a:t>: Triggered when the value of an element (like an input, select, or </a:t>
            </a:r>
            <a:r>
              <a:rPr lang="en-US" dirty="0" err="1">
                <a:latin typeface="Times New Roman" panose="02020603050405020304" pitchFamily="18" charset="0"/>
                <a:cs typeface="Times New Roman" panose="02020603050405020304" pitchFamily="18" charset="0"/>
              </a:rPr>
              <a:t>textarea</a:t>
            </a:r>
            <a:r>
              <a:rPr lang="en-US" dirty="0">
                <a:latin typeface="Times New Roman" panose="02020603050405020304" pitchFamily="18" charset="0"/>
                <a:cs typeface="Times New Roman" panose="02020603050405020304" pitchFamily="18" charset="0"/>
              </a:rPr>
              <a:t>) has been changed and the element loses focus.</a:t>
            </a:r>
          </a:p>
          <a:p>
            <a:pPr algn="just"/>
            <a:r>
              <a:rPr lang="en-US" dirty="0" err="1">
                <a:latin typeface="Times New Roman" panose="02020603050405020304" pitchFamily="18" charset="0"/>
                <a:cs typeface="Times New Roman" panose="02020603050405020304" pitchFamily="18" charset="0"/>
              </a:rPr>
              <a:t>oninput</a:t>
            </a:r>
            <a:r>
              <a:rPr lang="en-US" dirty="0">
                <a:latin typeface="Times New Roman" panose="02020603050405020304" pitchFamily="18" charset="0"/>
                <a:cs typeface="Times New Roman" panose="02020603050405020304" pitchFamily="18" charset="0"/>
              </a:rPr>
              <a:t>: Triggered when the value of an input, </a:t>
            </a:r>
            <a:r>
              <a:rPr lang="en-US" dirty="0" err="1">
                <a:latin typeface="Times New Roman" panose="02020603050405020304" pitchFamily="18" charset="0"/>
                <a:cs typeface="Times New Roman" panose="02020603050405020304" pitchFamily="18" charset="0"/>
              </a:rPr>
              <a:t>textarea</a:t>
            </a:r>
            <a:r>
              <a:rPr lang="en-US" dirty="0">
                <a:latin typeface="Times New Roman" panose="02020603050405020304" pitchFamily="18" charset="0"/>
                <a:cs typeface="Times New Roman" panose="02020603050405020304" pitchFamily="18" charset="0"/>
              </a:rPr>
              <a:t>, or select element is changed.   </a:t>
            </a:r>
          </a:p>
          <a:p>
            <a:pPr algn="just"/>
            <a:r>
              <a:rPr lang="en-US" dirty="0" err="1">
                <a:latin typeface="Times New Roman" panose="02020603050405020304" pitchFamily="18" charset="0"/>
                <a:cs typeface="Times New Roman" panose="02020603050405020304" pitchFamily="18" charset="0"/>
              </a:rPr>
              <a:t>onselect</a:t>
            </a:r>
            <a:r>
              <a:rPr lang="en-US" dirty="0">
                <a:latin typeface="Times New Roman" panose="02020603050405020304" pitchFamily="18" charset="0"/>
                <a:cs typeface="Times New Roman" panose="02020603050405020304" pitchFamily="18" charset="0"/>
              </a:rPr>
              <a:t>: Triggered when the user selects some text in an input field or </a:t>
            </a:r>
            <a:r>
              <a:rPr lang="en-US" dirty="0" err="1">
                <a:latin typeface="Times New Roman" panose="02020603050405020304" pitchFamily="18" charset="0"/>
                <a:cs typeface="Times New Roman" panose="02020603050405020304" pitchFamily="18" charset="0"/>
              </a:rPr>
              <a:t>textarea</a:t>
            </a:r>
            <a:r>
              <a:rPr lang="en-US" dirty="0">
                <a:latin typeface="Times New Roman" panose="02020603050405020304" pitchFamily="18" charset="0"/>
                <a:cs typeface="Times New Roman" panose="02020603050405020304" pitchFamily="18" charset="0"/>
              </a:rPr>
              <a:t>.   </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0557961"/>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 y="123825"/>
            <a:ext cx="11991975" cy="6629400"/>
          </a:xfrm>
        </p:spPr>
        <p:txBody>
          <a:bodyPr>
            <a:normAutofit/>
          </a:bodyPr>
          <a:lstStyle/>
          <a:p>
            <a:pPr algn="just">
              <a:buNone/>
            </a:pPr>
            <a:r>
              <a:rPr lang="en-US" b="1" dirty="0">
                <a:latin typeface="Times New Roman" panose="02020603050405020304" pitchFamily="18" charset="0"/>
                <a:cs typeface="Times New Roman" panose="02020603050405020304" pitchFamily="18" charset="0"/>
              </a:rPr>
              <a:t>3. Mouse Events:</a:t>
            </a:r>
            <a:r>
              <a:rPr lang="en-US" dirty="0">
                <a:latin typeface="Times New Roman" panose="02020603050405020304" pitchFamily="18" charset="0"/>
                <a:cs typeface="Times New Roman" panose="02020603050405020304" pitchFamily="18" charset="0"/>
              </a:rPr>
              <a:t> These events occur due to user interaction with the mouse.   </a:t>
            </a:r>
          </a:p>
          <a:p>
            <a:pPr algn="just"/>
            <a:r>
              <a:rPr lang="en-US" dirty="0" err="1">
                <a:latin typeface="Times New Roman" panose="02020603050405020304" pitchFamily="18" charset="0"/>
                <a:cs typeface="Times New Roman" panose="02020603050405020304" pitchFamily="18" charset="0"/>
              </a:rPr>
              <a:t>onclick</a:t>
            </a:r>
            <a:r>
              <a:rPr lang="en-US" dirty="0">
                <a:latin typeface="Times New Roman" panose="02020603050405020304" pitchFamily="18" charset="0"/>
                <a:cs typeface="Times New Roman" panose="02020603050405020304" pitchFamily="18" charset="0"/>
              </a:rPr>
              <a:t>: Triggered when an element is clicked.   </a:t>
            </a:r>
          </a:p>
          <a:p>
            <a:pPr algn="just"/>
            <a:r>
              <a:rPr lang="en-US" dirty="0" err="1">
                <a:latin typeface="Times New Roman" panose="02020603050405020304" pitchFamily="18" charset="0"/>
                <a:cs typeface="Times New Roman" panose="02020603050405020304" pitchFamily="18" charset="0"/>
              </a:rPr>
              <a:t>ondblclick</a:t>
            </a:r>
            <a:r>
              <a:rPr lang="en-US" dirty="0">
                <a:latin typeface="Times New Roman" panose="02020603050405020304" pitchFamily="18" charset="0"/>
                <a:cs typeface="Times New Roman" panose="02020603050405020304" pitchFamily="18" charset="0"/>
              </a:rPr>
              <a:t>: Triggered when an element is double-clicked.</a:t>
            </a:r>
          </a:p>
          <a:p>
            <a:pPr algn="just"/>
            <a:r>
              <a:rPr lang="en-US" dirty="0" err="1">
                <a:latin typeface="Times New Roman" panose="02020603050405020304" pitchFamily="18" charset="0"/>
                <a:cs typeface="Times New Roman" panose="02020603050405020304" pitchFamily="18" charset="0"/>
              </a:rPr>
              <a:t>onmousedown</a:t>
            </a:r>
            <a:r>
              <a:rPr lang="en-US" dirty="0">
                <a:latin typeface="Times New Roman" panose="02020603050405020304" pitchFamily="18" charset="0"/>
                <a:cs typeface="Times New Roman" panose="02020603050405020304" pitchFamily="18" charset="0"/>
              </a:rPr>
              <a:t>: Triggered when a mouse button is pressed down over an element.</a:t>
            </a:r>
          </a:p>
          <a:p>
            <a:pPr algn="just"/>
            <a:r>
              <a:rPr lang="en-US" dirty="0" err="1">
                <a:latin typeface="Times New Roman" panose="02020603050405020304" pitchFamily="18" charset="0"/>
                <a:cs typeface="Times New Roman" panose="02020603050405020304" pitchFamily="18" charset="0"/>
              </a:rPr>
              <a:t>onmouseup</a:t>
            </a:r>
            <a:r>
              <a:rPr lang="en-US" dirty="0">
                <a:latin typeface="Times New Roman" panose="02020603050405020304" pitchFamily="18" charset="0"/>
                <a:cs typeface="Times New Roman" panose="02020603050405020304" pitchFamily="18" charset="0"/>
              </a:rPr>
              <a:t>: Triggered when a mouse button is released over an element.</a:t>
            </a:r>
          </a:p>
          <a:p>
            <a:pPr algn="just"/>
            <a:r>
              <a:rPr lang="en-US" dirty="0" err="1">
                <a:latin typeface="Times New Roman" panose="02020603050405020304" pitchFamily="18" charset="0"/>
                <a:cs typeface="Times New Roman" panose="02020603050405020304" pitchFamily="18" charset="0"/>
              </a:rPr>
              <a:t>onmousemove</a:t>
            </a:r>
            <a:r>
              <a:rPr lang="en-US" dirty="0">
                <a:latin typeface="Times New Roman" panose="02020603050405020304" pitchFamily="18" charset="0"/>
                <a:cs typeface="Times New Roman" panose="02020603050405020304" pitchFamily="18" charset="0"/>
              </a:rPr>
              <a:t>: Triggered when the mouse pointer moves while it is over an element.   </a:t>
            </a:r>
          </a:p>
          <a:p>
            <a:pPr algn="just"/>
            <a:r>
              <a:rPr lang="en-US" dirty="0" err="1">
                <a:latin typeface="Times New Roman" panose="02020603050405020304" pitchFamily="18" charset="0"/>
                <a:cs typeface="Times New Roman" panose="02020603050405020304" pitchFamily="18" charset="0"/>
              </a:rPr>
              <a:t>onmouseover</a:t>
            </a:r>
            <a:r>
              <a:rPr lang="en-US" dirty="0">
                <a:latin typeface="Times New Roman" panose="02020603050405020304" pitchFamily="18" charset="0"/>
                <a:cs typeface="Times New Roman" panose="02020603050405020304" pitchFamily="18" charset="0"/>
              </a:rPr>
              <a:t>: Triggered when the mouse pointer moves onto an element.</a:t>
            </a:r>
          </a:p>
          <a:p>
            <a:pPr algn="just"/>
            <a:r>
              <a:rPr lang="en-US" dirty="0" err="1">
                <a:latin typeface="Times New Roman" panose="02020603050405020304" pitchFamily="18" charset="0"/>
                <a:cs typeface="Times New Roman" panose="02020603050405020304" pitchFamily="18" charset="0"/>
              </a:rPr>
              <a:t>onmouseout</a:t>
            </a:r>
            <a:r>
              <a:rPr lang="en-US" dirty="0">
                <a:latin typeface="Times New Roman" panose="02020603050405020304" pitchFamily="18" charset="0"/>
                <a:cs typeface="Times New Roman" panose="02020603050405020304" pitchFamily="18" charset="0"/>
              </a:rPr>
              <a:t>: Triggered when the mouse pointer moves out of an element.   </a:t>
            </a:r>
          </a:p>
          <a:p>
            <a:pPr algn="just"/>
            <a:r>
              <a:rPr lang="en-US" dirty="0" err="1" smtClean="0">
                <a:latin typeface="Times New Roman" panose="02020603050405020304" pitchFamily="18" charset="0"/>
                <a:cs typeface="Times New Roman" panose="02020603050405020304" pitchFamily="18" charset="0"/>
              </a:rPr>
              <a:t>onwheel</a:t>
            </a:r>
            <a:r>
              <a:rPr lang="en-US" dirty="0">
                <a:latin typeface="Times New Roman" panose="02020603050405020304" pitchFamily="18" charset="0"/>
                <a:cs typeface="Times New Roman" panose="02020603050405020304" pitchFamily="18" charset="0"/>
              </a:rPr>
              <a:t>: Triggered when the mouse wheel is rotated over an element.</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7007199"/>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 y="-1"/>
            <a:ext cx="12049125" cy="6429375"/>
          </a:xfrm>
        </p:spPr>
        <p:txBody>
          <a:bodyPr>
            <a:normAutofit fontScale="92500" lnSpcReduction="10000"/>
          </a:bodyPr>
          <a:lstStyle/>
          <a:p>
            <a:pPr algn="just">
              <a:buNone/>
            </a:pPr>
            <a:r>
              <a:rPr lang="en-US" b="1" dirty="0">
                <a:latin typeface="Times New Roman" panose="02020603050405020304" pitchFamily="18" charset="0"/>
                <a:cs typeface="Times New Roman" panose="02020603050405020304" pitchFamily="18" charset="0"/>
              </a:rPr>
              <a:t>4. Keyboard Events:</a:t>
            </a:r>
            <a:r>
              <a:rPr lang="en-US" dirty="0">
                <a:latin typeface="Times New Roman" panose="02020603050405020304" pitchFamily="18" charset="0"/>
                <a:cs typeface="Times New Roman" panose="02020603050405020304" pitchFamily="18" charset="0"/>
              </a:rPr>
              <a:t> These events are related to user interaction with the keyboard.   </a:t>
            </a:r>
          </a:p>
          <a:p>
            <a:pPr algn="just"/>
            <a:r>
              <a:rPr lang="en-US" dirty="0" err="1">
                <a:latin typeface="Times New Roman" panose="02020603050405020304" pitchFamily="18" charset="0"/>
                <a:cs typeface="Times New Roman" panose="02020603050405020304" pitchFamily="18" charset="0"/>
              </a:rPr>
              <a:t>onkeydown</a:t>
            </a:r>
            <a:r>
              <a:rPr lang="en-US" dirty="0">
                <a:latin typeface="Times New Roman" panose="02020603050405020304" pitchFamily="18" charset="0"/>
                <a:cs typeface="Times New Roman" panose="02020603050405020304" pitchFamily="18" charset="0"/>
              </a:rPr>
              <a:t>: Triggered when a key is pressed down.   </a:t>
            </a:r>
          </a:p>
          <a:p>
            <a:pPr algn="just"/>
            <a:r>
              <a:rPr lang="en-US" dirty="0" err="1">
                <a:latin typeface="Times New Roman" panose="02020603050405020304" pitchFamily="18" charset="0"/>
                <a:cs typeface="Times New Roman" panose="02020603050405020304" pitchFamily="18" charset="0"/>
              </a:rPr>
              <a:t>onkeypress</a:t>
            </a:r>
            <a:r>
              <a:rPr lang="en-US" dirty="0">
                <a:latin typeface="Times New Roman" panose="02020603050405020304" pitchFamily="18" charset="0"/>
                <a:cs typeface="Times New Roman" panose="02020603050405020304" pitchFamily="18" charset="0"/>
              </a:rPr>
              <a:t>: Triggered when a key is pressed and released (for character-producing keys).</a:t>
            </a:r>
          </a:p>
          <a:p>
            <a:pPr algn="just"/>
            <a:r>
              <a:rPr lang="en-US" dirty="0" err="1">
                <a:latin typeface="Times New Roman" panose="02020603050405020304" pitchFamily="18" charset="0"/>
                <a:cs typeface="Times New Roman" panose="02020603050405020304" pitchFamily="18" charset="0"/>
              </a:rPr>
              <a:t>onkeyup</a:t>
            </a:r>
            <a:r>
              <a:rPr lang="en-US" dirty="0">
                <a:latin typeface="Times New Roman" panose="02020603050405020304" pitchFamily="18" charset="0"/>
                <a:cs typeface="Times New Roman" panose="02020603050405020304" pitchFamily="18" charset="0"/>
              </a:rPr>
              <a:t>: Triggered when a key is released.   </a:t>
            </a:r>
          </a:p>
          <a:p>
            <a:pPr algn="just">
              <a:buNone/>
            </a:pPr>
            <a:r>
              <a:rPr lang="en-US" b="1" dirty="0">
                <a:latin typeface="Times New Roman" panose="02020603050405020304" pitchFamily="18" charset="0"/>
                <a:cs typeface="Times New Roman" panose="02020603050405020304" pitchFamily="18" charset="0"/>
              </a:rPr>
              <a:t>5. Media Events:</a:t>
            </a:r>
            <a:r>
              <a:rPr lang="en-US" dirty="0">
                <a:latin typeface="Times New Roman" panose="02020603050405020304" pitchFamily="18" charset="0"/>
                <a:cs typeface="Times New Roman" panose="02020603050405020304" pitchFamily="18" charset="0"/>
              </a:rPr>
              <a:t> These events are specific to HTML5 &lt;audio&gt; and &lt;video&gt; elements.   </a:t>
            </a:r>
          </a:p>
          <a:p>
            <a:pPr algn="just"/>
            <a:r>
              <a:rPr lang="en-US" dirty="0" err="1">
                <a:latin typeface="Times New Roman" panose="02020603050405020304" pitchFamily="18" charset="0"/>
                <a:cs typeface="Times New Roman" panose="02020603050405020304" pitchFamily="18" charset="0"/>
              </a:rPr>
              <a:t>onplay</a:t>
            </a:r>
            <a:r>
              <a:rPr lang="en-US" dirty="0">
                <a:latin typeface="Times New Roman" panose="02020603050405020304" pitchFamily="18" charset="0"/>
                <a:cs typeface="Times New Roman" panose="02020603050405020304" pitchFamily="18" charset="0"/>
              </a:rPr>
              <a:t>: Triggered when the media starts playing.   </a:t>
            </a:r>
          </a:p>
          <a:p>
            <a:pPr algn="just"/>
            <a:r>
              <a:rPr lang="en-US" dirty="0" err="1">
                <a:latin typeface="Times New Roman" panose="02020603050405020304" pitchFamily="18" charset="0"/>
                <a:cs typeface="Times New Roman" panose="02020603050405020304" pitchFamily="18" charset="0"/>
              </a:rPr>
              <a:t>onpause</a:t>
            </a:r>
            <a:r>
              <a:rPr lang="en-US" dirty="0">
                <a:latin typeface="Times New Roman" panose="02020603050405020304" pitchFamily="18" charset="0"/>
                <a:cs typeface="Times New Roman" panose="02020603050405020304" pitchFamily="18" charset="0"/>
              </a:rPr>
              <a:t>: Triggered when the media is paused.   </a:t>
            </a:r>
          </a:p>
          <a:p>
            <a:pPr algn="just"/>
            <a:r>
              <a:rPr lang="en-US" dirty="0" err="1">
                <a:latin typeface="Times New Roman" panose="02020603050405020304" pitchFamily="18" charset="0"/>
                <a:cs typeface="Times New Roman" panose="02020603050405020304" pitchFamily="18" charset="0"/>
              </a:rPr>
              <a:t>onended</a:t>
            </a:r>
            <a:r>
              <a:rPr lang="en-US" dirty="0">
                <a:latin typeface="Times New Roman" panose="02020603050405020304" pitchFamily="18" charset="0"/>
                <a:cs typeface="Times New Roman" panose="02020603050405020304" pitchFamily="18" charset="0"/>
              </a:rPr>
              <a:t>: Triggered when the media has reached the end.   </a:t>
            </a:r>
          </a:p>
          <a:p>
            <a:pPr algn="just"/>
            <a:r>
              <a:rPr lang="en-US" dirty="0" err="1">
                <a:latin typeface="Times New Roman" panose="02020603050405020304" pitchFamily="18" charset="0"/>
                <a:cs typeface="Times New Roman" panose="02020603050405020304" pitchFamily="18" charset="0"/>
              </a:rPr>
              <a:t>onvolumechange</a:t>
            </a:r>
            <a:r>
              <a:rPr lang="en-US" dirty="0">
                <a:latin typeface="Times New Roman" panose="02020603050405020304" pitchFamily="18" charset="0"/>
                <a:cs typeface="Times New Roman" panose="02020603050405020304" pitchFamily="18" charset="0"/>
              </a:rPr>
              <a:t>: Triggered when the volume of the media changes.</a:t>
            </a:r>
          </a:p>
          <a:p>
            <a:pPr algn="just"/>
            <a:r>
              <a:rPr lang="en-US" dirty="0" err="1">
                <a:latin typeface="Times New Roman" panose="02020603050405020304" pitchFamily="18" charset="0"/>
                <a:cs typeface="Times New Roman" panose="02020603050405020304" pitchFamily="18" charset="0"/>
              </a:rPr>
              <a:t>onseeking</a:t>
            </a:r>
            <a:r>
              <a:rPr lang="en-US" dirty="0">
                <a:latin typeface="Times New Roman" panose="02020603050405020304" pitchFamily="18" charset="0"/>
                <a:cs typeface="Times New Roman" panose="02020603050405020304" pitchFamily="18" charset="0"/>
              </a:rPr>
              <a:t>: Triggered when the user starts moving to a new position in the media.</a:t>
            </a:r>
          </a:p>
          <a:p>
            <a:pPr algn="just"/>
            <a:r>
              <a:rPr lang="en-US" dirty="0" err="1">
                <a:latin typeface="Times New Roman" panose="02020603050405020304" pitchFamily="18" charset="0"/>
                <a:cs typeface="Times New Roman" panose="02020603050405020304" pitchFamily="18" charset="0"/>
              </a:rPr>
              <a:t>onseeked</a:t>
            </a:r>
            <a:r>
              <a:rPr lang="en-US" dirty="0">
                <a:latin typeface="Times New Roman" panose="02020603050405020304" pitchFamily="18" charset="0"/>
                <a:cs typeface="Times New Roman" panose="02020603050405020304" pitchFamily="18" charset="0"/>
              </a:rPr>
              <a:t>: Triggered when the seeking operation is complete.   </a:t>
            </a:r>
          </a:p>
          <a:p>
            <a:pPr algn="just"/>
            <a:r>
              <a:rPr lang="en-US" dirty="0" err="1">
                <a:latin typeface="Times New Roman" panose="02020603050405020304" pitchFamily="18" charset="0"/>
                <a:cs typeface="Times New Roman" panose="02020603050405020304" pitchFamily="18" charset="0"/>
              </a:rPr>
              <a:t>ondurationchange</a:t>
            </a:r>
            <a:r>
              <a:rPr lang="en-US" dirty="0">
                <a:latin typeface="Times New Roman" panose="02020603050405020304" pitchFamily="18" charset="0"/>
                <a:cs typeface="Times New Roman" panose="02020603050405020304" pitchFamily="18" charset="0"/>
              </a:rPr>
              <a:t>: Triggered when the duration of the media changes.   </a:t>
            </a:r>
          </a:p>
          <a:p>
            <a:pPr algn="just"/>
            <a:r>
              <a:rPr lang="en-US" dirty="0" err="1">
                <a:latin typeface="Times New Roman" panose="02020603050405020304" pitchFamily="18" charset="0"/>
                <a:cs typeface="Times New Roman" panose="02020603050405020304" pitchFamily="18" charset="0"/>
              </a:rPr>
              <a:t>ontimeupdate</a:t>
            </a:r>
            <a:r>
              <a:rPr lang="en-US" dirty="0">
                <a:latin typeface="Times New Roman" panose="02020603050405020304" pitchFamily="18" charset="0"/>
                <a:cs typeface="Times New Roman" panose="02020603050405020304" pitchFamily="18" charset="0"/>
              </a:rPr>
              <a:t>: Triggered when the current playback position of the media changes.    </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9192785"/>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C6EDCF3-6341-4C6F-8061-183E4501B347}"/>
              </a:ext>
            </a:extLst>
          </p:cNvPr>
          <p:cNvSpPr>
            <a:spLocks noGrp="1"/>
          </p:cNvSpPr>
          <p:nvPr>
            <p:ph type="title"/>
          </p:nvPr>
        </p:nvSpPr>
        <p:spPr>
          <a:xfrm>
            <a:off x="1743075" y="-670719"/>
            <a:ext cx="8153400" cy="1341438"/>
          </a:xfrm>
          <a:ln>
            <a:solidFill>
              <a:srgbClr val="FF0000"/>
            </a:solidFill>
          </a:ln>
        </p:spPr>
        <p:txBody>
          <a:bodyPr>
            <a:noAutofit/>
          </a:bodyPr>
          <a:lstStyle/>
          <a:p>
            <a:pPr algn="ctr"/>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r>
              <a:rPr lang="en-US" sz="2000" b="1" u="sng" dirty="0">
                <a:solidFill>
                  <a:srgbClr val="FF0000"/>
                </a:solidFill>
                <a:latin typeface="Times New Roman" panose="02020603050405020304" pitchFamily="18" charset="0"/>
                <a:cs typeface="Times New Roman" panose="02020603050405020304" pitchFamily="18" charset="0"/>
              </a:rPr>
              <a:t>SVG (Scalable Vector Graphics)</a:t>
            </a:r>
            <a:r>
              <a:rPr lang="en-US" sz="2000" u="sng" dirty="0">
                <a:solidFill>
                  <a:srgbClr val="FF0000"/>
                </a:solidFill>
                <a:latin typeface="Times New Roman" panose="02020603050405020304" pitchFamily="18" charset="0"/>
                <a:cs typeface="Times New Roman" panose="02020603050405020304" pitchFamily="18" charset="0"/>
              </a:rPr>
              <a:t/>
            </a:r>
            <a:br>
              <a:rPr lang="en-US" sz="2000" u="sng" dirty="0">
                <a:solidFill>
                  <a:srgbClr val="FF0000"/>
                </a:solidFill>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BB8011E3-D64A-410C-B492-758E416C7A9E}"/>
              </a:ext>
            </a:extLst>
          </p:cNvPr>
          <p:cNvSpPr>
            <a:spLocks noGrp="1"/>
          </p:cNvSpPr>
          <p:nvPr>
            <p:ph sz="quarter" idx="1"/>
          </p:nvPr>
        </p:nvSpPr>
        <p:spPr>
          <a:xfrm>
            <a:off x="2057400" y="1798638"/>
            <a:ext cx="8229600" cy="5440362"/>
          </a:xfrm>
        </p:spPr>
        <p:txBody>
          <a:bodyPr>
            <a:normAutofit fontScale="85000" lnSpcReduction="20000"/>
          </a:bodyPr>
          <a:lstStyle/>
          <a:p>
            <a:pPr marL="0" indent="0">
              <a:buNone/>
            </a:pPr>
            <a:r>
              <a:rPr lang="en-US" dirty="0"/>
              <a:t>Basic Example of SVG in HTML5</a:t>
            </a:r>
            <a:endParaRPr lang="en-IN" dirty="0"/>
          </a:p>
          <a:p>
            <a:pPr marL="0" indent="0">
              <a:buNone/>
            </a:pPr>
            <a:r>
              <a:rPr lang="en-IN" dirty="0" smtClean="0"/>
              <a:t>&lt;</a:t>
            </a:r>
            <a:r>
              <a:rPr lang="en-IN" dirty="0"/>
              <a:t>html lang="en"&gt;</a:t>
            </a:r>
          </a:p>
          <a:p>
            <a:pPr marL="0" indent="0">
              <a:buNone/>
            </a:pPr>
            <a:r>
              <a:rPr lang="en-IN" dirty="0"/>
              <a:t>&lt;head&gt;</a:t>
            </a:r>
          </a:p>
          <a:p>
            <a:pPr marL="0" indent="0">
              <a:buNone/>
            </a:pPr>
            <a:r>
              <a:rPr lang="en-IN" dirty="0"/>
              <a:t>  &lt;meta charset="UTF-8"&gt;</a:t>
            </a:r>
          </a:p>
          <a:p>
            <a:pPr marL="0" indent="0">
              <a:buNone/>
            </a:pPr>
            <a:r>
              <a:rPr lang="en-IN" dirty="0"/>
              <a:t>  &lt;title&gt;SVG Example&lt;/title&gt;</a:t>
            </a:r>
          </a:p>
          <a:p>
            <a:pPr marL="0" indent="0">
              <a:buNone/>
            </a:pPr>
            <a:r>
              <a:rPr lang="en-IN" dirty="0"/>
              <a:t>&lt;/head&gt;</a:t>
            </a:r>
          </a:p>
          <a:p>
            <a:pPr marL="0" indent="0">
              <a:buNone/>
            </a:pPr>
            <a:r>
              <a:rPr lang="en-IN" dirty="0"/>
              <a:t>&lt;body&gt;</a:t>
            </a:r>
          </a:p>
          <a:p>
            <a:pPr marL="0" indent="0">
              <a:buNone/>
            </a:pPr>
            <a:r>
              <a:rPr lang="en-IN" dirty="0"/>
              <a:t>  &lt;h1&gt;My SVG Circle&lt;/h1&gt;</a:t>
            </a:r>
          </a:p>
          <a:p>
            <a:pPr marL="0" indent="0">
              <a:buNone/>
            </a:pPr>
            <a:r>
              <a:rPr lang="en-IN" dirty="0" smtClean="0"/>
              <a:t>  </a:t>
            </a:r>
            <a:r>
              <a:rPr lang="en-IN" dirty="0"/>
              <a:t>&lt;</a:t>
            </a:r>
            <a:r>
              <a:rPr lang="en-IN" dirty="0" err="1"/>
              <a:t>svg</a:t>
            </a:r>
            <a:r>
              <a:rPr lang="en-IN" dirty="0"/>
              <a:t> width="200" height="200"&gt;</a:t>
            </a:r>
          </a:p>
          <a:p>
            <a:pPr marL="0" indent="0">
              <a:buNone/>
            </a:pPr>
            <a:r>
              <a:rPr lang="en-IN" dirty="0"/>
              <a:t>    &lt;circle cx="100" cy="100" r="80" stroke="blue" stroke-width="4" fill="</a:t>
            </a:r>
            <a:r>
              <a:rPr lang="en-IN" dirty="0" err="1"/>
              <a:t>lightblue</a:t>
            </a:r>
            <a:r>
              <a:rPr lang="en-IN" dirty="0"/>
              <a:t>" /&gt;</a:t>
            </a:r>
          </a:p>
          <a:p>
            <a:pPr marL="0" indent="0">
              <a:buNone/>
            </a:pPr>
            <a:r>
              <a:rPr lang="en-IN" dirty="0"/>
              <a:t>  &lt;/</a:t>
            </a:r>
            <a:r>
              <a:rPr lang="en-IN" dirty="0" err="1"/>
              <a:t>svg</a:t>
            </a:r>
            <a:r>
              <a:rPr lang="en-IN" dirty="0"/>
              <a:t>&gt;</a:t>
            </a:r>
          </a:p>
          <a:p>
            <a:pPr marL="0" indent="0">
              <a:buNone/>
            </a:pPr>
            <a:r>
              <a:rPr lang="en-IN" dirty="0" smtClean="0"/>
              <a:t>&lt;/</a:t>
            </a:r>
            <a:r>
              <a:rPr lang="en-IN" dirty="0"/>
              <a:t>body&gt;</a:t>
            </a:r>
          </a:p>
          <a:p>
            <a:pPr marL="0" indent="0">
              <a:buNone/>
            </a:pPr>
            <a:r>
              <a:rPr lang="en-IN" dirty="0"/>
              <a:t>&lt;/html&gt;</a:t>
            </a:r>
          </a:p>
          <a:p>
            <a:endParaRPr lang="en-IN" dirty="0"/>
          </a:p>
        </p:txBody>
      </p:sp>
      <p:sp>
        <p:nvSpPr>
          <p:cNvPr id="4" name="Rectangle 3"/>
          <p:cNvSpPr/>
          <p:nvPr/>
        </p:nvSpPr>
        <p:spPr>
          <a:xfrm>
            <a:off x="1600200" y="670719"/>
            <a:ext cx="10248900" cy="1200329"/>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In HTML5, </a:t>
            </a:r>
            <a:r>
              <a:rPr lang="en-US" b="1" dirty="0">
                <a:latin typeface="Times New Roman" panose="02020603050405020304" pitchFamily="18" charset="0"/>
                <a:cs typeface="Times New Roman" panose="02020603050405020304" pitchFamily="18" charset="0"/>
              </a:rPr>
              <a:t>SVG (Scalable Vector Graphics)</a:t>
            </a:r>
            <a:r>
              <a:rPr lang="en-US" dirty="0">
                <a:latin typeface="Times New Roman" panose="02020603050405020304" pitchFamily="18" charset="0"/>
                <a:cs typeface="Times New Roman" panose="02020603050405020304" pitchFamily="18" charset="0"/>
              </a:rPr>
              <a:t> is used to define vector-based graphics for the web. SVG is an XML-based markup language that can be embedded directly into HTML documents. It allows for resolution-independent, scalable, and interactive graphics, making it ideal for responsive web design, data visualizations, icons, and more.</a:t>
            </a:r>
            <a:endParaRPr lang="en-US" dirty="0"/>
          </a:p>
        </p:txBody>
      </p:sp>
    </p:spTree>
    <p:extLst>
      <p:ext uri="{BB962C8B-B14F-4D97-AF65-F5344CB8AC3E}">
        <p14:creationId xmlns:p14="http://schemas.microsoft.com/office/powerpoint/2010/main" val="3916045456"/>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xmlns="" id="{EA65DCEF-FB82-4F0D-8A7D-433FABD1FDF7}"/>
              </a:ext>
            </a:extLst>
          </p:cNvPr>
          <p:cNvGraphicFramePr>
            <a:graphicFrameLocks noGrp="1"/>
          </p:cNvGraphicFramePr>
          <p:nvPr>
            <p:ph sz="quarter" idx="1"/>
            <p:extLst/>
          </p:nvPr>
        </p:nvGraphicFramePr>
        <p:xfrm>
          <a:off x="1981200" y="76200"/>
          <a:ext cx="8153400" cy="3349118"/>
        </p:xfrm>
        <a:graphic>
          <a:graphicData uri="http://schemas.openxmlformats.org/drawingml/2006/table">
            <a:tbl>
              <a:tblPr>
                <a:tableStyleId>{3C2FFA5D-87B4-456A-9821-1D502468CF0F}</a:tableStyleId>
              </a:tblPr>
              <a:tblGrid>
                <a:gridCol w="4076700">
                  <a:extLst>
                    <a:ext uri="{9D8B030D-6E8A-4147-A177-3AD203B41FA5}">
                      <a16:colId xmlns:a16="http://schemas.microsoft.com/office/drawing/2014/main" xmlns="" val="4272012232"/>
                    </a:ext>
                  </a:extLst>
                </a:gridCol>
                <a:gridCol w="4076700">
                  <a:extLst>
                    <a:ext uri="{9D8B030D-6E8A-4147-A177-3AD203B41FA5}">
                      <a16:colId xmlns:a16="http://schemas.microsoft.com/office/drawing/2014/main" xmlns="" val="2310469779"/>
                    </a:ext>
                  </a:extLst>
                </a:gridCol>
              </a:tblGrid>
              <a:tr h="235657">
                <a:tc>
                  <a:txBody>
                    <a:bodyPr/>
                    <a:lstStyle/>
                    <a:p>
                      <a:r>
                        <a:rPr lang="en-IN"/>
                        <a:t>Element</a:t>
                      </a:r>
                    </a:p>
                  </a:txBody>
                  <a:tcPr anchor="ctr"/>
                </a:tc>
                <a:tc>
                  <a:txBody>
                    <a:bodyPr/>
                    <a:lstStyle/>
                    <a:p>
                      <a:r>
                        <a:rPr lang="en-IN"/>
                        <a:t>Description</a:t>
                      </a:r>
                    </a:p>
                  </a:txBody>
                  <a:tcPr anchor="ctr"/>
                </a:tc>
                <a:extLst>
                  <a:ext uri="{0D108BD9-81ED-4DB2-BD59-A6C34878D82A}">
                    <a16:rowId xmlns:a16="http://schemas.microsoft.com/office/drawing/2014/main" xmlns="" val="394752215"/>
                  </a:ext>
                </a:extLst>
              </a:tr>
              <a:tr h="235657">
                <a:tc>
                  <a:txBody>
                    <a:bodyPr/>
                    <a:lstStyle/>
                    <a:p>
                      <a:r>
                        <a:rPr lang="en-IN"/>
                        <a:t>&lt;svg&gt;</a:t>
                      </a:r>
                    </a:p>
                  </a:txBody>
                  <a:tcPr anchor="ctr"/>
                </a:tc>
                <a:tc>
                  <a:txBody>
                    <a:bodyPr/>
                    <a:lstStyle/>
                    <a:p>
                      <a:r>
                        <a:rPr lang="en-IN" dirty="0"/>
                        <a:t>The container element</a:t>
                      </a:r>
                    </a:p>
                  </a:txBody>
                  <a:tcPr anchor="ctr"/>
                </a:tc>
                <a:extLst>
                  <a:ext uri="{0D108BD9-81ED-4DB2-BD59-A6C34878D82A}">
                    <a16:rowId xmlns:a16="http://schemas.microsoft.com/office/drawing/2014/main" xmlns="" val="2058808049"/>
                  </a:ext>
                </a:extLst>
              </a:tr>
              <a:tr h="235657">
                <a:tc>
                  <a:txBody>
                    <a:bodyPr/>
                    <a:lstStyle/>
                    <a:p>
                      <a:r>
                        <a:rPr lang="en-IN"/>
                        <a:t>&lt;circle&gt;</a:t>
                      </a:r>
                    </a:p>
                  </a:txBody>
                  <a:tcPr anchor="ctr"/>
                </a:tc>
                <a:tc>
                  <a:txBody>
                    <a:bodyPr/>
                    <a:lstStyle/>
                    <a:p>
                      <a:r>
                        <a:rPr lang="en-IN"/>
                        <a:t>A circle</a:t>
                      </a:r>
                    </a:p>
                  </a:txBody>
                  <a:tcPr anchor="ctr"/>
                </a:tc>
                <a:extLst>
                  <a:ext uri="{0D108BD9-81ED-4DB2-BD59-A6C34878D82A}">
                    <a16:rowId xmlns:a16="http://schemas.microsoft.com/office/drawing/2014/main" xmlns="" val="3213960249"/>
                  </a:ext>
                </a:extLst>
              </a:tr>
              <a:tr h="235657">
                <a:tc>
                  <a:txBody>
                    <a:bodyPr/>
                    <a:lstStyle/>
                    <a:p>
                      <a:r>
                        <a:rPr lang="en-IN"/>
                        <a:t>&lt;rect&gt;</a:t>
                      </a:r>
                    </a:p>
                  </a:txBody>
                  <a:tcPr anchor="ctr"/>
                </a:tc>
                <a:tc>
                  <a:txBody>
                    <a:bodyPr/>
                    <a:lstStyle/>
                    <a:p>
                      <a:r>
                        <a:rPr lang="en-IN"/>
                        <a:t>A rectangle</a:t>
                      </a:r>
                    </a:p>
                  </a:txBody>
                  <a:tcPr anchor="ctr"/>
                </a:tc>
                <a:extLst>
                  <a:ext uri="{0D108BD9-81ED-4DB2-BD59-A6C34878D82A}">
                    <a16:rowId xmlns:a16="http://schemas.microsoft.com/office/drawing/2014/main" xmlns="" val="4216913080"/>
                  </a:ext>
                </a:extLst>
              </a:tr>
              <a:tr h="235657">
                <a:tc>
                  <a:txBody>
                    <a:bodyPr/>
                    <a:lstStyle/>
                    <a:p>
                      <a:r>
                        <a:rPr lang="en-IN"/>
                        <a:t>&lt;line&gt;</a:t>
                      </a:r>
                    </a:p>
                  </a:txBody>
                  <a:tcPr anchor="ctr"/>
                </a:tc>
                <a:tc>
                  <a:txBody>
                    <a:bodyPr/>
                    <a:lstStyle/>
                    <a:p>
                      <a:r>
                        <a:rPr lang="en-IN"/>
                        <a:t>A line</a:t>
                      </a:r>
                    </a:p>
                  </a:txBody>
                  <a:tcPr anchor="ctr"/>
                </a:tc>
                <a:extLst>
                  <a:ext uri="{0D108BD9-81ED-4DB2-BD59-A6C34878D82A}">
                    <a16:rowId xmlns:a16="http://schemas.microsoft.com/office/drawing/2014/main" xmlns="" val="4249567927"/>
                  </a:ext>
                </a:extLst>
              </a:tr>
              <a:tr h="235657">
                <a:tc>
                  <a:txBody>
                    <a:bodyPr/>
                    <a:lstStyle/>
                    <a:p>
                      <a:r>
                        <a:rPr lang="en-IN"/>
                        <a:t>&lt;ellipse&gt;</a:t>
                      </a:r>
                    </a:p>
                  </a:txBody>
                  <a:tcPr anchor="ctr"/>
                </a:tc>
                <a:tc>
                  <a:txBody>
                    <a:bodyPr/>
                    <a:lstStyle/>
                    <a:p>
                      <a:r>
                        <a:rPr lang="en-IN"/>
                        <a:t>An ellipse</a:t>
                      </a:r>
                    </a:p>
                  </a:txBody>
                  <a:tcPr anchor="ctr"/>
                </a:tc>
                <a:extLst>
                  <a:ext uri="{0D108BD9-81ED-4DB2-BD59-A6C34878D82A}">
                    <a16:rowId xmlns:a16="http://schemas.microsoft.com/office/drawing/2014/main" xmlns="" val="1454511595"/>
                  </a:ext>
                </a:extLst>
              </a:tr>
              <a:tr h="412401">
                <a:tc>
                  <a:txBody>
                    <a:bodyPr/>
                    <a:lstStyle/>
                    <a:p>
                      <a:r>
                        <a:rPr lang="en-IN"/>
                        <a:t>&lt;polygon&gt;</a:t>
                      </a:r>
                    </a:p>
                  </a:txBody>
                  <a:tcPr anchor="ctr"/>
                </a:tc>
                <a:tc>
                  <a:txBody>
                    <a:bodyPr/>
                    <a:lstStyle/>
                    <a:p>
                      <a:r>
                        <a:rPr lang="en-US"/>
                        <a:t>A closed shape with multiple sides</a:t>
                      </a:r>
                    </a:p>
                  </a:txBody>
                  <a:tcPr anchor="ctr"/>
                </a:tc>
                <a:extLst>
                  <a:ext uri="{0D108BD9-81ED-4DB2-BD59-A6C34878D82A}">
                    <a16:rowId xmlns:a16="http://schemas.microsoft.com/office/drawing/2014/main" xmlns="" val="2357823127"/>
                  </a:ext>
                </a:extLst>
              </a:tr>
              <a:tr h="376397">
                <a:tc>
                  <a:txBody>
                    <a:bodyPr/>
                    <a:lstStyle/>
                    <a:p>
                      <a:r>
                        <a:rPr lang="en-IN"/>
                        <a:t>&lt;path&gt;</a:t>
                      </a:r>
                    </a:p>
                  </a:txBody>
                  <a:tcPr anchor="ctr"/>
                </a:tc>
                <a:tc>
                  <a:txBody>
                    <a:bodyPr/>
                    <a:lstStyle/>
                    <a:p>
                      <a:r>
                        <a:rPr lang="en-US"/>
                        <a:t>A complex shape using commands</a:t>
                      </a:r>
                    </a:p>
                  </a:txBody>
                  <a:tcPr anchor="ctr"/>
                </a:tc>
                <a:extLst>
                  <a:ext uri="{0D108BD9-81ED-4DB2-BD59-A6C34878D82A}">
                    <a16:rowId xmlns:a16="http://schemas.microsoft.com/office/drawing/2014/main" xmlns="" val="965277694"/>
                  </a:ext>
                </a:extLst>
              </a:tr>
              <a:tr h="235657">
                <a:tc>
                  <a:txBody>
                    <a:bodyPr/>
                    <a:lstStyle/>
                    <a:p>
                      <a:r>
                        <a:rPr lang="en-IN"/>
                        <a:t>&lt;text&gt;</a:t>
                      </a:r>
                    </a:p>
                  </a:txBody>
                  <a:tcPr anchor="ctr"/>
                </a:tc>
                <a:tc>
                  <a:txBody>
                    <a:bodyPr/>
                    <a:lstStyle/>
                    <a:p>
                      <a:r>
                        <a:rPr lang="en-IN" dirty="0"/>
                        <a:t>Text inside SVG</a:t>
                      </a:r>
                    </a:p>
                  </a:txBody>
                  <a:tcPr anchor="ctr"/>
                </a:tc>
                <a:extLst>
                  <a:ext uri="{0D108BD9-81ED-4DB2-BD59-A6C34878D82A}">
                    <a16:rowId xmlns:a16="http://schemas.microsoft.com/office/drawing/2014/main" xmlns="" val="2559036100"/>
                  </a:ext>
                </a:extLst>
              </a:tr>
            </a:tbl>
          </a:graphicData>
        </a:graphic>
      </p:graphicFrame>
      <p:sp>
        <p:nvSpPr>
          <p:cNvPr id="5" name="Rectangle: Rounded Corners 4">
            <a:extLst>
              <a:ext uri="{FF2B5EF4-FFF2-40B4-BE49-F238E27FC236}">
                <a16:creationId xmlns:a16="http://schemas.microsoft.com/office/drawing/2014/main" xmlns="" id="{18CDD41F-44CA-49A4-9E45-5490339396A6}"/>
              </a:ext>
            </a:extLst>
          </p:cNvPr>
          <p:cNvSpPr/>
          <p:nvPr/>
        </p:nvSpPr>
        <p:spPr>
          <a:xfrm>
            <a:off x="1828800" y="3872008"/>
            <a:ext cx="7772400" cy="2909793"/>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endParaRPr lang="en-US" b="1" dirty="0"/>
          </a:p>
          <a:p>
            <a:endParaRPr lang="en-US" b="1" dirty="0"/>
          </a:p>
          <a:p>
            <a:endParaRPr lang="en-US" b="1" dirty="0"/>
          </a:p>
          <a:p>
            <a:endParaRPr lang="en-US" b="1" dirty="0"/>
          </a:p>
          <a:p>
            <a:endParaRPr lang="en-US" b="1" dirty="0"/>
          </a:p>
          <a:p>
            <a:r>
              <a:rPr lang="en-US" b="1" dirty="0"/>
              <a:t>Embedding SVG</a:t>
            </a:r>
          </a:p>
          <a:p>
            <a:pPr>
              <a:buFont typeface="+mj-lt"/>
              <a:buAutoNum type="arabicPeriod"/>
            </a:pPr>
            <a:r>
              <a:rPr lang="en-US" b="1" dirty="0"/>
              <a:t>Inline SVG</a:t>
            </a:r>
            <a:r>
              <a:rPr lang="en-US" dirty="0"/>
              <a:t> (recommended for dynamic or styled content):</a:t>
            </a:r>
          </a:p>
          <a:p>
            <a:r>
              <a:rPr lang="en-US" dirty="0"/>
              <a:t>&lt;</a:t>
            </a:r>
            <a:r>
              <a:rPr lang="en-US" dirty="0" err="1"/>
              <a:t>svg</a:t>
            </a:r>
            <a:r>
              <a:rPr lang="en-US" dirty="0"/>
              <a:t>&gt;...&lt;/</a:t>
            </a:r>
            <a:r>
              <a:rPr lang="en-US" dirty="0" err="1"/>
              <a:t>svg</a:t>
            </a:r>
            <a:r>
              <a:rPr lang="en-US" dirty="0"/>
              <a:t>&gt;</a:t>
            </a:r>
          </a:p>
          <a:p>
            <a:r>
              <a:rPr lang="en-US" altLang="en-US" b="1" dirty="0">
                <a:solidFill>
                  <a:schemeClr val="tx1"/>
                </a:solidFill>
                <a:latin typeface="Arial" panose="020B0604020202020204" pitchFamily="34" charset="0"/>
              </a:rPr>
              <a:t>2. Object tag</a:t>
            </a:r>
            <a:r>
              <a:rPr lang="en-US" altLang="en-US" dirty="0">
                <a:solidFill>
                  <a:schemeClr val="tx1"/>
                </a:solidFill>
                <a:latin typeface="Arial" panose="020B0604020202020204" pitchFamily="34" charset="0"/>
              </a:rPr>
              <a:t>:</a:t>
            </a:r>
          </a:p>
          <a:p>
            <a:r>
              <a:rPr lang="en-US" altLang="en-US" dirty="0">
                <a:solidFill>
                  <a:schemeClr val="tx1"/>
                </a:solidFill>
                <a:latin typeface="Arial" panose="020B0604020202020204" pitchFamily="34" charset="0"/>
              </a:rPr>
              <a:t>&lt;object type="image/</a:t>
            </a:r>
            <a:r>
              <a:rPr lang="en-US" altLang="en-US" dirty="0" err="1">
                <a:solidFill>
                  <a:schemeClr val="tx1"/>
                </a:solidFill>
                <a:latin typeface="Arial" panose="020B0604020202020204" pitchFamily="34" charset="0"/>
              </a:rPr>
              <a:t>svg+xml</a:t>
            </a:r>
            <a:r>
              <a:rPr lang="en-US" altLang="en-US" dirty="0">
                <a:solidFill>
                  <a:schemeClr val="tx1"/>
                </a:solidFill>
                <a:latin typeface="Arial" panose="020B0604020202020204" pitchFamily="34" charset="0"/>
              </a:rPr>
              <a:t>" data="</a:t>
            </a:r>
            <a:r>
              <a:rPr lang="en-US" altLang="en-US" dirty="0" err="1">
                <a:solidFill>
                  <a:schemeClr val="tx1"/>
                </a:solidFill>
                <a:latin typeface="Arial" panose="020B0604020202020204" pitchFamily="34" charset="0"/>
              </a:rPr>
              <a:t>image.svg</a:t>
            </a:r>
            <a:r>
              <a:rPr lang="en-US" altLang="en-US" dirty="0">
                <a:solidFill>
                  <a:schemeClr val="tx1"/>
                </a:solidFill>
                <a:latin typeface="Arial" panose="020B0604020202020204" pitchFamily="34" charset="0"/>
              </a:rPr>
              <a:t>"&gt;&lt;/object&gt;</a:t>
            </a:r>
          </a:p>
          <a:p>
            <a:r>
              <a:rPr lang="en-IN" b="1" dirty="0"/>
              <a:t>3.Image tag</a:t>
            </a:r>
            <a:r>
              <a:rPr lang="en-IN" dirty="0"/>
              <a:t> (no interactivity):</a:t>
            </a:r>
            <a:endParaRPr lang="en-US" dirty="0">
              <a:solidFill>
                <a:schemeClr val="tx1"/>
              </a:solidFill>
              <a:latin typeface="Arial" panose="020B0604020202020204" pitchFamily="34" charset="0"/>
            </a:endParaRPr>
          </a:p>
          <a:p>
            <a:r>
              <a:rPr lang="en-US" altLang="en-US" dirty="0">
                <a:solidFill>
                  <a:schemeClr val="tx1"/>
                </a:solidFill>
                <a:latin typeface="Arial" panose="020B0604020202020204" pitchFamily="34" charset="0"/>
              </a:rPr>
              <a:t>&lt;</a:t>
            </a:r>
            <a:r>
              <a:rPr lang="en-US" altLang="en-US" dirty="0" err="1">
                <a:solidFill>
                  <a:schemeClr val="tx1"/>
                </a:solidFill>
                <a:latin typeface="Arial" panose="020B0604020202020204" pitchFamily="34" charset="0"/>
              </a:rPr>
              <a:t>img</a:t>
            </a:r>
            <a:r>
              <a:rPr lang="en-US" altLang="en-US" dirty="0">
                <a:solidFill>
                  <a:schemeClr val="tx1"/>
                </a:solidFill>
                <a:latin typeface="Arial" panose="020B0604020202020204" pitchFamily="34" charset="0"/>
              </a:rPr>
              <a:t> </a:t>
            </a:r>
            <a:r>
              <a:rPr lang="en-US" altLang="en-US" dirty="0" err="1">
                <a:solidFill>
                  <a:schemeClr val="tx1"/>
                </a:solidFill>
                <a:latin typeface="Arial" panose="020B0604020202020204" pitchFamily="34" charset="0"/>
              </a:rPr>
              <a:t>src</a:t>
            </a:r>
            <a:r>
              <a:rPr lang="en-US" altLang="en-US" dirty="0">
                <a:solidFill>
                  <a:schemeClr val="tx1"/>
                </a:solidFill>
                <a:latin typeface="Arial" panose="020B0604020202020204" pitchFamily="34" charset="0"/>
              </a:rPr>
              <a:t>="</a:t>
            </a:r>
            <a:r>
              <a:rPr lang="en-US" altLang="en-US" dirty="0" err="1">
                <a:solidFill>
                  <a:schemeClr val="tx1"/>
                </a:solidFill>
                <a:latin typeface="Arial" panose="020B0604020202020204" pitchFamily="34" charset="0"/>
              </a:rPr>
              <a:t>image.svg</a:t>
            </a:r>
            <a:r>
              <a:rPr lang="en-US" altLang="en-US" dirty="0">
                <a:solidFill>
                  <a:schemeClr val="tx1"/>
                </a:solidFill>
                <a:latin typeface="Arial" panose="020B0604020202020204" pitchFamily="34" charset="0"/>
              </a:rPr>
              <a:t>" alt="My SVG" /&gt;</a:t>
            </a:r>
          </a:p>
          <a:p>
            <a:endParaRPr lang="en-US" altLang="en-US" dirty="0">
              <a:solidFill>
                <a:schemeClr val="tx1"/>
              </a:solidFill>
              <a:latin typeface="Arial" panose="020B0604020202020204" pitchFamily="34" charset="0"/>
            </a:endParaRPr>
          </a:p>
          <a:p>
            <a:endParaRPr lang="en-US" altLang="en-US" dirty="0">
              <a:solidFill>
                <a:schemeClr val="tx1"/>
              </a:solidFill>
              <a:latin typeface="Arial" panose="020B0604020202020204" pitchFamily="34" charset="0"/>
            </a:endParaRPr>
          </a:p>
          <a:p>
            <a:endParaRPr lang="en-US" altLang="en-US" dirty="0">
              <a:solidFill>
                <a:schemeClr val="tx1"/>
              </a:solidFill>
              <a:latin typeface="Arial" panose="020B0604020202020204" pitchFamily="34" charset="0"/>
            </a:endParaRPr>
          </a:p>
          <a:p>
            <a:endParaRPr lang="en-US" dirty="0"/>
          </a:p>
          <a:p>
            <a:endParaRPr lang="en-US" dirty="0"/>
          </a:p>
        </p:txBody>
      </p:sp>
    </p:spTree>
    <p:extLst>
      <p:ext uri="{BB962C8B-B14F-4D97-AF65-F5344CB8AC3E}">
        <p14:creationId xmlns:p14="http://schemas.microsoft.com/office/powerpoint/2010/main" val="3778595734"/>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xmlns="" id="{4648018E-3A1E-455E-B98A-BFD60428C9EF}"/>
              </a:ext>
            </a:extLst>
          </p:cNvPr>
          <p:cNvSpPr txBox="1"/>
          <p:nvPr/>
        </p:nvSpPr>
        <p:spPr>
          <a:xfrm>
            <a:off x="114300" y="123826"/>
            <a:ext cx="12077700" cy="6894195"/>
          </a:xfrm>
          <a:prstGeom prst="rect">
            <a:avLst/>
          </a:prstGeom>
          <a:noFill/>
        </p:spPr>
        <p:txBody>
          <a:bodyPr wrap="square">
            <a:spAutoFit/>
          </a:bodyPr>
          <a:lstStyle/>
          <a:p>
            <a:pPr algn="just" eaLnBrk="0" fontAlgn="base" hangingPunct="0">
              <a:spcBef>
                <a:spcPct val="0"/>
              </a:spcBef>
              <a:spcAft>
                <a:spcPct val="0"/>
              </a:spcAft>
            </a:pPr>
            <a:r>
              <a:rPr lang="en-IN" sz="2600" u="sng" kern="15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Introduction to Canvas</a:t>
            </a:r>
            <a:endParaRPr lang="en-US" altLang="en-US" sz="2600" b="1" u="sng" dirty="0">
              <a:solidFill>
                <a:srgbClr val="FF0000"/>
              </a:solidFill>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pPr>
            <a:r>
              <a:rPr lang="en-US" altLang="en-US" sz="2600" dirty="0" smtClean="0">
                <a:latin typeface="Times New Roman" panose="02020603050405020304" pitchFamily="18" charset="0"/>
                <a:cs typeface="Times New Roman" panose="02020603050405020304" pitchFamily="18" charset="0"/>
              </a:rPr>
              <a:t>The </a:t>
            </a:r>
            <a:r>
              <a:rPr lang="en-US" altLang="en-US" sz="2600" b="1" dirty="0">
                <a:latin typeface="Times New Roman" panose="02020603050405020304" pitchFamily="18" charset="0"/>
                <a:cs typeface="Times New Roman" panose="02020603050405020304" pitchFamily="18" charset="0"/>
              </a:rPr>
              <a:t>HTML5 &lt;canvas&gt; element</a:t>
            </a:r>
            <a:r>
              <a:rPr lang="en-US" altLang="en-US" sz="2600" dirty="0">
                <a:latin typeface="Times New Roman" panose="02020603050405020304" pitchFamily="18" charset="0"/>
                <a:cs typeface="Times New Roman" panose="02020603050405020304" pitchFamily="18" charset="0"/>
              </a:rPr>
              <a:t> is used to draw </a:t>
            </a:r>
            <a:r>
              <a:rPr lang="en-US" altLang="en-US" sz="2600" b="1" dirty="0">
                <a:latin typeface="Times New Roman" panose="02020603050405020304" pitchFamily="18" charset="0"/>
                <a:cs typeface="Times New Roman" panose="02020603050405020304" pitchFamily="18" charset="0"/>
              </a:rPr>
              <a:t>graphics on the fly</a:t>
            </a:r>
            <a:r>
              <a:rPr lang="en-US" altLang="en-US" sz="2600" dirty="0">
                <a:latin typeface="Times New Roman" panose="02020603050405020304" pitchFamily="18" charset="0"/>
                <a:cs typeface="Times New Roman" panose="02020603050405020304" pitchFamily="18" charset="0"/>
              </a:rPr>
              <a:t> via JavaScript. It's a powerful feature for rendering shapes, images, animations, games, and data visualizations—</a:t>
            </a:r>
            <a:r>
              <a:rPr lang="en-US" altLang="en-US" sz="2600" i="1" dirty="0">
                <a:latin typeface="Times New Roman" panose="02020603050405020304" pitchFamily="18" charset="0"/>
                <a:cs typeface="Times New Roman" panose="02020603050405020304" pitchFamily="18" charset="0"/>
              </a:rPr>
              <a:t>all directly in the browser.</a:t>
            </a:r>
          </a:p>
          <a:p>
            <a:pPr algn="just" eaLnBrk="0" fontAlgn="base" hangingPunct="0">
              <a:spcBef>
                <a:spcPct val="0"/>
              </a:spcBef>
              <a:spcAft>
                <a:spcPct val="0"/>
              </a:spcAft>
            </a:pPr>
            <a:r>
              <a:rPr lang="en-IN" sz="2600" dirty="0" smtClean="0">
                <a:latin typeface="Times New Roman" panose="02020603050405020304" pitchFamily="18" charset="0"/>
                <a:cs typeface="Times New Roman" panose="02020603050405020304" pitchFamily="18" charset="0"/>
              </a:rPr>
              <a:t>Basic </a:t>
            </a:r>
            <a:r>
              <a:rPr lang="en-IN" sz="2600" dirty="0">
                <a:latin typeface="Times New Roman" panose="02020603050405020304" pitchFamily="18" charset="0"/>
                <a:cs typeface="Times New Roman" panose="02020603050405020304" pitchFamily="18" charset="0"/>
              </a:rPr>
              <a:t>Syntax</a:t>
            </a:r>
            <a:endParaRPr lang="en-US" sz="2600" i="1" dirty="0">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pPr>
            <a:r>
              <a:rPr lang="en-US" altLang="en-US" sz="2600" dirty="0">
                <a:latin typeface="Times New Roman" panose="02020603050405020304" pitchFamily="18" charset="0"/>
                <a:cs typeface="Times New Roman" panose="02020603050405020304" pitchFamily="18" charset="0"/>
              </a:rPr>
              <a:t>&lt;canvas id="</a:t>
            </a:r>
            <a:r>
              <a:rPr lang="en-US" altLang="en-US" sz="2600" dirty="0" err="1">
                <a:latin typeface="Times New Roman" panose="02020603050405020304" pitchFamily="18" charset="0"/>
                <a:cs typeface="Times New Roman" panose="02020603050405020304" pitchFamily="18" charset="0"/>
              </a:rPr>
              <a:t>myCanvas</a:t>
            </a:r>
            <a:r>
              <a:rPr lang="en-US" altLang="en-US" sz="2600" dirty="0">
                <a:latin typeface="Times New Roman" panose="02020603050405020304" pitchFamily="18" charset="0"/>
                <a:cs typeface="Times New Roman" panose="02020603050405020304" pitchFamily="18" charset="0"/>
              </a:rPr>
              <a:t>" width="400" height="200"&gt;&lt;/canvas&gt;</a:t>
            </a:r>
          </a:p>
          <a:p>
            <a:pPr algn="just" eaLnBrk="0" fontAlgn="base" hangingPunct="0">
              <a:spcBef>
                <a:spcPct val="0"/>
              </a:spcBef>
              <a:spcAft>
                <a:spcPct val="0"/>
              </a:spcAft>
              <a:buFontTx/>
              <a:buChar char="•"/>
            </a:pPr>
            <a:r>
              <a:rPr lang="en-US" altLang="en-US" sz="2600" dirty="0" smtClean="0">
                <a:latin typeface="Times New Roman" panose="02020603050405020304" pitchFamily="18" charset="0"/>
                <a:cs typeface="Times New Roman" panose="02020603050405020304" pitchFamily="18" charset="0"/>
              </a:rPr>
              <a:t>The </a:t>
            </a:r>
            <a:r>
              <a:rPr lang="en-US" altLang="en-US" sz="2600" dirty="0">
                <a:latin typeface="Times New Roman" panose="02020603050405020304" pitchFamily="18" charset="0"/>
                <a:cs typeface="Times New Roman" panose="02020603050405020304" pitchFamily="18" charset="0"/>
              </a:rPr>
              <a:t>&lt;canvas&gt; tag creates a rectangular drawing area.</a:t>
            </a:r>
          </a:p>
          <a:p>
            <a:pPr algn="just" eaLnBrk="0" fontAlgn="base" hangingPunct="0">
              <a:spcBef>
                <a:spcPct val="0"/>
              </a:spcBef>
              <a:spcAft>
                <a:spcPct val="0"/>
              </a:spcAft>
              <a:buFontTx/>
              <a:buChar char="•"/>
            </a:pPr>
            <a:r>
              <a:rPr lang="en-US" altLang="en-US" sz="2600" dirty="0">
                <a:latin typeface="Times New Roman" panose="02020603050405020304" pitchFamily="18" charset="0"/>
                <a:cs typeface="Times New Roman" panose="02020603050405020304" pitchFamily="18" charset="0"/>
              </a:rPr>
              <a:t>By itself, it’s just a container; all drawing must be done with JavaScript.</a:t>
            </a:r>
          </a:p>
          <a:p>
            <a:pPr algn="just" eaLnBrk="0" fontAlgn="base" hangingPunct="0">
              <a:spcBef>
                <a:spcPct val="0"/>
              </a:spcBef>
              <a:spcAft>
                <a:spcPct val="0"/>
              </a:spcAft>
            </a:pPr>
            <a:r>
              <a:rPr lang="en-US" sz="2600" dirty="0">
                <a:latin typeface="Times New Roman" panose="02020603050405020304" pitchFamily="18" charset="0"/>
                <a:cs typeface="Times New Roman" panose="02020603050405020304" pitchFamily="18" charset="0"/>
              </a:rPr>
              <a:t>JavaScript to Draw on Canvas</a:t>
            </a:r>
          </a:p>
          <a:p>
            <a:pPr algn="just" eaLnBrk="0" fontAlgn="base" hangingPunct="0">
              <a:spcBef>
                <a:spcPct val="0"/>
              </a:spcBef>
              <a:spcAft>
                <a:spcPct val="0"/>
              </a:spcAft>
            </a:pPr>
            <a:r>
              <a:rPr lang="en-US" altLang="en-US" sz="2600" dirty="0">
                <a:latin typeface="Times New Roman" panose="02020603050405020304" pitchFamily="18" charset="0"/>
                <a:cs typeface="Times New Roman" panose="02020603050405020304" pitchFamily="18" charset="0"/>
              </a:rPr>
              <a:t>&lt;canvas id="</a:t>
            </a:r>
            <a:r>
              <a:rPr lang="en-US" altLang="en-US" sz="2600" dirty="0" err="1">
                <a:latin typeface="Times New Roman" panose="02020603050405020304" pitchFamily="18" charset="0"/>
                <a:cs typeface="Times New Roman" panose="02020603050405020304" pitchFamily="18" charset="0"/>
              </a:rPr>
              <a:t>myCanvas</a:t>
            </a:r>
            <a:r>
              <a:rPr lang="en-US" altLang="en-US" sz="2600" dirty="0">
                <a:latin typeface="Times New Roman" panose="02020603050405020304" pitchFamily="18" charset="0"/>
                <a:cs typeface="Times New Roman" panose="02020603050405020304" pitchFamily="18" charset="0"/>
              </a:rPr>
              <a:t>" width="400" height="200" style="border:1px solid #000;"&gt;&lt;/canvas&gt;</a:t>
            </a:r>
          </a:p>
          <a:p>
            <a:pPr algn="just" eaLnBrk="0" fontAlgn="base" hangingPunct="0">
              <a:spcBef>
                <a:spcPct val="0"/>
              </a:spcBef>
              <a:spcAft>
                <a:spcPct val="0"/>
              </a:spcAft>
            </a:pPr>
            <a:r>
              <a:rPr lang="en-US" altLang="en-US" sz="2600" dirty="0" smtClean="0">
                <a:latin typeface="Times New Roman" panose="02020603050405020304" pitchFamily="18" charset="0"/>
                <a:cs typeface="Times New Roman" panose="02020603050405020304" pitchFamily="18" charset="0"/>
              </a:rPr>
              <a:t>&lt;</a:t>
            </a:r>
            <a:r>
              <a:rPr lang="en-US" altLang="en-US" sz="2600" dirty="0">
                <a:latin typeface="Times New Roman" panose="02020603050405020304" pitchFamily="18" charset="0"/>
                <a:cs typeface="Times New Roman" panose="02020603050405020304" pitchFamily="18" charset="0"/>
              </a:rPr>
              <a:t>script&gt;</a:t>
            </a:r>
          </a:p>
          <a:p>
            <a:pPr algn="just" eaLnBrk="0" fontAlgn="base" hangingPunct="0">
              <a:spcBef>
                <a:spcPct val="0"/>
              </a:spcBef>
              <a:spcAft>
                <a:spcPct val="0"/>
              </a:spcAft>
            </a:pPr>
            <a:r>
              <a:rPr lang="en-US" altLang="en-US" sz="2600" dirty="0" err="1" smtClean="0">
                <a:latin typeface="Times New Roman" panose="02020603050405020304" pitchFamily="18" charset="0"/>
                <a:cs typeface="Times New Roman" panose="02020603050405020304" pitchFamily="18" charset="0"/>
              </a:rPr>
              <a:t>const</a:t>
            </a:r>
            <a:r>
              <a:rPr lang="en-US" altLang="en-US" sz="2600" dirty="0" smtClean="0">
                <a:latin typeface="Times New Roman" panose="02020603050405020304" pitchFamily="18" charset="0"/>
                <a:cs typeface="Times New Roman" panose="02020603050405020304" pitchFamily="18" charset="0"/>
              </a:rPr>
              <a:t> </a:t>
            </a:r>
            <a:r>
              <a:rPr lang="en-US" altLang="en-US" sz="2600" dirty="0">
                <a:latin typeface="Times New Roman" panose="02020603050405020304" pitchFamily="18" charset="0"/>
                <a:cs typeface="Times New Roman" panose="02020603050405020304" pitchFamily="18" charset="0"/>
              </a:rPr>
              <a:t>canvas = </a:t>
            </a:r>
            <a:r>
              <a:rPr lang="en-US" altLang="en-US" sz="2600" dirty="0" err="1">
                <a:latin typeface="Times New Roman" panose="02020603050405020304" pitchFamily="18" charset="0"/>
                <a:cs typeface="Times New Roman" panose="02020603050405020304" pitchFamily="18" charset="0"/>
              </a:rPr>
              <a:t>document.getElementById</a:t>
            </a:r>
            <a:r>
              <a:rPr lang="en-US" altLang="en-US" sz="2600" dirty="0">
                <a:latin typeface="Times New Roman" panose="02020603050405020304" pitchFamily="18" charset="0"/>
                <a:cs typeface="Times New Roman" panose="02020603050405020304" pitchFamily="18" charset="0"/>
              </a:rPr>
              <a:t>("</a:t>
            </a:r>
            <a:r>
              <a:rPr lang="en-US" altLang="en-US" sz="2600" dirty="0" err="1">
                <a:latin typeface="Times New Roman" panose="02020603050405020304" pitchFamily="18" charset="0"/>
                <a:cs typeface="Times New Roman" panose="02020603050405020304" pitchFamily="18" charset="0"/>
              </a:rPr>
              <a:t>myCanvas</a:t>
            </a:r>
            <a:r>
              <a:rPr lang="en-US" altLang="en-US" sz="2600" dirty="0">
                <a:latin typeface="Times New Roman" panose="02020603050405020304" pitchFamily="18" charset="0"/>
                <a:cs typeface="Times New Roman" panose="02020603050405020304" pitchFamily="18" charset="0"/>
              </a:rPr>
              <a:t>");</a:t>
            </a:r>
          </a:p>
          <a:p>
            <a:pPr algn="just" eaLnBrk="0" fontAlgn="base" hangingPunct="0">
              <a:spcBef>
                <a:spcPct val="0"/>
              </a:spcBef>
              <a:spcAft>
                <a:spcPct val="0"/>
              </a:spcAft>
            </a:pPr>
            <a:r>
              <a:rPr lang="en-US" altLang="en-US" sz="2600" dirty="0">
                <a:latin typeface="Times New Roman" panose="02020603050405020304" pitchFamily="18" charset="0"/>
                <a:cs typeface="Times New Roman" panose="02020603050405020304" pitchFamily="18" charset="0"/>
              </a:rPr>
              <a:t>  const </a:t>
            </a:r>
            <a:r>
              <a:rPr lang="en-US" altLang="en-US" sz="2600" dirty="0" err="1">
                <a:latin typeface="Times New Roman" panose="02020603050405020304" pitchFamily="18" charset="0"/>
                <a:cs typeface="Times New Roman" panose="02020603050405020304" pitchFamily="18" charset="0"/>
              </a:rPr>
              <a:t>ctx</a:t>
            </a:r>
            <a:r>
              <a:rPr lang="en-US" altLang="en-US" sz="2600" dirty="0">
                <a:latin typeface="Times New Roman" panose="02020603050405020304" pitchFamily="18" charset="0"/>
                <a:cs typeface="Times New Roman" panose="02020603050405020304" pitchFamily="18" charset="0"/>
              </a:rPr>
              <a:t> = </a:t>
            </a:r>
            <a:r>
              <a:rPr lang="en-US" altLang="en-US" sz="2600" dirty="0" err="1">
                <a:latin typeface="Times New Roman" panose="02020603050405020304" pitchFamily="18" charset="0"/>
                <a:cs typeface="Times New Roman" panose="02020603050405020304" pitchFamily="18" charset="0"/>
              </a:rPr>
              <a:t>canvas.getContext</a:t>
            </a:r>
            <a:r>
              <a:rPr lang="en-US" altLang="en-US" sz="2600" dirty="0">
                <a:latin typeface="Times New Roman" panose="02020603050405020304" pitchFamily="18" charset="0"/>
                <a:cs typeface="Times New Roman" panose="02020603050405020304" pitchFamily="18" charset="0"/>
              </a:rPr>
              <a:t>("2d"); // 2D rendering context</a:t>
            </a:r>
          </a:p>
          <a:p>
            <a:pPr algn="just" eaLnBrk="0" fontAlgn="base" hangingPunct="0">
              <a:spcBef>
                <a:spcPct val="0"/>
              </a:spcBef>
              <a:spcAft>
                <a:spcPct val="0"/>
              </a:spcAft>
            </a:pPr>
            <a:r>
              <a:rPr lang="en-US" altLang="en-US" sz="2600" dirty="0" err="1" smtClean="0">
                <a:latin typeface="Times New Roman" panose="02020603050405020304" pitchFamily="18" charset="0"/>
                <a:cs typeface="Times New Roman" panose="02020603050405020304" pitchFamily="18" charset="0"/>
              </a:rPr>
              <a:t>ctx.fillStyle</a:t>
            </a:r>
            <a:r>
              <a:rPr lang="en-US" altLang="en-US" sz="2600" dirty="0" smtClean="0">
                <a:latin typeface="Times New Roman" panose="02020603050405020304" pitchFamily="18" charset="0"/>
                <a:cs typeface="Times New Roman" panose="02020603050405020304" pitchFamily="18" charset="0"/>
              </a:rPr>
              <a:t> </a:t>
            </a:r>
            <a:r>
              <a:rPr lang="en-US" altLang="en-US" sz="2600" dirty="0">
                <a:latin typeface="Times New Roman" panose="02020603050405020304" pitchFamily="18" charset="0"/>
                <a:cs typeface="Times New Roman" panose="02020603050405020304" pitchFamily="18" charset="0"/>
              </a:rPr>
              <a:t>= "blue";</a:t>
            </a:r>
          </a:p>
          <a:p>
            <a:pPr algn="just" eaLnBrk="0" fontAlgn="base" hangingPunct="0">
              <a:spcBef>
                <a:spcPct val="0"/>
              </a:spcBef>
              <a:spcAft>
                <a:spcPct val="0"/>
              </a:spcAft>
            </a:pPr>
            <a:r>
              <a:rPr lang="en-US" altLang="en-US" sz="2600" dirty="0">
                <a:latin typeface="Times New Roman" panose="02020603050405020304" pitchFamily="18" charset="0"/>
                <a:cs typeface="Times New Roman" panose="02020603050405020304" pitchFamily="18" charset="0"/>
              </a:rPr>
              <a:t>  </a:t>
            </a:r>
            <a:r>
              <a:rPr lang="en-US" altLang="en-US" sz="2600" dirty="0" err="1">
                <a:latin typeface="Times New Roman" panose="02020603050405020304" pitchFamily="18" charset="0"/>
                <a:cs typeface="Times New Roman" panose="02020603050405020304" pitchFamily="18" charset="0"/>
              </a:rPr>
              <a:t>ctx.fillRect</a:t>
            </a:r>
            <a:r>
              <a:rPr lang="en-US" altLang="en-US" sz="2600" dirty="0">
                <a:latin typeface="Times New Roman" panose="02020603050405020304" pitchFamily="18" charset="0"/>
                <a:cs typeface="Times New Roman" panose="02020603050405020304" pitchFamily="18" charset="0"/>
              </a:rPr>
              <a:t>(50, 50, 150, 100); // x, y, width, </a:t>
            </a:r>
            <a:r>
              <a:rPr lang="en-US" altLang="en-US" sz="2600" dirty="0" smtClean="0">
                <a:latin typeface="Times New Roman" panose="02020603050405020304" pitchFamily="18" charset="0"/>
                <a:cs typeface="Times New Roman" panose="02020603050405020304" pitchFamily="18" charset="0"/>
              </a:rPr>
              <a:t>height&lt;/</a:t>
            </a:r>
            <a:r>
              <a:rPr lang="en-US" altLang="en-US" sz="2600" dirty="0">
                <a:latin typeface="Times New Roman" panose="02020603050405020304" pitchFamily="18" charset="0"/>
                <a:cs typeface="Times New Roman" panose="02020603050405020304" pitchFamily="18" charset="0"/>
              </a:rPr>
              <a:t>script&gt;</a:t>
            </a:r>
          </a:p>
          <a:p>
            <a:pPr algn="just" eaLnBrk="0" fontAlgn="base" hangingPunct="0">
              <a:spcBef>
                <a:spcPct val="0"/>
              </a:spcBef>
              <a:spcAft>
                <a:spcPct val="0"/>
              </a:spcAft>
            </a:pPr>
            <a:endParaRPr lang="en-US" alt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7469129"/>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xmlns="" id="{A6AE6B25-5534-432E-85BB-A5F1571309B5}"/>
              </a:ext>
            </a:extLst>
          </p:cNvPr>
          <p:cNvGraphicFramePr>
            <a:graphicFrameLocks noGrp="1"/>
          </p:cNvGraphicFramePr>
          <p:nvPr>
            <p:ph sz="quarter" idx="1"/>
            <p:extLst/>
          </p:nvPr>
        </p:nvGraphicFramePr>
        <p:xfrm>
          <a:off x="2057400" y="320040"/>
          <a:ext cx="7848600" cy="2560320"/>
        </p:xfrm>
        <a:graphic>
          <a:graphicData uri="http://schemas.openxmlformats.org/drawingml/2006/table">
            <a:tbl>
              <a:tblPr>
                <a:tableStyleId>{5940675A-B579-460E-94D1-54222C63F5DA}</a:tableStyleId>
              </a:tblPr>
              <a:tblGrid>
                <a:gridCol w="3924300">
                  <a:extLst>
                    <a:ext uri="{9D8B030D-6E8A-4147-A177-3AD203B41FA5}">
                      <a16:colId xmlns:a16="http://schemas.microsoft.com/office/drawing/2014/main" xmlns="" val="1464162429"/>
                    </a:ext>
                  </a:extLst>
                </a:gridCol>
                <a:gridCol w="3924300">
                  <a:extLst>
                    <a:ext uri="{9D8B030D-6E8A-4147-A177-3AD203B41FA5}">
                      <a16:colId xmlns:a16="http://schemas.microsoft.com/office/drawing/2014/main" xmlns="" val="1506874377"/>
                    </a:ext>
                  </a:extLst>
                </a:gridCol>
              </a:tblGrid>
              <a:tr h="0">
                <a:tc>
                  <a:txBody>
                    <a:bodyPr/>
                    <a:lstStyle/>
                    <a:p>
                      <a:r>
                        <a:rPr lang="en-IN"/>
                        <a:t>Purpose</a:t>
                      </a:r>
                    </a:p>
                  </a:txBody>
                  <a:tcPr anchor="ctr"/>
                </a:tc>
                <a:tc>
                  <a:txBody>
                    <a:bodyPr/>
                    <a:lstStyle/>
                    <a:p>
                      <a:r>
                        <a:rPr lang="en-IN"/>
                        <a:t>Method</a:t>
                      </a:r>
                    </a:p>
                  </a:txBody>
                  <a:tcPr anchor="ctr"/>
                </a:tc>
                <a:extLst>
                  <a:ext uri="{0D108BD9-81ED-4DB2-BD59-A6C34878D82A}">
                    <a16:rowId xmlns:a16="http://schemas.microsoft.com/office/drawing/2014/main" xmlns="" val="731772790"/>
                  </a:ext>
                </a:extLst>
              </a:tr>
              <a:tr h="0">
                <a:tc>
                  <a:txBody>
                    <a:bodyPr/>
                    <a:lstStyle/>
                    <a:p>
                      <a:r>
                        <a:rPr lang="en-IN"/>
                        <a:t>Draw rectangle</a:t>
                      </a:r>
                    </a:p>
                  </a:txBody>
                  <a:tcPr anchor="ctr"/>
                </a:tc>
                <a:tc>
                  <a:txBody>
                    <a:bodyPr/>
                    <a:lstStyle/>
                    <a:p>
                      <a:r>
                        <a:rPr lang="en-IN"/>
                        <a:t>fillRect(x, y, w, h)</a:t>
                      </a:r>
                    </a:p>
                  </a:txBody>
                  <a:tcPr anchor="ctr"/>
                </a:tc>
                <a:extLst>
                  <a:ext uri="{0D108BD9-81ED-4DB2-BD59-A6C34878D82A}">
                    <a16:rowId xmlns:a16="http://schemas.microsoft.com/office/drawing/2014/main" xmlns="" val="169774994"/>
                  </a:ext>
                </a:extLst>
              </a:tr>
              <a:tr h="0">
                <a:tc>
                  <a:txBody>
                    <a:bodyPr/>
                    <a:lstStyle/>
                    <a:p>
                      <a:r>
                        <a:rPr lang="en-IN"/>
                        <a:t>Draw circle</a:t>
                      </a:r>
                    </a:p>
                  </a:txBody>
                  <a:tcPr anchor="ctr"/>
                </a:tc>
                <a:tc>
                  <a:txBody>
                    <a:bodyPr/>
                    <a:lstStyle/>
                    <a:p>
                      <a:r>
                        <a:rPr lang="en-IN"/>
                        <a:t>arc(x, y, radius, startAngle, endAngle)</a:t>
                      </a:r>
                    </a:p>
                  </a:txBody>
                  <a:tcPr anchor="ctr"/>
                </a:tc>
                <a:extLst>
                  <a:ext uri="{0D108BD9-81ED-4DB2-BD59-A6C34878D82A}">
                    <a16:rowId xmlns:a16="http://schemas.microsoft.com/office/drawing/2014/main" xmlns="" val="1802049329"/>
                  </a:ext>
                </a:extLst>
              </a:tr>
              <a:tr h="0">
                <a:tc>
                  <a:txBody>
                    <a:bodyPr/>
                    <a:lstStyle/>
                    <a:p>
                      <a:r>
                        <a:rPr lang="en-IN"/>
                        <a:t>Draw line</a:t>
                      </a:r>
                    </a:p>
                  </a:txBody>
                  <a:tcPr anchor="ctr"/>
                </a:tc>
                <a:tc>
                  <a:txBody>
                    <a:bodyPr/>
                    <a:lstStyle/>
                    <a:p>
                      <a:r>
                        <a:rPr lang="es-ES"/>
                        <a:t>moveTo(x, y) + lineTo(x, y) + stroke()</a:t>
                      </a:r>
                    </a:p>
                  </a:txBody>
                  <a:tcPr anchor="ctr"/>
                </a:tc>
                <a:extLst>
                  <a:ext uri="{0D108BD9-81ED-4DB2-BD59-A6C34878D82A}">
                    <a16:rowId xmlns:a16="http://schemas.microsoft.com/office/drawing/2014/main" xmlns="" val="2777517328"/>
                  </a:ext>
                </a:extLst>
              </a:tr>
              <a:tr h="0">
                <a:tc>
                  <a:txBody>
                    <a:bodyPr/>
                    <a:lstStyle/>
                    <a:p>
                      <a:r>
                        <a:rPr lang="en-IN"/>
                        <a:t>Set color</a:t>
                      </a:r>
                    </a:p>
                  </a:txBody>
                  <a:tcPr anchor="ctr"/>
                </a:tc>
                <a:tc>
                  <a:txBody>
                    <a:bodyPr/>
                    <a:lstStyle/>
                    <a:p>
                      <a:r>
                        <a:rPr lang="en-IN"/>
                        <a:t>fillStyle, strokeStyle</a:t>
                      </a:r>
                    </a:p>
                  </a:txBody>
                  <a:tcPr anchor="ctr"/>
                </a:tc>
                <a:extLst>
                  <a:ext uri="{0D108BD9-81ED-4DB2-BD59-A6C34878D82A}">
                    <a16:rowId xmlns:a16="http://schemas.microsoft.com/office/drawing/2014/main" xmlns="" val="2249957138"/>
                  </a:ext>
                </a:extLst>
              </a:tr>
              <a:tr h="0">
                <a:tc>
                  <a:txBody>
                    <a:bodyPr/>
                    <a:lstStyle/>
                    <a:p>
                      <a:r>
                        <a:rPr lang="en-IN"/>
                        <a:t>Clear canvas</a:t>
                      </a:r>
                    </a:p>
                  </a:txBody>
                  <a:tcPr anchor="ctr"/>
                </a:tc>
                <a:tc>
                  <a:txBody>
                    <a:bodyPr/>
                    <a:lstStyle/>
                    <a:p>
                      <a:r>
                        <a:rPr lang="en-US"/>
                        <a:t>clearRect(x, y, w, h)</a:t>
                      </a:r>
                    </a:p>
                  </a:txBody>
                  <a:tcPr anchor="ctr"/>
                </a:tc>
                <a:extLst>
                  <a:ext uri="{0D108BD9-81ED-4DB2-BD59-A6C34878D82A}">
                    <a16:rowId xmlns:a16="http://schemas.microsoft.com/office/drawing/2014/main" xmlns="" val="1502750358"/>
                  </a:ext>
                </a:extLst>
              </a:tr>
              <a:tr h="0">
                <a:tc>
                  <a:txBody>
                    <a:bodyPr/>
                    <a:lstStyle/>
                    <a:p>
                      <a:r>
                        <a:rPr lang="en-IN"/>
                        <a:t>Draw text</a:t>
                      </a:r>
                    </a:p>
                  </a:txBody>
                  <a:tcPr anchor="ctr"/>
                </a:tc>
                <a:tc>
                  <a:txBody>
                    <a:bodyPr/>
                    <a:lstStyle/>
                    <a:p>
                      <a:r>
                        <a:rPr lang="en-IN" dirty="0" err="1"/>
                        <a:t>fillText</a:t>
                      </a:r>
                      <a:r>
                        <a:rPr lang="en-IN" dirty="0"/>
                        <a:t>(text, x, y)</a:t>
                      </a:r>
                    </a:p>
                  </a:txBody>
                  <a:tcPr anchor="ctr"/>
                </a:tc>
                <a:extLst>
                  <a:ext uri="{0D108BD9-81ED-4DB2-BD59-A6C34878D82A}">
                    <a16:rowId xmlns:a16="http://schemas.microsoft.com/office/drawing/2014/main" xmlns="" val="1155365345"/>
                  </a:ext>
                </a:extLst>
              </a:tr>
            </a:tbl>
          </a:graphicData>
        </a:graphic>
      </p:graphicFrame>
      <p:sp>
        <p:nvSpPr>
          <p:cNvPr id="6" name="TextBox 5">
            <a:extLst>
              <a:ext uri="{FF2B5EF4-FFF2-40B4-BE49-F238E27FC236}">
                <a16:creationId xmlns:a16="http://schemas.microsoft.com/office/drawing/2014/main" xmlns="" id="{8EE89EEC-6EA3-4E94-841B-65ABDFE63FA6}"/>
              </a:ext>
            </a:extLst>
          </p:cNvPr>
          <p:cNvSpPr txBox="1"/>
          <p:nvPr/>
        </p:nvSpPr>
        <p:spPr>
          <a:xfrm>
            <a:off x="2146738" y="3429000"/>
            <a:ext cx="7620000" cy="2308324"/>
          </a:xfrm>
          <a:prstGeom prst="rect">
            <a:avLst/>
          </a:prstGeom>
          <a:noFill/>
        </p:spPr>
        <p:txBody>
          <a:bodyPr wrap="square">
            <a:spAutoFit/>
          </a:bodyPr>
          <a:lstStyle/>
          <a:p>
            <a:r>
              <a:rPr lang="en-IN" dirty="0"/>
              <a:t>Example: Draw a Circle</a:t>
            </a:r>
          </a:p>
          <a:p>
            <a:r>
              <a:rPr lang="en-IN" dirty="0" err="1"/>
              <a:t>ctx.beginPath</a:t>
            </a:r>
            <a:r>
              <a:rPr lang="en-IN" dirty="0"/>
              <a:t>();</a:t>
            </a:r>
          </a:p>
          <a:p>
            <a:r>
              <a:rPr lang="en-IN" dirty="0"/>
              <a:t>ctx.arc(100, 75, 50, 0, 2 * </a:t>
            </a:r>
            <a:r>
              <a:rPr lang="en-IN" dirty="0" err="1"/>
              <a:t>Math.PI</a:t>
            </a:r>
            <a:r>
              <a:rPr lang="en-IN" dirty="0"/>
              <a:t>); // x, y, radius, </a:t>
            </a:r>
            <a:r>
              <a:rPr lang="en-IN" dirty="0" err="1"/>
              <a:t>startAngle</a:t>
            </a:r>
            <a:r>
              <a:rPr lang="en-IN" dirty="0"/>
              <a:t>, </a:t>
            </a:r>
            <a:r>
              <a:rPr lang="en-IN" dirty="0" err="1"/>
              <a:t>endAngle</a:t>
            </a:r>
            <a:endParaRPr lang="en-IN" dirty="0"/>
          </a:p>
          <a:p>
            <a:r>
              <a:rPr lang="en-IN" dirty="0" err="1"/>
              <a:t>ctx.stroke</a:t>
            </a:r>
            <a:r>
              <a:rPr lang="en-IN" dirty="0"/>
              <a:t>();</a:t>
            </a:r>
          </a:p>
          <a:p>
            <a:pPr eaLnBrk="0" fontAlgn="base" hangingPunct="0">
              <a:spcBef>
                <a:spcPct val="0"/>
              </a:spcBef>
              <a:spcAft>
                <a:spcPct val="0"/>
              </a:spcAft>
              <a:buFontTx/>
              <a:buChar char="•"/>
            </a:pPr>
            <a:endParaRPr lang="en-US" altLang="en-US" dirty="0">
              <a:latin typeface="Arial" panose="020B0604020202020204" pitchFamily="34" charset="0"/>
            </a:endParaRPr>
          </a:p>
          <a:p>
            <a:pPr eaLnBrk="0" fontAlgn="base" hangingPunct="0">
              <a:spcBef>
                <a:spcPct val="0"/>
              </a:spcBef>
              <a:spcAft>
                <a:spcPct val="0"/>
              </a:spcAft>
            </a:pPr>
            <a:endParaRPr lang="en-US" altLang="en-US" dirty="0">
              <a:latin typeface="Arial" panose="020B0604020202020204" pitchFamily="34" charset="0"/>
            </a:endParaRPr>
          </a:p>
          <a:p>
            <a:endParaRPr lang="en-IN" dirty="0"/>
          </a:p>
          <a:p>
            <a:endParaRPr lang="en-IN" dirty="0"/>
          </a:p>
        </p:txBody>
      </p:sp>
      <p:sp>
        <p:nvSpPr>
          <p:cNvPr id="7" name="Rectangle 1">
            <a:extLst>
              <a:ext uri="{FF2B5EF4-FFF2-40B4-BE49-F238E27FC236}">
                <a16:creationId xmlns:a16="http://schemas.microsoft.com/office/drawing/2014/main" xmlns="" id="{59FD53A1-DB45-42DF-8261-A58382425D24}"/>
              </a:ext>
            </a:extLst>
          </p:cNvPr>
          <p:cNvSpPr>
            <a:spLocks noChangeArrowheads="1"/>
          </p:cNvSpPr>
          <p:nvPr/>
        </p:nvSpPr>
        <p:spPr bwMode="auto">
          <a:xfrm>
            <a:off x="5956738" y="4439825"/>
            <a:ext cx="3568262" cy="2092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600" b="1" dirty="0">
                <a:latin typeface="Arial" panose="020B0604020202020204" pitchFamily="34" charset="0"/>
              </a:rPr>
              <a:t>When to Use </a:t>
            </a:r>
            <a:r>
              <a:rPr lang="en-US" altLang="en-US" sz="1600" b="1" dirty="0">
                <a:latin typeface="Arial Unicode MS"/>
              </a:rPr>
              <a:t>&lt;canvas&gt;</a:t>
            </a:r>
            <a:endParaRPr lang="en-US" altLang="en-US" sz="1600" b="1" dirty="0"/>
          </a:p>
          <a:p>
            <a:pPr eaLnBrk="0" fontAlgn="base" hangingPunct="0">
              <a:spcBef>
                <a:spcPct val="0"/>
              </a:spcBef>
              <a:spcAft>
                <a:spcPct val="0"/>
              </a:spcAft>
            </a:pPr>
            <a:r>
              <a:rPr lang="en-US" altLang="en-US" sz="1600" dirty="0">
                <a:latin typeface="Arial" panose="020B0604020202020204" pitchFamily="34" charset="0"/>
              </a:rPr>
              <a:t>Use canvas when you need:</a:t>
            </a:r>
          </a:p>
          <a:p>
            <a:pPr eaLnBrk="0" fontAlgn="base" hangingPunct="0">
              <a:spcBef>
                <a:spcPct val="0"/>
              </a:spcBef>
              <a:spcAft>
                <a:spcPct val="0"/>
              </a:spcAft>
              <a:buFontTx/>
              <a:buChar char="•"/>
            </a:pPr>
            <a:r>
              <a:rPr lang="en-US" altLang="en-US" sz="1600" b="1" dirty="0">
                <a:latin typeface="Arial" panose="020B0604020202020204" pitchFamily="34" charset="0"/>
              </a:rPr>
              <a:t>Dynamic, pixel-based graphics</a:t>
            </a:r>
            <a:endParaRPr lang="en-US" altLang="en-US" sz="1600" dirty="0">
              <a:latin typeface="Arial" panose="020B0604020202020204" pitchFamily="34" charset="0"/>
            </a:endParaRPr>
          </a:p>
          <a:p>
            <a:pPr eaLnBrk="0" fontAlgn="base" hangingPunct="0">
              <a:spcBef>
                <a:spcPct val="0"/>
              </a:spcBef>
              <a:spcAft>
                <a:spcPct val="0"/>
              </a:spcAft>
              <a:buFontTx/>
              <a:buChar char="•"/>
            </a:pPr>
            <a:r>
              <a:rPr lang="en-US" altLang="en-US" sz="1600" b="1" dirty="0">
                <a:latin typeface="Arial" panose="020B0604020202020204" pitchFamily="34" charset="0"/>
              </a:rPr>
              <a:t>Games</a:t>
            </a:r>
            <a:endParaRPr lang="en-US" altLang="en-US" sz="1600" dirty="0">
              <a:latin typeface="Arial" panose="020B0604020202020204" pitchFamily="34" charset="0"/>
            </a:endParaRPr>
          </a:p>
          <a:p>
            <a:pPr eaLnBrk="0" fontAlgn="base" hangingPunct="0">
              <a:spcBef>
                <a:spcPct val="0"/>
              </a:spcBef>
              <a:spcAft>
                <a:spcPct val="0"/>
              </a:spcAft>
              <a:buFontTx/>
              <a:buChar char="•"/>
            </a:pPr>
            <a:r>
              <a:rPr lang="en-US" altLang="en-US" sz="1600" b="1" dirty="0">
                <a:latin typeface="Arial" panose="020B0604020202020204" pitchFamily="34" charset="0"/>
              </a:rPr>
              <a:t>Graphing/Charting</a:t>
            </a:r>
            <a:endParaRPr lang="en-US" altLang="en-US" sz="1600" dirty="0">
              <a:latin typeface="Arial" panose="020B0604020202020204" pitchFamily="34" charset="0"/>
            </a:endParaRPr>
          </a:p>
          <a:p>
            <a:pPr eaLnBrk="0" fontAlgn="base" hangingPunct="0">
              <a:spcBef>
                <a:spcPct val="0"/>
              </a:spcBef>
              <a:spcAft>
                <a:spcPct val="0"/>
              </a:spcAft>
              <a:buFontTx/>
              <a:buChar char="•"/>
            </a:pPr>
            <a:r>
              <a:rPr lang="en-US" altLang="en-US" sz="1600" b="1" dirty="0">
                <a:latin typeface="Arial" panose="020B0604020202020204" pitchFamily="34" charset="0"/>
              </a:rPr>
              <a:t>Image editing</a:t>
            </a:r>
            <a:endParaRPr lang="en-US" altLang="en-US" sz="1600" dirty="0">
              <a:latin typeface="Arial" panose="020B0604020202020204" pitchFamily="34" charset="0"/>
            </a:endParaRPr>
          </a:p>
          <a:p>
            <a:pPr eaLnBrk="0" fontAlgn="base" hangingPunct="0">
              <a:spcBef>
                <a:spcPct val="0"/>
              </a:spcBef>
              <a:spcAft>
                <a:spcPct val="0"/>
              </a:spcAft>
              <a:buFontTx/>
              <a:buChar char="•"/>
            </a:pPr>
            <a:r>
              <a:rPr lang="en-US" altLang="en-US" sz="1600" b="1" dirty="0">
                <a:latin typeface="Arial" panose="020B0604020202020204" pitchFamily="34" charset="0"/>
              </a:rPr>
              <a:t>Real-time visualizations</a:t>
            </a:r>
            <a:endParaRPr lang="en-US" altLang="en-US" sz="1600" dirty="0">
              <a:latin typeface="Arial" panose="020B0604020202020204" pitchFamily="34" charset="0"/>
            </a:endParaRPr>
          </a:p>
          <a:p>
            <a:pPr eaLnBrk="0" fontAlgn="base" hangingPunct="0">
              <a:spcBef>
                <a:spcPct val="0"/>
              </a:spcBef>
              <a:spcAft>
                <a:spcPct val="0"/>
              </a:spcAft>
            </a:pPr>
            <a:endParaRPr lang="en-US" altLang="en-US" dirty="0">
              <a:latin typeface="Arial" panose="020B0604020202020204" pitchFamily="34" charset="0"/>
            </a:endParaRPr>
          </a:p>
        </p:txBody>
      </p:sp>
    </p:spTree>
    <p:extLst>
      <p:ext uri="{BB962C8B-B14F-4D97-AF65-F5344CB8AC3E}">
        <p14:creationId xmlns:p14="http://schemas.microsoft.com/office/powerpoint/2010/main" val="141867594"/>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14324" y="1304925"/>
            <a:ext cx="12030076" cy="5162550"/>
          </a:xfrm>
        </p:spPr>
        <p:txBody>
          <a:bodyPr>
            <a:normAutofit/>
          </a:bodyPr>
          <a:lstStyle/>
          <a:p>
            <a:pPr algn="just" fontAlgn="base"/>
            <a:r>
              <a:rPr lang="en-US" b="1" dirty="0">
                <a:latin typeface="Times New Roman" panose="02020603050405020304" pitchFamily="18" charset="0"/>
                <a:cs typeface="Times New Roman" panose="02020603050405020304" pitchFamily="18" charset="0"/>
              </a:rPr>
              <a:t>HTML </a:t>
            </a:r>
            <a:r>
              <a:rPr lang="en-US" b="1" dirty="0" err="1">
                <a:latin typeface="Times New Roman" panose="02020603050405020304" pitchFamily="18" charset="0"/>
                <a:cs typeface="Times New Roman" panose="02020603050405020304" pitchFamily="18" charset="0"/>
              </a:rPr>
              <a:t>Geolocation</a:t>
            </a:r>
            <a:r>
              <a:rPr lang="en-US" dirty="0">
                <a:latin typeface="Times New Roman" panose="02020603050405020304" pitchFamily="18" charset="0"/>
                <a:cs typeface="Times New Roman" panose="02020603050405020304" pitchFamily="18" charset="0"/>
              </a:rPr>
              <a:t> is used to get the geographical position of a user. Due to privacy concerns, this position requires user approval.</a:t>
            </a:r>
            <a:r>
              <a:rPr lang="en-US" b="1" dirty="0">
                <a:latin typeface="Times New Roman" panose="02020603050405020304" pitchFamily="18" charset="0"/>
                <a:cs typeface="Times New Roman" panose="02020603050405020304" pitchFamily="18" charset="0"/>
              </a:rPr>
              <a:t> </a:t>
            </a:r>
            <a:endParaRPr lang="en-US" b="1" dirty="0" smtClean="0">
              <a:latin typeface="Times New Roman" panose="02020603050405020304" pitchFamily="18" charset="0"/>
              <a:cs typeface="Times New Roman" panose="02020603050405020304" pitchFamily="18" charset="0"/>
            </a:endParaRPr>
          </a:p>
          <a:p>
            <a:pPr algn="just" fontAlgn="base"/>
            <a:r>
              <a:rPr lang="en-US" b="1" dirty="0" smtClean="0">
                <a:latin typeface="Times New Roman" panose="02020603050405020304" pitchFamily="18" charset="0"/>
                <a:cs typeface="Times New Roman" panose="02020603050405020304" pitchFamily="18" charset="0"/>
              </a:rPr>
              <a:t>Geo-location</a:t>
            </a:r>
            <a:r>
              <a:rPr lang="en-US" dirty="0">
                <a:latin typeface="Times New Roman" panose="02020603050405020304" pitchFamily="18" charset="0"/>
                <a:cs typeface="Times New Roman" panose="02020603050405020304" pitchFamily="18" charset="0"/>
              </a:rPr>
              <a:t> in HTML5 is used to share the location with some websites and be aware of the exact location. It is mainly used for local businesses, and restaurants, or showing locations on the map. It uses JavaScript to give latitude and longitude to the backend server.</a:t>
            </a:r>
          </a:p>
          <a:p>
            <a:pPr algn="just" fontAlgn="base"/>
            <a:r>
              <a:rPr lang="en-US" dirty="0">
                <a:latin typeface="Times New Roman" panose="02020603050405020304" pitchFamily="18" charset="0"/>
                <a:cs typeface="Times New Roman" panose="02020603050405020304" pitchFamily="18" charset="0"/>
              </a:rPr>
              <a:t>Most browsers support </a:t>
            </a:r>
            <a:r>
              <a:rPr lang="en-US" dirty="0" err="1">
                <a:latin typeface="Times New Roman" panose="02020603050405020304" pitchFamily="18" charset="0"/>
                <a:cs typeface="Times New Roman" panose="02020603050405020304" pitchFamily="18" charset="0"/>
              </a:rPr>
              <a:t>Geolocation</a:t>
            </a:r>
            <a:r>
              <a:rPr lang="en-US" dirty="0">
                <a:latin typeface="Times New Roman" panose="02020603050405020304" pitchFamily="18" charset="0"/>
                <a:cs typeface="Times New Roman" panose="02020603050405020304" pitchFamily="18" charset="0"/>
              </a:rPr>
              <a:t> API. Geo-location API uses a global navigator object. </a:t>
            </a:r>
            <a:r>
              <a:rPr lang="en-US" b="1" dirty="0" smtClean="0">
                <a:latin typeface="Times New Roman" panose="02020603050405020304" pitchFamily="18" charset="0"/>
                <a:cs typeface="Times New Roman" panose="02020603050405020304" pitchFamily="18" charset="0"/>
              </a:rPr>
              <a:t>HTML </a:t>
            </a:r>
            <a:r>
              <a:rPr lang="en-US" b="1" dirty="0" err="1">
                <a:latin typeface="Times New Roman" panose="02020603050405020304" pitchFamily="18" charset="0"/>
                <a:cs typeface="Times New Roman" panose="02020603050405020304" pitchFamily="18" charset="0"/>
              </a:rPr>
              <a:t>Geolocation</a:t>
            </a:r>
            <a:r>
              <a:rPr lang="en-US" dirty="0">
                <a:latin typeface="Times New Roman" panose="02020603050405020304" pitchFamily="18" charset="0"/>
                <a:cs typeface="Times New Roman" panose="02020603050405020304" pitchFamily="18" charset="0"/>
              </a:rPr>
              <a:t>, various properties, methods &amp; their implementation through examples.</a:t>
            </a:r>
          </a:p>
          <a:p>
            <a:pPr algn="just">
              <a:lnSpc>
                <a:spcPct val="100000"/>
              </a:lnSpc>
            </a:pPr>
            <a:endParaRPr lang="en-US" dirty="0">
              <a:latin typeface="Times New Roman" panose="02020603050405020304" pitchFamily="18" charset="0"/>
              <a:cs typeface="Times New Roman" panose="02020603050405020304" pitchFamily="18" charset="0"/>
            </a:endParaRPr>
          </a:p>
        </p:txBody>
      </p:sp>
      <p:sp>
        <p:nvSpPr>
          <p:cNvPr id="4" name="Title 3"/>
          <p:cNvSpPr>
            <a:spLocks noGrp="1"/>
          </p:cNvSpPr>
          <p:nvPr>
            <p:ph type="title"/>
          </p:nvPr>
        </p:nvSpPr>
        <p:spPr>
          <a:xfrm>
            <a:off x="542925" y="-20638"/>
            <a:ext cx="10515600" cy="1325563"/>
          </a:xfrm>
        </p:spPr>
        <p:txBody>
          <a:bodyPr/>
          <a:lstStyle/>
          <a:p>
            <a:r>
              <a:rPr lang="en-IN" dirty="0" err="1">
                <a:solidFill>
                  <a:srgbClr val="FF0000"/>
                </a:solidFill>
                <a:latin typeface="Times New Roman" panose="02020603050405020304" pitchFamily="18" charset="0"/>
                <a:cs typeface="Times New Roman" panose="02020603050405020304" pitchFamily="18" charset="0"/>
              </a:rPr>
              <a:t>Geolocations</a:t>
            </a:r>
            <a:endParaRPr lang="en-US"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8602358"/>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61924" y="400050"/>
            <a:ext cx="12030076" cy="6629400"/>
          </a:xfrm>
        </p:spPr>
        <p:txBody>
          <a:bodyPr>
            <a:noAutofit/>
          </a:bodyPr>
          <a:lstStyle/>
          <a:p>
            <a:pPr marL="0" indent="0" algn="just">
              <a:lnSpc>
                <a:spcPct val="100000"/>
              </a:lnSpc>
              <a:buNone/>
            </a:pPr>
            <a:r>
              <a:rPr lang="en-US" sz="2400" dirty="0">
                <a:latin typeface="Times New Roman" panose="02020603050405020304" pitchFamily="18" charset="0"/>
                <a:cs typeface="Times New Roman" panose="02020603050405020304" pitchFamily="18" charset="0"/>
              </a:rPr>
              <a:t>&lt;script&gt;</a:t>
            </a:r>
          </a:p>
          <a:p>
            <a:pPr marL="0" indent="0" algn="just">
              <a:lnSpc>
                <a:spcPct val="100000"/>
              </a:lnSpc>
              <a:buNone/>
            </a:pPr>
            <a:r>
              <a:rPr lang="en-US" sz="2400" dirty="0" err="1">
                <a:latin typeface="Times New Roman" panose="02020603050405020304" pitchFamily="18" charset="0"/>
                <a:cs typeface="Times New Roman" panose="02020603050405020304" pitchFamily="18" charset="0"/>
              </a:rPr>
              <a:t>const</a:t>
            </a:r>
            <a:r>
              <a:rPr lang="en-US" sz="2400" dirty="0">
                <a:latin typeface="Times New Roman" panose="02020603050405020304" pitchFamily="18" charset="0"/>
                <a:cs typeface="Times New Roman" panose="02020603050405020304" pitchFamily="18" charset="0"/>
              </a:rPr>
              <a:t> x = </a:t>
            </a:r>
            <a:r>
              <a:rPr lang="en-US" sz="2400" dirty="0" err="1">
                <a:latin typeface="Times New Roman" panose="02020603050405020304" pitchFamily="18" charset="0"/>
                <a:cs typeface="Times New Roman" panose="02020603050405020304" pitchFamily="18" charset="0"/>
              </a:rPr>
              <a:t>document.getElementById</a:t>
            </a:r>
            <a:r>
              <a:rPr lang="en-US" sz="2400" dirty="0">
                <a:latin typeface="Times New Roman" panose="02020603050405020304" pitchFamily="18" charset="0"/>
                <a:cs typeface="Times New Roman" panose="02020603050405020304" pitchFamily="18" charset="0"/>
              </a:rPr>
              <a:t>("demo");</a:t>
            </a:r>
          </a:p>
          <a:p>
            <a:pPr marL="0" indent="0" algn="just">
              <a:lnSpc>
                <a:spcPct val="100000"/>
              </a:lnSpc>
              <a:buNone/>
            </a:pPr>
            <a:r>
              <a:rPr lang="en-US" sz="2400" dirty="0" smtClean="0">
                <a:latin typeface="Times New Roman" panose="02020603050405020304" pitchFamily="18" charset="0"/>
                <a:cs typeface="Times New Roman" panose="02020603050405020304" pitchFamily="18" charset="0"/>
              </a:rPr>
              <a:t>function </a:t>
            </a:r>
            <a:r>
              <a:rPr lang="en-US" sz="2400" dirty="0" err="1">
                <a:latin typeface="Times New Roman" panose="02020603050405020304" pitchFamily="18" charset="0"/>
                <a:cs typeface="Times New Roman" panose="02020603050405020304" pitchFamily="18" charset="0"/>
              </a:rPr>
              <a:t>getLocation</a:t>
            </a:r>
            <a:r>
              <a:rPr lang="en-US" sz="2400" dirty="0">
                <a:latin typeface="Times New Roman" panose="02020603050405020304" pitchFamily="18" charset="0"/>
                <a:cs typeface="Times New Roman" panose="02020603050405020304" pitchFamily="18" charset="0"/>
              </a:rPr>
              <a:t>() {</a:t>
            </a:r>
          </a:p>
          <a:p>
            <a:pPr marL="0" indent="0" algn="just">
              <a:lnSpc>
                <a:spcPct val="100000"/>
              </a:lnSpc>
              <a:buNone/>
            </a:pPr>
            <a:r>
              <a:rPr lang="en-US" sz="2400" dirty="0">
                <a:latin typeface="Times New Roman" panose="02020603050405020304" pitchFamily="18" charset="0"/>
                <a:cs typeface="Times New Roman" panose="02020603050405020304" pitchFamily="18" charset="0"/>
              </a:rPr>
              <a:t>  if (</a:t>
            </a:r>
            <a:r>
              <a:rPr lang="en-US" sz="2400" dirty="0" err="1">
                <a:latin typeface="Times New Roman" panose="02020603050405020304" pitchFamily="18" charset="0"/>
                <a:cs typeface="Times New Roman" panose="02020603050405020304" pitchFamily="18" charset="0"/>
              </a:rPr>
              <a:t>navigator.geolocation</a:t>
            </a:r>
            <a:r>
              <a:rPr lang="en-US" sz="2400" dirty="0">
                <a:latin typeface="Times New Roman" panose="02020603050405020304" pitchFamily="18" charset="0"/>
                <a:cs typeface="Times New Roman" panose="02020603050405020304" pitchFamily="18" charset="0"/>
              </a:rPr>
              <a:t>) {</a:t>
            </a:r>
          </a:p>
          <a:p>
            <a:pPr marL="0" indent="0" algn="just">
              <a:lnSpc>
                <a:spcPct val="100000"/>
              </a:lnSpc>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navigator.geolocation.getCurrentPosition</a:t>
            </a:r>
            <a:r>
              <a:rPr lang="en-US" sz="2400" dirty="0">
                <a:latin typeface="Times New Roman" panose="02020603050405020304" pitchFamily="18" charset="0"/>
                <a:cs typeface="Times New Roman" panose="02020603050405020304" pitchFamily="18" charset="0"/>
              </a:rPr>
              <a:t>(success, error);</a:t>
            </a:r>
          </a:p>
          <a:p>
            <a:pPr marL="0" indent="0" algn="just">
              <a:lnSpc>
                <a:spcPct val="100000"/>
              </a:lnSpc>
              <a:buNone/>
            </a:pPr>
            <a:r>
              <a:rPr lang="en-US" sz="2400" dirty="0">
                <a:latin typeface="Times New Roman" panose="02020603050405020304" pitchFamily="18" charset="0"/>
                <a:cs typeface="Times New Roman" panose="02020603050405020304" pitchFamily="18" charset="0"/>
              </a:rPr>
              <a:t>  } else { </a:t>
            </a:r>
          </a:p>
          <a:p>
            <a:pPr marL="0" indent="0" algn="just">
              <a:lnSpc>
                <a:spcPct val="100000"/>
              </a:lnSpc>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x.innerHTML</a:t>
            </a: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Geolocation</a:t>
            </a:r>
            <a:r>
              <a:rPr lang="en-US" sz="2400" dirty="0">
                <a:latin typeface="Times New Roman" panose="02020603050405020304" pitchFamily="18" charset="0"/>
                <a:cs typeface="Times New Roman" panose="02020603050405020304" pitchFamily="18" charset="0"/>
              </a:rPr>
              <a:t> is not supported by this browser.";</a:t>
            </a:r>
          </a:p>
          <a:p>
            <a:pPr marL="0" indent="0" algn="just">
              <a:lnSpc>
                <a:spcPct val="100000"/>
              </a:lnSpc>
              <a:buNone/>
            </a:pPr>
            <a:r>
              <a:rPr lang="en-US" sz="2400" dirty="0">
                <a:latin typeface="Times New Roman" panose="02020603050405020304" pitchFamily="18" charset="0"/>
                <a:cs typeface="Times New Roman" panose="02020603050405020304" pitchFamily="18" charset="0"/>
              </a:rPr>
              <a:t>  }</a:t>
            </a:r>
          </a:p>
          <a:p>
            <a:pPr marL="0" indent="0" algn="just">
              <a:lnSpc>
                <a:spcPct val="100000"/>
              </a:lnSpc>
              <a:buNone/>
            </a:pPr>
            <a:r>
              <a:rPr lang="en-US" sz="2400" dirty="0">
                <a:latin typeface="Times New Roman" panose="02020603050405020304" pitchFamily="18" charset="0"/>
                <a:cs typeface="Times New Roman" panose="02020603050405020304" pitchFamily="18" charset="0"/>
              </a:rPr>
              <a:t>}</a:t>
            </a:r>
          </a:p>
          <a:p>
            <a:pPr marL="0" indent="0" algn="just">
              <a:lnSpc>
                <a:spcPct val="100000"/>
              </a:lnSpc>
              <a:buNone/>
            </a:pPr>
            <a:r>
              <a:rPr lang="en-US" sz="2400" dirty="0" smtClean="0">
                <a:latin typeface="Times New Roman" panose="02020603050405020304" pitchFamily="18" charset="0"/>
                <a:cs typeface="Times New Roman" panose="02020603050405020304" pitchFamily="18" charset="0"/>
              </a:rPr>
              <a:t>function </a:t>
            </a:r>
            <a:r>
              <a:rPr lang="en-US" sz="2400" dirty="0">
                <a:latin typeface="Times New Roman" panose="02020603050405020304" pitchFamily="18" charset="0"/>
                <a:cs typeface="Times New Roman" panose="02020603050405020304" pitchFamily="18" charset="0"/>
              </a:rPr>
              <a:t>success(position) {</a:t>
            </a:r>
          </a:p>
          <a:p>
            <a:pPr marL="0" indent="0" algn="just">
              <a:lnSpc>
                <a:spcPct val="100000"/>
              </a:lnSpc>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x.innerHTML</a:t>
            </a:r>
            <a:r>
              <a:rPr lang="en-US" sz="2400" dirty="0">
                <a:latin typeface="Times New Roman" panose="02020603050405020304" pitchFamily="18" charset="0"/>
                <a:cs typeface="Times New Roman" panose="02020603050405020304" pitchFamily="18" charset="0"/>
              </a:rPr>
              <a:t> = "Latitude: " + </a:t>
            </a:r>
            <a:r>
              <a:rPr lang="en-US" sz="2400" dirty="0" err="1">
                <a:latin typeface="Times New Roman" panose="02020603050405020304" pitchFamily="18" charset="0"/>
                <a:cs typeface="Times New Roman" panose="02020603050405020304" pitchFamily="18" charset="0"/>
              </a:rPr>
              <a:t>position.coords.latitude</a:t>
            </a:r>
            <a:r>
              <a:rPr lang="en-US" sz="2400" dirty="0">
                <a:latin typeface="Times New Roman" panose="02020603050405020304" pitchFamily="18" charset="0"/>
                <a:cs typeface="Times New Roman" panose="02020603050405020304" pitchFamily="18" charset="0"/>
              </a:rPr>
              <a:t> + </a:t>
            </a:r>
          </a:p>
          <a:p>
            <a:pPr marL="0" indent="0" algn="just">
              <a:lnSpc>
                <a:spcPct val="100000"/>
              </a:lnSpc>
              <a:buNone/>
            </a:pPr>
            <a:r>
              <a:rPr lang="en-US" sz="2400" dirty="0">
                <a:latin typeface="Times New Roman" panose="02020603050405020304" pitchFamily="18" charset="0"/>
                <a:cs typeface="Times New Roman" panose="02020603050405020304" pitchFamily="18" charset="0"/>
              </a:rPr>
              <a:t>  "&lt;</a:t>
            </a:r>
            <a:r>
              <a:rPr lang="en-US" sz="2400" dirty="0" err="1">
                <a:latin typeface="Times New Roman" panose="02020603050405020304" pitchFamily="18" charset="0"/>
                <a:cs typeface="Times New Roman" panose="02020603050405020304" pitchFamily="18" charset="0"/>
              </a:rPr>
              <a:t>br</a:t>
            </a:r>
            <a:r>
              <a:rPr lang="en-US" sz="2400" dirty="0">
                <a:latin typeface="Times New Roman" panose="02020603050405020304" pitchFamily="18" charset="0"/>
                <a:cs typeface="Times New Roman" panose="02020603050405020304" pitchFamily="18" charset="0"/>
              </a:rPr>
              <a:t>&gt;Longitude: " + </a:t>
            </a:r>
            <a:r>
              <a:rPr lang="en-US" sz="2400" dirty="0" err="1">
                <a:latin typeface="Times New Roman" panose="02020603050405020304" pitchFamily="18" charset="0"/>
                <a:cs typeface="Times New Roman" panose="02020603050405020304" pitchFamily="18" charset="0"/>
              </a:rPr>
              <a:t>position.coords.longitude</a:t>
            </a:r>
            <a:r>
              <a:rPr lang="en-US" sz="2400" dirty="0">
                <a:latin typeface="Times New Roman" panose="02020603050405020304" pitchFamily="18" charset="0"/>
                <a:cs typeface="Times New Roman" panose="02020603050405020304" pitchFamily="18" charset="0"/>
              </a:rPr>
              <a:t>;</a:t>
            </a:r>
          </a:p>
          <a:p>
            <a:pPr marL="0" indent="0" algn="just">
              <a:lnSpc>
                <a:spcPct val="100000"/>
              </a:lnSpc>
              <a:buNone/>
            </a:pPr>
            <a:r>
              <a:rPr lang="en-US" sz="2400" dirty="0" smtClean="0">
                <a:latin typeface="Times New Roman" panose="02020603050405020304" pitchFamily="18" charset="0"/>
                <a:cs typeface="Times New Roman" panose="02020603050405020304" pitchFamily="18" charset="0"/>
              </a:rPr>
              <a:t>}&lt;/script&gt;</a:t>
            </a:r>
            <a:endParaRPr lang="en-US" sz="2400" dirty="0">
              <a:latin typeface="Times New Roman" panose="02020603050405020304" pitchFamily="18" charset="0"/>
              <a:cs typeface="Times New Roman" panose="02020603050405020304" pitchFamily="18" charset="0"/>
            </a:endParaRPr>
          </a:p>
          <a:p>
            <a:pPr marL="0" indent="0" algn="just">
              <a:lnSpc>
                <a:spcPct val="100000"/>
              </a:lnSpc>
              <a:buNone/>
            </a:pPr>
            <a:endParaRPr lang="en-US" sz="2400" dirty="0">
              <a:latin typeface="Times New Roman" panose="02020603050405020304" pitchFamily="18" charset="0"/>
              <a:cs typeface="Times New Roman" panose="02020603050405020304" pitchFamily="18" charset="0"/>
            </a:endParaRPr>
          </a:p>
        </p:txBody>
      </p:sp>
      <p:sp>
        <p:nvSpPr>
          <p:cNvPr id="4" name="Title 3"/>
          <p:cNvSpPr>
            <a:spLocks noGrp="1"/>
          </p:cNvSpPr>
          <p:nvPr>
            <p:ph type="title"/>
          </p:nvPr>
        </p:nvSpPr>
        <p:spPr>
          <a:xfrm>
            <a:off x="447674" y="-525463"/>
            <a:ext cx="10515600" cy="1325563"/>
          </a:xfrm>
        </p:spPr>
        <p:txBody>
          <a:bodyPr/>
          <a:lstStyle/>
          <a:p>
            <a:r>
              <a:rPr lang="en-IN" dirty="0" err="1">
                <a:solidFill>
                  <a:srgbClr val="FF0000"/>
                </a:solidFill>
                <a:latin typeface="Times New Roman" panose="02020603050405020304" pitchFamily="18" charset="0"/>
                <a:cs typeface="Times New Roman" panose="02020603050405020304" pitchFamily="18" charset="0"/>
              </a:rPr>
              <a:t>Geolocations</a:t>
            </a:r>
            <a:endParaRPr lang="en-US"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6869970"/>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sz="quarter" idx="1"/>
          </p:nvPr>
        </p:nvPicPr>
        <p:blipFill>
          <a:blip r:embed="rId2"/>
          <a:stretch>
            <a:fillRect/>
          </a:stretch>
        </p:blipFill>
        <p:spPr>
          <a:xfrm>
            <a:off x="2152387" y="1080921"/>
            <a:ext cx="7705988" cy="4857699"/>
          </a:xfrm>
          <a:prstGeom prst="rect">
            <a:avLst/>
          </a:prstGeom>
        </p:spPr>
      </p:pic>
      <p:sp>
        <p:nvSpPr>
          <p:cNvPr id="4" name="Title 3"/>
          <p:cNvSpPr>
            <a:spLocks noGrp="1"/>
          </p:cNvSpPr>
          <p:nvPr>
            <p:ph type="title"/>
          </p:nvPr>
        </p:nvSpPr>
        <p:spPr>
          <a:xfrm>
            <a:off x="542925" y="-20638"/>
            <a:ext cx="10515600" cy="1325563"/>
          </a:xfrm>
        </p:spPr>
        <p:txBody>
          <a:bodyPr/>
          <a:lstStyle/>
          <a:p>
            <a:r>
              <a:rPr lang="en-IN" dirty="0" err="1">
                <a:solidFill>
                  <a:srgbClr val="FF0000"/>
                </a:solidFill>
                <a:latin typeface="Times New Roman" panose="02020603050405020304" pitchFamily="18" charset="0"/>
                <a:cs typeface="Times New Roman" panose="02020603050405020304" pitchFamily="18" charset="0"/>
              </a:rPr>
              <a:t>Geolocations</a:t>
            </a:r>
            <a:endParaRPr lang="en-US"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953958"/>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42925" y="-20638"/>
            <a:ext cx="10515600" cy="1325563"/>
          </a:xfrm>
        </p:spPr>
        <p:txBody>
          <a:bodyPr/>
          <a:lstStyle/>
          <a:p>
            <a:r>
              <a:rPr lang="en-IN" dirty="0" smtClean="0">
                <a:solidFill>
                  <a:srgbClr val="FF0000"/>
                </a:solidFill>
                <a:latin typeface="Times New Roman" panose="02020603050405020304" pitchFamily="18" charset="0"/>
                <a:cs typeface="Times New Roman" panose="02020603050405020304" pitchFamily="18" charset="0"/>
              </a:rPr>
              <a:t>Semantic Elements</a:t>
            </a:r>
            <a:endParaRPr lang="en-US" dirty="0">
              <a:solidFill>
                <a:srgbClr val="FF0000"/>
              </a:solidFill>
              <a:latin typeface="Times New Roman" panose="02020603050405020304" pitchFamily="18" charset="0"/>
              <a:cs typeface="Times New Roman" panose="02020603050405020304" pitchFamily="18" charset="0"/>
            </a:endParaRPr>
          </a:p>
        </p:txBody>
      </p:sp>
      <p:pic>
        <p:nvPicPr>
          <p:cNvPr id="5" name="Content Placeholder 4"/>
          <p:cNvPicPr>
            <a:picLocks noGrp="1" noChangeAspect="1"/>
          </p:cNvPicPr>
          <p:nvPr>
            <p:ph idx="1"/>
          </p:nvPr>
        </p:nvPicPr>
        <p:blipFill>
          <a:blip r:embed="rId2"/>
          <a:stretch>
            <a:fillRect/>
          </a:stretch>
        </p:blipFill>
        <p:spPr>
          <a:xfrm>
            <a:off x="542925" y="1060188"/>
            <a:ext cx="11534775" cy="5871803"/>
          </a:xfrm>
          <a:prstGeom prst="rect">
            <a:avLst/>
          </a:prstGeom>
        </p:spPr>
      </p:pic>
    </p:spTree>
    <p:extLst>
      <p:ext uri="{BB962C8B-B14F-4D97-AF65-F5344CB8AC3E}">
        <p14:creationId xmlns:p14="http://schemas.microsoft.com/office/powerpoint/2010/main" val="3488092397"/>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How CSS is different from HTML?</a:t>
            </a:r>
            <a:br>
              <a:rPr lang="en-US" smtClean="0"/>
            </a:br>
            <a:endParaRPr lang="en-US"/>
          </a:p>
        </p:txBody>
      </p:sp>
      <p:sp>
        <p:nvSpPr>
          <p:cNvPr id="3" name="Content Placeholder 2"/>
          <p:cNvSpPr>
            <a:spLocks noGrp="1"/>
          </p:cNvSpPr>
          <p:nvPr>
            <p:ph idx="1"/>
          </p:nvPr>
        </p:nvSpPr>
        <p:spPr>
          <a:xfrm>
            <a:off x="838200" y="1406525"/>
            <a:ext cx="10515600" cy="4351338"/>
          </a:xfrm>
        </p:spPr>
        <p:txBody>
          <a:bodyPr>
            <a:normAutofit/>
          </a:bodyPr>
          <a:lstStyle/>
          <a:p>
            <a:pPr lvl="0" algn="just"/>
            <a:r>
              <a:rPr lang="en-US" dirty="0" smtClean="0">
                <a:latin typeface="Times New Roman" panose="02020603050405020304" pitchFamily="18" charset="0"/>
                <a:cs typeface="Times New Roman" panose="02020603050405020304" pitchFamily="18" charset="0"/>
              </a:rPr>
              <a:t>HTML is used to define a structure of a web page whereas CSS is used to style of the web pages by using different styling features.</a:t>
            </a:r>
          </a:p>
          <a:p>
            <a:pPr lvl="0" algn="just"/>
            <a:r>
              <a:rPr lang="en-US" dirty="0" smtClean="0">
                <a:latin typeface="Times New Roman" panose="02020603050405020304" pitchFamily="18" charset="0"/>
                <a:cs typeface="Times New Roman" panose="02020603050405020304" pitchFamily="18" charset="0"/>
              </a:rPr>
              <a:t>HTML consists of tags inside which text is enclosed and CSS consists of selectors and declaration blocks.</a:t>
            </a:r>
          </a:p>
          <a:p>
            <a:pPr lvl="0" algn="just"/>
            <a:r>
              <a:rPr lang="en-US" dirty="0" smtClean="0">
                <a:latin typeface="Times New Roman" panose="02020603050405020304" pitchFamily="18" charset="0"/>
                <a:cs typeface="Times New Roman" panose="02020603050405020304" pitchFamily="18" charset="0"/>
              </a:rPr>
              <a:t>CSS can be internal or external depending upon the requirement.</a:t>
            </a:r>
          </a:p>
          <a:p>
            <a:pPr lvl="0" algn="just"/>
            <a:r>
              <a:rPr lang="en-US" dirty="0" smtClean="0">
                <a:latin typeface="Times New Roman" panose="02020603050405020304" pitchFamily="18" charset="0"/>
                <a:cs typeface="Times New Roman" panose="02020603050405020304" pitchFamily="18" charset="0"/>
              </a:rPr>
              <a:t>We cannot use HTML inside a CSS sheet but we can use CSS inside an HTML document.</a:t>
            </a:r>
          </a:p>
          <a:p>
            <a:pPr lvl="0" algn="just"/>
            <a:r>
              <a:rPr lang="en-US" dirty="0" smtClean="0">
                <a:latin typeface="Times New Roman" panose="02020603050405020304" pitchFamily="18" charset="0"/>
                <a:cs typeface="Times New Roman" panose="02020603050405020304" pitchFamily="18" charset="0"/>
              </a:rPr>
              <a:t>CSS has comparatively higher backup and support than HTML.</a:t>
            </a:r>
          </a:p>
          <a:p>
            <a:pPr algn="just"/>
            <a:endParaRPr lang="en-US" dirty="0">
              <a:latin typeface="Times New Roman" panose="02020603050405020304" pitchFamily="18" charset="0"/>
              <a:cs typeface="Times New Roman" panose="02020603050405020304" pitchFamily="18" charset="0"/>
            </a:endParaRPr>
          </a:p>
        </p:txBody>
      </p:sp>
      <p:sp>
        <p:nvSpPr>
          <p:cNvPr id="5" name="Footer Placeholder 4"/>
          <p:cNvSpPr>
            <a:spLocks noGrp="1"/>
          </p:cNvSpPr>
          <p:nvPr>
            <p:ph type="ftr" sz="quarter" idx="4294967295"/>
          </p:nvPr>
        </p:nvSpPr>
        <p:spPr>
          <a:xfrm>
            <a:off x="0" y="6356350"/>
            <a:ext cx="4114800" cy="365125"/>
          </a:xfrm>
        </p:spPr>
        <p:txBody>
          <a:bodyPr/>
          <a:lstStyle/>
          <a:p>
            <a:pPr>
              <a:defRPr/>
            </a:pPr>
            <a:r>
              <a:rPr lang="en-IN" dirty="0" smtClean="0"/>
              <a:t> </a:t>
            </a:r>
            <a:endParaRPr lang="en-IN" dirty="0"/>
          </a:p>
        </p:txBody>
      </p:sp>
    </p:spTree>
    <p:extLst>
      <p:ext uri="{BB962C8B-B14F-4D97-AF65-F5344CB8AC3E}">
        <p14:creationId xmlns:p14="http://schemas.microsoft.com/office/powerpoint/2010/main" val="16654834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8240" y="274637"/>
            <a:ext cx="9909845" cy="502603"/>
          </a:xfrm>
        </p:spPr>
        <p:txBody>
          <a:bodyPr>
            <a:normAutofit fontScale="90000"/>
          </a:bodyPr>
          <a:lstStyle/>
          <a:p>
            <a:r>
              <a:rPr lang="en-US" smtClean="0"/>
              <a:t>CSS Syntax</a:t>
            </a:r>
            <a:br>
              <a:rPr lang="en-US" smtClean="0"/>
            </a:br>
            <a:endParaRPr lang="en-US"/>
          </a:p>
        </p:txBody>
      </p:sp>
      <p:sp>
        <p:nvSpPr>
          <p:cNvPr id="5" name="Footer Placeholder 4"/>
          <p:cNvSpPr>
            <a:spLocks noGrp="1"/>
          </p:cNvSpPr>
          <p:nvPr>
            <p:ph type="ftr" sz="quarter" idx="4294967295"/>
          </p:nvPr>
        </p:nvSpPr>
        <p:spPr>
          <a:xfrm>
            <a:off x="4038600" y="6356350"/>
            <a:ext cx="4114800" cy="365125"/>
          </a:xfrm>
        </p:spPr>
        <p:txBody>
          <a:bodyPr/>
          <a:lstStyle/>
          <a:p>
            <a:pPr>
              <a:defRPr/>
            </a:pPr>
            <a:r>
              <a:rPr lang="en-IN" dirty="0" smtClean="0"/>
              <a:t> </a:t>
            </a:r>
            <a:endParaRPr lang="en-IN" dirty="0"/>
          </a:p>
        </p:txBody>
      </p:sp>
      <p:pic>
        <p:nvPicPr>
          <p:cNvPr id="7" name="Picture 4"/>
          <p:cNvPicPr>
            <a:picLocks noGrp="1" noChangeAspect="1" noChangeArrowheads="1"/>
          </p:cNvPicPr>
          <p:nvPr>
            <p:ph idx="1"/>
          </p:nvPr>
        </p:nvPicPr>
        <p:blipFill>
          <a:blip r:embed="rId2"/>
          <a:srcRect/>
          <a:stretch>
            <a:fillRect/>
          </a:stretch>
        </p:blipFill>
        <p:spPr bwMode="auto">
          <a:xfrm>
            <a:off x="2621280" y="1508760"/>
            <a:ext cx="6606540" cy="1485900"/>
          </a:xfrm>
          <a:prstGeom prst="rect">
            <a:avLst/>
          </a:prstGeom>
          <a:noFill/>
          <a:ln w="9525">
            <a:noFill/>
            <a:miter lim="800000"/>
            <a:headEnd/>
            <a:tailEnd/>
          </a:ln>
          <a:effectLst/>
        </p:spPr>
      </p:pic>
      <p:sp>
        <p:nvSpPr>
          <p:cNvPr id="8" name="Rectangle 7"/>
          <p:cNvSpPr/>
          <p:nvPr/>
        </p:nvSpPr>
        <p:spPr>
          <a:xfrm>
            <a:off x="1341120" y="868680"/>
            <a:ext cx="8046720" cy="424732"/>
          </a:xfrm>
          <a:prstGeom prst="rect">
            <a:avLst/>
          </a:prstGeom>
        </p:spPr>
        <p:txBody>
          <a:bodyPr wrap="square">
            <a:spAutoFit/>
          </a:bodyPr>
          <a:lstStyle/>
          <a:p>
            <a:r>
              <a:rPr lang="en-US" sz="2160"/>
              <a:t>A CSS rule consists of a selector and a declaration block</a:t>
            </a:r>
          </a:p>
        </p:txBody>
      </p:sp>
      <p:sp>
        <p:nvSpPr>
          <p:cNvPr id="9" name="Rectangle 8"/>
          <p:cNvSpPr/>
          <p:nvPr/>
        </p:nvSpPr>
        <p:spPr>
          <a:xfrm>
            <a:off x="1432560" y="3154680"/>
            <a:ext cx="9326880" cy="2529923"/>
          </a:xfrm>
          <a:prstGeom prst="rect">
            <a:avLst/>
          </a:prstGeom>
        </p:spPr>
        <p:txBody>
          <a:bodyPr wrap="square">
            <a:spAutoFit/>
          </a:bodyPr>
          <a:lstStyle/>
          <a:p>
            <a:pPr algn="just"/>
            <a:r>
              <a:rPr lang="en-US" sz="2640" dirty="0">
                <a:latin typeface="Times New Roman" panose="02020603050405020304" pitchFamily="18" charset="0"/>
                <a:cs typeface="Times New Roman" panose="02020603050405020304" pitchFamily="18" charset="0"/>
              </a:rPr>
              <a:t>The selector points to the HTML element you want to style</a:t>
            </a:r>
          </a:p>
          <a:p>
            <a:pPr algn="just"/>
            <a:r>
              <a:rPr lang="en-US" sz="2640" dirty="0">
                <a:latin typeface="Times New Roman" panose="02020603050405020304" pitchFamily="18" charset="0"/>
                <a:cs typeface="Times New Roman" panose="02020603050405020304" pitchFamily="18" charset="0"/>
              </a:rPr>
              <a:t>The declaration block contains one or more declarations</a:t>
            </a:r>
          </a:p>
          <a:p>
            <a:pPr algn="just"/>
            <a:r>
              <a:rPr lang="en-US" sz="2640" dirty="0">
                <a:latin typeface="Times New Roman" panose="02020603050405020304" pitchFamily="18" charset="0"/>
                <a:cs typeface="Times New Roman" panose="02020603050405020304" pitchFamily="18" charset="0"/>
              </a:rPr>
              <a:t>Each declaration includes a CSS property name and a value, separated by a colon</a:t>
            </a:r>
          </a:p>
          <a:p>
            <a:pPr algn="just"/>
            <a:r>
              <a:rPr lang="en-US" sz="2640" dirty="0">
                <a:latin typeface="Times New Roman" panose="02020603050405020304" pitchFamily="18" charset="0"/>
                <a:cs typeface="Times New Roman" panose="02020603050405020304" pitchFamily="18" charset="0"/>
              </a:rPr>
              <a:t>Multiple CSS declarations are separated with semicolons, and declaration blocks are surrounded by curly braces</a:t>
            </a:r>
          </a:p>
        </p:txBody>
      </p:sp>
    </p:spTree>
    <p:extLst>
      <p:ext uri="{BB962C8B-B14F-4D97-AF65-F5344CB8AC3E}">
        <p14:creationId xmlns:p14="http://schemas.microsoft.com/office/powerpoint/2010/main" val="17683314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CSS (Cascading Style Sheets) </a:t>
            </a:r>
          </a:p>
        </p:txBody>
      </p:sp>
      <p:sp>
        <p:nvSpPr>
          <p:cNvPr id="3" name="Content Placeholder 2"/>
          <p:cNvSpPr>
            <a:spLocks noGrp="1"/>
          </p:cNvSpPr>
          <p:nvPr>
            <p:ph idx="1"/>
          </p:nvPr>
        </p:nvSpPr>
        <p:spPr/>
        <p:txBody>
          <a:bodyPr/>
          <a:lstStyle/>
          <a:p>
            <a:pPr algn="just">
              <a:buNone/>
            </a:pPr>
            <a:r>
              <a:rPr lang="en-US" b="1" dirty="0">
                <a:latin typeface="Times New Roman" panose="02020603050405020304" pitchFamily="18" charset="0"/>
                <a:cs typeface="Times New Roman" panose="02020603050405020304" pitchFamily="18" charset="0"/>
              </a:rPr>
              <a:t>     CSS (Cascading Style Sheets)</a:t>
            </a:r>
            <a:r>
              <a:rPr lang="en-US" dirty="0">
                <a:latin typeface="Times New Roman" panose="02020603050405020304" pitchFamily="18" charset="0"/>
                <a:cs typeface="Times New Roman" panose="02020603050405020304" pitchFamily="18" charset="0"/>
              </a:rPr>
              <a:t> is a style sheet language used to design a webpage to make it attractive. The reason for using this is to simplify the process of making web pages presentable. It allows you to apply styles on web pages.</a:t>
            </a:r>
          </a:p>
          <a:p>
            <a:pPr algn="just">
              <a:buNone/>
            </a:pPr>
            <a:endParaRPr lang="en-US" dirty="0">
              <a:latin typeface="Times New Roman" panose="02020603050405020304" pitchFamily="18" charset="0"/>
              <a:cs typeface="Times New Roman" panose="02020603050405020304" pitchFamily="18" charset="0"/>
            </a:endParaRPr>
          </a:p>
        </p:txBody>
      </p:sp>
      <p:sp>
        <p:nvSpPr>
          <p:cNvPr id="5" name="Footer Placeholder 4"/>
          <p:cNvSpPr>
            <a:spLocks noGrp="1"/>
          </p:cNvSpPr>
          <p:nvPr>
            <p:ph type="ftr" sz="quarter" idx="4294967295"/>
          </p:nvPr>
        </p:nvSpPr>
        <p:spPr>
          <a:xfrm>
            <a:off x="4038600" y="6356350"/>
            <a:ext cx="4114800" cy="365125"/>
          </a:xfrm>
        </p:spPr>
        <p:txBody>
          <a:bodyPr/>
          <a:lstStyle/>
          <a:p>
            <a:pPr>
              <a:defRPr/>
            </a:pPr>
            <a:r>
              <a:rPr lang="en-IN" dirty="0" smtClean="0"/>
              <a:t> </a:t>
            </a:r>
            <a:endParaRPr lang="en-IN" dirty="0"/>
          </a:p>
        </p:txBody>
      </p:sp>
    </p:spTree>
    <p:extLst>
      <p:ext uri="{BB962C8B-B14F-4D97-AF65-F5344CB8AC3E}">
        <p14:creationId xmlns:p14="http://schemas.microsoft.com/office/powerpoint/2010/main" val="29367407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CSS</a:t>
            </a:r>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12720" y="1417320"/>
            <a:ext cx="6766560" cy="3152374"/>
          </a:xfrm>
        </p:spPr>
      </p:pic>
      <p:sp>
        <p:nvSpPr>
          <p:cNvPr id="4" name="Date Placeholder 3"/>
          <p:cNvSpPr>
            <a:spLocks noGrp="1"/>
          </p:cNvSpPr>
          <p:nvPr>
            <p:ph type="dt" sz="half" idx="4294967295"/>
          </p:nvPr>
        </p:nvSpPr>
        <p:spPr>
          <a:xfrm>
            <a:off x="838200" y="6356350"/>
            <a:ext cx="2743200" cy="365125"/>
          </a:xfrm>
        </p:spPr>
        <p:txBody>
          <a:bodyPr/>
          <a:lstStyle/>
          <a:p>
            <a:pPr>
              <a:defRPr/>
            </a:pPr>
            <a:fld id="{7C774709-785F-457C-9429-4E3DA889C601}" type="datetime3">
              <a:rPr lang="en-US" smtClean="0"/>
              <a:pPr>
                <a:defRPr/>
              </a:pPr>
              <a:t>8 January 2026</a:t>
            </a:fld>
            <a:endParaRPr lang="en-IN"/>
          </a:p>
        </p:txBody>
      </p:sp>
      <p:sp>
        <p:nvSpPr>
          <p:cNvPr id="5" name="Footer Placeholder 4"/>
          <p:cNvSpPr>
            <a:spLocks noGrp="1"/>
          </p:cNvSpPr>
          <p:nvPr>
            <p:ph type="ftr" sz="quarter" idx="4294967295"/>
          </p:nvPr>
        </p:nvSpPr>
        <p:spPr>
          <a:xfrm>
            <a:off x="4038600" y="6356350"/>
            <a:ext cx="4114800" cy="365125"/>
          </a:xfrm>
        </p:spPr>
        <p:txBody>
          <a:bodyPr/>
          <a:lstStyle/>
          <a:p>
            <a:pPr>
              <a:defRPr/>
            </a:pPr>
            <a:r>
              <a:rPr lang="en-IN" dirty="0" smtClean="0"/>
              <a:t> </a:t>
            </a:r>
            <a:endParaRPr lang="en-IN" dirty="0"/>
          </a:p>
        </p:txBody>
      </p:sp>
      <p:sp>
        <p:nvSpPr>
          <p:cNvPr id="6" name="Slide Number Placeholder 5"/>
          <p:cNvSpPr>
            <a:spLocks noGrp="1"/>
          </p:cNvSpPr>
          <p:nvPr>
            <p:ph type="sldNum" sz="quarter" idx="4294967295"/>
          </p:nvPr>
        </p:nvSpPr>
        <p:spPr>
          <a:xfrm>
            <a:off x="8610600" y="6356350"/>
            <a:ext cx="2743200" cy="365125"/>
          </a:xfrm>
        </p:spPr>
        <p:txBody>
          <a:bodyPr/>
          <a:lstStyle/>
          <a:p>
            <a:pPr>
              <a:defRPr/>
            </a:pPr>
            <a:fld id="{DC16FC18-A483-43BC-83D0-C7F7814867AE}" type="slidenum">
              <a:rPr lang="en-IN" smtClean="0"/>
              <a:pPr>
                <a:defRPr/>
              </a:pPr>
              <a:t>88</a:t>
            </a:fld>
            <a:endParaRPr lang="en-IN"/>
          </a:p>
        </p:txBody>
      </p:sp>
    </p:spTree>
    <p:extLst>
      <p:ext uri="{BB962C8B-B14F-4D97-AF65-F5344CB8AC3E}">
        <p14:creationId xmlns:p14="http://schemas.microsoft.com/office/powerpoint/2010/main" val="2959273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320040"/>
            <a:ext cx="9909845" cy="626400"/>
          </a:xfrm>
        </p:spPr>
        <p:txBody>
          <a:bodyPr>
            <a:normAutofit fontScale="90000"/>
          </a:bodyPr>
          <a:lstStyle/>
          <a:p>
            <a:r>
              <a:rPr lang="en-US"/>
              <a:t>Inline Style Sheet</a:t>
            </a:r>
          </a:p>
        </p:txBody>
      </p:sp>
      <p:sp>
        <p:nvSpPr>
          <p:cNvPr id="3" name="Content Placeholder 2"/>
          <p:cNvSpPr>
            <a:spLocks noGrp="1"/>
          </p:cNvSpPr>
          <p:nvPr>
            <p:ph idx="1"/>
          </p:nvPr>
        </p:nvSpPr>
        <p:spPr>
          <a:xfrm>
            <a:off x="975360" y="1200151"/>
            <a:ext cx="10332720" cy="4880610"/>
          </a:xfrm>
        </p:spPr>
        <p:txBody>
          <a:bodyPr>
            <a:normAutofit fontScale="92500" lnSpcReduction="10000"/>
          </a:bodyPr>
          <a:lstStyle/>
          <a:p>
            <a:pPr>
              <a:buNone/>
            </a:pPr>
            <a:r>
              <a:rPr lang="en-US">
                <a:latin typeface="Arial"/>
                <a:cs typeface="Arial"/>
              </a:rPr>
              <a:t>The inline CSS is also a method to insert style sheets in HTML document.</a:t>
            </a:r>
            <a:endParaRPr lang="en-US"/>
          </a:p>
          <a:p>
            <a:pPr>
              <a:buNone/>
            </a:pPr>
            <a:endParaRPr lang="en-US"/>
          </a:p>
          <a:p>
            <a:pPr>
              <a:buNone/>
            </a:pPr>
            <a:r>
              <a:rPr lang="en-US"/>
              <a:t>Syntax</a:t>
            </a:r>
          </a:p>
          <a:p>
            <a:pPr>
              <a:buNone/>
            </a:pPr>
            <a:endParaRPr lang="en-US"/>
          </a:p>
          <a:p>
            <a:pPr>
              <a:buNone/>
            </a:pPr>
            <a:r>
              <a:rPr lang="en-US" b="1"/>
              <a:t>&lt;</a:t>
            </a:r>
            <a:r>
              <a:rPr lang="en-US" b="1" err="1"/>
              <a:t>htmltag</a:t>
            </a:r>
            <a:r>
              <a:rPr lang="en-US"/>
              <a:t> </a:t>
            </a:r>
            <a:r>
              <a:rPr lang="en-US">
                <a:solidFill>
                  <a:srgbClr val="FF0000"/>
                </a:solidFill>
              </a:rPr>
              <a:t>style</a:t>
            </a:r>
            <a:r>
              <a:rPr lang="en-US"/>
              <a:t>="cssproperty1:value; cssproperty2:value;"</a:t>
            </a:r>
            <a:r>
              <a:rPr lang="en-US" b="1"/>
              <a:t>&gt;</a:t>
            </a:r>
            <a:r>
              <a:rPr lang="en-US"/>
              <a:t> </a:t>
            </a:r>
            <a:r>
              <a:rPr lang="en-US" b="1"/>
              <a:t>&lt;/</a:t>
            </a:r>
            <a:r>
              <a:rPr lang="en-US" b="1" err="1"/>
              <a:t>htmltag</a:t>
            </a:r>
            <a:r>
              <a:rPr lang="en-US" b="1"/>
              <a:t>&gt;</a:t>
            </a:r>
            <a:r>
              <a:rPr lang="en-US"/>
              <a:t> </a:t>
            </a:r>
          </a:p>
          <a:p>
            <a:pPr>
              <a:buNone/>
            </a:pPr>
            <a:endParaRPr lang="en-US"/>
          </a:p>
          <a:p>
            <a:pPr>
              <a:buNone/>
            </a:pPr>
            <a:r>
              <a:rPr lang="en-US"/>
              <a:t>Example</a:t>
            </a:r>
          </a:p>
          <a:p>
            <a:pPr>
              <a:buNone/>
            </a:pPr>
            <a:endParaRPr lang="en-US"/>
          </a:p>
          <a:p>
            <a:pPr>
              <a:buNone/>
            </a:pPr>
            <a:r>
              <a:rPr lang="en-US" b="1"/>
              <a:t>&lt;h2</a:t>
            </a:r>
            <a:r>
              <a:rPr lang="en-US"/>
              <a:t> style="color:red;margin-left:40px;"</a:t>
            </a:r>
            <a:r>
              <a:rPr lang="en-US" b="1"/>
              <a:t>&gt;</a:t>
            </a:r>
            <a:r>
              <a:rPr lang="en-US"/>
              <a:t>Inline CSS is applied on this heading.</a:t>
            </a:r>
            <a:r>
              <a:rPr lang="en-US" b="1"/>
              <a:t>&lt;/h2&gt;</a:t>
            </a:r>
            <a:r>
              <a:rPr lang="en-US"/>
              <a:t>  </a:t>
            </a:r>
          </a:p>
          <a:p>
            <a:pPr>
              <a:buNone/>
            </a:pPr>
            <a:endParaRPr lang="en-US"/>
          </a:p>
        </p:txBody>
      </p:sp>
      <p:sp>
        <p:nvSpPr>
          <p:cNvPr id="4" name="Date Placeholder 3"/>
          <p:cNvSpPr>
            <a:spLocks noGrp="1"/>
          </p:cNvSpPr>
          <p:nvPr>
            <p:ph type="dt" sz="half" idx="4294967295"/>
          </p:nvPr>
        </p:nvSpPr>
        <p:spPr>
          <a:xfrm>
            <a:off x="838200" y="6356350"/>
            <a:ext cx="2743200" cy="365125"/>
          </a:xfrm>
        </p:spPr>
        <p:txBody>
          <a:bodyPr/>
          <a:lstStyle/>
          <a:p>
            <a:pPr>
              <a:defRPr/>
            </a:pPr>
            <a:fld id="{7C774709-785F-457C-9429-4E3DA889C601}" type="datetime3">
              <a:rPr lang="en-US" smtClean="0"/>
              <a:pPr>
                <a:defRPr/>
              </a:pPr>
              <a:t>8 January 2026</a:t>
            </a:fld>
            <a:endParaRPr lang="en-IN"/>
          </a:p>
        </p:txBody>
      </p:sp>
      <p:sp>
        <p:nvSpPr>
          <p:cNvPr id="5" name="Footer Placeholder 4"/>
          <p:cNvSpPr>
            <a:spLocks noGrp="1"/>
          </p:cNvSpPr>
          <p:nvPr>
            <p:ph type="ftr" sz="quarter" idx="4294967295"/>
          </p:nvPr>
        </p:nvSpPr>
        <p:spPr>
          <a:xfrm>
            <a:off x="4038600" y="6356350"/>
            <a:ext cx="4114800" cy="365125"/>
          </a:xfrm>
        </p:spPr>
        <p:txBody>
          <a:bodyPr/>
          <a:lstStyle/>
          <a:p>
            <a:pPr>
              <a:defRPr/>
            </a:pPr>
            <a:r>
              <a:rPr lang="en-IN" dirty="0" smtClean="0"/>
              <a:t> </a:t>
            </a:r>
            <a:endParaRPr lang="en-IN" dirty="0"/>
          </a:p>
        </p:txBody>
      </p:sp>
      <p:sp>
        <p:nvSpPr>
          <p:cNvPr id="6" name="Slide Number Placeholder 5"/>
          <p:cNvSpPr>
            <a:spLocks noGrp="1"/>
          </p:cNvSpPr>
          <p:nvPr>
            <p:ph type="sldNum" sz="quarter" idx="4294967295"/>
          </p:nvPr>
        </p:nvSpPr>
        <p:spPr>
          <a:xfrm>
            <a:off x="8610600" y="6356350"/>
            <a:ext cx="2743200" cy="365125"/>
          </a:xfrm>
        </p:spPr>
        <p:txBody>
          <a:bodyPr/>
          <a:lstStyle/>
          <a:p>
            <a:pPr>
              <a:defRPr/>
            </a:pPr>
            <a:fld id="{DC16FC18-A483-43BC-83D0-C7F7814867AE}" type="slidenum">
              <a:rPr lang="en-IN" smtClean="0"/>
              <a:pPr>
                <a:defRPr/>
              </a:pPr>
              <a:t>89</a:t>
            </a:fld>
            <a:endParaRPr lang="en-IN"/>
          </a:p>
        </p:txBody>
      </p:sp>
    </p:spTree>
    <p:extLst>
      <p:ext uri="{BB962C8B-B14F-4D97-AF65-F5344CB8AC3E}">
        <p14:creationId xmlns:p14="http://schemas.microsoft.com/office/powerpoint/2010/main" val="2265178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0050" y="0"/>
            <a:ext cx="10515600" cy="1325563"/>
          </a:xfrm>
        </p:spPr>
        <p:txBody>
          <a:bodyPr/>
          <a:lstStyle/>
          <a:p>
            <a:r>
              <a:rPr lang="en-US" dirty="0"/>
              <a:t>Example Program</a:t>
            </a:r>
          </a:p>
        </p:txBody>
      </p:sp>
      <p:sp>
        <p:nvSpPr>
          <p:cNvPr id="3" name="Content Placeholder 2"/>
          <p:cNvSpPr>
            <a:spLocks noGrp="1"/>
          </p:cNvSpPr>
          <p:nvPr>
            <p:ph idx="1"/>
          </p:nvPr>
        </p:nvSpPr>
        <p:spPr>
          <a:xfrm>
            <a:off x="590550" y="961390"/>
            <a:ext cx="9875520" cy="5394960"/>
          </a:xfrm>
        </p:spPr>
        <p:txBody>
          <a:bodyPr>
            <a:normAutofit fontScale="92500" lnSpcReduction="10000"/>
          </a:bodyPr>
          <a:lstStyle/>
          <a:p>
            <a:pPr>
              <a:buNone/>
            </a:pPr>
            <a:r>
              <a:rPr lang="en-US" dirty="0"/>
              <a:t>	   &lt;html&gt;</a:t>
            </a:r>
          </a:p>
          <a:p>
            <a:pPr>
              <a:buNone/>
            </a:pPr>
            <a:r>
              <a:rPr lang="en-US" dirty="0"/>
              <a:t>		&lt;head&gt;</a:t>
            </a:r>
          </a:p>
          <a:p>
            <a:pPr>
              <a:buNone/>
            </a:pPr>
            <a:r>
              <a:rPr lang="en-US" dirty="0"/>
              <a:t>			&lt;title&gt;Login Page &lt;/title&gt;</a:t>
            </a:r>
          </a:p>
          <a:p>
            <a:pPr>
              <a:buNone/>
            </a:pPr>
            <a:r>
              <a:rPr lang="en-US" dirty="0"/>
              <a:t>		&lt;/head&gt;</a:t>
            </a:r>
          </a:p>
          <a:p>
            <a:pPr>
              <a:buNone/>
            </a:pPr>
            <a:r>
              <a:rPr lang="en-US" dirty="0"/>
              <a:t>		&lt;body&gt;</a:t>
            </a:r>
          </a:p>
          <a:p>
            <a:pPr>
              <a:buNone/>
            </a:pPr>
            <a:r>
              <a:rPr lang="en-US" dirty="0"/>
              <a:t>			&lt;h1 style = "</a:t>
            </a:r>
            <a:r>
              <a:rPr lang="en-US" dirty="0" err="1"/>
              <a:t>color:green</a:t>
            </a:r>
            <a:r>
              <a:rPr lang="en-US" dirty="0"/>
              <a:t>; </a:t>
            </a:r>
            <a:r>
              <a:rPr lang="en-US" dirty="0" err="1"/>
              <a:t>font-family:Time</a:t>
            </a:r>
            <a:r>
              <a:rPr lang="en-US" dirty="0"/>
              <a:t> new roman;</a:t>
            </a:r>
          </a:p>
          <a:p>
            <a:pPr>
              <a:buNone/>
            </a:pPr>
            <a:r>
              <a:rPr lang="en-US" dirty="0"/>
              <a:t>			     font-size:26pt;"&gt; VIT-AP&lt;/h1&gt;</a:t>
            </a:r>
          </a:p>
          <a:p>
            <a:pPr>
              <a:buNone/>
            </a:pPr>
            <a:r>
              <a:rPr lang="en-US" dirty="0"/>
              <a:t>			&lt;h2 style = "</a:t>
            </a:r>
            <a:r>
              <a:rPr lang="en-US" dirty="0" err="1"/>
              <a:t>color:red</a:t>
            </a:r>
            <a:r>
              <a:rPr lang="en-US" dirty="0"/>
              <a:t>; </a:t>
            </a:r>
            <a:r>
              <a:rPr lang="en-US" dirty="0" err="1"/>
              <a:t>font-family:verdana</a:t>
            </a:r>
            <a:r>
              <a:rPr lang="en-US" dirty="0"/>
              <a:t>;</a:t>
            </a:r>
          </a:p>
          <a:p>
            <a:pPr>
              <a:buNone/>
            </a:pPr>
            <a:r>
              <a:rPr lang="en-US" dirty="0"/>
              <a:t>			     font-size:26pt;"&gt; One of the best university in AP  &lt;/h1&gt;</a:t>
            </a:r>
          </a:p>
          <a:p>
            <a:pPr>
              <a:buNone/>
            </a:pPr>
            <a:r>
              <a:rPr lang="en-US" dirty="0"/>
              <a:t>		             </a:t>
            </a:r>
            <a:r>
              <a:rPr lang="en-US" b="1" dirty="0"/>
              <a:t> </a:t>
            </a:r>
            <a:r>
              <a:rPr lang="en-US" dirty="0"/>
              <a:t>&lt;p&gt;Vijayawada&lt;/p&gt;  </a:t>
            </a:r>
          </a:p>
          <a:p>
            <a:pPr lvl="1">
              <a:buNone/>
            </a:pPr>
            <a:r>
              <a:rPr lang="en-US" dirty="0"/>
              <a:t>		&lt;/body&gt;</a:t>
            </a:r>
          </a:p>
          <a:p>
            <a:pPr lvl="1">
              <a:buNone/>
            </a:pPr>
            <a:r>
              <a:rPr lang="en-US" dirty="0"/>
              <a:t>&lt;/html&gt;</a:t>
            </a:r>
          </a:p>
        </p:txBody>
      </p:sp>
      <p:sp>
        <p:nvSpPr>
          <p:cNvPr id="4" name="Date Placeholder 3"/>
          <p:cNvSpPr>
            <a:spLocks noGrp="1"/>
          </p:cNvSpPr>
          <p:nvPr>
            <p:ph type="dt" sz="half" idx="4294967295"/>
          </p:nvPr>
        </p:nvSpPr>
        <p:spPr>
          <a:xfrm>
            <a:off x="838200" y="6356350"/>
            <a:ext cx="2743200" cy="365125"/>
          </a:xfrm>
        </p:spPr>
        <p:txBody>
          <a:bodyPr/>
          <a:lstStyle/>
          <a:p>
            <a:pPr>
              <a:defRPr/>
            </a:pPr>
            <a:fld id="{7C774709-785F-457C-9429-4E3DA889C601}" type="datetime3">
              <a:rPr lang="en-US" smtClean="0"/>
              <a:pPr>
                <a:defRPr/>
              </a:pPr>
              <a:t>8 January 2026</a:t>
            </a:fld>
            <a:endParaRPr lang="en-IN"/>
          </a:p>
        </p:txBody>
      </p:sp>
      <p:sp>
        <p:nvSpPr>
          <p:cNvPr id="5" name="Footer Placeholder 4"/>
          <p:cNvSpPr>
            <a:spLocks noGrp="1"/>
          </p:cNvSpPr>
          <p:nvPr>
            <p:ph type="ftr" sz="quarter" idx="4294967295"/>
          </p:nvPr>
        </p:nvSpPr>
        <p:spPr>
          <a:xfrm>
            <a:off x="4038600" y="6356350"/>
            <a:ext cx="4114800" cy="365125"/>
          </a:xfrm>
        </p:spPr>
        <p:txBody>
          <a:bodyPr/>
          <a:lstStyle/>
          <a:p>
            <a:pPr>
              <a:defRPr/>
            </a:pPr>
            <a:r>
              <a:rPr lang="en-IN" dirty="0" smtClean="0"/>
              <a:t> </a:t>
            </a:r>
            <a:endParaRPr lang="en-IN" dirty="0"/>
          </a:p>
        </p:txBody>
      </p:sp>
      <p:sp>
        <p:nvSpPr>
          <p:cNvPr id="6" name="Slide Number Placeholder 5"/>
          <p:cNvSpPr>
            <a:spLocks noGrp="1"/>
          </p:cNvSpPr>
          <p:nvPr>
            <p:ph type="sldNum" sz="quarter" idx="4294967295"/>
          </p:nvPr>
        </p:nvSpPr>
        <p:spPr>
          <a:xfrm>
            <a:off x="8610600" y="6356350"/>
            <a:ext cx="2743200" cy="365125"/>
          </a:xfrm>
        </p:spPr>
        <p:txBody>
          <a:bodyPr/>
          <a:lstStyle/>
          <a:p>
            <a:pPr>
              <a:defRPr/>
            </a:pPr>
            <a:fld id="{DC16FC18-A483-43BC-83D0-C7F7814867AE}" type="slidenum">
              <a:rPr lang="en-IN" smtClean="0"/>
              <a:pPr>
                <a:defRPr/>
              </a:pPr>
              <a:t>90</a:t>
            </a:fld>
            <a:endParaRPr lang="en-IN"/>
          </a:p>
        </p:txBody>
      </p:sp>
    </p:spTree>
    <p:extLst>
      <p:ext uri="{BB962C8B-B14F-4D97-AF65-F5344CB8AC3E}">
        <p14:creationId xmlns:p14="http://schemas.microsoft.com/office/powerpoint/2010/main" val="24304510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Internal Style Sheet</a:t>
            </a:r>
          </a:p>
        </p:txBody>
      </p:sp>
      <p:sp>
        <p:nvSpPr>
          <p:cNvPr id="3" name="Content Placeholder 2"/>
          <p:cNvSpPr>
            <a:spLocks noGrp="1"/>
          </p:cNvSpPr>
          <p:nvPr>
            <p:ph idx="1"/>
          </p:nvPr>
        </p:nvSpPr>
        <p:spPr>
          <a:xfrm>
            <a:off x="672465" y="1690688"/>
            <a:ext cx="9875520" cy="4926330"/>
          </a:xfrm>
        </p:spPr>
        <p:txBody>
          <a:bodyPr/>
          <a:lstStyle/>
          <a:p>
            <a:r>
              <a:rPr lang="en-US" dirty="0"/>
              <a:t>The internal style sheet is used to add a unique style for a single document. It is defined in &lt;head&gt; section of the HTML page inside the &lt;style&gt; tag.</a:t>
            </a:r>
            <a:endParaRPr lang="en-US" b="1" dirty="0"/>
          </a:p>
        </p:txBody>
      </p:sp>
      <p:sp>
        <p:nvSpPr>
          <p:cNvPr id="4" name="Date Placeholder 3"/>
          <p:cNvSpPr>
            <a:spLocks noGrp="1"/>
          </p:cNvSpPr>
          <p:nvPr>
            <p:ph type="dt" sz="half" idx="4294967295"/>
          </p:nvPr>
        </p:nvSpPr>
        <p:spPr>
          <a:xfrm>
            <a:off x="838200" y="6356350"/>
            <a:ext cx="2743200" cy="365125"/>
          </a:xfrm>
        </p:spPr>
        <p:txBody>
          <a:bodyPr/>
          <a:lstStyle/>
          <a:p>
            <a:pPr>
              <a:defRPr/>
            </a:pPr>
            <a:fld id="{7C774709-785F-457C-9429-4E3DA889C601}" type="datetime3">
              <a:rPr lang="en-US" smtClean="0"/>
              <a:pPr>
                <a:defRPr/>
              </a:pPr>
              <a:t>8 January 2026</a:t>
            </a:fld>
            <a:endParaRPr lang="en-IN"/>
          </a:p>
        </p:txBody>
      </p:sp>
      <p:sp>
        <p:nvSpPr>
          <p:cNvPr id="5" name="Footer Placeholder 4"/>
          <p:cNvSpPr>
            <a:spLocks noGrp="1"/>
          </p:cNvSpPr>
          <p:nvPr>
            <p:ph type="ftr" sz="quarter" idx="4294967295"/>
          </p:nvPr>
        </p:nvSpPr>
        <p:spPr>
          <a:xfrm>
            <a:off x="4038600" y="6356350"/>
            <a:ext cx="4114800" cy="365125"/>
          </a:xfrm>
        </p:spPr>
        <p:txBody>
          <a:bodyPr/>
          <a:lstStyle/>
          <a:p>
            <a:pPr>
              <a:defRPr/>
            </a:pPr>
            <a:r>
              <a:rPr lang="en-IN" dirty="0" smtClean="0"/>
              <a:t> </a:t>
            </a:r>
            <a:endParaRPr lang="en-IN" dirty="0"/>
          </a:p>
        </p:txBody>
      </p:sp>
      <p:sp>
        <p:nvSpPr>
          <p:cNvPr id="6" name="Slide Number Placeholder 5"/>
          <p:cNvSpPr>
            <a:spLocks noGrp="1"/>
          </p:cNvSpPr>
          <p:nvPr>
            <p:ph type="sldNum" sz="quarter" idx="4294967295"/>
          </p:nvPr>
        </p:nvSpPr>
        <p:spPr>
          <a:xfrm>
            <a:off x="8610600" y="6356350"/>
            <a:ext cx="2743200" cy="365125"/>
          </a:xfrm>
        </p:spPr>
        <p:txBody>
          <a:bodyPr/>
          <a:lstStyle/>
          <a:p>
            <a:pPr>
              <a:defRPr/>
            </a:pPr>
            <a:fld id="{DC16FC18-A483-43BC-83D0-C7F7814867AE}" type="slidenum">
              <a:rPr lang="en-IN" smtClean="0"/>
              <a:pPr>
                <a:defRPr/>
              </a:pPr>
              <a:t>91</a:t>
            </a:fld>
            <a:endParaRPr lang="en-IN"/>
          </a:p>
        </p:txBody>
      </p:sp>
    </p:spTree>
    <p:extLst>
      <p:ext uri="{BB962C8B-B14F-4D97-AF65-F5344CB8AC3E}">
        <p14:creationId xmlns:p14="http://schemas.microsoft.com/office/powerpoint/2010/main" val="25302562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a:t>
            </a:r>
          </a:p>
        </p:txBody>
      </p:sp>
      <p:sp>
        <p:nvSpPr>
          <p:cNvPr id="3" name="Content Placeholder 2"/>
          <p:cNvSpPr>
            <a:spLocks noGrp="1"/>
          </p:cNvSpPr>
          <p:nvPr>
            <p:ph idx="1"/>
          </p:nvPr>
        </p:nvSpPr>
        <p:spPr>
          <a:xfrm>
            <a:off x="838200" y="1463675"/>
            <a:ext cx="9875520" cy="5257800"/>
          </a:xfrm>
        </p:spPr>
        <p:txBody>
          <a:bodyPr>
            <a:normAutofit fontScale="92500" lnSpcReduction="20000"/>
          </a:bodyPr>
          <a:lstStyle/>
          <a:p>
            <a:pPr>
              <a:buNone/>
            </a:pPr>
            <a:r>
              <a:rPr lang="en-US" sz="1680" dirty="0"/>
              <a:t>&lt;!DOCTYPE html&gt;</a:t>
            </a:r>
          </a:p>
          <a:p>
            <a:pPr>
              <a:buNone/>
            </a:pPr>
            <a:r>
              <a:rPr lang="en-US" sz="1680" dirty="0"/>
              <a:t>&lt;html&gt;</a:t>
            </a:r>
          </a:p>
          <a:p>
            <a:pPr>
              <a:buNone/>
            </a:pPr>
            <a:r>
              <a:rPr lang="en-US" sz="1680" dirty="0"/>
              <a:t>	&lt;head&gt;</a:t>
            </a:r>
          </a:p>
          <a:p>
            <a:pPr>
              <a:buNone/>
            </a:pPr>
            <a:r>
              <a:rPr lang="en-US" sz="1680" dirty="0"/>
              <a:t>		&lt;style&gt;</a:t>
            </a:r>
          </a:p>
          <a:p>
            <a:pPr>
              <a:buNone/>
            </a:pPr>
            <a:r>
              <a:rPr lang="en-US" sz="1680" dirty="0"/>
              <a:t>			body {</a:t>
            </a:r>
          </a:p>
          <a:p>
            <a:pPr>
              <a:buNone/>
            </a:pPr>
            <a:r>
              <a:rPr lang="en-US" sz="1680" dirty="0"/>
              <a:t>			   background-color: red;</a:t>
            </a:r>
          </a:p>
          <a:p>
            <a:pPr>
              <a:buNone/>
            </a:pPr>
            <a:r>
              <a:rPr lang="en-US" sz="1680" dirty="0"/>
              <a:t>			         }</a:t>
            </a:r>
          </a:p>
          <a:p>
            <a:pPr>
              <a:buNone/>
            </a:pPr>
            <a:r>
              <a:rPr lang="en-US" sz="1680" dirty="0"/>
              <a:t>			    h1 {</a:t>
            </a:r>
          </a:p>
          <a:p>
            <a:pPr>
              <a:buNone/>
            </a:pPr>
            <a:r>
              <a:rPr lang="en-US" sz="1680" dirty="0"/>
              <a:t>                                                    color: yellow; margin-left: 80px;</a:t>
            </a:r>
          </a:p>
          <a:p>
            <a:pPr>
              <a:buNone/>
            </a:pPr>
            <a:r>
              <a:rPr lang="en-US" sz="1680" dirty="0"/>
              <a:t>                                               } </a:t>
            </a:r>
          </a:p>
          <a:p>
            <a:pPr>
              <a:buNone/>
            </a:pPr>
            <a:r>
              <a:rPr lang="en-US" sz="1680" dirty="0"/>
              <a:t>                            &lt;/style&gt;</a:t>
            </a:r>
          </a:p>
          <a:p>
            <a:pPr>
              <a:buNone/>
            </a:pPr>
            <a:r>
              <a:rPr lang="en-US" sz="1680" dirty="0"/>
              <a:t>             &lt;/head&gt;</a:t>
            </a:r>
          </a:p>
          <a:p>
            <a:pPr>
              <a:buNone/>
            </a:pPr>
            <a:r>
              <a:rPr lang="en-US" sz="1680" dirty="0"/>
              <a:t>       &lt;body&gt;</a:t>
            </a:r>
          </a:p>
          <a:p>
            <a:pPr>
              <a:buNone/>
            </a:pPr>
            <a:r>
              <a:rPr lang="en-US" sz="1680" dirty="0"/>
              <a:t>                      &lt;h1&gt;The internal style sheet is applied on this heading.&lt;/h1&gt;</a:t>
            </a:r>
          </a:p>
          <a:p>
            <a:pPr>
              <a:buNone/>
            </a:pPr>
            <a:r>
              <a:rPr lang="en-US" sz="1680" dirty="0"/>
              <a:t>                       &lt;p&gt;This paragraph will not be affected.&lt;/p&gt;</a:t>
            </a:r>
          </a:p>
          <a:p>
            <a:pPr>
              <a:buNone/>
            </a:pPr>
            <a:r>
              <a:rPr lang="en-US" sz="1680" dirty="0"/>
              <a:t>	&lt;/body&gt;</a:t>
            </a:r>
          </a:p>
          <a:p>
            <a:pPr>
              <a:buNone/>
            </a:pPr>
            <a:r>
              <a:rPr lang="en-US" sz="1680" dirty="0"/>
              <a:t>	&lt;/html&gt;</a:t>
            </a:r>
          </a:p>
        </p:txBody>
      </p:sp>
      <p:sp>
        <p:nvSpPr>
          <p:cNvPr id="5" name="Footer Placeholder 4"/>
          <p:cNvSpPr>
            <a:spLocks noGrp="1"/>
          </p:cNvSpPr>
          <p:nvPr>
            <p:ph type="ftr" sz="quarter" idx="4294967295"/>
          </p:nvPr>
        </p:nvSpPr>
        <p:spPr>
          <a:xfrm>
            <a:off x="4038600" y="6356350"/>
            <a:ext cx="4114800" cy="365125"/>
          </a:xfrm>
        </p:spPr>
        <p:txBody>
          <a:bodyPr/>
          <a:lstStyle/>
          <a:p>
            <a:pPr>
              <a:defRPr/>
            </a:pPr>
            <a:r>
              <a:rPr lang="en-IN" dirty="0" smtClean="0"/>
              <a:t> </a:t>
            </a:r>
            <a:endParaRPr lang="en-IN" dirty="0"/>
          </a:p>
        </p:txBody>
      </p:sp>
    </p:spTree>
    <p:extLst>
      <p:ext uri="{BB962C8B-B14F-4D97-AF65-F5344CB8AC3E}">
        <p14:creationId xmlns:p14="http://schemas.microsoft.com/office/powerpoint/2010/main" val="40090202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External CSS</a:t>
            </a:r>
          </a:p>
        </p:txBody>
      </p:sp>
      <p:sp>
        <p:nvSpPr>
          <p:cNvPr id="3" name="Content Placeholder 2"/>
          <p:cNvSpPr>
            <a:spLocks noGrp="1"/>
          </p:cNvSpPr>
          <p:nvPr>
            <p:ph idx="1"/>
          </p:nvPr>
        </p:nvSpPr>
        <p:spPr>
          <a:xfrm>
            <a:off x="740944" y="1430020"/>
            <a:ext cx="9875520" cy="4926330"/>
          </a:xfrm>
        </p:spPr>
        <p:txBody>
          <a:bodyPr>
            <a:normAutofit fontScale="92500"/>
          </a:bodyPr>
          <a:lstStyle/>
          <a:p>
            <a:r>
              <a:rPr lang="en-US" dirty="0">
                <a:latin typeface="Arial"/>
                <a:cs typeface="Arial"/>
              </a:rPr>
              <a:t>The external style sheet is generally used when you want to make changes on multiple pages.</a:t>
            </a:r>
          </a:p>
          <a:p>
            <a:endParaRPr lang="en-US" dirty="0"/>
          </a:p>
          <a:p>
            <a:r>
              <a:rPr lang="en-US" dirty="0">
                <a:latin typeface="Arial"/>
                <a:cs typeface="Arial"/>
              </a:rPr>
              <a:t>It uses the &lt;link&gt; tag on every pages and the &lt;link&gt; tag should be put inside the head section.</a:t>
            </a:r>
          </a:p>
          <a:p>
            <a:endParaRPr lang="en-US" dirty="0"/>
          </a:p>
          <a:p>
            <a:r>
              <a:rPr lang="en-US" dirty="0"/>
              <a:t>Example</a:t>
            </a:r>
          </a:p>
          <a:p>
            <a:pPr>
              <a:buNone/>
            </a:pPr>
            <a:r>
              <a:rPr lang="en-US" b="1" dirty="0"/>
              <a:t>		&lt;head&gt;</a:t>
            </a:r>
            <a:r>
              <a:rPr lang="en-US" dirty="0"/>
              <a:t>  </a:t>
            </a:r>
          </a:p>
          <a:p>
            <a:pPr>
              <a:buNone/>
            </a:pPr>
            <a:r>
              <a:rPr lang="en-US" b="1" dirty="0">
                <a:latin typeface="Arial"/>
                <a:cs typeface="Arial"/>
              </a:rPr>
              <a:t>			&lt;link</a:t>
            </a:r>
            <a:r>
              <a:rPr lang="en-US" dirty="0">
                <a:latin typeface="Arial"/>
                <a:cs typeface="Arial"/>
              </a:rPr>
              <a:t> </a:t>
            </a:r>
            <a:r>
              <a:rPr lang="en-US" dirty="0" err="1">
                <a:latin typeface="Arial"/>
                <a:cs typeface="Arial"/>
              </a:rPr>
              <a:t>rel</a:t>
            </a:r>
            <a:r>
              <a:rPr lang="en-US" dirty="0">
                <a:latin typeface="Arial"/>
                <a:cs typeface="Arial"/>
              </a:rPr>
              <a:t>="</a:t>
            </a:r>
            <a:r>
              <a:rPr lang="en-US" dirty="0" err="1">
                <a:latin typeface="Arial"/>
                <a:cs typeface="Arial"/>
              </a:rPr>
              <a:t>stylesheet</a:t>
            </a:r>
            <a:r>
              <a:rPr lang="en-US" dirty="0">
                <a:latin typeface="Arial"/>
                <a:cs typeface="Arial"/>
              </a:rPr>
              <a:t>" type="text/</a:t>
            </a:r>
            <a:r>
              <a:rPr lang="en-US" dirty="0" err="1">
                <a:latin typeface="Arial"/>
                <a:cs typeface="Arial"/>
              </a:rPr>
              <a:t>css</a:t>
            </a:r>
            <a:r>
              <a:rPr lang="en-US" dirty="0">
                <a:latin typeface="Arial"/>
                <a:cs typeface="Arial"/>
              </a:rPr>
              <a:t>" </a:t>
            </a:r>
            <a:r>
              <a:rPr lang="en-US" dirty="0" err="1">
                <a:latin typeface="Arial"/>
                <a:cs typeface="Arial"/>
              </a:rPr>
              <a:t>href</a:t>
            </a:r>
            <a:r>
              <a:rPr lang="en-US" dirty="0">
                <a:latin typeface="Arial"/>
                <a:cs typeface="Arial"/>
              </a:rPr>
              <a:t>="mystyle.css"</a:t>
            </a:r>
            <a:r>
              <a:rPr lang="en-US" b="1" dirty="0">
                <a:latin typeface="Arial"/>
                <a:cs typeface="Arial"/>
              </a:rPr>
              <a:t>&gt;</a:t>
            </a:r>
            <a:r>
              <a:rPr lang="en-US" dirty="0">
                <a:latin typeface="Arial"/>
                <a:cs typeface="Arial"/>
              </a:rPr>
              <a:t>  </a:t>
            </a:r>
          </a:p>
          <a:p>
            <a:pPr>
              <a:buNone/>
            </a:pPr>
            <a:r>
              <a:rPr lang="en-US" b="1" dirty="0"/>
              <a:t>		&lt;/head&gt;</a:t>
            </a:r>
            <a:r>
              <a:rPr lang="en-US" dirty="0"/>
              <a:t>  </a:t>
            </a:r>
          </a:p>
          <a:p>
            <a:endParaRPr lang="en-US" dirty="0"/>
          </a:p>
        </p:txBody>
      </p:sp>
      <p:sp>
        <p:nvSpPr>
          <p:cNvPr id="4" name="Date Placeholder 3"/>
          <p:cNvSpPr>
            <a:spLocks noGrp="1"/>
          </p:cNvSpPr>
          <p:nvPr>
            <p:ph type="dt" sz="half" idx="4294967295"/>
          </p:nvPr>
        </p:nvSpPr>
        <p:spPr>
          <a:xfrm>
            <a:off x="838200" y="6356350"/>
            <a:ext cx="2743200" cy="365125"/>
          </a:xfrm>
        </p:spPr>
        <p:txBody>
          <a:bodyPr/>
          <a:lstStyle/>
          <a:p>
            <a:pPr>
              <a:defRPr/>
            </a:pPr>
            <a:fld id="{7C774709-785F-457C-9429-4E3DA889C601}" type="datetime3">
              <a:rPr lang="en-US" smtClean="0"/>
              <a:pPr>
                <a:defRPr/>
              </a:pPr>
              <a:t>8 January 2026</a:t>
            </a:fld>
            <a:endParaRPr lang="en-IN"/>
          </a:p>
        </p:txBody>
      </p:sp>
      <p:sp>
        <p:nvSpPr>
          <p:cNvPr id="5" name="Footer Placeholder 4"/>
          <p:cNvSpPr>
            <a:spLocks noGrp="1"/>
          </p:cNvSpPr>
          <p:nvPr>
            <p:ph type="ftr" sz="quarter" idx="4294967295"/>
          </p:nvPr>
        </p:nvSpPr>
        <p:spPr>
          <a:xfrm>
            <a:off x="4038600" y="6356350"/>
            <a:ext cx="4114800" cy="365125"/>
          </a:xfrm>
        </p:spPr>
        <p:txBody>
          <a:bodyPr/>
          <a:lstStyle/>
          <a:p>
            <a:pPr>
              <a:defRPr/>
            </a:pPr>
            <a:r>
              <a:rPr lang="en-IN" dirty="0" smtClean="0"/>
              <a:t> </a:t>
            </a:r>
            <a:endParaRPr lang="en-IN" dirty="0"/>
          </a:p>
        </p:txBody>
      </p:sp>
      <p:sp>
        <p:nvSpPr>
          <p:cNvPr id="6" name="Slide Number Placeholder 5"/>
          <p:cNvSpPr>
            <a:spLocks noGrp="1"/>
          </p:cNvSpPr>
          <p:nvPr>
            <p:ph type="sldNum" sz="quarter" idx="4294967295"/>
          </p:nvPr>
        </p:nvSpPr>
        <p:spPr>
          <a:xfrm>
            <a:off x="8610600" y="6356350"/>
            <a:ext cx="2743200" cy="365125"/>
          </a:xfrm>
        </p:spPr>
        <p:txBody>
          <a:bodyPr/>
          <a:lstStyle/>
          <a:p>
            <a:pPr>
              <a:defRPr/>
            </a:pPr>
            <a:fld id="{DC16FC18-A483-43BC-83D0-C7F7814867AE}" type="slidenum">
              <a:rPr lang="en-IN" smtClean="0"/>
              <a:pPr>
                <a:defRPr/>
              </a:pPr>
              <a:t>93</a:t>
            </a:fld>
            <a:endParaRPr lang="en-IN"/>
          </a:p>
        </p:txBody>
      </p:sp>
    </p:spTree>
    <p:extLst>
      <p:ext uri="{BB962C8B-B14F-4D97-AF65-F5344CB8AC3E}">
        <p14:creationId xmlns:p14="http://schemas.microsoft.com/office/powerpoint/2010/main" val="1738963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a:t>body {  </a:t>
            </a:r>
          </a:p>
          <a:p>
            <a:pPr>
              <a:buNone/>
            </a:pPr>
            <a:r>
              <a:rPr lang="en-US"/>
              <a:t>	    background-color: </a:t>
            </a:r>
            <a:r>
              <a:rPr lang="en-US" err="1"/>
              <a:t>lightblue</a:t>
            </a:r>
            <a:r>
              <a:rPr lang="en-US"/>
              <a:t>;  </a:t>
            </a:r>
          </a:p>
          <a:p>
            <a:pPr>
              <a:buNone/>
            </a:pPr>
            <a:r>
              <a:rPr lang="en-US"/>
              <a:t>	}  </a:t>
            </a:r>
          </a:p>
          <a:p>
            <a:pPr>
              <a:buNone/>
            </a:pPr>
            <a:r>
              <a:rPr lang="en-US"/>
              <a:t>	h1 {  </a:t>
            </a:r>
          </a:p>
          <a:p>
            <a:pPr>
              <a:buNone/>
            </a:pPr>
            <a:r>
              <a:rPr lang="en-US"/>
              <a:t>	  color: navy;  </a:t>
            </a:r>
          </a:p>
          <a:p>
            <a:pPr>
              <a:buNone/>
            </a:pPr>
            <a:r>
              <a:rPr lang="en-US"/>
              <a:t>	 margin-left: 20px;  </a:t>
            </a:r>
          </a:p>
          <a:p>
            <a:pPr>
              <a:buNone/>
            </a:pPr>
            <a:r>
              <a:rPr lang="en-US"/>
              <a:t>	}   </a:t>
            </a:r>
          </a:p>
          <a:p>
            <a:endParaRPr lang="en-US"/>
          </a:p>
        </p:txBody>
      </p:sp>
      <p:sp>
        <p:nvSpPr>
          <p:cNvPr id="4" name="Date Placeholder 3"/>
          <p:cNvSpPr>
            <a:spLocks noGrp="1"/>
          </p:cNvSpPr>
          <p:nvPr>
            <p:ph type="dt" sz="half" idx="4294967295"/>
          </p:nvPr>
        </p:nvSpPr>
        <p:spPr>
          <a:xfrm>
            <a:off x="838200" y="6356350"/>
            <a:ext cx="2743200" cy="365125"/>
          </a:xfrm>
        </p:spPr>
        <p:txBody>
          <a:bodyPr/>
          <a:lstStyle/>
          <a:p>
            <a:pPr>
              <a:defRPr/>
            </a:pPr>
            <a:fld id="{7C774709-785F-457C-9429-4E3DA889C601}" type="datetime3">
              <a:rPr lang="en-US" smtClean="0"/>
              <a:pPr>
                <a:defRPr/>
              </a:pPr>
              <a:t>8 January 2026</a:t>
            </a:fld>
            <a:endParaRPr lang="en-IN"/>
          </a:p>
        </p:txBody>
      </p:sp>
      <p:sp>
        <p:nvSpPr>
          <p:cNvPr id="5" name="Footer Placeholder 4"/>
          <p:cNvSpPr>
            <a:spLocks noGrp="1"/>
          </p:cNvSpPr>
          <p:nvPr>
            <p:ph type="ftr" sz="quarter" idx="4294967295"/>
          </p:nvPr>
        </p:nvSpPr>
        <p:spPr>
          <a:xfrm>
            <a:off x="4038600" y="6356350"/>
            <a:ext cx="4114800" cy="365125"/>
          </a:xfrm>
        </p:spPr>
        <p:txBody>
          <a:bodyPr/>
          <a:lstStyle/>
          <a:p>
            <a:pPr>
              <a:defRPr/>
            </a:pPr>
            <a:r>
              <a:rPr lang="en-IN" dirty="0" smtClean="0"/>
              <a:t> </a:t>
            </a:r>
            <a:endParaRPr lang="en-IN" dirty="0"/>
          </a:p>
        </p:txBody>
      </p:sp>
      <p:sp>
        <p:nvSpPr>
          <p:cNvPr id="6" name="Slide Number Placeholder 5"/>
          <p:cNvSpPr>
            <a:spLocks noGrp="1"/>
          </p:cNvSpPr>
          <p:nvPr>
            <p:ph type="sldNum" sz="quarter" idx="4294967295"/>
          </p:nvPr>
        </p:nvSpPr>
        <p:spPr>
          <a:xfrm>
            <a:off x="8610600" y="6356350"/>
            <a:ext cx="2743200" cy="365125"/>
          </a:xfrm>
        </p:spPr>
        <p:txBody>
          <a:bodyPr/>
          <a:lstStyle/>
          <a:p>
            <a:pPr>
              <a:defRPr/>
            </a:pPr>
            <a:fld id="{DC16FC18-A483-43BC-83D0-C7F7814867AE}" type="slidenum">
              <a:rPr lang="en-IN" smtClean="0"/>
              <a:pPr>
                <a:defRPr/>
              </a:pPr>
              <a:t>94</a:t>
            </a:fld>
            <a:endParaRPr lang="en-IN"/>
          </a:p>
        </p:txBody>
      </p:sp>
    </p:spTree>
    <p:extLst>
      <p:ext uri="{BB962C8B-B14F-4D97-AF65-F5344CB8AC3E}">
        <p14:creationId xmlns:p14="http://schemas.microsoft.com/office/powerpoint/2010/main" val="4742563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8" name="CustomShape 1"/>
          <p:cNvSpPr/>
          <p:nvPr/>
        </p:nvSpPr>
        <p:spPr>
          <a:xfrm>
            <a:off x="4358821" y="5963761"/>
            <a:ext cx="3473010" cy="427410"/>
          </a:xfrm>
          <a:prstGeom prst="rect">
            <a:avLst/>
          </a:prstGeom>
          <a:noFill/>
          <a:ln w="9360">
            <a:noFill/>
          </a:ln>
        </p:spPr>
        <p:style>
          <a:lnRef idx="0">
            <a:scrgbClr r="0" g="0" b="0"/>
          </a:lnRef>
          <a:fillRef idx="0">
            <a:scrgbClr r="0" g="0" b="0"/>
          </a:fillRef>
          <a:effectRef idx="0">
            <a:scrgbClr r="0" g="0" b="0"/>
          </a:effectRef>
          <a:fontRef idx="minor"/>
        </p:style>
        <p:txBody>
          <a:bodyPr lIns="92070" tIns="45900" rIns="92070" bIns="45900">
            <a:noAutofit/>
          </a:bodyPr>
          <a:lstStyle/>
          <a:p>
            <a:pPr algn="ctr">
              <a:lnSpc>
                <a:spcPct val="100000"/>
              </a:lnSpc>
            </a:pPr>
            <a:r>
              <a:rPr lang="en-US" sz="1350" spc="-1" baseline="-12000">
                <a:solidFill>
                  <a:schemeClr val="bg1"/>
                </a:solidFill>
                <a:latin typeface="Arial"/>
                <a:ea typeface="DejaVu Sans"/>
              </a:rPr>
              <a:t>STM-boris beizer</a:t>
            </a:r>
            <a:endParaRPr lang="en-US" sz="1350" spc="-1">
              <a:solidFill>
                <a:schemeClr val="bg1"/>
              </a:solidFill>
              <a:latin typeface="Arial"/>
            </a:endParaRPr>
          </a:p>
        </p:txBody>
      </p:sp>
      <p:sp>
        <p:nvSpPr>
          <p:cNvPr id="299" name="CustomShape 2"/>
          <p:cNvSpPr/>
          <p:nvPr/>
        </p:nvSpPr>
        <p:spPr>
          <a:xfrm>
            <a:off x="8473620" y="5963761"/>
            <a:ext cx="2558520" cy="427410"/>
          </a:xfrm>
          <a:prstGeom prst="rect">
            <a:avLst/>
          </a:prstGeom>
          <a:noFill/>
          <a:ln w="9360">
            <a:noFill/>
          </a:ln>
        </p:spPr>
        <p:style>
          <a:lnRef idx="0">
            <a:scrgbClr r="0" g="0" b="0"/>
          </a:lnRef>
          <a:fillRef idx="0">
            <a:scrgbClr r="0" g="0" b="0"/>
          </a:fillRef>
          <a:effectRef idx="0">
            <a:scrgbClr r="0" g="0" b="0"/>
          </a:effectRef>
          <a:fontRef idx="minor"/>
        </p:style>
        <p:txBody>
          <a:bodyPr lIns="92070" tIns="45900" rIns="92070" bIns="45900">
            <a:noAutofit/>
          </a:bodyPr>
          <a:lstStyle/>
          <a:p>
            <a:pPr algn="r">
              <a:lnSpc>
                <a:spcPct val="100000"/>
              </a:lnSpc>
            </a:pPr>
            <a:fld id="{BDFCB793-240B-4D79-AAD5-6FC7A65B05BA}" type="slidenum">
              <a:rPr lang="en-US" sz="1350" spc="-1" baseline="-12000">
                <a:solidFill>
                  <a:schemeClr val="bg1"/>
                </a:solidFill>
                <a:latin typeface="Arial"/>
                <a:ea typeface="DejaVu Sans"/>
              </a:rPr>
              <a:t>95</a:t>
            </a:fld>
            <a:endParaRPr lang="en-US" sz="1350" spc="-1">
              <a:solidFill>
                <a:schemeClr val="bg1"/>
              </a:solidFill>
              <a:latin typeface="Arial"/>
            </a:endParaRPr>
          </a:p>
        </p:txBody>
      </p:sp>
      <p:sp>
        <p:nvSpPr>
          <p:cNvPr id="300" name="CustomShape 3"/>
          <p:cNvSpPr/>
          <p:nvPr/>
        </p:nvSpPr>
        <p:spPr>
          <a:xfrm>
            <a:off x="1066710" y="959580"/>
            <a:ext cx="10148760" cy="5348160"/>
          </a:xfrm>
          <a:prstGeom prst="rect">
            <a:avLst/>
          </a:prstGeom>
          <a:solidFill>
            <a:srgbClr val="CECAD4"/>
          </a:solidFill>
          <a:ln w="9360">
            <a:solidFill>
              <a:srgbClr val="FF6600"/>
            </a:solidFill>
            <a:miter/>
          </a:ln>
        </p:spPr>
        <p:style>
          <a:lnRef idx="0">
            <a:scrgbClr r="0" g="0" b="0"/>
          </a:lnRef>
          <a:fillRef idx="0">
            <a:scrgbClr r="0" g="0" b="0"/>
          </a:fillRef>
          <a:effectRef idx="0">
            <a:scrgbClr r="0" g="0" b="0"/>
          </a:effectRef>
          <a:fontRef idx="minor"/>
        </p:style>
        <p:txBody>
          <a:bodyPr lIns="92070" tIns="45900" rIns="92070" bIns="45900">
            <a:noAutofit/>
          </a:bodyPr>
          <a:lstStyle/>
          <a:p>
            <a:pPr marL="343980" indent="-342630">
              <a:spcBef>
                <a:spcPts val="466"/>
              </a:spcBef>
            </a:pPr>
            <a:endParaRPr lang="en-US" sz="1350" spc="-1">
              <a:solidFill>
                <a:schemeClr val="bg1"/>
              </a:solidFill>
              <a:latin typeface="Arial"/>
            </a:endParaRPr>
          </a:p>
          <a:p>
            <a:pPr marL="343980" indent="-342630"/>
            <a:endParaRPr lang="en-US" sz="1350" spc="-1">
              <a:solidFill>
                <a:schemeClr val="bg1"/>
              </a:solidFill>
              <a:latin typeface="Arial"/>
            </a:endParaRPr>
          </a:p>
          <a:p>
            <a:pPr marL="747630" indent="-285660">
              <a:spcBef>
                <a:spcPts val="436"/>
              </a:spcBef>
            </a:pPr>
            <a:endParaRPr lang="en-US" sz="1350" spc="-1">
              <a:solidFill>
                <a:schemeClr val="bg1"/>
              </a:solidFill>
              <a:latin typeface="Arial"/>
            </a:endParaRPr>
          </a:p>
          <a:p>
            <a:pPr marL="747630" indent="-285660"/>
            <a:endParaRPr lang="en-US" sz="1350" spc="-1">
              <a:solidFill>
                <a:schemeClr val="bg1"/>
              </a:solidFill>
              <a:latin typeface="Arial"/>
            </a:endParaRPr>
          </a:p>
        </p:txBody>
      </p:sp>
      <p:sp>
        <p:nvSpPr>
          <p:cNvPr id="301" name="CustomShape 4"/>
          <p:cNvSpPr/>
          <p:nvPr/>
        </p:nvSpPr>
        <p:spPr>
          <a:xfrm>
            <a:off x="1066710" y="590490"/>
            <a:ext cx="10148760" cy="367740"/>
          </a:xfrm>
          <a:prstGeom prst="rect">
            <a:avLst/>
          </a:prstGeom>
          <a:solidFill>
            <a:srgbClr val="CECAD4"/>
          </a:solidFill>
          <a:ln w="9360">
            <a:solidFill>
              <a:srgbClr val="FF6600"/>
            </a:solidFill>
            <a:miter/>
          </a:ln>
        </p:spPr>
        <p:style>
          <a:lnRef idx="0">
            <a:scrgbClr r="0" g="0" b="0"/>
          </a:lnRef>
          <a:fillRef idx="0">
            <a:scrgbClr r="0" g="0" b="0"/>
          </a:fillRef>
          <a:effectRef idx="0">
            <a:scrgbClr r="0" g="0" b="0"/>
          </a:effectRef>
          <a:fontRef idx="minor"/>
        </p:style>
      </p:sp>
      <p:sp>
        <p:nvSpPr>
          <p:cNvPr id="302" name="CustomShape 5"/>
          <p:cNvSpPr/>
          <p:nvPr/>
        </p:nvSpPr>
        <p:spPr>
          <a:xfrm>
            <a:off x="3311221" y="6185431"/>
            <a:ext cx="184410" cy="299970"/>
          </a:xfrm>
          <a:prstGeom prst="rect">
            <a:avLst/>
          </a:prstGeom>
          <a:noFill/>
          <a:ln w="9360">
            <a:noFill/>
          </a:ln>
        </p:spPr>
        <p:style>
          <a:lnRef idx="0">
            <a:scrgbClr r="0" g="0" b="0"/>
          </a:lnRef>
          <a:fillRef idx="0">
            <a:scrgbClr r="0" g="0" b="0"/>
          </a:fillRef>
          <a:effectRef idx="0">
            <a:scrgbClr r="0" g="0" b="0"/>
          </a:effectRef>
          <a:fontRef idx="minor"/>
        </p:style>
      </p:sp>
      <p:sp>
        <p:nvSpPr>
          <p:cNvPr id="303" name="CustomShape 6"/>
          <p:cNvSpPr/>
          <p:nvPr/>
        </p:nvSpPr>
        <p:spPr>
          <a:xfrm>
            <a:off x="792480" y="0"/>
            <a:ext cx="10789920" cy="6537960"/>
          </a:xfrm>
          <a:prstGeom prst="rect">
            <a:avLst/>
          </a:prstGeom>
          <a:solidFill>
            <a:schemeClr val="bg1"/>
          </a:solidFill>
          <a:ln w="9360">
            <a:solidFill>
              <a:schemeClr val="tx1"/>
            </a:solidFill>
            <a:miter/>
          </a:ln>
        </p:spPr>
        <p:style>
          <a:lnRef idx="0">
            <a:scrgbClr r="0" g="0" b="0"/>
          </a:lnRef>
          <a:fillRef idx="0">
            <a:scrgbClr r="0" g="0" b="0"/>
          </a:fillRef>
          <a:effectRef idx="0">
            <a:scrgbClr r="0" g="0" b="0"/>
          </a:effectRef>
          <a:fontRef idx="minor"/>
        </p:style>
      </p:sp>
      <p:sp>
        <p:nvSpPr>
          <p:cNvPr id="304" name="CustomShape 7"/>
          <p:cNvSpPr/>
          <p:nvPr/>
        </p:nvSpPr>
        <p:spPr>
          <a:xfrm>
            <a:off x="1158240" y="137161"/>
            <a:ext cx="10008360" cy="6038940"/>
          </a:xfrm>
          <a:prstGeom prst="rect">
            <a:avLst/>
          </a:prstGeom>
          <a:noFill/>
          <a:ln w="9360">
            <a:noFill/>
          </a:ln>
        </p:spPr>
        <p:style>
          <a:lnRef idx="0">
            <a:scrgbClr r="0" g="0" b="0"/>
          </a:lnRef>
          <a:fillRef idx="0">
            <a:scrgbClr r="0" g="0" b="0"/>
          </a:fillRef>
          <a:effectRef idx="0">
            <a:scrgbClr r="0" g="0" b="0"/>
          </a:effectRef>
          <a:fontRef idx="minor"/>
        </p:style>
        <p:txBody>
          <a:bodyPr lIns="92070" tIns="45900" rIns="92070" bIns="45900">
            <a:spAutoFit/>
          </a:bodyPr>
          <a:lstStyle/>
          <a:p>
            <a:pPr marL="1350" algn="just">
              <a:lnSpc>
                <a:spcPct val="150000"/>
              </a:lnSpc>
            </a:pPr>
            <a:r>
              <a:rPr lang="en-US" sz="3360" u="sng" spc="-1" baseline="-12000" dirty="0">
                <a:latin typeface="Times New Roman" panose="02020603050405020304" pitchFamily="18" charset="0"/>
                <a:ea typeface="DejaVu Sans"/>
                <a:cs typeface="Times New Roman" panose="02020603050405020304" pitchFamily="18" charset="0"/>
              </a:rPr>
              <a:t>Selectors</a:t>
            </a:r>
            <a:r>
              <a:rPr lang="en-US" sz="3360" spc="-1" baseline="-12000" dirty="0">
                <a:latin typeface="Times New Roman" panose="02020603050405020304" pitchFamily="18" charset="0"/>
                <a:ea typeface="DejaVu Sans"/>
                <a:cs typeface="Times New Roman" panose="02020603050405020304" pitchFamily="18" charset="0"/>
              </a:rPr>
              <a:t> - Patterns-To apply the different styles to various html elements </a:t>
            </a:r>
            <a:endParaRPr lang="en-US" sz="3360" spc="-1" dirty="0">
              <a:latin typeface="Times New Roman" panose="02020603050405020304" pitchFamily="18" charset="0"/>
              <a:cs typeface="Times New Roman" panose="02020603050405020304" pitchFamily="18" charset="0"/>
            </a:endParaRPr>
          </a:p>
          <a:p>
            <a:pPr marL="549990" indent="-548640" algn="just">
              <a:lnSpc>
                <a:spcPct val="150000"/>
              </a:lnSpc>
              <a:buClr>
                <a:srgbClr val="000000"/>
              </a:buClr>
              <a:buFont typeface="Arial" panose="020B0604020202020204" pitchFamily="34" charset="0"/>
              <a:buChar char="•"/>
            </a:pPr>
            <a:r>
              <a:rPr lang="en-US" sz="3360" spc="-1" baseline="-12000" dirty="0">
                <a:latin typeface="Times New Roman" panose="02020603050405020304" pitchFamily="18" charset="0"/>
                <a:ea typeface="DejaVu Sans"/>
                <a:cs typeface="Times New Roman" panose="02020603050405020304" pitchFamily="18" charset="0"/>
              </a:rPr>
              <a:t>Simple selector-Single style applied in single element</a:t>
            </a:r>
            <a:endParaRPr lang="en-US" sz="3360" spc="-1" dirty="0">
              <a:latin typeface="Times New Roman" panose="02020603050405020304" pitchFamily="18" charset="0"/>
              <a:cs typeface="Times New Roman" panose="02020603050405020304" pitchFamily="18" charset="0"/>
            </a:endParaRPr>
          </a:p>
          <a:p>
            <a:pPr marL="549990" indent="-548640" algn="just">
              <a:lnSpc>
                <a:spcPct val="150000"/>
              </a:lnSpc>
              <a:buClr>
                <a:srgbClr val="000000"/>
              </a:buClr>
              <a:buFont typeface="Arial" panose="020B0604020202020204" pitchFamily="34" charset="0"/>
              <a:buChar char="•"/>
            </a:pPr>
            <a:r>
              <a:rPr lang="en-US" sz="3360" spc="-1" baseline="-12000" dirty="0">
                <a:latin typeface="Times New Roman" panose="02020603050405020304" pitchFamily="18" charset="0"/>
                <a:ea typeface="DejaVu Sans"/>
                <a:cs typeface="Times New Roman" panose="02020603050405020304" pitchFamily="18" charset="0"/>
              </a:rPr>
              <a:t>Universal selector(*)-Single style applied in all the elements</a:t>
            </a:r>
            <a:endParaRPr lang="en-US" sz="3360" spc="-1" dirty="0">
              <a:latin typeface="Times New Roman" panose="02020603050405020304" pitchFamily="18" charset="0"/>
              <a:cs typeface="Times New Roman" panose="02020603050405020304" pitchFamily="18" charset="0"/>
            </a:endParaRPr>
          </a:p>
          <a:p>
            <a:pPr marL="549990" indent="-548640" algn="just">
              <a:lnSpc>
                <a:spcPct val="150000"/>
              </a:lnSpc>
              <a:buClr>
                <a:srgbClr val="000000"/>
              </a:buClr>
              <a:buFont typeface="Arial" panose="020B0604020202020204" pitchFamily="34" charset="0"/>
              <a:buChar char="•"/>
            </a:pPr>
            <a:r>
              <a:rPr lang="en-US" sz="3360" spc="-1" baseline="-12000" dirty="0">
                <a:latin typeface="Times New Roman" panose="02020603050405020304" pitchFamily="18" charset="0"/>
                <a:ea typeface="DejaVu Sans"/>
                <a:cs typeface="Times New Roman" panose="02020603050405020304" pitchFamily="18" charset="0"/>
              </a:rPr>
              <a:t>Class selector-Assign different styles to same element</a:t>
            </a:r>
            <a:endParaRPr lang="en-US" sz="3360" spc="-1" dirty="0">
              <a:latin typeface="Times New Roman" panose="02020603050405020304" pitchFamily="18" charset="0"/>
              <a:cs typeface="Times New Roman" panose="02020603050405020304" pitchFamily="18" charset="0"/>
            </a:endParaRPr>
          </a:p>
          <a:p>
            <a:pPr marL="549990" indent="-548640" algn="just">
              <a:lnSpc>
                <a:spcPct val="150000"/>
              </a:lnSpc>
              <a:buClr>
                <a:srgbClr val="000000"/>
              </a:buClr>
              <a:buFont typeface="Arial" panose="020B0604020202020204" pitchFamily="34" charset="0"/>
              <a:buChar char="•"/>
            </a:pPr>
            <a:r>
              <a:rPr lang="en-US" sz="3360" spc="-1" baseline="-12000" dirty="0">
                <a:latin typeface="Times New Roman" panose="02020603050405020304" pitchFamily="18" charset="0"/>
                <a:ea typeface="DejaVu Sans"/>
                <a:cs typeface="Times New Roman" panose="02020603050405020304" pitchFamily="18" charset="0"/>
              </a:rPr>
              <a:t>Generic selector-Particular style applied to any tag</a:t>
            </a:r>
            <a:endParaRPr lang="en-US" sz="3360" spc="-1" dirty="0">
              <a:latin typeface="Times New Roman" panose="02020603050405020304" pitchFamily="18" charset="0"/>
              <a:cs typeface="Times New Roman" panose="02020603050405020304" pitchFamily="18" charset="0"/>
            </a:endParaRPr>
          </a:p>
          <a:p>
            <a:pPr marL="549990" indent="-548640" algn="just">
              <a:lnSpc>
                <a:spcPct val="150000"/>
              </a:lnSpc>
              <a:buClr>
                <a:srgbClr val="000000"/>
              </a:buClr>
              <a:buFont typeface="Arial" panose="020B0604020202020204" pitchFamily="34" charset="0"/>
              <a:buChar char="•"/>
            </a:pPr>
            <a:r>
              <a:rPr lang="en-US" sz="3360" spc="-1" baseline="-12000" dirty="0">
                <a:latin typeface="Times New Roman" panose="02020603050405020304" pitchFamily="18" charset="0"/>
                <a:ea typeface="DejaVu Sans"/>
                <a:cs typeface="Times New Roman" panose="02020603050405020304" pitchFamily="18" charset="0"/>
              </a:rPr>
              <a:t>ID selector-Style applied to one specific element</a:t>
            </a:r>
            <a:endParaRPr lang="en-US" sz="3360" spc="-1" dirty="0">
              <a:latin typeface="Times New Roman" panose="02020603050405020304" pitchFamily="18" charset="0"/>
              <a:cs typeface="Times New Roman" panose="02020603050405020304" pitchFamily="18" charset="0"/>
            </a:endParaRPr>
          </a:p>
          <a:p>
            <a:pPr marL="549990" indent="-548640" algn="just">
              <a:lnSpc>
                <a:spcPct val="150000"/>
              </a:lnSpc>
              <a:buClr>
                <a:srgbClr val="000000"/>
              </a:buClr>
              <a:buFont typeface="Arial" panose="020B0604020202020204" pitchFamily="34" charset="0"/>
              <a:buChar char="•"/>
            </a:pPr>
            <a:r>
              <a:rPr lang="en-US" sz="3360" spc="-1" baseline="-12000" dirty="0">
                <a:latin typeface="Times New Roman" panose="02020603050405020304" pitchFamily="18" charset="0"/>
                <a:ea typeface="DejaVu Sans"/>
                <a:cs typeface="Times New Roman" panose="02020603050405020304" pitchFamily="18" charset="0"/>
              </a:rPr>
              <a:t>Pseudo class selector-Give special effects on the elements</a:t>
            </a:r>
            <a:endParaRPr lang="en-US" sz="3360" spc="-1" dirty="0">
              <a:latin typeface="Times New Roman" panose="02020603050405020304" pitchFamily="18" charset="0"/>
              <a:cs typeface="Times New Roman" panose="02020603050405020304" pitchFamily="18" charset="0"/>
            </a:endParaRPr>
          </a:p>
          <a:p>
            <a:pPr marL="1350" algn="just">
              <a:buClr>
                <a:srgbClr val="000000"/>
              </a:buClr>
            </a:pPr>
            <a:endParaRPr lang="en-US" sz="3360" spc="-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5466050"/>
      </p:ext>
    </p:extLst>
  </p:cSld>
  <p:clrMapOvr>
    <a:masterClrMapping/>
  </p:clrMapOvr>
  <p:transition spd="slow">
    <p:push dir="u"/>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 name="CustomShape 2"/>
          <p:cNvSpPr/>
          <p:nvPr/>
        </p:nvSpPr>
        <p:spPr>
          <a:xfrm>
            <a:off x="8473620" y="5963761"/>
            <a:ext cx="2558520" cy="427410"/>
          </a:xfrm>
          <a:prstGeom prst="rect">
            <a:avLst/>
          </a:prstGeom>
          <a:noFill/>
          <a:ln w="9360">
            <a:noFill/>
          </a:ln>
        </p:spPr>
        <p:style>
          <a:lnRef idx="0">
            <a:scrgbClr r="0" g="0" b="0"/>
          </a:lnRef>
          <a:fillRef idx="0">
            <a:scrgbClr r="0" g="0" b="0"/>
          </a:fillRef>
          <a:effectRef idx="0">
            <a:scrgbClr r="0" g="0" b="0"/>
          </a:effectRef>
          <a:fontRef idx="minor"/>
        </p:style>
        <p:txBody>
          <a:bodyPr lIns="92070" tIns="45900" rIns="92070" bIns="45900">
            <a:noAutofit/>
          </a:bodyPr>
          <a:lstStyle/>
          <a:p>
            <a:pPr algn="r">
              <a:lnSpc>
                <a:spcPct val="100000"/>
              </a:lnSpc>
            </a:pPr>
            <a:fld id="{40DDD48B-D59C-4B6A-9E92-0BA4AB55B729}" type="slidenum">
              <a:rPr lang="en-US" sz="1350" spc="-1" baseline="-12000">
                <a:solidFill>
                  <a:srgbClr val="000000"/>
                </a:solidFill>
                <a:latin typeface="Arial"/>
                <a:ea typeface="DejaVu Sans"/>
              </a:rPr>
              <a:t>96</a:t>
            </a:fld>
            <a:endParaRPr lang="en-US" sz="1350" spc="-1">
              <a:latin typeface="Arial"/>
            </a:endParaRPr>
          </a:p>
        </p:txBody>
      </p:sp>
      <p:sp>
        <p:nvSpPr>
          <p:cNvPr id="309" name="CustomShape 5"/>
          <p:cNvSpPr/>
          <p:nvPr/>
        </p:nvSpPr>
        <p:spPr>
          <a:xfrm>
            <a:off x="3311221" y="6185431"/>
            <a:ext cx="184410" cy="299970"/>
          </a:xfrm>
          <a:prstGeom prst="rect">
            <a:avLst/>
          </a:prstGeom>
          <a:noFill/>
          <a:ln w="9360">
            <a:noFill/>
          </a:ln>
        </p:spPr>
        <p:style>
          <a:lnRef idx="0">
            <a:scrgbClr r="0" g="0" b="0"/>
          </a:lnRef>
          <a:fillRef idx="0">
            <a:scrgbClr r="0" g="0" b="0"/>
          </a:fillRef>
          <a:effectRef idx="0">
            <a:scrgbClr r="0" g="0" b="0"/>
          </a:effectRef>
          <a:fontRef idx="minor"/>
        </p:style>
      </p:sp>
      <p:sp>
        <p:nvSpPr>
          <p:cNvPr id="311" name="CustomShape 7"/>
          <p:cNvSpPr/>
          <p:nvPr/>
        </p:nvSpPr>
        <p:spPr>
          <a:xfrm>
            <a:off x="883920" y="45721"/>
            <a:ext cx="10008360" cy="6002006"/>
          </a:xfrm>
          <a:prstGeom prst="rect">
            <a:avLst/>
          </a:prstGeom>
          <a:noFill/>
          <a:ln w="9360">
            <a:noFill/>
          </a:ln>
        </p:spPr>
        <p:style>
          <a:lnRef idx="0">
            <a:scrgbClr r="0" g="0" b="0"/>
          </a:lnRef>
          <a:fillRef idx="0">
            <a:scrgbClr r="0" g="0" b="0"/>
          </a:fillRef>
          <a:effectRef idx="0">
            <a:scrgbClr r="0" g="0" b="0"/>
          </a:effectRef>
          <a:fontRef idx="minor"/>
        </p:style>
        <p:txBody>
          <a:bodyPr lIns="92070" tIns="45900" rIns="92070" bIns="45900">
            <a:spAutoFit/>
          </a:bodyPr>
          <a:lstStyle/>
          <a:p>
            <a:pPr algn="just"/>
            <a:r>
              <a:rPr lang="en-US" sz="2400" b="1" u="sng" spc="-1" baseline="-12000">
                <a:solidFill>
                  <a:srgbClr val="3366FF"/>
                </a:solidFill>
                <a:latin typeface="Times New Roman" panose="02020603050405020304" pitchFamily="18" charset="0"/>
                <a:ea typeface="DejaVu Sans"/>
                <a:cs typeface="Times New Roman" panose="02020603050405020304" pitchFamily="18" charset="0"/>
              </a:rPr>
              <a:t>Simple selector:</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&lt;html&gt;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&lt;head&gt;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&lt;title&gt;Simple Selector&lt;/title&gt;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&lt;style type="text/</a:t>
            </a:r>
            <a:r>
              <a:rPr lang="en-US" sz="2400" b="1" spc="-1" baseline="-12000" err="1">
                <a:solidFill>
                  <a:srgbClr val="000000"/>
                </a:solidFill>
                <a:latin typeface="Times New Roman" panose="02020603050405020304" pitchFamily="18" charset="0"/>
                <a:ea typeface="DejaVu Sans"/>
                <a:cs typeface="Times New Roman" panose="02020603050405020304" pitchFamily="18" charset="0"/>
              </a:rPr>
              <a:t>css</a:t>
            </a:r>
            <a:r>
              <a:rPr lang="en-US" sz="2400" b="1" spc="-1" baseline="-12000">
                <a:solidFill>
                  <a:srgbClr val="000000"/>
                </a:solidFill>
                <a:latin typeface="Times New Roman" panose="02020603050405020304" pitchFamily="18" charset="0"/>
                <a:ea typeface="DejaVu Sans"/>
                <a:cs typeface="Times New Roman" panose="02020603050405020304" pitchFamily="18" charset="0"/>
              </a:rPr>
              <a:t>"&gt;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h1</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a:t>
            </a:r>
            <a:endParaRPr lang="en-US" sz="2400" spc="-1">
              <a:latin typeface="Times New Roman" panose="02020603050405020304" pitchFamily="18" charset="0"/>
              <a:cs typeface="Times New Roman" panose="02020603050405020304" pitchFamily="18" charset="0"/>
            </a:endParaRPr>
          </a:p>
          <a:p>
            <a:pPr algn="just"/>
            <a:r>
              <a:rPr lang="en-US" sz="2400" b="1" spc="-1" baseline="-12000" err="1">
                <a:solidFill>
                  <a:srgbClr val="000000"/>
                </a:solidFill>
                <a:latin typeface="Times New Roman" panose="02020603050405020304" pitchFamily="18" charset="0"/>
                <a:ea typeface="DejaVu Sans"/>
                <a:cs typeface="Times New Roman" panose="02020603050405020304" pitchFamily="18" charset="0"/>
              </a:rPr>
              <a:t>font-family:Arial</a:t>
            </a:r>
            <a:r>
              <a:rPr lang="en-US" sz="2400" b="1" spc="-1" baseline="-12000">
                <a:solidFill>
                  <a:srgbClr val="000000"/>
                </a:solidFill>
                <a:latin typeface="Times New Roman" panose="02020603050405020304" pitchFamily="18" charset="0"/>
                <a:ea typeface="DejaVu Sans"/>
                <a:cs typeface="Times New Roman" panose="02020603050405020304" pitchFamily="18" charset="0"/>
              </a:rPr>
              <a:t>;</a:t>
            </a:r>
            <a:endParaRPr lang="en-US" sz="2400" spc="-1">
              <a:latin typeface="Times New Roman" panose="02020603050405020304" pitchFamily="18" charset="0"/>
              <a:cs typeface="Times New Roman" panose="02020603050405020304" pitchFamily="18" charset="0"/>
            </a:endParaRPr>
          </a:p>
          <a:p>
            <a:pPr algn="just"/>
            <a:r>
              <a:rPr lang="en-US" sz="2400" b="1" spc="-1" baseline="-12000" err="1">
                <a:solidFill>
                  <a:srgbClr val="000000"/>
                </a:solidFill>
                <a:latin typeface="Times New Roman" panose="02020603050405020304" pitchFamily="18" charset="0"/>
                <a:ea typeface="DejaVu Sans"/>
                <a:cs typeface="Times New Roman" panose="02020603050405020304" pitchFamily="18" charset="0"/>
              </a:rPr>
              <a:t>color:green</a:t>
            </a:r>
            <a:r>
              <a:rPr lang="en-US" sz="2400" b="1" spc="-1" baseline="-12000">
                <a:solidFill>
                  <a:srgbClr val="000000"/>
                </a:solidFill>
                <a:latin typeface="Times New Roman" panose="02020603050405020304" pitchFamily="18" charset="0"/>
                <a:ea typeface="DejaVu Sans"/>
                <a:cs typeface="Times New Roman" panose="02020603050405020304" pitchFamily="18" charset="0"/>
              </a:rPr>
              <a: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&lt;/style&gt;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&lt;/head&gt;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&lt;body&gt;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&lt;h1&gt;India is My Country&lt;/h1&gt;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&lt;/body&gt;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&lt;/html&gt;</a:t>
            </a:r>
            <a:endParaRPr lang="en-US" sz="2400" spc="-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5619314"/>
      </p:ext>
    </p:extLst>
  </p:cSld>
  <p:clrMapOvr>
    <a:masterClrMapping/>
  </p:clrMapOvr>
  <p:transition spd="slow">
    <p:push dir="u"/>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 name="CustomShape 2"/>
          <p:cNvSpPr/>
          <p:nvPr/>
        </p:nvSpPr>
        <p:spPr>
          <a:xfrm>
            <a:off x="8473620" y="5963761"/>
            <a:ext cx="2558520" cy="427410"/>
          </a:xfrm>
          <a:prstGeom prst="rect">
            <a:avLst/>
          </a:prstGeom>
          <a:noFill/>
          <a:ln w="9360">
            <a:noFill/>
          </a:ln>
        </p:spPr>
        <p:style>
          <a:lnRef idx="0">
            <a:scrgbClr r="0" g="0" b="0"/>
          </a:lnRef>
          <a:fillRef idx="0">
            <a:scrgbClr r="0" g="0" b="0"/>
          </a:fillRef>
          <a:effectRef idx="0">
            <a:scrgbClr r="0" g="0" b="0"/>
          </a:effectRef>
          <a:fontRef idx="minor"/>
        </p:style>
        <p:txBody>
          <a:bodyPr lIns="92070" tIns="45900" rIns="92070" bIns="45900">
            <a:noAutofit/>
          </a:bodyPr>
          <a:lstStyle/>
          <a:p>
            <a:pPr algn="r">
              <a:lnSpc>
                <a:spcPct val="100000"/>
              </a:lnSpc>
            </a:pPr>
            <a:fld id="{1544C5F8-5B62-409F-AE88-6010D493904E}" type="slidenum">
              <a:rPr lang="en-US" sz="1350" spc="-1" baseline="-12000">
                <a:solidFill>
                  <a:srgbClr val="000000"/>
                </a:solidFill>
                <a:latin typeface="Arial"/>
                <a:ea typeface="DejaVu Sans"/>
              </a:rPr>
              <a:t>97</a:t>
            </a:fld>
            <a:endParaRPr lang="en-US" sz="1350" spc="-1">
              <a:latin typeface="Arial"/>
            </a:endParaRPr>
          </a:p>
        </p:txBody>
      </p:sp>
      <p:sp>
        <p:nvSpPr>
          <p:cNvPr id="316" name="CustomShape 5"/>
          <p:cNvSpPr/>
          <p:nvPr/>
        </p:nvSpPr>
        <p:spPr>
          <a:xfrm>
            <a:off x="3311221" y="6185431"/>
            <a:ext cx="184410" cy="299970"/>
          </a:xfrm>
          <a:prstGeom prst="rect">
            <a:avLst/>
          </a:prstGeom>
          <a:noFill/>
          <a:ln w="9360">
            <a:noFill/>
          </a:ln>
        </p:spPr>
        <p:style>
          <a:lnRef idx="0">
            <a:scrgbClr r="0" g="0" b="0"/>
          </a:lnRef>
          <a:fillRef idx="0">
            <a:scrgbClr r="0" g="0" b="0"/>
          </a:fillRef>
          <a:effectRef idx="0">
            <a:scrgbClr r="0" g="0" b="0"/>
          </a:effectRef>
          <a:fontRef idx="minor"/>
        </p:style>
      </p:sp>
      <p:sp>
        <p:nvSpPr>
          <p:cNvPr id="318" name="CustomShape 7"/>
          <p:cNvSpPr/>
          <p:nvPr/>
        </p:nvSpPr>
        <p:spPr>
          <a:xfrm>
            <a:off x="975360" y="1"/>
            <a:ext cx="10008360" cy="5632675"/>
          </a:xfrm>
          <a:prstGeom prst="rect">
            <a:avLst/>
          </a:prstGeom>
          <a:noFill/>
          <a:ln w="9360">
            <a:noFill/>
          </a:ln>
        </p:spPr>
        <p:style>
          <a:lnRef idx="0">
            <a:scrgbClr r="0" g="0" b="0"/>
          </a:lnRef>
          <a:fillRef idx="0">
            <a:scrgbClr r="0" g="0" b="0"/>
          </a:fillRef>
          <a:effectRef idx="0">
            <a:scrgbClr r="0" g="0" b="0"/>
          </a:effectRef>
          <a:fontRef idx="minor"/>
        </p:style>
        <p:txBody>
          <a:bodyPr lIns="92070" tIns="45900" rIns="92070" bIns="45900">
            <a:spAutoFit/>
          </a:bodyPr>
          <a:lstStyle/>
          <a:p>
            <a:pPr algn="just"/>
            <a:r>
              <a:rPr lang="en-US" sz="2400" b="1" u="sng" spc="-1" baseline="-12000">
                <a:solidFill>
                  <a:srgbClr val="3366FF"/>
                </a:solidFill>
                <a:latin typeface="Times New Roman" panose="02020603050405020304" pitchFamily="18" charset="0"/>
                <a:ea typeface="DejaVu Sans"/>
                <a:cs typeface="Times New Roman" panose="02020603050405020304" pitchFamily="18" charset="0"/>
              </a:rPr>
              <a:t>Universal selector(*):</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&lt;html&gt;&lt;head&gt;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&lt;title&gt;Universal Selector&lt;/title&gt;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&lt;style type="text/</a:t>
            </a:r>
            <a:r>
              <a:rPr lang="en-US" sz="2400" b="1" spc="-1" baseline="-12000" err="1">
                <a:solidFill>
                  <a:srgbClr val="000000"/>
                </a:solidFill>
                <a:latin typeface="Times New Roman" panose="02020603050405020304" pitchFamily="18" charset="0"/>
                <a:ea typeface="DejaVu Sans"/>
                <a:cs typeface="Times New Roman" panose="02020603050405020304" pitchFamily="18" charset="0"/>
              </a:rPr>
              <a:t>css</a:t>
            </a:r>
            <a:r>
              <a:rPr lang="en-US" sz="2400" b="1" spc="-1" baseline="-12000">
                <a:solidFill>
                  <a:srgbClr val="000000"/>
                </a:solidFill>
                <a:latin typeface="Times New Roman" panose="02020603050405020304" pitchFamily="18" charset="0"/>
                <a:ea typeface="DejaVu Sans"/>
                <a:cs typeface="Times New Roman" panose="02020603050405020304" pitchFamily="18" charset="0"/>
              </a:rPr>
              <a:t>"&gt;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a:t>
            </a:r>
            <a:endParaRPr lang="en-US" sz="2400" spc="-1">
              <a:latin typeface="Times New Roman" panose="02020603050405020304" pitchFamily="18" charset="0"/>
              <a:cs typeface="Times New Roman" panose="02020603050405020304" pitchFamily="18" charset="0"/>
            </a:endParaRPr>
          </a:p>
          <a:p>
            <a:pPr algn="just"/>
            <a:r>
              <a:rPr lang="en-US" sz="2400" b="1" spc="-1" baseline="-12000" err="1">
                <a:solidFill>
                  <a:srgbClr val="000000"/>
                </a:solidFill>
                <a:latin typeface="Times New Roman" panose="02020603050405020304" pitchFamily="18" charset="0"/>
                <a:ea typeface="DejaVu Sans"/>
                <a:cs typeface="Times New Roman" panose="02020603050405020304" pitchFamily="18" charset="0"/>
              </a:rPr>
              <a:t>font-family:Arial</a:t>
            </a:r>
            <a:r>
              <a:rPr lang="en-US" sz="2400" b="1" spc="-1" baseline="-12000">
                <a:solidFill>
                  <a:srgbClr val="000000"/>
                </a:solidFill>
                <a:latin typeface="Times New Roman" panose="02020603050405020304" pitchFamily="18" charset="0"/>
                <a:ea typeface="DejaVu Sans"/>
                <a:cs typeface="Times New Roman" panose="02020603050405020304" pitchFamily="18" charset="0"/>
              </a:rPr>
              <a:t>;</a:t>
            </a:r>
            <a:endParaRPr lang="en-US" sz="2400" spc="-1">
              <a:latin typeface="Times New Roman" panose="02020603050405020304" pitchFamily="18" charset="0"/>
              <a:cs typeface="Times New Roman" panose="02020603050405020304" pitchFamily="18" charset="0"/>
            </a:endParaRPr>
          </a:p>
          <a:p>
            <a:pPr algn="just"/>
            <a:r>
              <a:rPr lang="en-US" sz="2400" b="1" spc="-1" baseline="-12000" err="1">
                <a:solidFill>
                  <a:srgbClr val="000000"/>
                </a:solidFill>
                <a:latin typeface="Times New Roman" panose="02020603050405020304" pitchFamily="18" charset="0"/>
                <a:ea typeface="DejaVu Sans"/>
                <a:cs typeface="Times New Roman" panose="02020603050405020304" pitchFamily="18" charset="0"/>
              </a:rPr>
              <a:t>color:blue</a:t>
            </a:r>
            <a:r>
              <a:rPr lang="en-US" sz="2400" b="1" spc="-1" baseline="-12000">
                <a:solidFill>
                  <a:srgbClr val="000000"/>
                </a:solidFill>
                <a:latin typeface="Times New Roman" panose="02020603050405020304" pitchFamily="18" charset="0"/>
                <a:ea typeface="DejaVu Sans"/>
                <a:cs typeface="Times New Roman" panose="02020603050405020304" pitchFamily="18" charset="0"/>
              </a:rPr>
              <a: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&lt;/style&gt;&lt;/head&gt;&lt;body&gt;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&lt;h1&gt;Welcome to VIT AP&lt;/h1&gt;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&lt;h2&gt;Amaravati&lt;/h2&gt;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&lt;h3&gt;AP&lt;/h3&gt;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&lt;/body&gt;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&lt;/html&gt;</a:t>
            </a:r>
            <a:endParaRPr lang="en-US" sz="2400" spc="-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0260722"/>
      </p:ext>
    </p:extLst>
  </p:cSld>
  <p:clrMapOvr>
    <a:masterClrMapping/>
  </p:clrMapOvr>
  <p:transition spd="slow">
    <p:push dir="u"/>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 name="CustomShape 2"/>
          <p:cNvSpPr/>
          <p:nvPr/>
        </p:nvSpPr>
        <p:spPr>
          <a:xfrm>
            <a:off x="8473620" y="5963761"/>
            <a:ext cx="2558520" cy="427410"/>
          </a:xfrm>
          <a:prstGeom prst="rect">
            <a:avLst/>
          </a:prstGeom>
          <a:noFill/>
          <a:ln w="9360">
            <a:noFill/>
          </a:ln>
        </p:spPr>
        <p:style>
          <a:lnRef idx="0">
            <a:scrgbClr r="0" g="0" b="0"/>
          </a:lnRef>
          <a:fillRef idx="0">
            <a:scrgbClr r="0" g="0" b="0"/>
          </a:fillRef>
          <a:effectRef idx="0">
            <a:scrgbClr r="0" g="0" b="0"/>
          </a:effectRef>
          <a:fontRef idx="minor"/>
        </p:style>
        <p:txBody>
          <a:bodyPr lIns="92070" tIns="45900" rIns="92070" bIns="45900">
            <a:noAutofit/>
          </a:bodyPr>
          <a:lstStyle/>
          <a:p>
            <a:pPr algn="r">
              <a:lnSpc>
                <a:spcPct val="100000"/>
              </a:lnSpc>
            </a:pPr>
            <a:fld id="{A30A1D6A-C5BA-417E-96E9-2A756ACF2C0D}" type="slidenum">
              <a:rPr lang="en-US" sz="1350" spc="-1" baseline="-12000">
                <a:solidFill>
                  <a:srgbClr val="000000"/>
                </a:solidFill>
                <a:latin typeface="Arial"/>
                <a:ea typeface="DejaVu Sans"/>
              </a:rPr>
              <a:t>98</a:t>
            </a:fld>
            <a:endParaRPr lang="en-US" sz="1350" spc="-1">
              <a:latin typeface="Arial"/>
            </a:endParaRPr>
          </a:p>
        </p:txBody>
      </p:sp>
      <p:sp>
        <p:nvSpPr>
          <p:cNvPr id="323" name="CustomShape 5"/>
          <p:cNvSpPr/>
          <p:nvPr/>
        </p:nvSpPr>
        <p:spPr>
          <a:xfrm>
            <a:off x="3311221" y="6185431"/>
            <a:ext cx="184410" cy="299970"/>
          </a:xfrm>
          <a:prstGeom prst="rect">
            <a:avLst/>
          </a:prstGeom>
          <a:noFill/>
          <a:ln w="9360">
            <a:noFill/>
          </a:ln>
        </p:spPr>
        <p:style>
          <a:lnRef idx="0">
            <a:scrgbClr r="0" g="0" b="0"/>
          </a:lnRef>
          <a:fillRef idx="0">
            <a:scrgbClr r="0" g="0" b="0"/>
          </a:fillRef>
          <a:effectRef idx="0">
            <a:scrgbClr r="0" g="0" b="0"/>
          </a:effectRef>
          <a:fontRef idx="minor"/>
        </p:style>
      </p:sp>
      <p:sp>
        <p:nvSpPr>
          <p:cNvPr id="325" name="CustomShape 7"/>
          <p:cNvSpPr/>
          <p:nvPr/>
        </p:nvSpPr>
        <p:spPr>
          <a:xfrm>
            <a:off x="933960" y="-137160"/>
            <a:ext cx="10008360" cy="7110002"/>
          </a:xfrm>
          <a:prstGeom prst="rect">
            <a:avLst/>
          </a:prstGeom>
          <a:noFill/>
          <a:ln w="9360">
            <a:noFill/>
          </a:ln>
        </p:spPr>
        <p:style>
          <a:lnRef idx="0">
            <a:scrgbClr r="0" g="0" b="0"/>
          </a:lnRef>
          <a:fillRef idx="0">
            <a:scrgbClr r="0" g="0" b="0"/>
          </a:fillRef>
          <a:effectRef idx="0">
            <a:scrgbClr r="0" g="0" b="0"/>
          </a:effectRef>
          <a:fontRef idx="minor"/>
        </p:style>
        <p:txBody>
          <a:bodyPr lIns="92070" tIns="45900" rIns="92070" bIns="45900">
            <a:spAutoFit/>
          </a:bodyPr>
          <a:lstStyle/>
          <a:p>
            <a:pPr algn="just"/>
            <a:r>
              <a:rPr lang="en-US" sz="2400" b="1" u="sng" spc="-1" baseline="-12000">
                <a:solidFill>
                  <a:srgbClr val="3366FF"/>
                </a:solidFill>
                <a:latin typeface="Times New Roman" panose="02020603050405020304" pitchFamily="18" charset="0"/>
                <a:ea typeface="DejaVu Sans"/>
                <a:cs typeface="Times New Roman" panose="02020603050405020304" pitchFamily="18" charset="0"/>
              </a:rPr>
              <a:t>Class selector:</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&lt;html&gt;&lt;head&gt;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&lt;title&gt;Class Selector&lt;/title&gt;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&lt;style type="text/</a:t>
            </a:r>
            <a:r>
              <a:rPr lang="en-US" sz="2400" b="1" spc="-1" baseline="-12000" err="1">
                <a:solidFill>
                  <a:srgbClr val="000000"/>
                </a:solidFill>
                <a:latin typeface="Times New Roman" panose="02020603050405020304" pitchFamily="18" charset="0"/>
                <a:ea typeface="DejaVu Sans"/>
                <a:cs typeface="Times New Roman" panose="02020603050405020304" pitchFamily="18" charset="0"/>
              </a:rPr>
              <a:t>css</a:t>
            </a:r>
            <a:r>
              <a:rPr lang="en-US" sz="2400" b="1" spc="-1" baseline="-12000">
                <a:solidFill>
                  <a:srgbClr val="000000"/>
                </a:solidFill>
                <a:latin typeface="Times New Roman" panose="02020603050405020304" pitchFamily="18" charset="0"/>
                <a:ea typeface="DejaVu Sans"/>
                <a:cs typeface="Times New Roman" panose="02020603050405020304" pitchFamily="18" charset="0"/>
              </a:rPr>
              <a:t>"&gt;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h1.RedText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a:t>
            </a:r>
            <a:endParaRPr lang="en-US" sz="2400" spc="-1">
              <a:latin typeface="Times New Roman" panose="02020603050405020304" pitchFamily="18" charset="0"/>
              <a:cs typeface="Times New Roman" panose="02020603050405020304" pitchFamily="18" charset="0"/>
            </a:endParaRPr>
          </a:p>
          <a:p>
            <a:pPr algn="just"/>
            <a:r>
              <a:rPr lang="en-US" sz="2400" b="1" spc="-1" baseline="-12000" err="1">
                <a:solidFill>
                  <a:srgbClr val="000000"/>
                </a:solidFill>
                <a:latin typeface="Times New Roman" panose="02020603050405020304" pitchFamily="18" charset="0"/>
                <a:ea typeface="DejaVu Sans"/>
                <a:cs typeface="Times New Roman" panose="02020603050405020304" pitchFamily="18" charset="0"/>
              </a:rPr>
              <a:t>font-family:Arial</a:t>
            </a:r>
            <a:r>
              <a:rPr lang="en-US" sz="2400" b="1" spc="-1" baseline="-12000">
                <a:solidFill>
                  <a:srgbClr val="000000"/>
                </a:solidFill>
                <a:latin typeface="Times New Roman" panose="02020603050405020304" pitchFamily="18" charset="0"/>
                <a:ea typeface="DejaVu Sans"/>
                <a:cs typeface="Times New Roman" panose="02020603050405020304" pitchFamily="18" charset="0"/>
              </a:rPr>
              <a:t>;</a:t>
            </a:r>
            <a:endParaRPr lang="en-US" sz="2400" spc="-1">
              <a:latin typeface="Times New Roman" panose="02020603050405020304" pitchFamily="18" charset="0"/>
              <a:cs typeface="Times New Roman" panose="02020603050405020304" pitchFamily="18" charset="0"/>
            </a:endParaRPr>
          </a:p>
          <a:p>
            <a:pPr algn="just"/>
            <a:r>
              <a:rPr lang="en-US" sz="2400" b="1" spc="-1" baseline="-12000" err="1">
                <a:solidFill>
                  <a:srgbClr val="000000"/>
                </a:solidFill>
                <a:latin typeface="Times New Roman" panose="02020603050405020304" pitchFamily="18" charset="0"/>
                <a:ea typeface="DejaVu Sans"/>
                <a:cs typeface="Times New Roman" panose="02020603050405020304" pitchFamily="18" charset="0"/>
              </a:rPr>
              <a:t>color:red</a:t>
            </a:r>
            <a:r>
              <a:rPr lang="en-US" sz="2400" b="1" spc="-1" baseline="-12000">
                <a:solidFill>
                  <a:srgbClr val="000000"/>
                </a:solidFill>
                <a:latin typeface="Times New Roman" panose="02020603050405020304" pitchFamily="18" charset="0"/>
                <a:ea typeface="DejaVu Sans"/>
                <a:cs typeface="Times New Roman" panose="02020603050405020304" pitchFamily="18" charset="0"/>
              </a:rPr>
              <a: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h1.BlueText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a:t>
            </a:r>
            <a:endParaRPr lang="en-US" sz="2400" spc="-1">
              <a:latin typeface="Times New Roman" panose="02020603050405020304" pitchFamily="18" charset="0"/>
              <a:cs typeface="Times New Roman" panose="02020603050405020304" pitchFamily="18" charset="0"/>
            </a:endParaRPr>
          </a:p>
          <a:p>
            <a:pPr algn="just"/>
            <a:r>
              <a:rPr lang="en-US" sz="2400" b="1" spc="-1" baseline="-12000" err="1">
                <a:solidFill>
                  <a:srgbClr val="000000"/>
                </a:solidFill>
                <a:latin typeface="Times New Roman" panose="02020603050405020304" pitchFamily="18" charset="0"/>
                <a:ea typeface="DejaVu Sans"/>
                <a:cs typeface="Times New Roman" panose="02020603050405020304" pitchFamily="18" charset="0"/>
              </a:rPr>
              <a:t>font-family:Monotype</a:t>
            </a:r>
            <a:r>
              <a:rPr lang="en-US" sz="2400" b="1" spc="-1" baseline="-12000">
                <a:solidFill>
                  <a:srgbClr val="000000"/>
                </a:solidFill>
                <a:latin typeface="Times New Roman" panose="02020603050405020304" pitchFamily="18" charset="0"/>
                <a:ea typeface="DejaVu Sans"/>
                <a:cs typeface="Times New Roman" panose="02020603050405020304" pitchFamily="18" charset="0"/>
              </a:rPr>
              <a:t> Corsiva;</a:t>
            </a:r>
            <a:endParaRPr lang="en-US" sz="2400" spc="-1">
              <a:latin typeface="Times New Roman" panose="02020603050405020304" pitchFamily="18" charset="0"/>
              <a:cs typeface="Times New Roman" panose="02020603050405020304" pitchFamily="18" charset="0"/>
            </a:endParaRPr>
          </a:p>
          <a:p>
            <a:pPr algn="just"/>
            <a:r>
              <a:rPr lang="en-US" sz="2400" b="1" spc="-1" baseline="-12000" err="1">
                <a:solidFill>
                  <a:srgbClr val="000000"/>
                </a:solidFill>
                <a:latin typeface="Times New Roman" panose="02020603050405020304" pitchFamily="18" charset="0"/>
                <a:ea typeface="DejaVu Sans"/>
                <a:cs typeface="Times New Roman" panose="02020603050405020304" pitchFamily="18" charset="0"/>
              </a:rPr>
              <a:t>color:blue</a:t>
            </a:r>
            <a:r>
              <a:rPr lang="en-US" sz="2400" b="1" spc="-1" baseline="-12000">
                <a:solidFill>
                  <a:srgbClr val="000000"/>
                </a:solidFill>
                <a:latin typeface="Times New Roman" panose="02020603050405020304" pitchFamily="18" charset="0"/>
                <a:ea typeface="DejaVu Sans"/>
                <a:cs typeface="Times New Roman" panose="02020603050405020304" pitchFamily="18" charset="0"/>
              </a:rPr>
              <a: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&lt;/style&gt;&lt;/head&gt;&lt;body&gt;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&lt;h1 class="</a:t>
            </a:r>
            <a:r>
              <a:rPr lang="en-US" sz="2400" b="1" spc="-1" baseline="-12000" err="1">
                <a:solidFill>
                  <a:srgbClr val="000000"/>
                </a:solidFill>
                <a:latin typeface="Times New Roman" panose="02020603050405020304" pitchFamily="18" charset="0"/>
                <a:ea typeface="DejaVu Sans"/>
                <a:cs typeface="Times New Roman" panose="02020603050405020304" pitchFamily="18" charset="0"/>
              </a:rPr>
              <a:t>RedText</a:t>
            </a:r>
            <a:r>
              <a:rPr lang="en-US" sz="2400" b="1" spc="-1" baseline="-12000">
                <a:solidFill>
                  <a:srgbClr val="000000"/>
                </a:solidFill>
                <a:latin typeface="Times New Roman" panose="02020603050405020304" pitchFamily="18" charset="0"/>
                <a:ea typeface="DejaVu Sans"/>
                <a:cs typeface="Times New Roman" panose="02020603050405020304" pitchFamily="18" charset="0"/>
              </a:rPr>
              <a:t>"&gt;Artificial Intelligence&lt;/h1&gt;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&lt;h1 class="</a:t>
            </a:r>
            <a:r>
              <a:rPr lang="en-US" sz="2400" b="1" spc="-1" baseline="-12000" err="1">
                <a:solidFill>
                  <a:srgbClr val="000000"/>
                </a:solidFill>
                <a:latin typeface="Times New Roman" panose="02020603050405020304" pitchFamily="18" charset="0"/>
                <a:ea typeface="DejaVu Sans"/>
                <a:cs typeface="Times New Roman" panose="02020603050405020304" pitchFamily="18" charset="0"/>
              </a:rPr>
              <a:t>BlueText</a:t>
            </a:r>
            <a:r>
              <a:rPr lang="en-US" sz="2400" b="1" spc="-1" baseline="-12000">
                <a:solidFill>
                  <a:srgbClr val="000000"/>
                </a:solidFill>
                <a:latin typeface="Times New Roman" panose="02020603050405020304" pitchFamily="18" charset="0"/>
                <a:ea typeface="DejaVu Sans"/>
                <a:cs typeface="Times New Roman" panose="02020603050405020304" pitchFamily="18" charset="0"/>
              </a:rPr>
              <a:t>"&gt;Machine Learning&lt;/h1&gt;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&lt;/body&gt;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&lt;/html&gt;</a:t>
            </a:r>
            <a:endParaRPr lang="en-US" sz="2400" spc="-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1426213"/>
      </p:ext>
    </p:extLst>
  </p:cSld>
  <p:clrMapOvr>
    <a:masterClrMapping/>
  </p:clrMapOvr>
  <p:transition spd="slow">
    <p:push dir="u"/>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 name="CustomShape 2"/>
          <p:cNvSpPr/>
          <p:nvPr/>
        </p:nvSpPr>
        <p:spPr>
          <a:xfrm>
            <a:off x="8473620" y="5963761"/>
            <a:ext cx="2558520" cy="427410"/>
          </a:xfrm>
          <a:prstGeom prst="rect">
            <a:avLst/>
          </a:prstGeom>
          <a:noFill/>
          <a:ln w="9360">
            <a:noFill/>
          </a:ln>
        </p:spPr>
        <p:style>
          <a:lnRef idx="0">
            <a:scrgbClr r="0" g="0" b="0"/>
          </a:lnRef>
          <a:fillRef idx="0">
            <a:scrgbClr r="0" g="0" b="0"/>
          </a:fillRef>
          <a:effectRef idx="0">
            <a:scrgbClr r="0" g="0" b="0"/>
          </a:effectRef>
          <a:fontRef idx="minor"/>
        </p:style>
        <p:txBody>
          <a:bodyPr lIns="92070" tIns="45900" rIns="92070" bIns="45900">
            <a:noAutofit/>
          </a:bodyPr>
          <a:lstStyle/>
          <a:p>
            <a:pPr algn="r">
              <a:lnSpc>
                <a:spcPct val="100000"/>
              </a:lnSpc>
            </a:pPr>
            <a:fld id="{61094725-64BE-4849-A950-3ED8379F9820}" type="slidenum">
              <a:rPr lang="en-US" sz="1350" spc="-1" baseline="-12000">
                <a:solidFill>
                  <a:srgbClr val="000000"/>
                </a:solidFill>
                <a:latin typeface="Arial"/>
                <a:ea typeface="DejaVu Sans"/>
              </a:rPr>
              <a:t>99</a:t>
            </a:fld>
            <a:endParaRPr lang="en-US" sz="1350" spc="-1">
              <a:latin typeface="Arial"/>
            </a:endParaRPr>
          </a:p>
        </p:txBody>
      </p:sp>
      <p:sp>
        <p:nvSpPr>
          <p:cNvPr id="330" name="CustomShape 5"/>
          <p:cNvSpPr/>
          <p:nvPr/>
        </p:nvSpPr>
        <p:spPr>
          <a:xfrm>
            <a:off x="3311221" y="6185431"/>
            <a:ext cx="184410" cy="299970"/>
          </a:xfrm>
          <a:prstGeom prst="rect">
            <a:avLst/>
          </a:prstGeom>
          <a:noFill/>
          <a:ln w="9360">
            <a:noFill/>
          </a:ln>
        </p:spPr>
        <p:style>
          <a:lnRef idx="0">
            <a:scrgbClr r="0" g="0" b="0"/>
          </a:lnRef>
          <a:fillRef idx="0">
            <a:scrgbClr r="0" g="0" b="0"/>
          </a:fillRef>
          <a:effectRef idx="0">
            <a:scrgbClr r="0" g="0" b="0"/>
          </a:effectRef>
          <a:fontRef idx="minor"/>
        </p:style>
      </p:sp>
      <p:sp>
        <p:nvSpPr>
          <p:cNvPr id="332" name="CustomShape 7"/>
          <p:cNvSpPr/>
          <p:nvPr/>
        </p:nvSpPr>
        <p:spPr>
          <a:xfrm>
            <a:off x="975360" y="1"/>
            <a:ext cx="10008360" cy="6371338"/>
          </a:xfrm>
          <a:prstGeom prst="rect">
            <a:avLst/>
          </a:prstGeom>
          <a:noFill/>
          <a:ln w="9360">
            <a:noFill/>
          </a:ln>
        </p:spPr>
        <p:style>
          <a:lnRef idx="0">
            <a:scrgbClr r="0" g="0" b="0"/>
          </a:lnRef>
          <a:fillRef idx="0">
            <a:scrgbClr r="0" g="0" b="0"/>
          </a:fillRef>
          <a:effectRef idx="0">
            <a:scrgbClr r="0" g="0" b="0"/>
          </a:effectRef>
          <a:fontRef idx="minor"/>
        </p:style>
        <p:txBody>
          <a:bodyPr lIns="92070" tIns="45900" rIns="92070" bIns="45900">
            <a:spAutoFit/>
          </a:bodyPr>
          <a:lstStyle/>
          <a:p>
            <a:pPr algn="just"/>
            <a:r>
              <a:rPr lang="en-US" sz="2400" b="1" u="sng" spc="-1" baseline="-12000">
                <a:solidFill>
                  <a:srgbClr val="3366FF"/>
                </a:solidFill>
                <a:latin typeface="Times New Roman" panose="02020603050405020304" pitchFamily="18" charset="0"/>
                <a:ea typeface="DejaVu Sans"/>
                <a:cs typeface="Times New Roman" panose="02020603050405020304" pitchFamily="18" charset="0"/>
              </a:rPr>
              <a:t>Generic selector:</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&lt;html&gt;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&lt;head&gt;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&lt;title&gt;Generic Selector&lt;/title&gt;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&lt;style type="text/</a:t>
            </a:r>
            <a:r>
              <a:rPr lang="en-US" sz="2400" b="1" spc="-1" baseline="-12000" err="1">
                <a:solidFill>
                  <a:srgbClr val="000000"/>
                </a:solidFill>
                <a:latin typeface="Times New Roman" panose="02020603050405020304" pitchFamily="18" charset="0"/>
                <a:ea typeface="DejaVu Sans"/>
                <a:cs typeface="Times New Roman" panose="02020603050405020304" pitchFamily="18" charset="0"/>
              </a:rPr>
              <a:t>css</a:t>
            </a:r>
            <a:r>
              <a:rPr lang="en-US" sz="2400" b="1" spc="-1" baseline="-12000">
                <a:solidFill>
                  <a:srgbClr val="000000"/>
                </a:solidFill>
                <a:latin typeface="Times New Roman" panose="02020603050405020304" pitchFamily="18" charset="0"/>
                <a:ea typeface="DejaVu Sans"/>
                <a:cs typeface="Times New Roman" panose="02020603050405020304" pitchFamily="18" charset="0"/>
              </a:rPr>
              <a:t>"&gt;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a:t>
            </a:r>
            <a:r>
              <a:rPr lang="en-US" sz="2400" b="1" spc="-1" baseline="-12000" err="1">
                <a:solidFill>
                  <a:srgbClr val="000000"/>
                </a:solidFill>
                <a:latin typeface="Times New Roman" panose="02020603050405020304" pitchFamily="18" charset="0"/>
                <a:ea typeface="DejaVu Sans"/>
                <a:cs typeface="Times New Roman" panose="02020603050405020304" pitchFamily="18" charset="0"/>
              </a:rPr>
              <a:t>RedText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a:t>
            </a:r>
            <a:endParaRPr lang="en-US" sz="2400" spc="-1">
              <a:latin typeface="Times New Roman" panose="02020603050405020304" pitchFamily="18" charset="0"/>
              <a:cs typeface="Times New Roman" panose="02020603050405020304" pitchFamily="18" charset="0"/>
            </a:endParaRPr>
          </a:p>
          <a:p>
            <a:pPr algn="just"/>
            <a:r>
              <a:rPr lang="en-US" sz="2400" b="1" spc="-1" baseline="-12000" err="1">
                <a:solidFill>
                  <a:srgbClr val="000000"/>
                </a:solidFill>
                <a:latin typeface="Times New Roman" panose="02020603050405020304" pitchFamily="18" charset="0"/>
                <a:ea typeface="DejaVu Sans"/>
                <a:cs typeface="Times New Roman" panose="02020603050405020304" pitchFamily="18" charset="0"/>
              </a:rPr>
              <a:t>font-family:Arial</a:t>
            </a:r>
            <a:r>
              <a:rPr lang="en-US" sz="2400" b="1" spc="-1" baseline="-12000">
                <a:solidFill>
                  <a:srgbClr val="000000"/>
                </a:solidFill>
                <a:latin typeface="Times New Roman" panose="02020603050405020304" pitchFamily="18" charset="0"/>
                <a:ea typeface="DejaVu Sans"/>
                <a:cs typeface="Times New Roman" panose="02020603050405020304" pitchFamily="18" charset="0"/>
              </a:rPr>
              <a:t>;</a:t>
            </a:r>
            <a:endParaRPr lang="en-US" sz="2400" spc="-1">
              <a:latin typeface="Times New Roman" panose="02020603050405020304" pitchFamily="18" charset="0"/>
              <a:cs typeface="Times New Roman" panose="02020603050405020304" pitchFamily="18" charset="0"/>
            </a:endParaRPr>
          </a:p>
          <a:p>
            <a:pPr algn="just"/>
            <a:r>
              <a:rPr lang="en-US" sz="2400" b="1" spc="-1" baseline="-12000" err="1">
                <a:solidFill>
                  <a:srgbClr val="000000"/>
                </a:solidFill>
                <a:latin typeface="Times New Roman" panose="02020603050405020304" pitchFamily="18" charset="0"/>
                <a:ea typeface="DejaVu Sans"/>
                <a:cs typeface="Times New Roman" panose="02020603050405020304" pitchFamily="18" charset="0"/>
              </a:rPr>
              <a:t>color:red</a:t>
            </a:r>
            <a:r>
              <a:rPr lang="en-US" sz="2400" b="1" spc="-1" baseline="-12000">
                <a:solidFill>
                  <a:srgbClr val="000000"/>
                </a:solidFill>
                <a:latin typeface="Times New Roman" panose="02020603050405020304" pitchFamily="18" charset="0"/>
                <a:ea typeface="DejaVu Sans"/>
                <a:cs typeface="Times New Roman" panose="02020603050405020304" pitchFamily="18" charset="0"/>
              </a:rPr>
              <a: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&lt;/style&gt;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&lt;/head&gt;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&lt;body&gt;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&lt;h2 class="</a:t>
            </a:r>
            <a:r>
              <a:rPr lang="en-US" sz="2400" b="1" spc="-1" baseline="-12000" err="1">
                <a:solidFill>
                  <a:srgbClr val="000000"/>
                </a:solidFill>
                <a:latin typeface="Times New Roman" panose="02020603050405020304" pitchFamily="18" charset="0"/>
                <a:ea typeface="DejaVu Sans"/>
                <a:cs typeface="Times New Roman" panose="02020603050405020304" pitchFamily="18" charset="0"/>
              </a:rPr>
              <a:t>RedText</a:t>
            </a:r>
            <a:r>
              <a:rPr lang="en-US" sz="2400" b="1" spc="-1" baseline="-12000">
                <a:solidFill>
                  <a:srgbClr val="000000"/>
                </a:solidFill>
                <a:latin typeface="Times New Roman" panose="02020603050405020304" pitchFamily="18" charset="0"/>
                <a:ea typeface="DejaVu Sans"/>
                <a:cs typeface="Times New Roman" panose="02020603050405020304" pitchFamily="18" charset="0"/>
              </a:rPr>
              <a:t>"&gt;Deep Learning&lt;/h2&gt;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&lt;p class="</a:t>
            </a:r>
            <a:r>
              <a:rPr lang="en-US" sz="2400" b="1" spc="-1" baseline="-12000" err="1">
                <a:solidFill>
                  <a:srgbClr val="000000"/>
                </a:solidFill>
                <a:latin typeface="Times New Roman" panose="02020603050405020304" pitchFamily="18" charset="0"/>
                <a:ea typeface="DejaVu Sans"/>
                <a:cs typeface="Times New Roman" panose="02020603050405020304" pitchFamily="18" charset="0"/>
              </a:rPr>
              <a:t>RedText</a:t>
            </a:r>
            <a:r>
              <a:rPr lang="en-US" sz="2400" b="1" spc="-1" baseline="-12000">
                <a:solidFill>
                  <a:srgbClr val="000000"/>
                </a:solidFill>
                <a:latin typeface="Times New Roman" panose="02020603050405020304" pitchFamily="18" charset="0"/>
                <a:ea typeface="DejaVu Sans"/>
                <a:cs typeface="Times New Roman" panose="02020603050405020304" pitchFamily="18" charset="0"/>
              </a:rPr>
              <a:t>"&gt; Artificial Intelligence &lt;/p&gt;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&lt;/body&gt;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&lt;/html&gt;</a:t>
            </a:r>
            <a:endParaRPr lang="en-US" sz="2400" spc="-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2235286"/>
      </p:ext>
    </p:extLst>
  </p:cSld>
  <p:clrMapOvr>
    <a:masterClrMapping/>
  </p:clrMapOvr>
  <p:transition spd="slow">
    <p:push dir="u"/>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 name="CustomShape 1"/>
          <p:cNvSpPr/>
          <p:nvPr/>
        </p:nvSpPr>
        <p:spPr>
          <a:xfrm>
            <a:off x="4358821" y="5963761"/>
            <a:ext cx="3473010" cy="427410"/>
          </a:xfrm>
          <a:prstGeom prst="rect">
            <a:avLst/>
          </a:prstGeom>
          <a:noFill/>
          <a:ln w="9360">
            <a:noFill/>
          </a:ln>
        </p:spPr>
        <p:style>
          <a:lnRef idx="0">
            <a:scrgbClr r="0" g="0" b="0"/>
          </a:lnRef>
          <a:fillRef idx="0">
            <a:scrgbClr r="0" g="0" b="0"/>
          </a:fillRef>
          <a:effectRef idx="0">
            <a:scrgbClr r="0" g="0" b="0"/>
          </a:effectRef>
          <a:fontRef idx="minor"/>
        </p:style>
        <p:txBody>
          <a:bodyPr lIns="92070" tIns="45900" rIns="92070" bIns="45900">
            <a:noAutofit/>
          </a:bodyPr>
          <a:lstStyle/>
          <a:p>
            <a:pPr algn="ctr">
              <a:lnSpc>
                <a:spcPct val="100000"/>
              </a:lnSpc>
            </a:pPr>
            <a:r>
              <a:rPr lang="en-US" sz="1350" spc="-1" baseline="-12000">
                <a:solidFill>
                  <a:srgbClr val="000000"/>
                </a:solidFill>
                <a:latin typeface="Arial"/>
                <a:ea typeface="DejaVu Sans"/>
              </a:rPr>
              <a:t>STM-boris beizer</a:t>
            </a:r>
            <a:endParaRPr lang="en-US" sz="1350" spc="-1">
              <a:latin typeface="Arial"/>
            </a:endParaRPr>
          </a:p>
        </p:txBody>
      </p:sp>
      <p:sp>
        <p:nvSpPr>
          <p:cNvPr id="334" name="CustomShape 2"/>
          <p:cNvSpPr/>
          <p:nvPr/>
        </p:nvSpPr>
        <p:spPr>
          <a:xfrm>
            <a:off x="8473620" y="5963761"/>
            <a:ext cx="2558520" cy="427410"/>
          </a:xfrm>
          <a:prstGeom prst="rect">
            <a:avLst/>
          </a:prstGeom>
          <a:noFill/>
          <a:ln w="9360">
            <a:noFill/>
          </a:ln>
        </p:spPr>
        <p:style>
          <a:lnRef idx="0">
            <a:scrgbClr r="0" g="0" b="0"/>
          </a:lnRef>
          <a:fillRef idx="0">
            <a:scrgbClr r="0" g="0" b="0"/>
          </a:fillRef>
          <a:effectRef idx="0">
            <a:scrgbClr r="0" g="0" b="0"/>
          </a:effectRef>
          <a:fontRef idx="minor"/>
        </p:style>
        <p:txBody>
          <a:bodyPr lIns="92070" tIns="45900" rIns="92070" bIns="45900">
            <a:noAutofit/>
          </a:bodyPr>
          <a:lstStyle/>
          <a:p>
            <a:pPr algn="r">
              <a:lnSpc>
                <a:spcPct val="100000"/>
              </a:lnSpc>
            </a:pPr>
            <a:fld id="{07C2C8CA-D4E2-4923-8CD4-FB21BEED7F4B}" type="slidenum">
              <a:rPr lang="en-US" sz="1350" spc="-1" baseline="-12000">
                <a:solidFill>
                  <a:srgbClr val="000000"/>
                </a:solidFill>
                <a:latin typeface="Arial"/>
                <a:ea typeface="DejaVu Sans"/>
              </a:rPr>
              <a:t>100</a:t>
            </a:fld>
            <a:endParaRPr lang="en-US" sz="1350" spc="-1">
              <a:latin typeface="Arial"/>
            </a:endParaRPr>
          </a:p>
        </p:txBody>
      </p:sp>
      <p:sp>
        <p:nvSpPr>
          <p:cNvPr id="335" name="CustomShape 3"/>
          <p:cNvSpPr/>
          <p:nvPr/>
        </p:nvSpPr>
        <p:spPr>
          <a:xfrm>
            <a:off x="1066710" y="959580"/>
            <a:ext cx="10148760" cy="5348160"/>
          </a:xfrm>
          <a:prstGeom prst="rect">
            <a:avLst/>
          </a:prstGeom>
          <a:solidFill>
            <a:srgbClr val="CECAD4"/>
          </a:solidFill>
          <a:ln w="9360">
            <a:solidFill>
              <a:srgbClr val="FF6600"/>
            </a:solidFill>
            <a:miter/>
          </a:ln>
        </p:spPr>
        <p:style>
          <a:lnRef idx="0">
            <a:scrgbClr r="0" g="0" b="0"/>
          </a:lnRef>
          <a:fillRef idx="0">
            <a:scrgbClr r="0" g="0" b="0"/>
          </a:fillRef>
          <a:effectRef idx="0">
            <a:scrgbClr r="0" g="0" b="0"/>
          </a:effectRef>
          <a:fontRef idx="minor"/>
        </p:style>
        <p:txBody>
          <a:bodyPr lIns="92070" tIns="45900" rIns="92070" bIns="45900">
            <a:noAutofit/>
          </a:bodyPr>
          <a:lstStyle/>
          <a:p>
            <a:pPr marL="343980" indent="-342630">
              <a:spcBef>
                <a:spcPts val="466"/>
              </a:spcBef>
            </a:pPr>
            <a:endParaRPr lang="en-US" sz="1350" spc="-1">
              <a:latin typeface="Arial"/>
            </a:endParaRPr>
          </a:p>
          <a:p>
            <a:pPr marL="343980" indent="-342630"/>
            <a:endParaRPr lang="en-US" sz="1350" spc="-1">
              <a:latin typeface="Arial"/>
            </a:endParaRPr>
          </a:p>
          <a:p>
            <a:pPr marL="747630" indent="-285660">
              <a:spcBef>
                <a:spcPts val="436"/>
              </a:spcBef>
            </a:pPr>
            <a:endParaRPr lang="en-US" sz="1350" spc="-1">
              <a:latin typeface="Arial"/>
            </a:endParaRPr>
          </a:p>
          <a:p>
            <a:pPr marL="747630" indent="-285660"/>
            <a:endParaRPr lang="en-US" sz="1350" spc="-1">
              <a:latin typeface="Arial"/>
            </a:endParaRPr>
          </a:p>
        </p:txBody>
      </p:sp>
      <p:sp>
        <p:nvSpPr>
          <p:cNvPr id="337" name="CustomShape 5"/>
          <p:cNvSpPr/>
          <p:nvPr/>
        </p:nvSpPr>
        <p:spPr>
          <a:xfrm>
            <a:off x="3311221" y="6185431"/>
            <a:ext cx="184410" cy="299970"/>
          </a:xfrm>
          <a:prstGeom prst="rect">
            <a:avLst/>
          </a:prstGeom>
          <a:noFill/>
          <a:ln w="9360">
            <a:noFill/>
          </a:ln>
        </p:spPr>
        <p:style>
          <a:lnRef idx="0">
            <a:scrgbClr r="0" g="0" b="0"/>
          </a:lnRef>
          <a:fillRef idx="0">
            <a:scrgbClr r="0" g="0" b="0"/>
          </a:fillRef>
          <a:effectRef idx="0">
            <a:scrgbClr r="0" g="0" b="0"/>
          </a:effectRef>
          <a:fontRef idx="minor"/>
        </p:style>
      </p:sp>
      <p:sp>
        <p:nvSpPr>
          <p:cNvPr id="338" name="CustomShape 6"/>
          <p:cNvSpPr/>
          <p:nvPr/>
        </p:nvSpPr>
        <p:spPr>
          <a:xfrm>
            <a:off x="1158511" y="959581"/>
            <a:ext cx="9965430" cy="5280390"/>
          </a:xfrm>
          <a:prstGeom prst="rect">
            <a:avLst/>
          </a:prstGeom>
          <a:solidFill>
            <a:schemeClr val="bg1"/>
          </a:solidFill>
          <a:ln w="9360">
            <a:solidFill>
              <a:schemeClr val="tx1"/>
            </a:solidFill>
            <a:miter/>
          </a:ln>
        </p:spPr>
        <p:style>
          <a:lnRef idx="0">
            <a:scrgbClr r="0" g="0" b="0"/>
          </a:lnRef>
          <a:fillRef idx="0">
            <a:scrgbClr r="0" g="0" b="0"/>
          </a:fillRef>
          <a:effectRef idx="0">
            <a:scrgbClr r="0" g="0" b="0"/>
          </a:effectRef>
          <a:fontRef idx="minor"/>
        </p:style>
      </p:sp>
      <p:sp>
        <p:nvSpPr>
          <p:cNvPr id="339" name="CustomShape 7"/>
          <p:cNvSpPr/>
          <p:nvPr/>
        </p:nvSpPr>
        <p:spPr>
          <a:xfrm>
            <a:off x="1158240" y="868680"/>
            <a:ext cx="10008360" cy="5263343"/>
          </a:xfrm>
          <a:prstGeom prst="rect">
            <a:avLst/>
          </a:prstGeom>
          <a:noFill/>
          <a:ln w="9360">
            <a:noFill/>
          </a:ln>
        </p:spPr>
        <p:style>
          <a:lnRef idx="0">
            <a:scrgbClr r="0" g="0" b="0"/>
          </a:lnRef>
          <a:fillRef idx="0">
            <a:scrgbClr r="0" g="0" b="0"/>
          </a:fillRef>
          <a:effectRef idx="0">
            <a:scrgbClr r="0" g="0" b="0"/>
          </a:effectRef>
          <a:fontRef idx="minor"/>
        </p:style>
        <p:txBody>
          <a:bodyPr lIns="92070" tIns="45900" rIns="92070" bIns="45900">
            <a:spAutoFit/>
          </a:bodyPr>
          <a:lstStyle/>
          <a:p>
            <a:pPr algn="just"/>
            <a:r>
              <a:rPr lang="en-US" sz="2400" b="1" u="sng" spc="-1" baseline="-12000" dirty="0">
                <a:solidFill>
                  <a:srgbClr val="3366FF"/>
                </a:solidFill>
                <a:latin typeface="Times New Roman" panose="02020603050405020304" pitchFamily="18" charset="0"/>
                <a:ea typeface="DejaVu Sans"/>
                <a:cs typeface="Times New Roman" panose="02020603050405020304" pitchFamily="18" charset="0"/>
              </a:rPr>
              <a:t>ID selector:</a:t>
            </a:r>
            <a:endParaRPr lang="en-US" sz="2400" spc="-1" dirty="0">
              <a:latin typeface="Times New Roman" panose="02020603050405020304" pitchFamily="18" charset="0"/>
              <a:cs typeface="Times New Roman" panose="02020603050405020304" pitchFamily="18" charset="0"/>
            </a:endParaRPr>
          </a:p>
          <a:p>
            <a:pPr algn="just"/>
            <a:r>
              <a:rPr lang="en-US" sz="2400" b="1" spc="-1" baseline="-12000" dirty="0">
                <a:solidFill>
                  <a:srgbClr val="000000"/>
                </a:solidFill>
                <a:latin typeface="Times New Roman" panose="02020603050405020304" pitchFamily="18" charset="0"/>
                <a:ea typeface="DejaVu Sans"/>
                <a:cs typeface="Times New Roman" panose="02020603050405020304" pitchFamily="18" charset="0"/>
              </a:rPr>
              <a:t>&lt;html&gt;&lt;head&gt;</a:t>
            </a:r>
            <a:endParaRPr lang="en-US" sz="2400" spc="-1" dirty="0">
              <a:latin typeface="Times New Roman" panose="02020603050405020304" pitchFamily="18" charset="0"/>
              <a:cs typeface="Times New Roman" panose="02020603050405020304" pitchFamily="18" charset="0"/>
            </a:endParaRPr>
          </a:p>
          <a:p>
            <a:pPr algn="just"/>
            <a:r>
              <a:rPr lang="en-US" sz="2400" b="1" spc="-1" baseline="-12000" dirty="0">
                <a:solidFill>
                  <a:srgbClr val="000000"/>
                </a:solidFill>
                <a:latin typeface="Times New Roman" panose="02020603050405020304" pitchFamily="18" charset="0"/>
                <a:ea typeface="DejaVu Sans"/>
                <a:cs typeface="Times New Roman" panose="02020603050405020304" pitchFamily="18" charset="0"/>
              </a:rPr>
              <a:t>&lt;title&gt;ID Selector&lt;/title&gt;</a:t>
            </a:r>
            <a:endParaRPr lang="en-US" sz="2400" spc="-1" dirty="0">
              <a:latin typeface="Times New Roman" panose="02020603050405020304" pitchFamily="18" charset="0"/>
              <a:cs typeface="Times New Roman" panose="02020603050405020304" pitchFamily="18" charset="0"/>
            </a:endParaRPr>
          </a:p>
          <a:p>
            <a:pPr algn="just"/>
            <a:r>
              <a:rPr lang="en-US" sz="2400" b="1" spc="-1" baseline="-12000" dirty="0">
                <a:solidFill>
                  <a:srgbClr val="000000"/>
                </a:solidFill>
                <a:latin typeface="Times New Roman" panose="02020603050405020304" pitchFamily="18" charset="0"/>
                <a:ea typeface="DejaVu Sans"/>
                <a:cs typeface="Times New Roman" panose="02020603050405020304" pitchFamily="18" charset="0"/>
              </a:rPr>
              <a:t>&lt;style type="text/</a:t>
            </a:r>
            <a:r>
              <a:rPr lang="en-US" sz="2400" b="1" spc="-1" baseline="-12000" dirty="0" err="1">
                <a:solidFill>
                  <a:srgbClr val="000000"/>
                </a:solidFill>
                <a:latin typeface="Times New Roman" panose="02020603050405020304" pitchFamily="18" charset="0"/>
                <a:ea typeface="DejaVu Sans"/>
                <a:cs typeface="Times New Roman" panose="02020603050405020304" pitchFamily="18" charset="0"/>
              </a:rPr>
              <a:t>css</a:t>
            </a:r>
            <a:r>
              <a:rPr lang="en-US" sz="2400" b="1" spc="-1" baseline="-12000" dirty="0">
                <a:solidFill>
                  <a:srgbClr val="000000"/>
                </a:solidFill>
                <a:latin typeface="Times New Roman" panose="02020603050405020304" pitchFamily="18" charset="0"/>
                <a:ea typeface="DejaVu Sans"/>
                <a:cs typeface="Times New Roman" panose="02020603050405020304" pitchFamily="18" charset="0"/>
              </a:rPr>
              <a:t>"&gt;</a:t>
            </a:r>
            <a:endParaRPr lang="en-US" sz="2400" spc="-1" dirty="0">
              <a:latin typeface="Times New Roman" panose="02020603050405020304" pitchFamily="18" charset="0"/>
              <a:cs typeface="Times New Roman" panose="02020603050405020304" pitchFamily="18" charset="0"/>
            </a:endParaRPr>
          </a:p>
          <a:p>
            <a:pPr algn="just"/>
            <a:r>
              <a:rPr lang="en-US" sz="2400" b="1" spc="-1" baseline="-12000" dirty="0">
                <a:solidFill>
                  <a:srgbClr val="000000"/>
                </a:solidFill>
                <a:latin typeface="Times New Roman" panose="02020603050405020304" pitchFamily="18" charset="0"/>
                <a:ea typeface="DejaVu Sans"/>
                <a:cs typeface="Times New Roman" panose="02020603050405020304" pitchFamily="18" charset="0"/>
              </a:rPr>
              <a:t>#top</a:t>
            </a:r>
            <a:endParaRPr lang="en-US" sz="2400" spc="-1" dirty="0">
              <a:latin typeface="Times New Roman" panose="02020603050405020304" pitchFamily="18" charset="0"/>
              <a:cs typeface="Times New Roman" panose="02020603050405020304" pitchFamily="18" charset="0"/>
            </a:endParaRPr>
          </a:p>
          <a:p>
            <a:pPr algn="just"/>
            <a:r>
              <a:rPr lang="en-US" sz="2400" b="1" spc="-1" baseline="-12000" dirty="0">
                <a:solidFill>
                  <a:srgbClr val="000000"/>
                </a:solidFill>
                <a:latin typeface="Times New Roman" panose="02020603050405020304" pitchFamily="18" charset="0"/>
                <a:ea typeface="DejaVu Sans"/>
                <a:cs typeface="Times New Roman" panose="02020603050405020304" pitchFamily="18" charset="0"/>
              </a:rPr>
              <a:t>{</a:t>
            </a:r>
            <a:endParaRPr lang="en-US" sz="2400" spc="-1" dirty="0">
              <a:latin typeface="Times New Roman" panose="02020603050405020304" pitchFamily="18" charset="0"/>
              <a:cs typeface="Times New Roman" panose="02020603050405020304" pitchFamily="18" charset="0"/>
            </a:endParaRPr>
          </a:p>
          <a:p>
            <a:pPr algn="just"/>
            <a:r>
              <a:rPr lang="en-US" sz="2400" b="1" spc="-1" baseline="-12000" dirty="0" err="1">
                <a:solidFill>
                  <a:srgbClr val="000000"/>
                </a:solidFill>
                <a:latin typeface="Times New Roman" panose="02020603050405020304" pitchFamily="18" charset="0"/>
                <a:ea typeface="DejaVu Sans"/>
                <a:cs typeface="Times New Roman" panose="02020603050405020304" pitchFamily="18" charset="0"/>
              </a:rPr>
              <a:t>font-family:Arial</a:t>
            </a:r>
            <a:r>
              <a:rPr lang="en-US" sz="2400" b="1" spc="-1" baseline="-12000" dirty="0">
                <a:solidFill>
                  <a:srgbClr val="000000"/>
                </a:solidFill>
                <a:latin typeface="Times New Roman" panose="02020603050405020304" pitchFamily="18" charset="0"/>
                <a:ea typeface="DejaVu Sans"/>
                <a:cs typeface="Times New Roman" panose="02020603050405020304" pitchFamily="18" charset="0"/>
              </a:rPr>
              <a:t>;</a:t>
            </a:r>
            <a:endParaRPr lang="en-US" sz="2400" spc="-1" dirty="0">
              <a:latin typeface="Times New Roman" panose="02020603050405020304" pitchFamily="18" charset="0"/>
              <a:cs typeface="Times New Roman" panose="02020603050405020304" pitchFamily="18" charset="0"/>
            </a:endParaRPr>
          </a:p>
          <a:p>
            <a:pPr algn="just"/>
            <a:r>
              <a:rPr lang="en-US" sz="2400" b="1" spc="-1" baseline="-12000" dirty="0" err="1">
                <a:solidFill>
                  <a:srgbClr val="000000"/>
                </a:solidFill>
                <a:latin typeface="Times New Roman" panose="02020603050405020304" pitchFamily="18" charset="0"/>
                <a:ea typeface="DejaVu Sans"/>
                <a:cs typeface="Times New Roman" panose="02020603050405020304" pitchFamily="18" charset="0"/>
              </a:rPr>
              <a:t>color:red</a:t>
            </a:r>
            <a:r>
              <a:rPr lang="en-US" sz="2400" b="1" spc="-1" baseline="-12000" dirty="0">
                <a:solidFill>
                  <a:srgbClr val="000000"/>
                </a:solidFill>
                <a:latin typeface="Times New Roman" panose="02020603050405020304" pitchFamily="18" charset="0"/>
                <a:ea typeface="DejaVu Sans"/>
                <a:cs typeface="Times New Roman" panose="02020603050405020304" pitchFamily="18" charset="0"/>
              </a:rPr>
              <a:t>;</a:t>
            </a:r>
            <a:endParaRPr lang="en-US" sz="2400" spc="-1" dirty="0">
              <a:latin typeface="Times New Roman" panose="02020603050405020304" pitchFamily="18" charset="0"/>
              <a:cs typeface="Times New Roman" panose="02020603050405020304" pitchFamily="18" charset="0"/>
            </a:endParaRPr>
          </a:p>
          <a:p>
            <a:pPr algn="just"/>
            <a:r>
              <a:rPr lang="en-US" sz="2400" b="1" spc="-1" baseline="-12000" dirty="0">
                <a:solidFill>
                  <a:srgbClr val="000000"/>
                </a:solidFill>
                <a:latin typeface="Times New Roman" panose="02020603050405020304" pitchFamily="18" charset="0"/>
                <a:ea typeface="DejaVu Sans"/>
                <a:cs typeface="Times New Roman" panose="02020603050405020304" pitchFamily="18" charset="0"/>
              </a:rPr>
              <a:t>font-size:16pt;</a:t>
            </a:r>
            <a:endParaRPr lang="en-US" sz="2400" spc="-1" dirty="0">
              <a:latin typeface="Times New Roman" panose="02020603050405020304" pitchFamily="18" charset="0"/>
              <a:cs typeface="Times New Roman" panose="02020603050405020304" pitchFamily="18" charset="0"/>
            </a:endParaRPr>
          </a:p>
          <a:p>
            <a:pPr algn="just"/>
            <a:r>
              <a:rPr lang="en-US" sz="2400" b="1" spc="-1" baseline="-12000" dirty="0">
                <a:solidFill>
                  <a:srgbClr val="000000"/>
                </a:solidFill>
                <a:latin typeface="Times New Roman" panose="02020603050405020304" pitchFamily="18" charset="0"/>
                <a:ea typeface="DejaVu Sans"/>
                <a:cs typeface="Times New Roman" panose="02020603050405020304" pitchFamily="18" charset="0"/>
              </a:rPr>
              <a:t>}</a:t>
            </a:r>
            <a:endParaRPr lang="en-US" sz="2400" spc="-1" dirty="0">
              <a:latin typeface="Times New Roman" panose="02020603050405020304" pitchFamily="18" charset="0"/>
              <a:cs typeface="Times New Roman" panose="02020603050405020304" pitchFamily="18" charset="0"/>
            </a:endParaRPr>
          </a:p>
          <a:p>
            <a:pPr algn="just"/>
            <a:r>
              <a:rPr lang="en-US" sz="2400" b="1" spc="-1" baseline="-12000" dirty="0">
                <a:solidFill>
                  <a:srgbClr val="000000"/>
                </a:solidFill>
                <a:latin typeface="Times New Roman" panose="02020603050405020304" pitchFamily="18" charset="0"/>
                <a:ea typeface="DejaVu Sans"/>
                <a:cs typeface="Times New Roman" panose="02020603050405020304" pitchFamily="18" charset="0"/>
              </a:rPr>
              <a:t>&lt;/style&gt;&lt;/head&gt;&lt;body&gt;</a:t>
            </a:r>
            <a:endParaRPr lang="en-US" sz="2400" spc="-1" dirty="0">
              <a:latin typeface="Times New Roman" panose="02020603050405020304" pitchFamily="18" charset="0"/>
              <a:cs typeface="Times New Roman" panose="02020603050405020304" pitchFamily="18" charset="0"/>
            </a:endParaRPr>
          </a:p>
          <a:p>
            <a:pPr algn="just"/>
            <a:r>
              <a:rPr lang="en-US" sz="2400" b="1" spc="-1" baseline="-12000" dirty="0">
                <a:solidFill>
                  <a:srgbClr val="000000"/>
                </a:solidFill>
                <a:latin typeface="Times New Roman" panose="02020603050405020304" pitchFamily="18" charset="0"/>
                <a:ea typeface="DejaVu Sans"/>
                <a:cs typeface="Times New Roman" panose="02020603050405020304" pitchFamily="18" charset="0"/>
              </a:rPr>
              <a:t>&lt;h1&gt;India is My Country&lt;/h1&gt;</a:t>
            </a:r>
            <a:endParaRPr lang="en-US" sz="2400" spc="-1" dirty="0">
              <a:latin typeface="Times New Roman" panose="02020603050405020304" pitchFamily="18" charset="0"/>
              <a:cs typeface="Times New Roman" panose="02020603050405020304" pitchFamily="18" charset="0"/>
            </a:endParaRPr>
          </a:p>
          <a:p>
            <a:pPr algn="just"/>
            <a:r>
              <a:rPr lang="en-US" sz="2400" b="1" spc="-1" baseline="-12000" dirty="0">
                <a:solidFill>
                  <a:srgbClr val="000000"/>
                </a:solidFill>
                <a:latin typeface="Times New Roman" panose="02020603050405020304" pitchFamily="18" charset="0"/>
                <a:ea typeface="DejaVu Sans"/>
                <a:cs typeface="Times New Roman" panose="02020603050405020304" pitchFamily="18" charset="0"/>
              </a:rPr>
              <a:t>&lt;h2 id="top"&gt;India is My Country&lt;/h2&gt;</a:t>
            </a:r>
            <a:endParaRPr lang="en-US" sz="2400" spc="-1" dirty="0">
              <a:latin typeface="Times New Roman" panose="02020603050405020304" pitchFamily="18" charset="0"/>
              <a:cs typeface="Times New Roman" panose="02020603050405020304" pitchFamily="18" charset="0"/>
            </a:endParaRPr>
          </a:p>
          <a:p>
            <a:pPr algn="just"/>
            <a:r>
              <a:rPr lang="en-US" sz="2400" b="1" spc="-1" baseline="-12000" dirty="0">
                <a:solidFill>
                  <a:srgbClr val="000000"/>
                </a:solidFill>
                <a:latin typeface="Times New Roman" panose="02020603050405020304" pitchFamily="18" charset="0"/>
                <a:ea typeface="DejaVu Sans"/>
                <a:cs typeface="Times New Roman" panose="02020603050405020304" pitchFamily="18" charset="0"/>
              </a:rPr>
              <a:t>&lt;/body&gt;&lt;/html&gt;</a:t>
            </a:r>
            <a:endParaRPr lang="en-US" sz="2400" spc="-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3570568"/>
      </p:ext>
    </p:extLst>
  </p:cSld>
  <p:clrMapOvr>
    <a:masterClrMapping/>
  </p:clrMapOvr>
  <p:transition spd="slow">
    <p:push dir="u"/>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1" name="CustomShape 2"/>
          <p:cNvSpPr/>
          <p:nvPr/>
        </p:nvSpPr>
        <p:spPr>
          <a:xfrm>
            <a:off x="8473620" y="5963761"/>
            <a:ext cx="2558520" cy="427410"/>
          </a:xfrm>
          <a:prstGeom prst="rect">
            <a:avLst/>
          </a:prstGeom>
          <a:noFill/>
          <a:ln w="9360">
            <a:noFill/>
          </a:ln>
        </p:spPr>
        <p:style>
          <a:lnRef idx="0">
            <a:scrgbClr r="0" g="0" b="0"/>
          </a:lnRef>
          <a:fillRef idx="0">
            <a:scrgbClr r="0" g="0" b="0"/>
          </a:fillRef>
          <a:effectRef idx="0">
            <a:scrgbClr r="0" g="0" b="0"/>
          </a:effectRef>
          <a:fontRef idx="minor"/>
        </p:style>
        <p:txBody>
          <a:bodyPr lIns="92070" tIns="45900" rIns="92070" bIns="45900">
            <a:noAutofit/>
          </a:bodyPr>
          <a:lstStyle/>
          <a:p>
            <a:pPr algn="r">
              <a:lnSpc>
                <a:spcPct val="100000"/>
              </a:lnSpc>
            </a:pPr>
            <a:fld id="{8DF54EF7-F50B-4D7C-A905-F5235F9EDA60}" type="slidenum">
              <a:rPr lang="en-US" sz="1350" spc="-1" baseline="-12000">
                <a:solidFill>
                  <a:srgbClr val="000000"/>
                </a:solidFill>
                <a:latin typeface="Arial"/>
                <a:ea typeface="DejaVu Sans"/>
              </a:rPr>
              <a:t>101</a:t>
            </a:fld>
            <a:endParaRPr lang="en-US" sz="1350" spc="-1">
              <a:latin typeface="Arial"/>
            </a:endParaRPr>
          </a:p>
        </p:txBody>
      </p:sp>
      <p:sp>
        <p:nvSpPr>
          <p:cNvPr id="344" name="CustomShape 5"/>
          <p:cNvSpPr/>
          <p:nvPr/>
        </p:nvSpPr>
        <p:spPr>
          <a:xfrm>
            <a:off x="3311221" y="6185431"/>
            <a:ext cx="184410" cy="299970"/>
          </a:xfrm>
          <a:prstGeom prst="rect">
            <a:avLst/>
          </a:prstGeom>
          <a:noFill/>
          <a:ln w="9360">
            <a:noFill/>
          </a:ln>
        </p:spPr>
        <p:style>
          <a:lnRef idx="0">
            <a:scrgbClr r="0" g="0" b="0"/>
          </a:lnRef>
          <a:fillRef idx="0">
            <a:scrgbClr r="0" g="0" b="0"/>
          </a:fillRef>
          <a:effectRef idx="0">
            <a:scrgbClr r="0" g="0" b="0"/>
          </a:effectRef>
          <a:fontRef idx="minor"/>
        </p:style>
      </p:sp>
      <p:sp>
        <p:nvSpPr>
          <p:cNvPr id="346" name="CustomShape 7"/>
          <p:cNvSpPr/>
          <p:nvPr/>
        </p:nvSpPr>
        <p:spPr>
          <a:xfrm>
            <a:off x="1066800" y="228601"/>
            <a:ext cx="10008360" cy="6740670"/>
          </a:xfrm>
          <a:prstGeom prst="rect">
            <a:avLst/>
          </a:prstGeom>
          <a:noFill/>
          <a:ln w="9360">
            <a:noFill/>
          </a:ln>
        </p:spPr>
        <p:style>
          <a:lnRef idx="0">
            <a:scrgbClr r="0" g="0" b="0"/>
          </a:lnRef>
          <a:fillRef idx="0">
            <a:scrgbClr r="0" g="0" b="0"/>
          </a:fillRef>
          <a:effectRef idx="0">
            <a:scrgbClr r="0" g="0" b="0"/>
          </a:effectRef>
          <a:fontRef idx="minor"/>
        </p:style>
        <p:txBody>
          <a:bodyPr lIns="92070" tIns="45900" rIns="92070" bIns="45900">
            <a:spAutoFit/>
          </a:bodyPr>
          <a:lstStyle/>
          <a:p>
            <a:pPr algn="just"/>
            <a:r>
              <a:rPr lang="en-US" sz="2400" b="1" u="sng" spc="-1" baseline="-12000">
                <a:solidFill>
                  <a:srgbClr val="3366FF"/>
                </a:solidFill>
                <a:latin typeface="Times New Roman" panose="02020603050405020304" pitchFamily="18" charset="0"/>
                <a:ea typeface="DejaVu Sans"/>
                <a:cs typeface="Times New Roman" panose="02020603050405020304" pitchFamily="18" charset="0"/>
              </a:rPr>
              <a:t>Pseudo class selector:</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&lt;html&gt;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&lt;head&gt;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&lt;title&gt;Focus Selector&lt;/title&gt;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&lt;style type="text/</a:t>
            </a:r>
            <a:r>
              <a:rPr lang="en-US" sz="2400" b="1" spc="-1" baseline="-12000" err="1">
                <a:solidFill>
                  <a:srgbClr val="000000"/>
                </a:solidFill>
                <a:latin typeface="Times New Roman" panose="02020603050405020304" pitchFamily="18" charset="0"/>
                <a:ea typeface="DejaVu Sans"/>
                <a:cs typeface="Times New Roman" panose="02020603050405020304" pitchFamily="18" charset="0"/>
              </a:rPr>
              <a:t>css</a:t>
            </a:r>
            <a:r>
              <a:rPr lang="en-US" sz="2400" b="1" spc="-1" baseline="-12000">
                <a:solidFill>
                  <a:srgbClr val="000000"/>
                </a:solidFill>
                <a:latin typeface="Times New Roman" panose="02020603050405020304" pitchFamily="18" charset="0"/>
                <a:ea typeface="DejaVu Sans"/>
                <a:cs typeface="Times New Roman" panose="02020603050405020304" pitchFamily="18" charset="0"/>
              </a:rPr>
              <a:t>"&gt;</a:t>
            </a:r>
            <a:endParaRPr lang="en-US" sz="2400" spc="-1">
              <a:latin typeface="Times New Roman" panose="02020603050405020304" pitchFamily="18" charset="0"/>
              <a:cs typeface="Times New Roman" panose="02020603050405020304" pitchFamily="18" charset="0"/>
            </a:endParaRPr>
          </a:p>
          <a:p>
            <a:pPr algn="just"/>
            <a:r>
              <a:rPr lang="en-US" sz="2400" b="1" spc="-1" baseline="-12000" err="1">
                <a:solidFill>
                  <a:srgbClr val="000000"/>
                </a:solidFill>
                <a:latin typeface="Times New Roman" panose="02020603050405020304" pitchFamily="18" charset="0"/>
                <a:ea typeface="DejaVu Sans"/>
                <a:cs typeface="Times New Roman" panose="02020603050405020304" pitchFamily="18" charset="0"/>
              </a:rPr>
              <a:t>input:focus</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a:t>
            </a:r>
            <a:endParaRPr lang="en-US" sz="2400" spc="-1">
              <a:latin typeface="Times New Roman" panose="02020603050405020304" pitchFamily="18" charset="0"/>
              <a:cs typeface="Times New Roman" panose="02020603050405020304" pitchFamily="18" charset="0"/>
            </a:endParaRPr>
          </a:p>
          <a:p>
            <a:pPr algn="just"/>
            <a:r>
              <a:rPr lang="en-US" sz="2400" b="1" spc="-1" baseline="-12000" err="1">
                <a:solidFill>
                  <a:srgbClr val="000000"/>
                </a:solidFill>
                <a:latin typeface="Times New Roman" panose="02020603050405020304" pitchFamily="18" charset="0"/>
                <a:ea typeface="DejaVu Sans"/>
                <a:cs typeface="Times New Roman" panose="02020603050405020304" pitchFamily="18" charset="0"/>
              </a:rPr>
              <a:t>background-color:skyblue</a:t>
            </a:r>
            <a:r>
              <a:rPr lang="en-US" sz="2400" b="1" spc="-1" baseline="-12000">
                <a:solidFill>
                  <a:srgbClr val="000000"/>
                </a:solidFill>
                <a:latin typeface="Times New Roman" panose="02020603050405020304" pitchFamily="18" charset="0"/>
                <a:ea typeface="DejaVu Sans"/>
                <a:cs typeface="Times New Roman" panose="02020603050405020304" pitchFamily="18" charset="0"/>
              </a:rPr>
              <a:t>;</a:t>
            </a:r>
            <a:endParaRPr lang="en-US" sz="2400" spc="-1">
              <a:latin typeface="Times New Roman" panose="02020603050405020304" pitchFamily="18" charset="0"/>
              <a:cs typeface="Times New Roman" panose="02020603050405020304" pitchFamily="18" charset="0"/>
            </a:endParaRPr>
          </a:p>
          <a:p>
            <a:pPr algn="just"/>
            <a:r>
              <a:rPr lang="en-US" sz="2400" b="1" spc="-1" baseline="-12000" err="1">
                <a:solidFill>
                  <a:srgbClr val="000000"/>
                </a:solidFill>
                <a:latin typeface="Times New Roman" panose="02020603050405020304" pitchFamily="18" charset="0"/>
                <a:ea typeface="DejaVu Sans"/>
                <a:cs typeface="Times New Roman" panose="02020603050405020304" pitchFamily="18" charset="0"/>
              </a:rPr>
              <a:t>color:white</a:t>
            </a:r>
            <a:r>
              <a:rPr lang="en-US" sz="2400" b="1" spc="-1" baseline="-12000">
                <a:solidFill>
                  <a:srgbClr val="000000"/>
                </a:solidFill>
                <a:latin typeface="Times New Roman" panose="02020603050405020304" pitchFamily="18" charset="0"/>
                <a:ea typeface="DejaVu Sans"/>
                <a:cs typeface="Times New Roman" panose="02020603050405020304" pitchFamily="18" charset="0"/>
              </a:rPr>
              <a:t>;</a:t>
            </a:r>
            <a:endParaRPr lang="en-US" sz="2400" spc="-1">
              <a:latin typeface="Times New Roman" panose="02020603050405020304" pitchFamily="18" charset="0"/>
              <a:cs typeface="Times New Roman" panose="02020603050405020304" pitchFamily="18" charset="0"/>
            </a:endParaRPr>
          </a:p>
          <a:p>
            <a:pPr algn="just"/>
            <a:r>
              <a:rPr lang="en-US" sz="2400" b="1" spc="-1" baseline="-12000" err="1">
                <a:solidFill>
                  <a:srgbClr val="000000"/>
                </a:solidFill>
                <a:latin typeface="Times New Roman" panose="02020603050405020304" pitchFamily="18" charset="0"/>
                <a:ea typeface="DejaVu Sans"/>
                <a:cs typeface="Times New Roman" panose="02020603050405020304" pitchFamily="18" charset="0"/>
              </a:rPr>
              <a:t>font-family:Arial</a:t>
            </a:r>
            <a:r>
              <a:rPr lang="en-US" sz="2400" b="1" spc="-1" baseline="-12000">
                <a:solidFill>
                  <a:srgbClr val="000000"/>
                </a:solidFill>
                <a:latin typeface="Times New Roman" panose="02020603050405020304" pitchFamily="18" charset="0"/>
                <a:ea typeface="DejaVu Sans"/>
                <a:cs typeface="Times New Roman" panose="02020603050405020304" pitchFamily="18" charset="0"/>
              </a:rPr>
              <a: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font-size:16pt;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&lt;/style&gt;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&lt;/head&gt;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&lt;body&gt;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Enter some string:&lt;input type="text" name="</a:t>
            </a:r>
            <a:r>
              <a:rPr lang="en-US" sz="2400" b="1" spc="-1" baseline="-12000" err="1">
                <a:solidFill>
                  <a:srgbClr val="000000"/>
                </a:solidFill>
                <a:latin typeface="Times New Roman" panose="02020603050405020304" pitchFamily="18" charset="0"/>
                <a:ea typeface="DejaVu Sans"/>
                <a:cs typeface="Times New Roman" panose="02020603050405020304" pitchFamily="18" charset="0"/>
              </a:rPr>
              <a:t>mytext</a:t>
            </a:r>
            <a:r>
              <a:rPr lang="en-US" sz="2400" b="1" spc="-1" baseline="-12000">
                <a:solidFill>
                  <a:srgbClr val="000000"/>
                </a:solidFill>
                <a:latin typeface="Times New Roman" panose="02020603050405020304" pitchFamily="18" charset="0"/>
                <a:ea typeface="DejaVu Sans"/>
                <a:cs typeface="Times New Roman" panose="02020603050405020304" pitchFamily="18" charset="0"/>
              </a:rPr>
              <a:t>"/&gt;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&lt;/body&gt;</a:t>
            </a:r>
            <a:endParaRPr lang="en-US" sz="2400" spc="-1">
              <a:latin typeface="Times New Roman" panose="02020603050405020304" pitchFamily="18" charset="0"/>
              <a:cs typeface="Times New Roman" panose="02020603050405020304" pitchFamily="18" charset="0"/>
            </a:endParaRPr>
          </a:p>
          <a:p>
            <a:pPr algn="just"/>
            <a:r>
              <a:rPr lang="en-US" sz="2400" b="1" spc="-1" baseline="-12000">
                <a:solidFill>
                  <a:srgbClr val="000000"/>
                </a:solidFill>
                <a:latin typeface="Times New Roman" panose="02020603050405020304" pitchFamily="18" charset="0"/>
                <a:ea typeface="DejaVu Sans"/>
                <a:cs typeface="Times New Roman" panose="02020603050405020304" pitchFamily="18" charset="0"/>
              </a:rPr>
              <a:t>&lt;/html&gt;</a:t>
            </a:r>
            <a:endParaRPr lang="en-US" sz="2400" spc="-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6844414"/>
      </p:ext>
    </p:extLst>
  </p:cSld>
  <p:clrMapOvr>
    <a:masterClrMapping/>
  </p:clrMapOvr>
  <p:transition spd="slow">
    <p:push dir="u"/>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CSS Align</a:t>
            </a:r>
          </a:p>
        </p:txBody>
      </p:sp>
      <p:sp>
        <p:nvSpPr>
          <p:cNvPr id="4" name="Date Placeholder 3"/>
          <p:cNvSpPr>
            <a:spLocks noGrp="1"/>
          </p:cNvSpPr>
          <p:nvPr>
            <p:ph type="dt" sz="half" idx="4294967295"/>
          </p:nvPr>
        </p:nvSpPr>
        <p:spPr>
          <a:xfrm>
            <a:off x="838200" y="6356350"/>
            <a:ext cx="2743200" cy="365125"/>
          </a:xfrm>
        </p:spPr>
        <p:txBody>
          <a:bodyPr/>
          <a:lstStyle/>
          <a:p>
            <a:pPr>
              <a:defRPr/>
            </a:pPr>
            <a:fld id="{7C774709-785F-457C-9429-4E3DA889C601}" type="datetime3">
              <a:rPr lang="en-US" smtClean="0"/>
              <a:pPr>
                <a:defRPr/>
              </a:pPr>
              <a:t>8 January 2026</a:t>
            </a:fld>
            <a:endParaRPr lang="en-IN"/>
          </a:p>
        </p:txBody>
      </p:sp>
      <p:sp>
        <p:nvSpPr>
          <p:cNvPr id="5" name="Footer Placeholder 4"/>
          <p:cNvSpPr>
            <a:spLocks noGrp="1"/>
          </p:cNvSpPr>
          <p:nvPr>
            <p:ph type="ftr" sz="quarter" idx="4294967295"/>
          </p:nvPr>
        </p:nvSpPr>
        <p:spPr>
          <a:xfrm>
            <a:off x="4038600" y="6356350"/>
            <a:ext cx="4114800" cy="365125"/>
          </a:xfrm>
        </p:spPr>
        <p:txBody>
          <a:bodyPr/>
          <a:lstStyle/>
          <a:p>
            <a:pPr>
              <a:defRPr/>
            </a:pPr>
            <a:r>
              <a:rPr lang="en-IN" dirty="0" smtClean="0"/>
              <a:t> </a:t>
            </a:r>
            <a:endParaRPr lang="en-IN" dirty="0"/>
          </a:p>
        </p:txBody>
      </p:sp>
      <p:sp>
        <p:nvSpPr>
          <p:cNvPr id="6" name="Slide Number Placeholder 5"/>
          <p:cNvSpPr>
            <a:spLocks noGrp="1"/>
          </p:cNvSpPr>
          <p:nvPr>
            <p:ph type="sldNum" sz="quarter" idx="4294967295"/>
          </p:nvPr>
        </p:nvSpPr>
        <p:spPr>
          <a:xfrm>
            <a:off x="8610600" y="6356350"/>
            <a:ext cx="2743200" cy="365125"/>
          </a:xfrm>
        </p:spPr>
        <p:txBody>
          <a:bodyPr/>
          <a:lstStyle/>
          <a:p>
            <a:pPr>
              <a:defRPr/>
            </a:pPr>
            <a:fld id="{DC16FC18-A483-43BC-83D0-C7F7814867AE}" type="slidenum">
              <a:rPr lang="en-IN" smtClean="0"/>
              <a:pPr>
                <a:defRPr/>
              </a:pPr>
              <a:t>102</a:t>
            </a:fld>
            <a:endParaRPr lang="en-IN"/>
          </a:p>
        </p:txBody>
      </p:sp>
      <p:sp>
        <p:nvSpPr>
          <p:cNvPr id="8" name="Rectangle 2"/>
          <p:cNvSpPr>
            <a:spLocks noGrp="1" noChangeArrowheads="1"/>
          </p:cNvSpPr>
          <p:nvPr>
            <p:ph idx="1"/>
          </p:nvPr>
        </p:nvSpPr>
        <p:spPr bwMode="auto">
          <a:xfrm>
            <a:off x="610357" y="1858062"/>
            <a:ext cx="10297201" cy="18997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2845" rIns="0" bIns="62845" numCol="1" rtlCol="0"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indent="0" defTabSz="1097280" fontAlgn="base">
              <a:lnSpc>
                <a:spcPct val="100000"/>
              </a:lnSpc>
              <a:spcBef>
                <a:spcPct val="0"/>
              </a:spcBef>
              <a:spcAft>
                <a:spcPct val="0"/>
              </a:spcAft>
              <a:buNone/>
            </a:pPr>
            <a:r>
              <a:rPr lang="en-US" altLang="en-US" sz="2880" dirty="0">
                <a:solidFill>
                  <a:srgbClr val="000000"/>
                </a:solidFill>
                <a:latin typeface="Times New Roman" panose="02020603050405020304" pitchFamily="18" charset="0"/>
                <a:cs typeface="Times New Roman" panose="02020603050405020304" pitchFamily="18" charset="0"/>
              </a:rPr>
              <a:t>Center Align Elements</a:t>
            </a:r>
          </a:p>
          <a:p>
            <a:pPr marL="0" indent="0" defTabSz="1097280" fontAlgn="base">
              <a:lnSpc>
                <a:spcPct val="100000"/>
              </a:lnSpc>
              <a:spcBef>
                <a:spcPct val="0"/>
              </a:spcBef>
              <a:spcAft>
                <a:spcPct val="0"/>
              </a:spcAft>
              <a:buNone/>
            </a:pPr>
            <a:r>
              <a:rPr lang="en-US" altLang="en-US" sz="2880" dirty="0">
                <a:solidFill>
                  <a:srgbClr val="000000"/>
                </a:solidFill>
                <a:latin typeface="Times New Roman" panose="02020603050405020304" pitchFamily="18" charset="0"/>
                <a:cs typeface="Times New Roman" panose="02020603050405020304" pitchFamily="18" charset="0"/>
              </a:rPr>
              <a:t>To horizontally center a block element (like &lt;div&gt;), use </a:t>
            </a:r>
            <a:r>
              <a:rPr lang="en-US" altLang="en-US" sz="2880" dirty="0">
                <a:solidFill>
                  <a:srgbClr val="DC143C"/>
                </a:solidFill>
                <a:latin typeface="Times New Roman" panose="02020603050405020304" pitchFamily="18" charset="0"/>
                <a:cs typeface="Times New Roman" panose="02020603050405020304" pitchFamily="18" charset="0"/>
              </a:rPr>
              <a:t>margin: auto;</a:t>
            </a:r>
          </a:p>
          <a:p>
            <a:pPr marL="0" indent="0" defTabSz="1097280" fontAlgn="base">
              <a:lnSpc>
                <a:spcPct val="100000"/>
              </a:lnSpc>
              <a:spcBef>
                <a:spcPct val="0"/>
              </a:spcBef>
              <a:spcAft>
                <a:spcPct val="0"/>
              </a:spcAft>
              <a:buNone/>
            </a:pPr>
            <a:r>
              <a:rPr lang="en-US" altLang="en-US" sz="2880" dirty="0">
                <a:solidFill>
                  <a:srgbClr val="DC143C"/>
                </a:solidFill>
                <a:latin typeface="Times New Roman" panose="02020603050405020304" pitchFamily="18" charset="0"/>
                <a:cs typeface="Times New Roman" panose="02020603050405020304" pitchFamily="18" charset="0"/>
              </a:rPr>
              <a:t>Left, right, center, top and bottom</a:t>
            </a:r>
          </a:p>
          <a:p>
            <a:pPr marL="0" indent="0" defTabSz="1097280" fontAlgn="base">
              <a:lnSpc>
                <a:spcPct val="100000"/>
              </a:lnSpc>
              <a:spcBef>
                <a:spcPct val="0"/>
              </a:spcBef>
              <a:spcAft>
                <a:spcPct val="0"/>
              </a:spcAft>
              <a:buNone/>
            </a:pPr>
            <a:endParaRPr lang="en-US" altLang="en-US" sz="288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56592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CSS Align</a:t>
            </a:r>
          </a:p>
        </p:txBody>
      </p:sp>
      <p:sp>
        <p:nvSpPr>
          <p:cNvPr id="3" name="Content Placeholder 2"/>
          <p:cNvSpPr>
            <a:spLocks noGrp="1"/>
          </p:cNvSpPr>
          <p:nvPr>
            <p:ph idx="1"/>
          </p:nvPr>
        </p:nvSpPr>
        <p:spPr>
          <a:xfrm>
            <a:off x="1158240" y="1200151"/>
            <a:ext cx="3749040" cy="4926330"/>
          </a:xfrm>
        </p:spPr>
        <p:txBody>
          <a:bodyPr>
            <a:normAutofit lnSpcReduction="10000"/>
          </a:bodyPr>
          <a:lstStyle/>
          <a:p>
            <a:pPr marL="0" indent="0">
              <a:buNone/>
            </a:pPr>
            <a:r>
              <a:rPr lang="en-IN" sz="1440" dirty="0">
                <a:latin typeface="Times New Roman" panose="02020603050405020304" pitchFamily="18" charset="0"/>
                <a:cs typeface="Times New Roman" panose="02020603050405020304" pitchFamily="18" charset="0"/>
              </a:rPr>
              <a:t>&lt;html&gt;</a:t>
            </a:r>
          </a:p>
          <a:p>
            <a:pPr marL="0" indent="0">
              <a:buNone/>
            </a:pPr>
            <a:r>
              <a:rPr lang="en-IN" sz="1440" dirty="0">
                <a:latin typeface="Times New Roman" panose="02020603050405020304" pitchFamily="18" charset="0"/>
                <a:cs typeface="Times New Roman" panose="02020603050405020304" pitchFamily="18" charset="0"/>
              </a:rPr>
              <a:t>&lt;head&gt;</a:t>
            </a:r>
          </a:p>
          <a:p>
            <a:pPr marL="0" indent="0">
              <a:buNone/>
            </a:pPr>
            <a:r>
              <a:rPr lang="en-IN" sz="1440" dirty="0">
                <a:latin typeface="Times New Roman" panose="02020603050405020304" pitchFamily="18" charset="0"/>
                <a:cs typeface="Times New Roman" panose="02020603050405020304" pitchFamily="18" charset="0"/>
              </a:rPr>
              <a:t>&lt;style&gt;</a:t>
            </a:r>
          </a:p>
          <a:p>
            <a:pPr marL="0" indent="0">
              <a:buNone/>
            </a:pPr>
            <a:r>
              <a:rPr lang="en-IN" sz="1440" dirty="0">
                <a:latin typeface="Times New Roman" panose="02020603050405020304" pitchFamily="18" charset="0"/>
                <a:cs typeface="Times New Roman" panose="02020603050405020304" pitchFamily="18" charset="0"/>
              </a:rPr>
              <a:t>.right {</a:t>
            </a:r>
          </a:p>
          <a:p>
            <a:pPr marL="0" indent="0">
              <a:buNone/>
            </a:pPr>
            <a:r>
              <a:rPr lang="en-IN" sz="1440" dirty="0">
                <a:latin typeface="Times New Roman" panose="02020603050405020304" pitchFamily="18" charset="0"/>
                <a:cs typeface="Times New Roman" panose="02020603050405020304" pitchFamily="18" charset="0"/>
              </a:rPr>
              <a:t>  position: absolute;</a:t>
            </a:r>
          </a:p>
          <a:p>
            <a:pPr marL="0" indent="0">
              <a:buNone/>
            </a:pPr>
            <a:r>
              <a:rPr lang="en-IN" sz="1440" dirty="0">
                <a:latin typeface="Times New Roman" panose="02020603050405020304" pitchFamily="18" charset="0"/>
                <a:cs typeface="Times New Roman" panose="02020603050405020304" pitchFamily="18" charset="0"/>
              </a:rPr>
              <a:t>  right: 0px;</a:t>
            </a:r>
          </a:p>
          <a:p>
            <a:pPr marL="0" indent="0">
              <a:buNone/>
            </a:pPr>
            <a:r>
              <a:rPr lang="en-IN" sz="1440" dirty="0">
                <a:latin typeface="Times New Roman" panose="02020603050405020304" pitchFamily="18" charset="0"/>
                <a:cs typeface="Times New Roman" panose="02020603050405020304" pitchFamily="18" charset="0"/>
              </a:rPr>
              <a:t>  width: 300px;</a:t>
            </a:r>
          </a:p>
          <a:p>
            <a:pPr marL="0" indent="0">
              <a:buNone/>
            </a:pPr>
            <a:r>
              <a:rPr lang="en-IN" sz="1440" dirty="0">
                <a:latin typeface="Times New Roman" panose="02020603050405020304" pitchFamily="18" charset="0"/>
                <a:cs typeface="Times New Roman" panose="02020603050405020304" pitchFamily="18" charset="0"/>
              </a:rPr>
              <a:t>  border: 3px solid #73AD21;</a:t>
            </a:r>
          </a:p>
          <a:p>
            <a:pPr marL="0" indent="0">
              <a:buNone/>
            </a:pPr>
            <a:r>
              <a:rPr lang="en-IN" sz="1440" dirty="0">
                <a:latin typeface="Times New Roman" panose="02020603050405020304" pitchFamily="18" charset="0"/>
                <a:cs typeface="Times New Roman" panose="02020603050405020304" pitchFamily="18" charset="0"/>
              </a:rPr>
              <a:t>  padding: 10px;</a:t>
            </a:r>
          </a:p>
          <a:p>
            <a:pPr marL="0" indent="0">
              <a:buNone/>
            </a:pPr>
            <a:r>
              <a:rPr lang="en-IN" sz="1440" dirty="0">
                <a:latin typeface="Times New Roman" panose="02020603050405020304" pitchFamily="18" charset="0"/>
                <a:cs typeface="Times New Roman" panose="02020603050405020304" pitchFamily="18" charset="0"/>
              </a:rPr>
              <a:t>}</a:t>
            </a:r>
          </a:p>
          <a:p>
            <a:pPr marL="0" indent="0">
              <a:buNone/>
            </a:pPr>
            <a:r>
              <a:rPr lang="en-IN" sz="1440" dirty="0">
                <a:latin typeface="Times New Roman" panose="02020603050405020304" pitchFamily="18" charset="0"/>
                <a:cs typeface="Times New Roman" panose="02020603050405020304" pitchFamily="18" charset="0"/>
              </a:rPr>
              <a:t>&lt;/style&gt;</a:t>
            </a:r>
          </a:p>
          <a:p>
            <a:pPr marL="0" indent="0">
              <a:buNone/>
            </a:pPr>
            <a:r>
              <a:rPr lang="en-IN" sz="1440" dirty="0">
                <a:latin typeface="Times New Roman" panose="02020603050405020304" pitchFamily="18" charset="0"/>
                <a:cs typeface="Times New Roman" panose="02020603050405020304" pitchFamily="18" charset="0"/>
              </a:rPr>
              <a:t>&lt;/head&gt;</a:t>
            </a:r>
          </a:p>
          <a:p>
            <a:pPr marL="0" indent="0">
              <a:buNone/>
            </a:pPr>
            <a:r>
              <a:rPr lang="en-IN" sz="1440" dirty="0">
                <a:latin typeface="Times New Roman" panose="02020603050405020304" pitchFamily="18" charset="0"/>
                <a:cs typeface="Times New Roman" panose="02020603050405020304" pitchFamily="18" charset="0"/>
              </a:rPr>
              <a:t>&lt;body&gt;</a:t>
            </a:r>
          </a:p>
          <a:p>
            <a:pPr marL="0" indent="0">
              <a:buNone/>
            </a:pPr>
            <a:endParaRPr lang="en-IN" sz="1440" dirty="0">
              <a:latin typeface="Times New Roman" panose="02020603050405020304" pitchFamily="18" charset="0"/>
              <a:cs typeface="Times New Roman" panose="02020603050405020304" pitchFamily="18" charset="0"/>
            </a:endParaRPr>
          </a:p>
          <a:p>
            <a:pPr marL="0" indent="0">
              <a:buNone/>
            </a:pPr>
            <a:r>
              <a:rPr lang="en-IN" sz="1440" dirty="0">
                <a:latin typeface="Times New Roman" panose="02020603050405020304" pitchFamily="18" charset="0"/>
                <a:cs typeface="Times New Roman" panose="02020603050405020304" pitchFamily="18" charset="0"/>
              </a:rPr>
              <a:t>&lt;h2&gt;Right align with the position property&lt;/h2&gt;</a:t>
            </a:r>
          </a:p>
          <a:p>
            <a:pPr marL="0" indent="0">
              <a:buNone/>
            </a:pPr>
            <a:endParaRPr lang="en-IN" sz="144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4294967295"/>
          </p:nvPr>
        </p:nvSpPr>
        <p:spPr>
          <a:xfrm>
            <a:off x="838200" y="6356350"/>
            <a:ext cx="2743200" cy="365125"/>
          </a:xfrm>
        </p:spPr>
        <p:txBody>
          <a:bodyPr/>
          <a:lstStyle/>
          <a:p>
            <a:pPr>
              <a:defRPr/>
            </a:pPr>
            <a:fld id="{7C774709-785F-457C-9429-4E3DA889C601}" type="datetime3">
              <a:rPr lang="en-US" smtClean="0"/>
              <a:pPr>
                <a:defRPr/>
              </a:pPr>
              <a:t>8 January 2026</a:t>
            </a:fld>
            <a:endParaRPr lang="en-IN"/>
          </a:p>
        </p:txBody>
      </p:sp>
      <p:sp>
        <p:nvSpPr>
          <p:cNvPr id="5" name="Footer Placeholder 4"/>
          <p:cNvSpPr>
            <a:spLocks noGrp="1"/>
          </p:cNvSpPr>
          <p:nvPr>
            <p:ph type="ftr" sz="quarter" idx="4294967295"/>
          </p:nvPr>
        </p:nvSpPr>
        <p:spPr>
          <a:xfrm>
            <a:off x="4038600" y="6356350"/>
            <a:ext cx="4114800" cy="365125"/>
          </a:xfrm>
        </p:spPr>
        <p:txBody>
          <a:bodyPr/>
          <a:lstStyle/>
          <a:p>
            <a:pPr>
              <a:defRPr/>
            </a:pPr>
            <a:r>
              <a:rPr lang="en-IN" dirty="0" smtClean="0"/>
              <a:t> </a:t>
            </a:r>
            <a:endParaRPr lang="en-IN" dirty="0"/>
          </a:p>
        </p:txBody>
      </p:sp>
      <p:sp>
        <p:nvSpPr>
          <p:cNvPr id="6" name="Slide Number Placeholder 5"/>
          <p:cNvSpPr>
            <a:spLocks noGrp="1"/>
          </p:cNvSpPr>
          <p:nvPr>
            <p:ph type="sldNum" sz="quarter" idx="4294967295"/>
          </p:nvPr>
        </p:nvSpPr>
        <p:spPr>
          <a:xfrm>
            <a:off x="8610600" y="6356350"/>
            <a:ext cx="2743200" cy="365125"/>
          </a:xfrm>
        </p:spPr>
        <p:txBody>
          <a:bodyPr/>
          <a:lstStyle/>
          <a:p>
            <a:pPr>
              <a:defRPr/>
            </a:pPr>
            <a:fld id="{DC16FC18-A483-43BC-83D0-C7F7814867AE}" type="slidenum">
              <a:rPr lang="en-IN" smtClean="0"/>
              <a:pPr>
                <a:defRPr/>
              </a:pPr>
              <a:t>103</a:t>
            </a:fld>
            <a:endParaRPr lang="en-IN"/>
          </a:p>
        </p:txBody>
      </p:sp>
      <p:sp>
        <p:nvSpPr>
          <p:cNvPr id="8" name="Content Placeholder 2"/>
          <p:cNvSpPr txBox="1">
            <a:spLocks/>
          </p:cNvSpPr>
          <p:nvPr/>
        </p:nvSpPr>
        <p:spPr bwMode="auto">
          <a:xfrm>
            <a:off x="4998720" y="1234441"/>
            <a:ext cx="4114800" cy="2964242"/>
          </a:xfrm>
          <a:prstGeom prst="rect">
            <a:avLst/>
          </a:prstGeom>
          <a:noFill/>
          <a:ln w="9525">
            <a:noFill/>
            <a:miter lim="800000"/>
            <a:headEnd/>
            <a:tailEnd/>
          </a:ln>
        </p:spPr>
        <p:txBody>
          <a:bodyPr vert="horz" wrap="square" lIns="109728" tIns="54864" rIns="109728" bIns="54864"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18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itchFamily="34" charset="0"/>
              <a:buChar char="–"/>
              <a:defRPr sz="1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itchFamily="34" charset="0"/>
              <a:buChar char="•"/>
              <a:defRPr sz="18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itchFamily="34" charset="0"/>
              <a:buChar char="–"/>
              <a:defRPr sz="18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IN" sz="1440" dirty="0">
                <a:latin typeface="Times New Roman" panose="02020603050405020304" pitchFamily="18" charset="0"/>
                <a:cs typeface="Times New Roman" panose="02020603050405020304" pitchFamily="18" charset="0"/>
              </a:rPr>
              <a:t>&lt;p&gt;An example of how to right align elements with the position property:&lt;/p&gt;</a:t>
            </a:r>
          </a:p>
          <a:p>
            <a:pPr marL="0" indent="0">
              <a:buNone/>
            </a:pPr>
            <a:endParaRPr lang="en-IN" sz="1440" dirty="0">
              <a:latin typeface="Times New Roman" panose="02020603050405020304" pitchFamily="18" charset="0"/>
              <a:cs typeface="Times New Roman" panose="02020603050405020304" pitchFamily="18" charset="0"/>
            </a:endParaRPr>
          </a:p>
          <a:p>
            <a:pPr marL="0" indent="0">
              <a:buNone/>
            </a:pPr>
            <a:r>
              <a:rPr lang="en-IN" sz="1440" dirty="0">
                <a:latin typeface="Times New Roman" panose="02020603050405020304" pitchFamily="18" charset="0"/>
                <a:cs typeface="Times New Roman" panose="02020603050405020304" pitchFamily="18" charset="0"/>
              </a:rPr>
              <a:t>&lt;div class="right"&gt;</a:t>
            </a:r>
          </a:p>
          <a:p>
            <a:pPr marL="0" indent="0">
              <a:buNone/>
            </a:pPr>
            <a:r>
              <a:rPr lang="en-IN" sz="1440" dirty="0">
                <a:latin typeface="Times New Roman" panose="02020603050405020304" pitchFamily="18" charset="0"/>
                <a:cs typeface="Times New Roman" panose="02020603050405020304" pitchFamily="18" charset="0"/>
              </a:rPr>
              <a:t>  &lt;p&gt;In my younger and more vulnerable years my father gave me some advice that I've been turning over in my mind ever since.&lt;/p&gt;</a:t>
            </a:r>
          </a:p>
          <a:p>
            <a:pPr marL="0" indent="0">
              <a:buNone/>
            </a:pPr>
            <a:r>
              <a:rPr lang="en-IN" sz="1440" dirty="0">
                <a:latin typeface="Times New Roman" panose="02020603050405020304" pitchFamily="18" charset="0"/>
                <a:cs typeface="Times New Roman" panose="02020603050405020304" pitchFamily="18" charset="0"/>
              </a:rPr>
              <a:t>&lt;/div&gt;</a:t>
            </a:r>
          </a:p>
          <a:p>
            <a:pPr marL="0" indent="0">
              <a:buNone/>
            </a:pPr>
            <a:endParaRPr lang="en-IN" sz="1440" dirty="0">
              <a:latin typeface="Times New Roman" panose="02020603050405020304" pitchFamily="18" charset="0"/>
              <a:cs typeface="Times New Roman" panose="02020603050405020304" pitchFamily="18" charset="0"/>
            </a:endParaRPr>
          </a:p>
          <a:p>
            <a:pPr marL="0" indent="0">
              <a:buNone/>
            </a:pPr>
            <a:r>
              <a:rPr lang="en-IN" sz="1440" dirty="0">
                <a:latin typeface="Times New Roman" panose="02020603050405020304" pitchFamily="18" charset="0"/>
                <a:cs typeface="Times New Roman" panose="02020603050405020304" pitchFamily="18" charset="0"/>
              </a:rPr>
              <a:t>&lt;/body&gt;</a:t>
            </a:r>
          </a:p>
          <a:p>
            <a:pPr marL="0" indent="0">
              <a:buNone/>
            </a:pPr>
            <a:r>
              <a:rPr lang="en-IN" sz="1440" dirty="0">
                <a:latin typeface="Times New Roman" panose="02020603050405020304" pitchFamily="18" charset="0"/>
                <a:cs typeface="Times New Roman" panose="02020603050405020304" pitchFamily="18" charset="0"/>
              </a:rPr>
              <a:t>&lt;/html&gt;</a:t>
            </a:r>
            <a:endParaRPr lang="en-US" sz="1440" dirty="0">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a:stretch>
            <a:fillRect/>
          </a:stretch>
        </p:blipFill>
        <p:spPr>
          <a:xfrm>
            <a:off x="6757996" y="3461683"/>
            <a:ext cx="4035451" cy="2849520"/>
          </a:xfrm>
          <a:prstGeom prst="rect">
            <a:avLst/>
          </a:prstGeom>
        </p:spPr>
      </p:pic>
    </p:spTree>
    <p:extLst>
      <p:ext uri="{BB962C8B-B14F-4D97-AF65-F5344CB8AC3E}">
        <p14:creationId xmlns:p14="http://schemas.microsoft.com/office/powerpoint/2010/main" val="19464593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73025"/>
            <a:ext cx="10515600" cy="1006475"/>
          </a:xfrm>
        </p:spPr>
        <p:txBody>
          <a:bodyPr/>
          <a:lstStyle/>
          <a:p>
            <a:r>
              <a:rPr lang="en-US" dirty="0"/>
              <a:t>CSS Margin</a:t>
            </a:r>
          </a:p>
        </p:txBody>
      </p:sp>
      <p:sp>
        <p:nvSpPr>
          <p:cNvPr id="3" name="Content Placeholder 2"/>
          <p:cNvSpPr>
            <a:spLocks noGrp="1"/>
          </p:cNvSpPr>
          <p:nvPr>
            <p:ph idx="1"/>
          </p:nvPr>
        </p:nvSpPr>
        <p:spPr>
          <a:xfrm>
            <a:off x="0" y="802957"/>
            <a:ext cx="10515600" cy="4351338"/>
          </a:xfrm>
        </p:spPr>
        <p:txBody>
          <a:bodyPr/>
          <a:lstStyle/>
          <a:p>
            <a:pPr algn="just"/>
            <a:r>
              <a:rPr lang="en-IN" dirty="0">
                <a:latin typeface="Times New Roman" panose="02020603050405020304" pitchFamily="18" charset="0"/>
                <a:cs typeface="Times New Roman" panose="02020603050405020304" pitchFamily="18" charset="0"/>
              </a:rPr>
              <a:t>CSS Margin property is used to define the space around elements. It is completely transparent and doesn't have any background </a:t>
            </a:r>
            <a:r>
              <a:rPr lang="en-IN" dirty="0" err="1">
                <a:latin typeface="Times New Roman" panose="02020603050405020304" pitchFamily="18" charset="0"/>
                <a:cs typeface="Times New Roman" panose="02020603050405020304" pitchFamily="18" charset="0"/>
              </a:rPr>
              <a:t>color</a:t>
            </a:r>
            <a:r>
              <a:rPr lang="en-IN" dirty="0">
                <a:latin typeface="Times New Roman" panose="02020603050405020304" pitchFamily="18" charset="0"/>
                <a:cs typeface="Times New Roman" panose="02020603050405020304" pitchFamily="18" charset="0"/>
              </a:rPr>
              <a:t>. It clears an area around the element.</a:t>
            </a:r>
          </a:p>
          <a:p>
            <a:pPr algn="just"/>
            <a:r>
              <a:rPr lang="en-IN" dirty="0">
                <a:latin typeface="Times New Roman" panose="02020603050405020304" pitchFamily="18" charset="0"/>
                <a:cs typeface="Times New Roman" panose="02020603050405020304" pitchFamily="18" charset="0"/>
              </a:rPr>
              <a:t>Top, bottom, left and right margin can be changed independently using separate properties. You can also change all properties at once by using shorthand margin property.</a:t>
            </a:r>
          </a:p>
          <a:p>
            <a:pPr algn="just"/>
            <a:endParaRPr lang="en-US"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4294967295"/>
          </p:nvPr>
        </p:nvSpPr>
        <p:spPr>
          <a:xfrm>
            <a:off x="838200" y="6356350"/>
            <a:ext cx="2743200" cy="365125"/>
          </a:xfrm>
        </p:spPr>
        <p:txBody>
          <a:bodyPr/>
          <a:lstStyle/>
          <a:p>
            <a:pPr>
              <a:defRPr/>
            </a:pPr>
            <a:fld id="{7C774709-785F-457C-9429-4E3DA889C601}" type="datetime3">
              <a:rPr lang="en-US" smtClean="0"/>
              <a:pPr>
                <a:defRPr/>
              </a:pPr>
              <a:t>8 January 2026</a:t>
            </a:fld>
            <a:endParaRPr lang="en-IN"/>
          </a:p>
        </p:txBody>
      </p:sp>
      <p:sp>
        <p:nvSpPr>
          <p:cNvPr id="5" name="Footer Placeholder 4"/>
          <p:cNvSpPr>
            <a:spLocks noGrp="1"/>
          </p:cNvSpPr>
          <p:nvPr>
            <p:ph type="ftr" sz="quarter" idx="4294967295"/>
          </p:nvPr>
        </p:nvSpPr>
        <p:spPr>
          <a:xfrm>
            <a:off x="4038600" y="6356350"/>
            <a:ext cx="4114800" cy="365125"/>
          </a:xfrm>
        </p:spPr>
        <p:txBody>
          <a:bodyPr/>
          <a:lstStyle/>
          <a:p>
            <a:pPr>
              <a:defRPr/>
            </a:pPr>
            <a:r>
              <a:rPr lang="en-IN" dirty="0" smtClean="0"/>
              <a:t> </a:t>
            </a:r>
            <a:endParaRPr lang="en-IN" dirty="0"/>
          </a:p>
        </p:txBody>
      </p:sp>
      <p:sp>
        <p:nvSpPr>
          <p:cNvPr id="6" name="Slide Number Placeholder 5"/>
          <p:cNvSpPr>
            <a:spLocks noGrp="1"/>
          </p:cNvSpPr>
          <p:nvPr>
            <p:ph type="sldNum" sz="quarter" idx="4294967295"/>
          </p:nvPr>
        </p:nvSpPr>
        <p:spPr>
          <a:xfrm>
            <a:off x="8610600" y="6356350"/>
            <a:ext cx="2743200" cy="365125"/>
          </a:xfrm>
        </p:spPr>
        <p:txBody>
          <a:bodyPr/>
          <a:lstStyle/>
          <a:p>
            <a:pPr>
              <a:defRPr/>
            </a:pPr>
            <a:fld id="{DC16FC18-A483-43BC-83D0-C7F7814867AE}" type="slidenum">
              <a:rPr lang="en-IN" smtClean="0"/>
              <a:pPr>
                <a:defRPr/>
              </a:pPr>
              <a:t>104</a:t>
            </a:fld>
            <a:endParaRPr lang="en-IN"/>
          </a:p>
        </p:txBody>
      </p:sp>
      <p:pic>
        <p:nvPicPr>
          <p:cNvPr id="9" name="Picture 8"/>
          <p:cNvPicPr>
            <a:picLocks noChangeAspect="1"/>
          </p:cNvPicPr>
          <p:nvPr/>
        </p:nvPicPr>
        <p:blipFill>
          <a:blip r:embed="rId2"/>
          <a:stretch>
            <a:fillRect/>
          </a:stretch>
        </p:blipFill>
        <p:spPr>
          <a:xfrm>
            <a:off x="2621280" y="3337561"/>
            <a:ext cx="7772400" cy="3309635"/>
          </a:xfrm>
          <a:prstGeom prst="rect">
            <a:avLst/>
          </a:prstGeom>
        </p:spPr>
      </p:pic>
    </p:spTree>
    <p:extLst>
      <p:ext uri="{BB962C8B-B14F-4D97-AF65-F5344CB8AC3E}">
        <p14:creationId xmlns:p14="http://schemas.microsoft.com/office/powerpoint/2010/main" val="24230440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CSS Margin</a:t>
            </a:r>
          </a:p>
        </p:txBody>
      </p:sp>
      <p:sp>
        <p:nvSpPr>
          <p:cNvPr id="3" name="Content Placeholder 2"/>
          <p:cNvSpPr>
            <a:spLocks noGrp="1"/>
          </p:cNvSpPr>
          <p:nvPr>
            <p:ph idx="1"/>
          </p:nvPr>
        </p:nvSpPr>
        <p:spPr>
          <a:xfrm>
            <a:off x="1158240" y="1200151"/>
            <a:ext cx="3657600" cy="4926330"/>
          </a:xfrm>
        </p:spPr>
        <p:txBody>
          <a:bodyPr/>
          <a:lstStyle/>
          <a:p>
            <a:pPr marL="0" indent="0" algn="just">
              <a:buNone/>
            </a:pPr>
            <a:r>
              <a:rPr lang="en-IN" sz="1920" dirty="0">
                <a:latin typeface="Times New Roman" panose="02020603050405020304" pitchFamily="18" charset="0"/>
                <a:cs typeface="Times New Roman" panose="02020603050405020304" pitchFamily="18" charset="0"/>
              </a:rPr>
              <a:t>&lt;html&gt;  &lt;head&gt;  &lt;style&gt;  </a:t>
            </a:r>
          </a:p>
          <a:p>
            <a:pPr marL="0" indent="0" algn="just">
              <a:buNone/>
            </a:pPr>
            <a:r>
              <a:rPr lang="en-IN" sz="1920" dirty="0">
                <a:latin typeface="Times New Roman" panose="02020603050405020304" pitchFamily="18" charset="0"/>
                <a:cs typeface="Times New Roman" panose="02020603050405020304" pitchFamily="18" charset="0"/>
              </a:rPr>
              <a:t>p {  </a:t>
            </a:r>
          </a:p>
          <a:p>
            <a:pPr marL="0" indent="0" algn="just">
              <a:buNone/>
            </a:pPr>
            <a:r>
              <a:rPr lang="en-IN" sz="1920" dirty="0">
                <a:latin typeface="Times New Roman" panose="02020603050405020304" pitchFamily="18" charset="0"/>
                <a:cs typeface="Times New Roman" panose="02020603050405020304" pitchFamily="18" charset="0"/>
              </a:rPr>
              <a:t>    background-</a:t>
            </a:r>
            <a:r>
              <a:rPr lang="en-IN" sz="1920" dirty="0" err="1">
                <a:latin typeface="Times New Roman" panose="02020603050405020304" pitchFamily="18" charset="0"/>
                <a:cs typeface="Times New Roman" panose="02020603050405020304" pitchFamily="18" charset="0"/>
              </a:rPr>
              <a:t>color</a:t>
            </a:r>
            <a:r>
              <a:rPr lang="en-IN" sz="1920" dirty="0">
                <a:latin typeface="Times New Roman" panose="02020603050405020304" pitchFamily="18" charset="0"/>
                <a:cs typeface="Times New Roman" panose="02020603050405020304" pitchFamily="18" charset="0"/>
              </a:rPr>
              <a:t>: pink;  </a:t>
            </a:r>
          </a:p>
          <a:p>
            <a:pPr marL="0" indent="0" algn="just">
              <a:buNone/>
            </a:pPr>
            <a:r>
              <a:rPr lang="en-IN" sz="1920" dirty="0">
                <a:latin typeface="Times New Roman" panose="02020603050405020304" pitchFamily="18" charset="0"/>
                <a:cs typeface="Times New Roman" panose="02020603050405020304" pitchFamily="18" charset="0"/>
              </a:rPr>
              <a:t>}  </a:t>
            </a:r>
          </a:p>
          <a:p>
            <a:pPr marL="0" indent="0" algn="just">
              <a:buNone/>
            </a:pPr>
            <a:r>
              <a:rPr lang="en-IN" sz="1920" dirty="0" err="1">
                <a:latin typeface="Times New Roman" panose="02020603050405020304" pitchFamily="18" charset="0"/>
                <a:cs typeface="Times New Roman" panose="02020603050405020304" pitchFamily="18" charset="0"/>
              </a:rPr>
              <a:t>p.ex</a:t>
            </a:r>
            <a:r>
              <a:rPr lang="en-IN" sz="1920" dirty="0">
                <a:latin typeface="Times New Roman" panose="02020603050405020304" pitchFamily="18" charset="0"/>
                <a:cs typeface="Times New Roman" panose="02020603050405020304" pitchFamily="18" charset="0"/>
              </a:rPr>
              <a:t> {  </a:t>
            </a:r>
          </a:p>
          <a:p>
            <a:pPr marL="0" indent="0" algn="just">
              <a:buNone/>
            </a:pPr>
            <a:r>
              <a:rPr lang="en-IN" sz="1920" dirty="0">
                <a:latin typeface="Times New Roman" panose="02020603050405020304" pitchFamily="18" charset="0"/>
                <a:cs typeface="Times New Roman" panose="02020603050405020304" pitchFamily="18" charset="0"/>
              </a:rPr>
              <a:t>    margin-top: 50px;  </a:t>
            </a:r>
          </a:p>
          <a:p>
            <a:pPr marL="0" indent="0" algn="just">
              <a:buNone/>
            </a:pPr>
            <a:r>
              <a:rPr lang="en-IN" sz="1920" dirty="0">
                <a:latin typeface="Times New Roman" panose="02020603050405020304" pitchFamily="18" charset="0"/>
                <a:cs typeface="Times New Roman" panose="02020603050405020304" pitchFamily="18" charset="0"/>
              </a:rPr>
              <a:t>    margin-right: 100px;  </a:t>
            </a:r>
          </a:p>
          <a:p>
            <a:pPr marL="0" indent="0" algn="just">
              <a:buNone/>
            </a:pPr>
            <a:r>
              <a:rPr lang="en-IN" sz="1920" dirty="0">
                <a:latin typeface="Times New Roman" panose="02020603050405020304" pitchFamily="18" charset="0"/>
                <a:cs typeface="Times New Roman" panose="02020603050405020304" pitchFamily="18" charset="0"/>
              </a:rPr>
              <a:t>    margin-bottom: 50px;</a:t>
            </a:r>
          </a:p>
          <a:p>
            <a:pPr marL="0" indent="0" algn="just">
              <a:buNone/>
            </a:pPr>
            <a:r>
              <a:rPr lang="en-IN" sz="1920" dirty="0">
                <a:latin typeface="Times New Roman" panose="02020603050405020304" pitchFamily="18" charset="0"/>
                <a:cs typeface="Times New Roman" panose="02020603050405020304" pitchFamily="18" charset="0"/>
              </a:rPr>
              <a:t>    margin-left: 100px; </a:t>
            </a:r>
            <a:r>
              <a:rPr lang="en-IN" sz="1920" dirty="0"/>
              <a:t> </a:t>
            </a:r>
          </a:p>
          <a:p>
            <a:pPr marL="0" indent="0" algn="just">
              <a:buNone/>
            </a:pPr>
            <a:r>
              <a:rPr lang="en-IN" sz="1680" dirty="0">
                <a:latin typeface="Times New Roman" panose="02020603050405020304" pitchFamily="18" charset="0"/>
                <a:cs typeface="Times New Roman" panose="02020603050405020304" pitchFamily="18" charset="0"/>
              </a:rPr>
              <a:t>(or)margin: 50px 100px 150px 200px;</a:t>
            </a:r>
            <a:r>
              <a:rPr lang="en-IN" sz="1920" dirty="0"/>
              <a:t>  </a:t>
            </a:r>
          </a:p>
          <a:p>
            <a:pPr marL="0" indent="0">
              <a:buNone/>
            </a:pPr>
            <a:r>
              <a:rPr lang="en-IN" sz="1920" dirty="0"/>
              <a:t>}</a:t>
            </a:r>
          </a:p>
          <a:p>
            <a:pPr marL="0" indent="0" algn="just">
              <a:buNone/>
            </a:pPr>
            <a:r>
              <a:rPr lang="en-IN" sz="1920" dirty="0">
                <a:latin typeface="Times New Roman" panose="02020603050405020304" pitchFamily="18" charset="0"/>
                <a:cs typeface="Times New Roman" panose="02020603050405020304" pitchFamily="18" charset="0"/>
              </a:rPr>
              <a:t> &lt;/style&gt;  &lt;/head&gt;</a:t>
            </a:r>
            <a:endParaRPr lang="en-US" sz="192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4294967295"/>
          </p:nvPr>
        </p:nvSpPr>
        <p:spPr>
          <a:xfrm>
            <a:off x="838200" y="6356350"/>
            <a:ext cx="2743200" cy="365125"/>
          </a:xfrm>
        </p:spPr>
        <p:txBody>
          <a:bodyPr/>
          <a:lstStyle/>
          <a:p>
            <a:pPr>
              <a:defRPr/>
            </a:pPr>
            <a:fld id="{7C774709-785F-457C-9429-4E3DA889C601}" type="datetime3">
              <a:rPr lang="en-US" smtClean="0"/>
              <a:pPr>
                <a:defRPr/>
              </a:pPr>
              <a:t>8 January 2026</a:t>
            </a:fld>
            <a:endParaRPr lang="en-IN"/>
          </a:p>
        </p:txBody>
      </p:sp>
      <p:sp>
        <p:nvSpPr>
          <p:cNvPr id="5" name="Footer Placeholder 4"/>
          <p:cNvSpPr>
            <a:spLocks noGrp="1"/>
          </p:cNvSpPr>
          <p:nvPr>
            <p:ph type="ftr" sz="quarter" idx="4294967295"/>
          </p:nvPr>
        </p:nvSpPr>
        <p:spPr>
          <a:xfrm>
            <a:off x="4038600" y="6356350"/>
            <a:ext cx="4114800" cy="365125"/>
          </a:xfrm>
        </p:spPr>
        <p:txBody>
          <a:bodyPr/>
          <a:lstStyle/>
          <a:p>
            <a:pPr>
              <a:defRPr/>
            </a:pPr>
            <a:r>
              <a:rPr lang="en-IN" dirty="0" smtClean="0"/>
              <a:t> </a:t>
            </a:r>
            <a:endParaRPr lang="en-IN" dirty="0"/>
          </a:p>
        </p:txBody>
      </p:sp>
      <p:sp>
        <p:nvSpPr>
          <p:cNvPr id="6" name="Slide Number Placeholder 5"/>
          <p:cNvSpPr>
            <a:spLocks noGrp="1"/>
          </p:cNvSpPr>
          <p:nvPr>
            <p:ph type="sldNum" sz="quarter" idx="4294967295"/>
          </p:nvPr>
        </p:nvSpPr>
        <p:spPr>
          <a:xfrm>
            <a:off x="8610600" y="6356350"/>
            <a:ext cx="2743200" cy="365125"/>
          </a:xfrm>
        </p:spPr>
        <p:txBody>
          <a:bodyPr/>
          <a:lstStyle/>
          <a:p>
            <a:pPr>
              <a:defRPr/>
            </a:pPr>
            <a:fld id="{DC16FC18-A483-43BC-83D0-C7F7814867AE}" type="slidenum">
              <a:rPr lang="en-IN" smtClean="0"/>
              <a:pPr>
                <a:defRPr/>
              </a:pPr>
              <a:t>105</a:t>
            </a:fld>
            <a:endParaRPr lang="en-IN"/>
          </a:p>
        </p:txBody>
      </p:sp>
      <p:sp>
        <p:nvSpPr>
          <p:cNvPr id="8" name="Content Placeholder 2"/>
          <p:cNvSpPr txBox="1">
            <a:spLocks/>
          </p:cNvSpPr>
          <p:nvPr/>
        </p:nvSpPr>
        <p:spPr bwMode="auto">
          <a:xfrm>
            <a:off x="4815840" y="320040"/>
            <a:ext cx="5486400" cy="2651760"/>
          </a:xfrm>
          <a:prstGeom prst="rect">
            <a:avLst/>
          </a:prstGeom>
          <a:noFill/>
          <a:ln w="9525">
            <a:noFill/>
            <a:miter lim="800000"/>
            <a:headEnd/>
            <a:tailEnd/>
          </a:ln>
        </p:spPr>
        <p:txBody>
          <a:bodyPr vert="horz" wrap="square" lIns="109728" tIns="54864" rIns="109728" bIns="54864"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18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itchFamily="34" charset="0"/>
              <a:buChar char="–"/>
              <a:defRPr sz="1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itchFamily="34" charset="0"/>
              <a:buChar char="•"/>
              <a:defRPr sz="18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itchFamily="34" charset="0"/>
              <a:buChar char="–"/>
              <a:defRPr sz="18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IN" sz="1920" dirty="0">
                <a:latin typeface="Times New Roman" panose="02020603050405020304" pitchFamily="18" charset="0"/>
                <a:cs typeface="Times New Roman" panose="02020603050405020304" pitchFamily="18" charset="0"/>
              </a:rPr>
              <a:t> </a:t>
            </a:r>
          </a:p>
          <a:p>
            <a:pPr marL="0" indent="0" algn="just">
              <a:buNone/>
            </a:pPr>
            <a:r>
              <a:rPr lang="en-IN" sz="1920" dirty="0">
                <a:latin typeface="Times New Roman" panose="02020603050405020304" pitchFamily="18" charset="0"/>
                <a:cs typeface="Times New Roman" panose="02020603050405020304" pitchFamily="18" charset="0"/>
              </a:rPr>
              <a:t>&lt;body&gt;  </a:t>
            </a:r>
          </a:p>
          <a:p>
            <a:pPr marL="0" indent="0" algn="just">
              <a:buNone/>
            </a:pPr>
            <a:r>
              <a:rPr lang="en-IN" sz="1920" dirty="0">
                <a:latin typeface="Times New Roman" panose="02020603050405020304" pitchFamily="18" charset="0"/>
                <a:cs typeface="Times New Roman" panose="02020603050405020304" pitchFamily="18" charset="0"/>
              </a:rPr>
              <a:t>&lt;p&gt;This paragraph is not displayed with specified margin. &lt;/p&gt;  </a:t>
            </a:r>
          </a:p>
          <a:p>
            <a:pPr marL="0" indent="0" algn="just">
              <a:buNone/>
            </a:pPr>
            <a:r>
              <a:rPr lang="en-IN" sz="1920" dirty="0">
                <a:latin typeface="Times New Roman" panose="02020603050405020304" pitchFamily="18" charset="0"/>
                <a:cs typeface="Times New Roman" panose="02020603050405020304" pitchFamily="18" charset="0"/>
              </a:rPr>
              <a:t>&lt;p class="ex"&gt;This paragraph is displayed with specified margin.&lt;/p&gt;  </a:t>
            </a:r>
          </a:p>
          <a:p>
            <a:pPr marL="0" indent="0" algn="just">
              <a:buNone/>
            </a:pPr>
            <a:r>
              <a:rPr lang="en-IN" sz="1920" dirty="0">
                <a:latin typeface="Times New Roman" panose="02020603050405020304" pitchFamily="18" charset="0"/>
                <a:cs typeface="Times New Roman" panose="02020603050405020304" pitchFamily="18" charset="0"/>
              </a:rPr>
              <a:t>&lt;/body&gt;  </a:t>
            </a:r>
          </a:p>
          <a:p>
            <a:pPr marL="0" indent="0" algn="just">
              <a:buNone/>
            </a:pPr>
            <a:r>
              <a:rPr lang="en-IN" sz="1920" dirty="0">
                <a:latin typeface="Times New Roman" panose="02020603050405020304" pitchFamily="18" charset="0"/>
                <a:cs typeface="Times New Roman" panose="02020603050405020304" pitchFamily="18" charset="0"/>
              </a:rPr>
              <a:t>&lt;/html&gt; </a:t>
            </a:r>
            <a:endParaRPr lang="en-US" sz="1920" dirty="0">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a:stretch>
            <a:fillRect/>
          </a:stretch>
        </p:blipFill>
        <p:spPr>
          <a:xfrm>
            <a:off x="6827520" y="4069080"/>
            <a:ext cx="4912822" cy="1664208"/>
          </a:xfrm>
          <a:prstGeom prst="rect">
            <a:avLst/>
          </a:prstGeom>
        </p:spPr>
      </p:pic>
    </p:spTree>
    <p:extLst>
      <p:ext uri="{BB962C8B-B14F-4D97-AF65-F5344CB8AC3E}">
        <p14:creationId xmlns:p14="http://schemas.microsoft.com/office/powerpoint/2010/main" val="41483138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CSS Background</a:t>
            </a:r>
          </a:p>
        </p:txBody>
      </p:sp>
      <p:sp>
        <p:nvSpPr>
          <p:cNvPr id="3" name="Content Placeholder 2"/>
          <p:cNvSpPr>
            <a:spLocks noGrp="1"/>
          </p:cNvSpPr>
          <p:nvPr>
            <p:ph idx="1"/>
          </p:nvPr>
        </p:nvSpPr>
        <p:spPr/>
        <p:txBody>
          <a:bodyPr/>
          <a:lstStyle/>
          <a:p>
            <a:pPr>
              <a:buNone/>
            </a:pPr>
            <a:r>
              <a:rPr lang="en-US"/>
              <a:t>CSS background property is used to define the background effects on element. </a:t>
            </a:r>
          </a:p>
          <a:p>
            <a:pPr>
              <a:buNone/>
            </a:pPr>
            <a:r>
              <a:rPr lang="en-US"/>
              <a:t>There are 5 CSS background properties that affects the HTML elements:</a:t>
            </a:r>
          </a:p>
          <a:p>
            <a:pPr lvl="1"/>
            <a:r>
              <a:rPr lang="en-US"/>
              <a:t>background-color</a:t>
            </a:r>
          </a:p>
          <a:p>
            <a:pPr lvl="1"/>
            <a:r>
              <a:rPr lang="en-US"/>
              <a:t>background-image</a:t>
            </a:r>
          </a:p>
          <a:p>
            <a:pPr lvl="1"/>
            <a:r>
              <a:rPr lang="en-US"/>
              <a:t>background-repeat</a:t>
            </a:r>
          </a:p>
          <a:p>
            <a:pPr lvl="1"/>
            <a:r>
              <a:rPr lang="en-US"/>
              <a:t>background-attachment</a:t>
            </a:r>
          </a:p>
          <a:p>
            <a:pPr lvl="1"/>
            <a:r>
              <a:rPr lang="en-US"/>
              <a:t>background-position</a:t>
            </a:r>
          </a:p>
          <a:p>
            <a:endParaRPr lang="en-US"/>
          </a:p>
        </p:txBody>
      </p:sp>
      <p:sp>
        <p:nvSpPr>
          <p:cNvPr id="4" name="Date Placeholder 3"/>
          <p:cNvSpPr>
            <a:spLocks noGrp="1"/>
          </p:cNvSpPr>
          <p:nvPr>
            <p:ph type="dt" sz="half" idx="4294967295"/>
          </p:nvPr>
        </p:nvSpPr>
        <p:spPr>
          <a:xfrm>
            <a:off x="838200" y="6356350"/>
            <a:ext cx="2743200" cy="365125"/>
          </a:xfrm>
        </p:spPr>
        <p:txBody>
          <a:bodyPr/>
          <a:lstStyle/>
          <a:p>
            <a:pPr>
              <a:defRPr/>
            </a:pPr>
            <a:fld id="{7C774709-785F-457C-9429-4E3DA889C601}" type="datetime3">
              <a:rPr lang="en-US" smtClean="0"/>
              <a:pPr>
                <a:defRPr/>
              </a:pPr>
              <a:t>8 January 2026</a:t>
            </a:fld>
            <a:endParaRPr lang="en-IN"/>
          </a:p>
        </p:txBody>
      </p:sp>
      <p:sp>
        <p:nvSpPr>
          <p:cNvPr id="5" name="Footer Placeholder 4"/>
          <p:cNvSpPr>
            <a:spLocks noGrp="1"/>
          </p:cNvSpPr>
          <p:nvPr>
            <p:ph type="ftr" sz="quarter" idx="4294967295"/>
          </p:nvPr>
        </p:nvSpPr>
        <p:spPr>
          <a:xfrm>
            <a:off x="4038600" y="6356350"/>
            <a:ext cx="4114800" cy="365125"/>
          </a:xfrm>
        </p:spPr>
        <p:txBody>
          <a:bodyPr/>
          <a:lstStyle/>
          <a:p>
            <a:pPr>
              <a:defRPr/>
            </a:pPr>
            <a:r>
              <a:rPr lang="en-IN" dirty="0" smtClean="0"/>
              <a:t> </a:t>
            </a:r>
            <a:endParaRPr lang="en-IN" dirty="0"/>
          </a:p>
        </p:txBody>
      </p:sp>
      <p:sp>
        <p:nvSpPr>
          <p:cNvPr id="6" name="Slide Number Placeholder 5"/>
          <p:cNvSpPr>
            <a:spLocks noGrp="1"/>
          </p:cNvSpPr>
          <p:nvPr>
            <p:ph type="sldNum" sz="quarter" idx="4294967295"/>
          </p:nvPr>
        </p:nvSpPr>
        <p:spPr>
          <a:xfrm>
            <a:off x="8610600" y="6356350"/>
            <a:ext cx="2743200" cy="365125"/>
          </a:xfrm>
        </p:spPr>
        <p:txBody>
          <a:bodyPr/>
          <a:lstStyle/>
          <a:p>
            <a:pPr>
              <a:defRPr/>
            </a:pPr>
            <a:fld id="{DC16FC18-A483-43BC-83D0-C7F7814867AE}" type="slidenum">
              <a:rPr lang="en-IN" smtClean="0"/>
              <a:pPr>
                <a:defRPr/>
              </a:pPr>
              <a:t>106</a:t>
            </a:fld>
            <a:endParaRPr lang="en-IN"/>
          </a:p>
        </p:txBody>
      </p:sp>
    </p:spTree>
    <p:extLst>
      <p:ext uri="{BB962C8B-B14F-4D97-AF65-F5344CB8AC3E}">
        <p14:creationId xmlns:p14="http://schemas.microsoft.com/office/powerpoint/2010/main" val="5071603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a:t>CSS background-color</a:t>
            </a:r>
          </a:p>
        </p:txBody>
      </p:sp>
      <p:sp>
        <p:nvSpPr>
          <p:cNvPr id="3" name="Content Placeholder 2"/>
          <p:cNvSpPr>
            <a:spLocks noGrp="1"/>
          </p:cNvSpPr>
          <p:nvPr>
            <p:ph idx="1"/>
          </p:nvPr>
        </p:nvSpPr>
        <p:spPr/>
        <p:txBody>
          <a:bodyPr>
            <a:normAutofit fontScale="85000" lnSpcReduction="20000"/>
          </a:bodyPr>
          <a:lstStyle/>
          <a:p>
            <a:pPr>
              <a:buNone/>
            </a:pPr>
            <a:r>
              <a:rPr lang="en-US" dirty="0"/>
              <a:t>The background-color property is used to specify the background color of the</a:t>
            </a:r>
          </a:p>
          <a:p>
            <a:pPr>
              <a:buNone/>
            </a:pPr>
            <a:r>
              <a:rPr lang="en-US" dirty="0"/>
              <a:t>element.</a:t>
            </a:r>
          </a:p>
          <a:p>
            <a:endParaRPr lang="en-US" dirty="0"/>
          </a:p>
          <a:p>
            <a:pPr>
              <a:buNone/>
            </a:pPr>
            <a:r>
              <a:rPr lang="en-US" dirty="0"/>
              <a:t>h2</a:t>
            </a:r>
          </a:p>
          <a:p>
            <a:pPr>
              <a:buNone/>
            </a:pPr>
            <a:r>
              <a:rPr lang="en-US" dirty="0"/>
              <a:t>{  </a:t>
            </a:r>
          </a:p>
          <a:p>
            <a:pPr>
              <a:buNone/>
            </a:pPr>
            <a:r>
              <a:rPr lang="en-US" dirty="0"/>
              <a:t>  background-color: </a:t>
            </a:r>
            <a:r>
              <a:rPr lang="en-US" dirty="0" smtClean="0"/>
              <a:t>color </a:t>
            </a:r>
            <a:r>
              <a:rPr lang="en-US" dirty="0" err="1" smtClean="0"/>
              <a:t>nameor</a:t>
            </a:r>
            <a:r>
              <a:rPr lang="en-US" dirty="0" smtClean="0"/>
              <a:t> </a:t>
            </a:r>
            <a:r>
              <a:rPr lang="en-US" dirty="0" err="1" smtClean="0"/>
              <a:t>rgb</a:t>
            </a:r>
            <a:r>
              <a:rPr lang="en-US" dirty="0" smtClean="0"/>
              <a:t> or hexadecimal;  </a:t>
            </a:r>
          </a:p>
          <a:p>
            <a:pPr>
              <a:buNone/>
            </a:pPr>
            <a:r>
              <a:rPr lang="en-US" dirty="0"/>
              <a:t>background-color: </a:t>
            </a:r>
            <a:r>
              <a:rPr lang="en-US" dirty="0" smtClean="0"/>
              <a:t>green;</a:t>
            </a:r>
          </a:p>
          <a:p>
            <a:pPr>
              <a:buNone/>
            </a:pPr>
            <a:r>
              <a:rPr lang="en-US" dirty="0"/>
              <a:t>background-color: </a:t>
            </a:r>
            <a:r>
              <a:rPr lang="en-US" dirty="0" err="1" smtClean="0"/>
              <a:t>rgb</a:t>
            </a:r>
            <a:r>
              <a:rPr lang="en-US" dirty="0" smtClean="0"/>
              <a:t>(255,0,0);</a:t>
            </a:r>
          </a:p>
          <a:p>
            <a:pPr>
              <a:buNone/>
            </a:pPr>
            <a:r>
              <a:rPr lang="en-US" dirty="0"/>
              <a:t>background-color: #ff000080</a:t>
            </a:r>
            <a:r>
              <a:rPr lang="en-US" dirty="0" smtClean="0"/>
              <a:t>;</a:t>
            </a:r>
          </a:p>
          <a:p>
            <a:pPr>
              <a:buNone/>
            </a:pPr>
            <a:endParaRPr lang="en-US" dirty="0"/>
          </a:p>
          <a:p>
            <a:pPr>
              <a:buNone/>
            </a:pPr>
            <a:r>
              <a:rPr lang="en-US" dirty="0"/>
              <a:t>} </a:t>
            </a:r>
          </a:p>
        </p:txBody>
      </p:sp>
      <p:sp>
        <p:nvSpPr>
          <p:cNvPr id="4" name="Date Placeholder 3"/>
          <p:cNvSpPr>
            <a:spLocks noGrp="1"/>
          </p:cNvSpPr>
          <p:nvPr>
            <p:ph type="dt" sz="half" idx="4294967295"/>
          </p:nvPr>
        </p:nvSpPr>
        <p:spPr>
          <a:xfrm>
            <a:off x="838200" y="6356350"/>
            <a:ext cx="2743200" cy="365125"/>
          </a:xfrm>
        </p:spPr>
        <p:txBody>
          <a:bodyPr/>
          <a:lstStyle/>
          <a:p>
            <a:pPr>
              <a:defRPr/>
            </a:pPr>
            <a:fld id="{7C774709-785F-457C-9429-4E3DA889C601}" type="datetime3">
              <a:rPr lang="en-US" smtClean="0"/>
              <a:pPr>
                <a:defRPr/>
              </a:pPr>
              <a:t>8 January 2026</a:t>
            </a:fld>
            <a:endParaRPr lang="en-IN"/>
          </a:p>
        </p:txBody>
      </p:sp>
      <p:sp>
        <p:nvSpPr>
          <p:cNvPr id="5" name="Footer Placeholder 4"/>
          <p:cNvSpPr>
            <a:spLocks noGrp="1"/>
          </p:cNvSpPr>
          <p:nvPr>
            <p:ph type="ftr" sz="quarter" idx="4294967295"/>
          </p:nvPr>
        </p:nvSpPr>
        <p:spPr>
          <a:xfrm>
            <a:off x="4038600" y="6356350"/>
            <a:ext cx="4114800" cy="365125"/>
          </a:xfrm>
        </p:spPr>
        <p:txBody>
          <a:bodyPr/>
          <a:lstStyle/>
          <a:p>
            <a:pPr>
              <a:defRPr/>
            </a:pPr>
            <a:r>
              <a:rPr lang="en-IN" dirty="0" smtClean="0"/>
              <a:t> </a:t>
            </a:r>
            <a:endParaRPr lang="en-IN" dirty="0"/>
          </a:p>
        </p:txBody>
      </p:sp>
      <p:sp>
        <p:nvSpPr>
          <p:cNvPr id="6" name="Slide Number Placeholder 5"/>
          <p:cNvSpPr>
            <a:spLocks noGrp="1"/>
          </p:cNvSpPr>
          <p:nvPr>
            <p:ph type="sldNum" sz="quarter" idx="4294967295"/>
          </p:nvPr>
        </p:nvSpPr>
        <p:spPr>
          <a:xfrm>
            <a:off x="8610600" y="6356350"/>
            <a:ext cx="2743200" cy="365125"/>
          </a:xfrm>
        </p:spPr>
        <p:txBody>
          <a:bodyPr/>
          <a:lstStyle/>
          <a:p>
            <a:pPr>
              <a:defRPr/>
            </a:pPr>
            <a:fld id="{DC16FC18-A483-43BC-83D0-C7F7814867AE}" type="slidenum">
              <a:rPr lang="en-IN" smtClean="0"/>
              <a:pPr>
                <a:defRPr/>
              </a:pPr>
              <a:t>107</a:t>
            </a:fld>
            <a:endParaRPr lang="en-IN"/>
          </a:p>
        </p:txBody>
      </p:sp>
    </p:spTree>
    <p:extLst>
      <p:ext uri="{BB962C8B-B14F-4D97-AF65-F5344CB8AC3E}">
        <p14:creationId xmlns:p14="http://schemas.microsoft.com/office/powerpoint/2010/main" val="8059821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a:t>
            </a:r>
          </a:p>
        </p:txBody>
      </p:sp>
      <p:sp>
        <p:nvSpPr>
          <p:cNvPr id="3" name="Content Placeholder 2"/>
          <p:cNvSpPr>
            <a:spLocks noGrp="1"/>
          </p:cNvSpPr>
          <p:nvPr>
            <p:ph idx="1"/>
          </p:nvPr>
        </p:nvSpPr>
        <p:spPr>
          <a:xfrm>
            <a:off x="634365" y="1463675"/>
            <a:ext cx="9875520" cy="5257800"/>
          </a:xfrm>
        </p:spPr>
        <p:txBody>
          <a:bodyPr>
            <a:normAutofit fontScale="92500" lnSpcReduction="10000"/>
          </a:bodyPr>
          <a:lstStyle/>
          <a:p>
            <a:pPr>
              <a:buNone/>
            </a:pPr>
            <a:r>
              <a:rPr lang="en-US" sz="1680" dirty="0"/>
              <a:t>&lt;!DOCTYPE html</a:t>
            </a:r>
            <a:r>
              <a:rPr lang="en-US" sz="1680" b="1" dirty="0"/>
              <a:t>&gt;</a:t>
            </a:r>
            <a:r>
              <a:rPr lang="en-US" sz="1680" dirty="0"/>
              <a:t>  </a:t>
            </a:r>
          </a:p>
          <a:p>
            <a:pPr>
              <a:buNone/>
            </a:pPr>
            <a:r>
              <a:rPr lang="en-US" sz="1680" b="1" dirty="0"/>
              <a:t>	</a:t>
            </a:r>
            <a:r>
              <a:rPr lang="en-US" sz="1680" dirty="0"/>
              <a:t>&lt;html&gt;  </a:t>
            </a:r>
          </a:p>
          <a:p>
            <a:pPr>
              <a:buNone/>
            </a:pPr>
            <a:r>
              <a:rPr lang="en-US" sz="1680" dirty="0"/>
              <a:t>		&lt;head&gt;  </a:t>
            </a:r>
          </a:p>
          <a:p>
            <a:pPr>
              <a:buNone/>
            </a:pPr>
            <a:r>
              <a:rPr lang="en-US" sz="1680" dirty="0"/>
              <a:t>		&lt;style&gt;  </a:t>
            </a:r>
          </a:p>
          <a:p>
            <a:pPr>
              <a:buNone/>
            </a:pPr>
            <a:r>
              <a:rPr lang="en-US" sz="1680" dirty="0"/>
              <a:t>		h2{  </a:t>
            </a:r>
          </a:p>
          <a:p>
            <a:pPr>
              <a:buNone/>
            </a:pPr>
            <a:r>
              <a:rPr lang="en-US" sz="1680" dirty="0"/>
              <a:t>			background-color: yellow;  </a:t>
            </a:r>
          </a:p>
          <a:p>
            <a:pPr>
              <a:buNone/>
            </a:pPr>
            <a:r>
              <a:rPr lang="en-US" sz="1680" dirty="0"/>
              <a:t>		}  </a:t>
            </a:r>
          </a:p>
          <a:p>
            <a:pPr>
              <a:buNone/>
            </a:pPr>
            <a:r>
              <a:rPr lang="en-US" sz="1680" dirty="0"/>
              <a:t>		p{  </a:t>
            </a:r>
          </a:p>
          <a:p>
            <a:pPr>
              <a:buNone/>
            </a:pPr>
            <a:r>
              <a:rPr lang="en-US" sz="1680" dirty="0"/>
              <a:t>			background-color: red;  }</a:t>
            </a:r>
          </a:p>
          <a:p>
            <a:pPr>
              <a:buNone/>
            </a:pPr>
            <a:r>
              <a:rPr lang="en-US" sz="1680" dirty="0"/>
              <a:t>		&lt;/style&gt;  </a:t>
            </a:r>
          </a:p>
          <a:p>
            <a:pPr>
              <a:buNone/>
            </a:pPr>
            <a:r>
              <a:rPr lang="en-US" sz="1680" dirty="0"/>
              <a:t>&lt;/head&gt;  </a:t>
            </a:r>
          </a:p>
          <a:p>
            <a:pPr>
              <a:buNone/>
            </a:pPr>
            <a:r>
              <a:rPr lang="en-US" sz="1680" dirty="0"/>
              <a:t>	&lt;body&gt;  </a:t>
            </a:r>
          </a:p>
          <a:p>
            <a:pPr>
              <a:buNone/>
            </a:pPr>
            <a:r>
              <a:rPr lang="en-US" sz="1680" dirty="0"/>
              <a:t>	&lt;h2&gt;VIT-AP&lt;/h2&gt;  </a:t>
            </a:r>
          </a:p>
          <a:p>
            <a:pPr>
              <a:buNone/>
            </a:pPr>
            <a:r>
              <a:rPr lang="en-US" sz="1680" dirty="0"/>
              <a:t>	&lt;p&gt;Vijayawada&lt;/p&gt;  </a:t>
            </a:r>
          </a:p>
          <a:p>
            <a:pPr>
              <a:buNone/>
            </a:pPr>
            <a:r>
              <a:rPr lang="en-US" sz="1680" dirty="0"/>
              <a:t>	&lt;/body&gt;  </a:t>
            </a:r>
          </a:p>
          <a:p>
            <a:pPr>
              <a:buNone/>
            </a:pPr>
            <a:r>
              <a:rPr lang="en-US" sz="1680" dirty="0"/>
              <a:t>&lt;/html&gt;   </a:t>
            </a:r>
          </a:p>
          <a:p>
            <a:endParaRPr lang="en-US" sz="1680" dirty="0"/>
          </a:p>
        </p:txBody>
      </p:sp>
      <p:sp>
        <p:nvSpPr>
          <p:cNvPr id="4" name="Date Placeholder 3"/>
          <p:cNvSpPr>
            <a:spLocks noGrp="1"/>
          </p:cNvSpPr>
          <p:nvPr>
            <p:ph type="dt" sz="half" idx="4294967295"/>
          </p:nvPr>
        </p:nvSpPr>
        <p:spPr>
          <a:xfrm>
            <a:off x="838200" y="6356350"/>
            <a:ext cx="2743200" cy="365125"/>
          </a:xfrm>
        </p:spPr>
        <p:txBody>
          <a:bodyPr/>
          <a:lstStyle/>
          <a:p>
            <a:pPr>
              <a:defRPr/>
            </a:pPr>
            <a:fld id="{7C774709-785F-457C-9429-4E3DA889C601}" type="datetime3">
              <a:rPr lang="en-US" smtClean="0"/>
              <a:pPr>
                <a:defRPr/>
              </a:pPr>
              <a:t>8 January 2026</a:t>
            </a:fld>
            <a:endParaRPr lang="en-IN"/>
          </a:p>
        </p:txBody>
      </p:sp>
      <p:sp>
        <p:nvSpPr>
          <p:cNvPr id="5" name="Footer Placeholder 4"/>
          <p:cNvSpPr>
            <a:spLocks noGrp="1"/>
          </p:cNvSpPr>
          <p:nvPr>
            <p:ph type="ftr" sz="quarter" idx="4294967295"/>
          </p:nvPr>
        </p:nvSpPr>
        <p:spPr>
          <a:xfrm>
            <a:off x="4038600" y="6356350"/>
            <a:ext cx="4114800" cy="365125"/>
          </a:xfrm>
        </p:spPr>
        <p:txBody>
          <a:bodyPr/>
          <a:lstStyle/>
          <a:p>
            <a:pPr>
              <a:defRPr/>
            </a:pPr>
            <a:r>
              <a:rPr lang="en-IN" dirty="0" smtClean="0"/>
              <a:t> </a:t>
            </a:r>
            <a:endParaRPr lang="en-IN" dirty="0"/>
          </a:p>
        </p:txBody>
      </p:sp>
      <p:sp>
        <p:nvSpPr>
          <p:cNvPr id="6" name="Slide Number Placeholder 5"/>
          <p:cNvSpPr>
            <a:spLocks noGrp="1"/>
          </p:cNvSpPr>
          <p:nvPr>
            <p:ph type="sldNum" sz="quarter" idx="4294967295"/>
          </p:nvPr>
        </p:nvSpPr>
        <p:spPr>
          <a:xfrm>
            <a:off x="8610600" y="6356350"/>
            <a:ext cx="2743200" cy="365125"/>
          </a:xfrm>
        </p:spPr>
        <p:txBody>
          <a:bodyPr/>
          <a:lstStyle/>
          <a:p>
            <a:pPr>
              <a:defRPr/>
            </a:pPr>
            <a:fld id="{DC16FC18-A483-43BC-83D0-C7F7814867AE}" type="slidenum">
              <a:rPr lang="en-IN" smtClean="0"/>
              <a:pPr>
                <a:defRPr/>
              </a:pPr>
              <a:t>108</a:t>
            </a:fld>
            <a:endParaRPr lang="en-IN"/>
          </a:p>
        </p:txBody>
      </p:sp>
    </p:spTree>
    <p:extLst>
      <p:ext uri="{BB962C8B-B14F-4D97-AF65-F5344CB8AC3E}">
        <p14:creationId xmlns:p14="http://schemas.microsoft.com/office/powerpoint/2010/main" val="26560693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a:t>CSS background-image</a:t>
            </a:r>
            <a:br>
              <a:rPr lang="en-US" b="0"/>
            </a:br>
            <a:endParaRPr lang="en-US"/>
          </a:p>
        </p:txBody>
      </p:sp>
      <p:sp>
        <p:nvSpPr>
          <p:cNvPr id="3" name="Content Placeholder 2"/>
          <p:cNvSpPr>
            <a:spLocks noGrp="1"/>
          </p:cNvSpPr>
          <p:nvPr>
            <p:ph idx="1"/>
          </p:nvPr>
        </p:nvSpPr>
        <p:spPr/>
        <p:txBody>
          <a:bodyPr>
            <a:normAutofit fontScale="85000" lnSpcReduction="20000"/>
          </a:bodyPr>
          <a:lstStyle/>
          <a:p>
            <a:r>
              <a:rPr lang="en-US" dirty="0"/>
              <a:t>The background-image property is used to set an image as a background of an element.</a:t>
            </a:r>
          </a:p>
          <a:p>
            <a:pPr>
              <a:buNone/>
            </a:pPr>
            <a:r>
              <a:rPr lang="en-US" sz="1440" dirty="0"/>
              <a:t>&lt;!DOCTYPE html&gt;  </a:t>
            </a:r>
          </a:p>
          <a:p>
            <a:pPr>
              <a:buNone/>
            </a:pPr>
            <a:r>
              <a:rPr lang="en-US" sz="1440" dirty="0"/>
              <a:t>	&lt;html&gt;  </a:t>
            </a:r>
          </a:p>
          <a:p>
            <a:pPr>
              <a:buNone/>
            </a:pPr>
            <a:r>
              <a:rPr lang="en-US" sz="1440" dirty="0"/>
              <a:t>		&lt;head&gt;  </a:t>
            </a:r>
          </a:p>
          <a:p>
            <a:pPr>
              <a:buNone/>
            </a:pPr>
            <a:r>
              <a:rPr lang="en-US" sz="1440" dirty="0"/>
              <a:t>		&lt;style&gt;  </a:t>
            </a:r>
          </a:p>
          <a:p>
            <a:pPr>
              <a:buNone/>
            </a:pPr>
            <a:r>
              <a:rPr lang="en-US" sz="1440" dirty="0"/>
              <a:t>		      body {  </a:t>
            </a:r>
          </a:p>
          <a:p>
            <a:pPr>
              <a:buNone/>
            </a:pPr>
            <a:r>
              <a:rPr lang="en-US" sz="1440" dirty="0"/>
              <a:t>			</a:t>
            </a:r>
            <a:r>
              <a:rPr lang="en-US" sz="1440" dirty="0" err="1"/>
              <a:t>background-image:url</a:t>
            </a:r>
            <a:r>
              <a:rPr lang="en-US" sz="1440" dirty="0"/>
              <a:t>("vit.jpg");  </a:t>
            </a:r>
          </a:p>
          <a:p>
            <a:pPr>
              <a:buNone/>
            </a:pPr>
            <a:r>
              <a:rPr lang="en-US" sz="1440" dirty="0"/>
              <a:t>			margin-left:100px;</a:t>
            </a:r>
          </a:p>
          <a:p>
            <a:pPr>
              <a:buNone/>
            </a:pPr>
            <a:r>
              <a:rPr lang="en-US" sz="1440" dirty="0"/>
              <a:t>		               }  </a:t>
            </a:r>
          </a:p>
          <a:p>
            <a:pPr>
              <a:buNone/>
            </a:pPr>
            <a:r>
              <a:rPr lang="en-US" sz="1440" dirty="0"/>
              <a:t>		&lt;/style&gt;  </a:t>
            </a:r>
          </a:p>
          <a:p>
            <a:pPr>
              <a:buNone/>
            </a:pPr>
            <a:r>
              <a:rPr lang="en-US" sz="1440" dirty="0"/>
              <a:t>	&lt;/head&gt;  </a:t>
            </a:r>
          </a:p>
          <a:p>
            <a:pPr>
              <a:buNone/>
            </a:pPr>
            <a:r>
              <a:rPr lang="en-US" sz="1440" dirty="0"/>
              <a:t>		&lt;body&gt;  </a:t>
            </a:r>
          </a:p>
          <a:p>
            <a:pPr>
              <a:buNone/>
            </a:pPr>
            <a:r>
              <a:rPr lang="en-US" sz="1440" dirty="0"/>
              <a:t>		&lt;h1&gt;VIT-AP, Vijayawada&lt;/h1&gt;  </a:t>
            </a:r>
          </a:p>
          <a:p>
            <a:pPr>
              <a:buNone/>
            </a:pPr>
            <a:r>
              <a:rPr lang="en-US" sz="1440" dirty="0"/>
              <a:t>		&lt;/body&gt;  </a:t>
            </a:r>
          </a:p>
          <a:p>
            <a:pPr>
              <a:buNone/>
            </a:pPr>
            <a:r>
              <a:rPr lang="en-US" sz="1440" dirty="0"/>
              <a:t>	&lt;/html&gt;</a:t>
            </a:r>
          </a:p>
        </p:txBody>
      </p:sp>
      <p:sp>
        <p:nvSpPr>
          <p:cNvPr id="4" name="Date Placeholder 3"/>
          <p:cNvSpPr>
            <a:spLocks noGrp="1"/>
          </p:cNvSpPr>
          <p:nvPr>
            <p:ph type="dt" sz="half" idx="4294967295"/>
          </p:nvPr>
        </p:nvSpPr>
        <p:spPr>
          <a:xfrm>
            <a:off x="838200" y="6356350"/>
            <a:ext cx="2743200" cy="365125"/>
          </a:xfrm>
        </p:spPr>
        <p:txBody>
          <a:bodyPr/>
          <a:lstStyle/>
          <a:p>
            <a:pPr>
              <a:defRPr/>
            </a:pPr>
            <a:fld id="{7C774709-785F-457C-9429-4E3DA889C601}" type="datetime3">
              <a:rPr lang="en-US" smtClean="0"/>
              <a:pPr>
                <a:defRPr/>
              </a:pPr>
              <a:t>8 January 2026</a:t>
            </a:fld>
            <a:endParaRPr lang="en-IN"/>
          </a:p>
        </p:txBody>
      </p:sp>
      <p:sp>
        <p:nvSpPr>
          <p:cNvPr id="5" name="Footer Placeholder 4"/>
          <p:cNvSpPr>
            <a:spLocks noGrp="1"/>
          </p:cNvSpPr>
          <p:nvPr>
            <p:ph type="ftr" sz="quarter" idx="4294967295"/>
          </p:nvPr>
        </p:nvSpPr>
        <p:spPr>
          <a:xfrm>
            <a:off x="4038600" y="6356350"/>
            <a:ext cx="4114800" cy="365125"/>
          </a:xfrm>
        </p:spPr>
        <p:txBody>
          <a:bodyPr/>
          <a:lstStyle/>
          <a:p>
            <a:pPr>
              <a:defRPr/>
            </a:pPr>
            <a:r>
              <a:rPr lang="en-IN" dirty="0" smtClean="0"/>
              <a:t> </a:t>
            </a:r>
            <a:endParaRPr lang="en-IN" dirty="0"/>
          </a:p>
        </p:txBody>
      </p:sp>
      <p:sp>
        <p:nvSpPr>
          <p:cNvPr id="6" name="Slide Number Placeholder 5"/>
          <p:cNvSpPr>
            <a:spLocks noGrp="1"/>
          </p:cNvSpPr>
          <p:nvPr>
            <p:ph type="sldNum" sz="quarter" idx="4294967295"/>
          </p:nvPr>
        </p:nvSpPr>
        <p:spPr>
          <a:xfrm>
            <a:off x="8610600" y="6356350"/>
            <a:ext cx="2743200" cy="365125"/>
          </a:xfrm>
        </p:spPr>
        <p:txBody>
          <a:bodyPr/>
          <a:lstStyle/>
          <a:p>
            <a:pPr>
              <a:defRPr/>
            </a:pPr>
            <a:fld id="{DC16FC18-A483-43BC-83D0-C7F7814867AE}" type="slidenum">
              <a:rPr lang="en-IN" smtClean="0"/>
              <a:pPr>
                <a:defRPr/>
              </a:pPr>
              <a:t>109</a:t>
            </a:fld>
            <a:endParaRPr lang="en-IN"/>
          </a:p>
        </p:txBody>
      </p:sp>
    </p:spTree>
    <p:extLst>
      <p:ext uri="{BB962C8B-B14F-4D97-AF65-F5344CB8AC3E}">
        <p14:creationId xmlns:p14="http://schemas.microsoft.com/office/powerpoint/2010/main" val="35662849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a:t>CSS background-repeat</a:t>
            </a:r>
            <a:br>
              <a:rPr lang="en-US" b="0"/>
            </a:br>
            <a:endParaRPr lang="en-US"/>
          </a:p>
        </p:txBody>
      </p:sp>
      <p:sp>
        <p:nvSpPr>
          <p:cNvPr id="3" name="Content Placeholder 2"/>
          <p:cNvSpPr>
            <a:spLocks noGrp="1"/>
          </p:cNvSpPr>
          <p:nvPr>
            <p:ph idx="1"/>
          </p:nvPr>
        </p:nvSpPr>
        <p:spPr>
          <a:xfrm>
            <a:off x="714374" y="1027906"/>
            <a:ext cx="11363325" cy="4925219"/>
          </a:xfrm>
        </p:spPr>
        <p:txBody>
          <a:bodyPr>
            <a:noAutofit/>
          </a:bodyPr>
          <a:lstStyle/>
          <a:p>
            <a:r>
              <a:rPr lang="en-US" sz="1800" dirty="0">
                <a:latin typeface="Times New Roman" panose="02020603050405020304" pitchFamily="18" charset="0"/>
                <a:cs typeface="Times New Roman" panose="02020603050405020304" pitchFamily="18" charset="0"/>
              </a:rPr>
              <a:t>By default, the background-image property repeats the background image horizontally and vertically. Some images are repeated only horizontally or vertically.</a:t>
            </a:r>
          </a:p>
          <a:p>
            <a:pPr>
              <a:buNone/>
            </a:pPr>
            <a:r>
              <a:rPr lang="en-US" sz="1800" dirty="0">
                <a:latin typeface="Times New Roman" panose="02020603050405020304" pitchFamily="18" charset="0"/>
                <a:cs typeface="Times New Roman" panose="02020603050405020304" pitchFamily="18" charset="0"/>
              </a:rPr>
              <a:t>      If The background looks better if the image repeated horizontally only.</a:t>
            </a:r>
          </a:p>
          <a:p>
            <a:pPr>
              <a:buNone/>
            </a:pPr>
            <a:r>
              <a:rPr lang="en-US" sz="1800" dirty="0">
                <a:latin typeface="Times New Roman" panose="02020603050405020304" pitchFamily="18" charset="0"/>
                <a:cs typeface="Times New Roman" panose="02020603050405020304" pitchFamily="18" charset="0"/>
              </a:rPr>
              <a:t>&lt;!DOCTYPE html&gt;  </a:t>
            </a:r>
          </a:p>
          <a:p>
            <a:pPr>
              <a:buNone/>
            </a:pPr>
            <a:r>
              <a:rPr lang="en-US" sz="1800" dirty="0">
                <a:latin typeface="Times New Roman" panose="02020603050405020304" pitchFamily="18" charset="0"/>
                <a:cs typeface="Times New Roman" panose="02020603050405020304" pitchFamily="18" charset="0"/>
              </a:rPr>
              <a:t>&lt;html&gt;  </a:t>
            </a:r>
          </a:p>
          <a:p>
            <a:pPr>
              <a:buNone/>
            </a:pPr>
            <a:r>
              <a:rPr lang="en-US" sz="1800" dirty="0">
                <a:latin typeface="Times New Roman" panose="02020603050405020304" pitchFamily="18" charset="0"/>
                <a:cs typeface="Times New Roman" panose="02020603050405020304" pitchFamily="18" charset="0"/>
              </a:rPr>
              <a:t>&lt;head&gt;  </a:t>
            </a:r>
          </a:p>
          <a:p>
            <a:pPr>
              <a:buNone/>
            </a:pPr>
            <a:r>
              <a:rPr lang="en-US" sz="1800" dirty="0">
                <a:latin typeface="Times New Roman" panose="02020603050405020304" pitchFamily="18" charset="0"/>
                <a:cs typeface="Times New Roman" panose="02020603050405020304" pitchFamily="18" charset="0"/>
              </a:rPr>
              <a:t>	&lt;style&gt;  </a:t>
            </a:r>
          </a:p>
          <a:p>
            <a:pPr>
              <a:buNone/>
            </a:pPr>
            <a:r>
              <a:rPr lang="en-US" sz="1800" dirty="0">
                <a:latin typeface="Times New Roman" panose="02020603050405020304" pitchFamily="18" charset="0"/>
                <a:cs typeface="Times New Roman" panose="02020603050405020304" pitchFamily="18" charset="0"/>
              </a:rPr>
              <a:t>		body {  </a:t>
            </a:r>
          </a:p>
          <a:p>
            <a:pPr>
              <a:buNone/>
            </a:pPr>
            <a:r>
              <a:rPr lang="en-US" sz="1800" dirty="0">
                <a:latin typeface="Times New Roman" panose="02020603050405020304" pitchFamily="18" charset="0"/>
                <a:cs typeface="Times New Roman" panose="02020603050405020304" pitchFamily="18" charset="0"/>
              </a:rPr>
              <a:t>		background-image: </a:t>
            </a:r>
            <a:r>
              <a:rPr lang="en-US" sz="1800" dirty="0" err="1">
                <a:latin typeface="Times New Roman" panose="02020603050405020304" pitchFamily="18" charset="0"/>
                <a:cs typeface="Times New Roman" panose="02020603050405020304" pitchFamily="18" charset="0"/>
              </a:rPr>
              <a:t>url</a:t>
            </a:r>
            <a:r>
              <a:rPr lang="en-US" sz="1800" dirty="0">
                <a:latin typeface="Times New Roman" panose="02020603050405020304" pitchFamily="18" charset="0"/>
                <a:cs typeface="Times New Roman" panose="02020603050405020304" pitchFamily="18" charset="0"/>
              </a:rPr>
              <a:t>("vit.jpg");  </a:t>
            </a:r>
          </a:p>
          <a:p>
            <a:pPr>
              <a:buNone/>
            </a:pPr>
            <a:r>
              <a:rPr lang="en-US" sz="1800" dirty="0">
                <a:latin typeface="Times New Roman" panose="02020603050405020304" pitchFamily="18" charset="0"/>
                <a:cs typeface="Times New Roman" panose="02020603050405020304" pitchFamily="18" charset="0"/>
              </a:rPr>
              <a:t>		  background-repeat: repeat-x;</a:t>
            </a:r>
          </a:p>
          <a:p>
            <a:pPr>
              <a:buNone/>
            </a:pPr>
            <a:r>
              <a:rPr lang="en-US" sz="1800" dirty="0">
                <a:latin typeface="Times New Roman" panose="02020603050405020304" pitchFamily="18" charset="0"/>
                <a:cs typeface="Times New Roman" panose="02020603050405020304" pitchFamily="18" charset="0"/>
              </a:rPr>
              <a:t>		    }  </a:t>
            </a:r>
          </a:p>
          <a:p>
            <a:pPr>
              <a:buNone/>
            </a:pPr>
            <a:r>
              <a:rPr lang="en-US" sz="1800" dirty="0">
                <a:latin typeface="Times New Roman" panose="02020603050405020304" pitchFamily="18" charset="0"/>
                <a:cs typeface="Times New Roman" panose="02020603050405020304" pitchFamily="18" charset="0"/>
              </a:rPr>
              <a:t>	&lt;/style&gt;  </a:t>
            </a:r>
          </a:p>
          <a:p>
            <a:pPr>
              <a:buNone/>
            </a:pPr>
            <a:r>
              <a:rPr lang="en-US" sz="1800" dirty="0">
                <a:latin typeface="Times New Roman" panose="02020603050405020304" pitchFamily="18" charset="0"/>
                <a:cs typeface="Times New Roman" panose="02020603050405020304" pitchFamily="18" charset="0"/>
              </a:rPr>
              <a:t>	&lt;/head&gt;  </a:t>
            </a:r>
          </a:p>
          <a:p>
            <a:pPr>
              <a:buNone/>
            </a:pPr>
            <a:r>
              <a:rPr lang="en-US" sz="1800" dirty="0">
                <a:latin typeface="Times New Roman" panose="02020603050405020304" pitchFamily="18" charset="0"/>
                <a:cs typeface="Times New Roman" panose="02020603050405020304" pitchFamily="18" charset="0"/>
              </a:rPr>
              <a:t>	&lt;body&gt;  </a:t>
            </a:r>
          </a:p>
          <a:p>
            <a:pPr>
              <a:buNone/>
            </a:pPr>
            <a:r>
              <a:rPr lang="en-US" sz="1800" dirty="0">
                <a:latin typeface="Times New Roman" panose="02020603050405020304" pitchFamily="18" charset="0"/>
                <a:cs typeface="Times New Roman" panose="02020603050405020304" pitchFamily="18" charset="0"/>
              </a:rPr>
              <a:t>	&lt;h1&gt;Hello VIT-AP&lt;/h1&gt;  </a:t>
            </a:r>
          </a:p>
          <a:p>
            <a:pPr>
              <a:buNone/>
            </a:pPr>
            <a:r>
              <a:rPr lang="en-US" sz="1800" dirty="0">
                <a:latin typeface="Times New Roman" panose="02020603050405020304" pitchFamily="18" charset="0"/>
                <a:cs typeface="Times New Roman" panose="02020603050405020304" pitchFamily="18" charset="0"/>
              </a:rPr>
              <a:t>	&lt;/body&gt;  </a:t>
            </a:r>
          </a:p>
          <a:p>
            <a:pPr>
              <a:buNone/>
            </a:pPr>
            <a:r>
              <a:rPr lang="en-US" sz="1800" dirty="0">
                <a:latin typeface="Times New Roman" panose="02020603050405020304" pitchFamily="18" charset="0"/>
                <a:cs typeface="Times New Roman" panose="02020603050405020304" pitchFamily="18" charset="0"/>
              </a:rPr>
              <a:t>	&lt;/html&gt;</a:t>
            </a:r>
          </a:p>
        </p:txBody>
      </p:sp>
      <p:sp>
        <p:nvSpPr>
          <p:cNvPr id="4" name="Date Placeholder 3"/>
          <p:cNvSpPr>
            <a:spLocks noGrp="1"/>
          </p:cNvSpPr>
          <p:nvPr>
            <p:ph type="dt" sz="half" idx="4294967295"/>
          </p:nvPr>
        </p:nvSpPr>
        <p:spPr>
          <a:xfrm>
            <a:off x="838200" y="6356350"/>
            <a:ext cx="2743200" cy="365125"/>
          </a:xfrm>
        </p:spPr>
        <p:txBody>
          <a:bodyPr/>
          <a:lstStyle/>
          <a:p>
            <a:pPr>
              <a:defRPr/>
            </a:pPr>
            <a:fld id="{7C774709-785F-457C-9429-4E3DA889C601}" type="datetime3">
              <a:rPr lang="en-US" smtClean="0"/>
              <a:pPr>
                <a:defRPr/>
              </a:pPr>
              <a:t>8 January 2026</a:t>
            </a:fld>
            <a:endParaRPr lang="en-IN"/>
          </a:p>
        </p:txBody>
      </p:sp>
      <p:sp>
        <p:nvSpPr>
          <p:cNvPr id="5" name="Footer Placeholder 4"/>
          <p:cNvSpPr>
            <a:spLocks noGrp="1"/>
          </p:cNvSpPr>
          <p:nvPr>
            <p:ph type="ftr" sz="quarter" idx="4294967295"/>
          </p:nvPr>
        </p:nvSpPr>
        <p:spPr>
          <a:xfrm>
            <a:off x="4038600" y="6356350"/>
            <a:ext cx="4114800" cy="365125"/>
          </a:xfrm>
        </p:spPr>
        <p:txBody>
          <a:bodyPr/>
          <a:lstStyle/>
          <a:p>
            <a:pPr>
              <a:defRPr/>
            </a:pPr>
            <a:r>
              <a:rPr lang="en-IN" dirty="0" smtClean="0"/>
              <a:t> </a:t>
            </a:r>
            <a:endParaRPr lang="en-IN" dirty="0"/>
          </a:p>
        </p:txBody>
      </p:sp>
      <p:sp>
        <p:nvSpPr>
          <p:cNvPr id="6" name="Slide Number Placeholder 5"/>
          <p:cNvSpPr>
            <a:spLocks noGrp="1"/>
          </p:cNvSpPr>
          <p:nvPr>
            <p:ph type="sldNum" sz="quarter" idx="4294967295"/>
          </p:nvPr>
        </p:nvSpPr>
        <p:spPr>
          <a:xfrm>
            <a:off x="8610600" y="6356350"/>
            <a:ext cx="2743200" cy="365125"/>
          </a:xfrm>
        </p:spPr>
        <p:txBody>
          <a:bodyPr/>
          <a:lstStyle/>
          <a:p>
            <a:pPr>
              <a:defRPr/>
            </a:pPr>
            <a:fld id="{DC16FC18-A483-43BC-83D0-C7F7814867AE}" type="slidenum">
              <a:rPr lang="en-IN" smtClean="0"/>
              <a:pPr>
                <a:defRPr/>
              </a:pPr>
              <a:t>110</a:t>
            </a:fld>
            <a:endParaRPr lang="en-IN"/>
          </a:p>
        </p:txBody>
      </p:sp>
    </p:spTree>
    <p:extLst>
      <p:ext uri="{BB962C8B-B14F-4D97-AF65-F5344CB8AC3E}">
        <p14:creationId xmlns:p14="http://schemas.microsoft.com/office/powerpoint/2010/main" val="29678755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a:t>CSS background-attachment</a:t>
            </a:r>
            <a:br>
              <a:rPr lang="en-US" b="0"/>
            </a:br>
            <a:endParaRPr lang="en-US"/>
          </a:p>
        </p:txBody>
      </p:sp>
      <p:sp>
        <p:nvSpPr>
          <p:cNvPr id="3" name="Content Placeholder 2"/>
          <p:cNvSpPr>
            <a:spLocks noGrp="1"/>
          </p:cNvSpPr>
          <p:nvPr>
            <p:ph idx="1"/>
          </p:nvPr>
        </p:nvSpPr>
        <p:spPr>
          <a:xfrm>
            <a:off x="647700" y="1430020"/>
            <a:ext cx="9875520" cy="4926330"/>
          </a:xfrm>
        </p:spPr>
        <p:txBody>
          <a:bodyPr/>
          <a:lstStyle/>
          <a:p>
            <a:r>
              <a:rPr lang="en-US" dirty="0"/>
              <a:t>The background-attachment property is used to specify if the background image is fixed or scroll with the rest of the page in browser window. If you set fixed the background image then the image will not move during scrolling in the browser. </a:t>
            </a:r>
          </a:p>
          <a:p>
            <a:endParaRPr lang="en-US" dirty="0"/>
          </a:p>
          <a:p>
            <a:pPr>
              <a:buNone/>
            </a:pPr>
            <a:r>
              <a:rPr lang="en-US" dirty="0"/>
              <a:t>		background: white </a:t>
            </a:r>
            <a:r>
              <a:rPr lang="en-US" dirty="0" err="1"/>
              <a:t>url</a:t>
            </a:r>
            <a:r>
              <a:rPr lang="en-US" dirty="0"/>
              <a:t>('bbb.gif');  </a:t>
            </a:r>
          </a:p>
          <a:p>
            <a:pPr>
              <a:buNone/>
            </a:pPr>
            <a:r>
              <a:rPr lang="en-US" dirty="0"/>
              <a:t>		background-repeat: no-repeat;  </a:t>
            </a:r>
          </a:p>
          <a:p>
            <a:pPr>
              <a:buNone/>
            </a:pPr>
            <a:r>
              <a:rPr lang="en-US" dirty="0"/>
              <a:t>		background-attachment: fixed;  </a:t>
            </a:r>
          </a:p>
          <a:p>
            <a:endParaRPr lang="en-US" dirty="0"/>
          </a:p>
        </p:txBody>
      </p:sp>
      <p:sp>
        <p:nvSpPr>
          <p:cNvPr id="4" name="Date Placeholder 3"/>
          <p:cNvSpPr>
            <a:spLocks noGrp="1"/>
          </p:cNvSpPr>
          <p:nvPr>
            <p:ph type="dt" sz="half" idx="4294967295"/>
          </p:nvPr>
        </p:nvSpPr>
        <p:spPr>
          <a:xfrm>
            <a:off x="838200" y="6356350"/>
            <a:ext cx="2743200" cy="365125"/>
          </a:xfrm>
        </p:spPr>
        <p:txBody>
          <a:bodyPr/>
          <a:lstStyle/>
          <a:p>
            <a:pPr>
              <a:defRPr/>
            </a:pPr>
            <a:fld id="{7C774709-785F-457C-9429-4E3DA889C601}" type="datetime3">
              <a:rPr lang="en-US" smtClean="0"/>
              <a:pPr>
                <a:defRPr/>
              </a:pPr>
              <a:t>8 January 2026</a:t>
            </a:fld>
            <a:endParaRPr lang="en-IN"/>
          </a:p>
        </p:txBody>
      </p:sp>
      <p:sp>
        <p:nvSpPr>
          <p:cNvPr id="5" name="Footer Placeholder 4"/>
          <p:cNvSpPr>
            <a:spLocks noGrp="1"/>
          </p:cNvSpPr>
          <p:nvPr>
            <p:ph type="ftr" sz="quarter" idx="4294967295"/>
          </p:nvPr>
        </p:nvSpPr>
        <p:spPr>
          <a:xfrm>
            <a:off x="4038600" y="6356350"/>
            <a:ext cx="4114800" cy="365125"/>
          </a:xfrm>
        </p:spPr>
        <p:txBody>
          <a:bodyPr/>
          <a:lstStyle/>
          <a:p>
            <a:pPr>
              <a:defRPr/>
            </a:pPr>
            <a:r>
              <a:rPr lang="en-IN" dirty="0" smtClean="0"/>
              <a:t> </a:t>
            </a:r>
            <a:endParaRPr lang="en-IN" dirty="0"/>
          </a:p>
        </p:txBody>
      </p:sp>
      <p:sp>
        <p:nvSpPr>
          <p:cNvPr id="6" name="Slide Number Placeholder 5"/>
          <p:cNvSpPr>
            <a:spLocks noGrp="1"/>
          </p:cNvSpPr>
          <p:nvPr>
            <p:ph type="sldNum" sz="quarter" idx="4294967295"/>
          </p:nvPr>
        </p:nvSpPr>
        <p:spPr>
          <a:xfrm>
            <a:off x="8610600" y="6356350"/>
            <a:ext cx="2743200" cy="365125"/>
          </a:xfrm>
        </p:spPr>
        <p:txBody>
          <a:bodyPr/>
          <a:lstStyle/>
          <a:p>
            <a:pPr>
              <a:defRPr/>
            </a:pPr>
            <a:fld id="{DC16FC18-A483-43BC-83D0-C7F7814867AE}" type="slidenum">
              <a:rPr lang="en-IN" smtClean="0"/>
              <a:pPr>
                <a:defRPr/>
              </a:pPr>
              <a:t>111</a:t>
            </a:fld>
            <a:endParaRPr lang="en-IN"/>
          </a:p>
        </p:txBody>
      </p:sp>
    </p:spTree>
    <p:extLst>
      <p:ext uri="{BB962C8B-B14F-4D97-AF65-F5344CB8AC3E}">
        <p14:creationId xmlns:p14="http://schemas.microsoft.com/office/powerpoint/2010/main" val="28240210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a:t>CSS background-position</a:t>
            </a:r>
            <a:br>
              <a:rPr lang="en-US" b="0"/>
            </a:br>
            <a:endParaRPr lang="en-US"/>
          </a:p>
        </p:txBody>
      </p:sp>
      <p:sp>
        <p:nvSpPr>
          <p:cNvPr id="3" name="Content Placeholder 2"/>
          <p:cNvSpPr>
            <a:spLocks noGrp="1"/>
          </p:cNvSpPr>
          <p:nvPr>
            <p:ph idx="1"/>
          </p:nvPr>
        </p:nvSpPr>
        <p:spPr/>
        <p:txBody>
          <a:bodyPr>
            <a:normAutofit fontScale="92500" lnSpcReduction="10000"/>
          </a:bodyPr>
          <a:lstStyle/>
          <a:p>
            <a:pPr>
              <a:buNone/>
            </a:pPr>
            <a:r>
              <a:rPr lang="en-US"/>
              <a:t>The background-position property is used to define the initial position of the </a:t>
            </a:r>
          </a:p>
          <a:p>
            <a:pPr>
              <a:buNone/>
            </a:pPr>
            <a:r>
              <a:rPr lang="en-US"/>
              <a:t>background image. By default, the background image is placed on the top-left </a:t>
            </a:r>
          </a:p>
          <a:p>
            <a:pPr>
              <a:buNone/>
            </a:pPr>
            <a:r>
              <a:rPr lang="en-US"/>
              <a:t>of the webpage.</a:t>
            </a:r>
          </a:p>
          <a:p>
            <a:pPr>
              <a:buNone/>
            </a:pPr>
            <a:endParaRPr lang="en-US"/>
          </a:p>
          <a:p>
            <a:pPr>
              <a:buNone/>
            </a:pPr>
            <a:r>
              <a:rPr lang="en-US"/>
              <a:t>You can set the following positions:</a:t>
            </a:r>
          </a:p>
          <a:p>
            <a:pPr lvl="1"/>
            <a:r>
              <a:rPr lang="en-US"/>
              <a:t>center</a:t>
            </a:r>
          </a:p>
          <a:p>
            <a:pPr lvl="1"/>
            <a:r>
              <a:rPr lang="en-US"/>
              <a:t>top</a:t>
            </a:r>
          </a:p>
          <a:p>
            <a:pPr lvl="1"/>
            <a:r>
              <a:rPr lang="en-US"/>
              <a:t>bottom</a:t>
            </a:r>
          </a:p>
          <a:p>
            <a:pPr lvl="1"/>
            <a:r>
              <a:rPr lang="en-US"/>
              <a:t>left</a:t>
            </a:r>
          </a:p>
          <a:p>
            <a:pPr lvl="1"/>
            <a:r>
              <a:rPr lang="en-US"/>
              <a:t>right</a:t>
            </a:r>
          </a:p>
          <a:p>
            <a:endParaRPr lang="en-US"/>
          </a:p>
        </p:txBody>
      </p:sp>
      <p:sp>
        <p:nvSpPr>
          <p:cNvPr id="4" name="Date Placeholder 3"/>
          <p:cNvSpPr>
            <a:spLocks noGrp="1"/>
          </p:cNvSpPr>
          <p:nvPr>
            <p:ph type="dt" sz="half" idx="4294967295"/>
          </p:nvPr>
        </p:nvSpPr>
        <p:spPr>
          <a:xfrm>
            <a:off x="838200" y="6356350"/>
            <a:ext cx="2743200" cy="365125"/>
          </a:xfrm>
        </p:spPr>
        <p:txBody>
          <a:bodyPr/>
          <a:lstStyle/>
          <a:p>
            <a:pPr>
              <a:defRPr/>
            </a:pPr>
            <a:fld id="{7C774709-785F-457C-9429-4E3DA889C601}" type="datetime3">
              <a:rPr lang="en-US" smtClean="0"/>
              <a:pPr>
                <a:defRPr/>
              </a:pPr>
              <a:t>8 January 2026</a:t>
            </a:fld>
            <a:endParaRPr lang="en-IN"/>
          </a:p>
        </p:txBody>
      </p:sp>
      <p:sp>
        <p:nvSpPr>
          <p:cNvPr id="5" name="Footer Placeholder 4"/>
          <p:cNvSpPr>
            <a:spLocks noGrp="1"/>
          </p:cNvSpPr>
          <p:nvPr>
            <p:ph type="ftr" sz="quarter" idx="4294967295"/>
          </p:nvPr>
        </p:nvSpPr>
        <p:spPr>
          <a:xfrm>
            <a:off x="4038600" y="6356350"/>
            <a:ext cx="4114800" cy="365125"/>
          </a:xfrm>
        </p:spPr>
        <p:txBody>
          <a:bodyPr/>
          <a:lstStyle/>
          <a:p>
            <a:pPr>
              <a:defRPr/>
            </a:pPr>
            <a:r>
              <a:rPr lang="en-IN" dirty="0" smtClean="0"/>
              <a:t> </a:t>
            </a:r>
            <a:endParaRPr lang="en-IN" dirty="0"/>
          </a:p>
        </p:txBody>
      </p:sp>
      <p:sp>
        <p:nvSpPr>
          <p:cNvPr id="6" name="Slide Number Placeholder 5"/>
          <p:cNvSpPr>
            <a:spLocks noGrp="1"/>
          </p:cNvSpPr>
          <p:nvPr>
            <p:ph type="sldNum" sz="quarter" idx="4294967295"/>
          </p:nvPr>
        </p:nvSpPr>
        <p:spPr>
          <a:xfrm>
            <a:off x="8610600" y="6356350"/>
            <a:ext cx="2743200" cy="365125"/>
          </a:xfrm>
        </p:spPr>
        <p:txBody>
          <a:bodyPr/>
          <a:lstStyle/>
          <a:p>
            <a:pPr>
              <a:defRPr/>
            </a:pPr>
            <a:fld id="{DC16FC18-A483-43BC-83D0-C7F7814867AE}" type="slidenum">
              <a:rPr lang="en-IN" smtClean="0"/>
              <a:pPr>
                <a:defRPr/>
              </a:pPr>
              <a:t>112</a:t>
            </a:fld>
            <a:endParaRPr lang="en-IN"/>
          </a:p>
        </p:txBody>
      </p:sp>
    </p:spTree>
    <p:extLst>
      <p:ext uri="{BB962C8B-B14F-4D97-AF65-F5344CB8AC3E}">
        <p14:creationId xmlns:p14="http://schemas.microsoft.com/office/powerpoint/2010/main" val="28407591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Border</a:t>
            </a:r>
          </a:p>
        </p:txBody>
      </p:sp>
      <p:sp>
        <p:nvSpPr>
          <p:cNvPr id="3" name="Content Placeholder 2"/>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The CSS border is a shorthand property used to set the border on an element.</a:t>
            </a:r>
          </a:p>
          <a:p>
            <a:r>
              <a:rPr lang="en-US" dirty="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hlinkClick r:id="rId2"/>
              </a:rPr>
              <a:t>CSS</a:t>
            </a:r>
            <a:r>
              <a:rPr lang="en-US" dirty="0">
                <a:latin typeface="Times New Roman" panose="02020603050405020304" pitchFamily="18" charset="0"/>
                <a:cs typeface="Times New Roman" panose="02020603050405020304" pitchFamily="18" charset="0"/>
              </a:rPr>
              <a:t> border properties are use to specify the style, color and size of the border of an element. The CSS border properties are</a:t>
            </a:r>
          </a:p>
          <a:p>
            <a:pPr lvl="1"/>
            <a:r>
              <a:rPr lang="en-US" sz="2800" dirty="0">
                <a:latin typeface="Times New Roman" panose="02020603050405020304" pitchFamily="18" charset="0"/>
                <a:cs typeface="Times New Roman" panose="02020603050405020304" pitchFamily="18" charset="0"/>
              </a:rPr>
              <a:t>border-style</a:t>
            </a:r>
          </a:p>
          <a:p>
            <a:pPr lvl="1"/>
            <a:r>
              <a:rPr lang="en-US" sz="2800" dirty="0">
                <a:latin typeface="Times New Roman" panose="02020603050405020304" pitchFamily="18" charset="0"/>
                <a:cs typeface="Times New Roman" panose="02020603050405020304" pitchFamily="18" charset="0"/>
              </a:rPr>
              <a:t>border-color</a:t>
            </a:r>
          </a:p>
          <a:p>
            <a:pPr lvl="1"/>
            <a:r>
              <a:rPr lang="en-US" sz="2800" dirty="0">
                <a:latin typeface="Times New Roman" panose="02020603050405020304" pitchFamily="18" charset="0"/>
                <a:cs typeface="Times New Roman" panose="02020603050405020304" pitchFamily="18" charset="0"/>
              </a:rPr>
              <a:t>border-width</a:t>
            </a:r>
          </a:p>
          <a:p>
            <a:pPr lvl="1"/>
            <a:r>
              <a:rPr lang="en-US" sz="2800" dirty="0">
                <a:latin typeface="Times New Roman" panose="02020603050405020304" pitchFamily="18" charset="0"/>
                <a:cs typeface="Times New Roman" panose="02020603050405020304" pitchFamily="18" charset="0"/>
              </a:rPr>
              <a:t>border-radius</a:t>
            </a:r>
          </a:p>
          <a:p>
            <a:pPr lvl="1"/>
            <a:endParaRPr lang="en-US" sz="28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4294967295"/>
          </p:nvPr>
        </p:nvSpPr>
        <p:spPr>
          <a:xfrm>
            <a:off x="838200" y="6356350"/>
            <a:ext cx="2743200" cy="365125"/>
          </a:xfrm>
        </p:spPr>
        <p:txBody>
          <a:bodyPr/>
          <a:lstStyle/>
          <a:p>
            <a:pPr>
              <a:defRPr/>
            </a:pPr>
            <a:fld id="{7C774709-785F-457C-9429-4E3DA889C601}" type="datetime3">
              <a:rPr lang="en-US" smtClean="0"/>
              <a:pPr>
                <a:defRPr/>
              </a:pPr>
              <a:t>8 January 2026</a:t>
            </a:fld>
            <a:endParaRPr lang="en-IN"/>
          </a:p>
        </p:txBody>
      </p:sp>
      <p:sp>
        <p:nvSpPr>
          <p:cNvPr id="5" name="Footer Placeholder 4"/>
          <p:cNvSpPr>
            <a:spLocks noGrp="1"/>
          </p:cNvSpPr>
          <p:nvPr>
            <p:ph type="ftr" sz="quarter" idx="4294967295"/>
          </p:nvPr>
        </p:nvSpPr>
        <p:spPr>
          <a:xfrm>
            <a:off x="4038600" y="6356350"/>
            <a:ext cx="4114800" cy="365125"/>
          </a:xfrm>
        </p:spPr>
        <p:txBody>
          <a:bodyPr/>
          <a:lstStyle/>
          <a:p>
            <a:pPr>
              <a:defRPr/>
            </a:pPr>
            <a:r>
              <a:rPr lang="en-IN" dirty="0" smtClean="0"/>
              <a:t> </a:t>
            </a:r>
            <a:endParaRPr lang="en-IN" dirty="0"/>
          </a:p>
        </p:txBody>
      </p:sp>
      <p:sp>
        <p:nvSpPr>
          <p:cNvPr id="6" name="Slide Number Placeholder 5"/>
          <p:cNvSpPr>
            <a:spLocks noGrp="1"/>
          </p:cNvSpPr>
          <p:nvPr>
            <p:ph type="sldNum" sz="quarter" idx="4294967295"/>
          </p:nvPr>
        </p:nvSpPr>
        <p:spPr>
          <a:xfrm>
            <a:off x="8610600" y="6356350"/>
            <a:ext cx="2743200" cy="365125"/>
          </a:xfrm>
        </p:spPr>
        <p:txBody>
          <a:bodyPr/>
          <a:lstStyle/>
          <a:p>
            <a:pPr>
              <a:defRPr/>
            </a:pPr>
            <a:fld id="{DC16FC18-A483-43BC-83D0-C7F7814867AE}" type="slidenum">
              <a:rPr lang="en-IN" smtClean="0"/>
              <a:pPr>
                <a:defRPr/>
              </a:pPr>
              <a:t>113</a:t>
            </a:fld>
            <a:endParaRPr lang="en-IN"/>
          </a:p>
        </p:txBody>
      </p:sp>
    </p:spTree>
    <p:extLst>
      <p:ext uri="{BB962C8B-B14F-4D97-AF65-F5344CB8AC3E}">
        <p14:creationId xmlns:p14="http://schemas.microsoft.com/office/powerpoint/2010/main" val="30407977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5275" y="0"/>
            <a:ext cx="10515600" cy="1325563"/>
          </a:xfrm>
        </p:spPr>
        <p:txBody>
          <a:bodyPr/>
          <a:lstStyle/>
          <a:p>
            <a:r>
              <a:rPr lang="en-US" b="0" dirty="0"/>
              <a:t>CSS border-style</a:t>
            </a:r>
            <a:br>
              <a:rPr lang="en-US" b="0" dirty="0"/>
            </a:br>
            <a:endParaRPr lang="en-US" dirty="0"/>
          </a:p>
        </p:txBody>
      </p:sp>
      <p:sp>
        <p:nvSpPr>
          <p:cNvPr id="3" name="Content Placeholder 2"/>
          <p:cNvSpPr>
            <a:spLocks noGrp="1"/>
          </p:cNvSpPr>
          <p:nvPr>
            <p:ph idx="1"/>
          </p:nvPr>
        </p:nvSpPr>
        <p:spPr>
          <a:xfrm>
            <a:off x="615315" y="1097281"/>
            <a:ext cx="9875520" cy="4926330"/>
          </a:xfrm>
        </p:spPr>
        <p:txBody>
          <a:bodyPr>
            <a:normAutofit/>
          </a:bodyPr>
          <a:lstStyle/>
          <a:p>
            <a:r>
              <a:rPr lang="en-US" dirty="0">
                <a:latin typeface="Times New Roman" panose="02020603050405020304" pitchFamily="18" charset="0"/>
                <a:cs typeface="Times New Roman" panose="02020603050405020304" pitchFamily="18" charset="0"/>
              </a:rPr>
              <a:t>The Border style property is used to specify the border type which you want to display on the web page.</a:t>
            </a:r>
          </a:p>
          <a:p>
            <a:r>
              <a:rPr lang="en-US" dirty="0">
                <a:latin typeface="Times New Roman" panose="02020603050405020304" pitchFamily="18" charset="0"/>
                <a:cs typeface="Times New Roman" panose="02020603050405020304" pitchFamily="18" charset="0"/>
              </a:rPr>
              <a:t>There are some border style values which are used with border-style property to define a border.</a:t>
            </a:r>
          </a:p>
          <a:p>
            <a:pPr lvl="1"/>
            <a:r>
              <a:rPr lang="en-US" sz="2800" dirty="0">
                <a:latin typeface="Times New Roman" panose="02020603050405020304" pitchFamily="18" charset="0"/>
                <a:cs typeface="Times New Roman" panose="02020603050405020304" pitchFamily="18" charset="0"/>
              </a:rPr>
              <a:t>None  - It doesn't define any border.</a:t>
            </a:r>
          </a:p>
          <a:p>
            <a:pPr lvl="1"/>
            <a:r>
              <a:rPr lang="en-US" sz="2800" dirty="0">
                <a:latin typeface="Times New Roman" panose="02020603050405020304" pitchFamily="18" charset="0"/>
                <a:cs typeface="Times New Roman" panose="02020603050405020304" pitchFamily="18" charset="0"/>
              </a:rPr>
              <a:t>Dotted - It is used to define a dotted border.</a:t>
            </a:r>
          </a:p>
          <a:p>
            <a:pPr lvl="1"/>
            <a:r>
              <a:rPr lang="en-US" sz="2800" dirty="0">
                <a:latin typeface="Times New Roman" panose="02020603050405020304" pitchFamily="18" charset="0"/>
                <a:cs typeface="Times New Roman" panose="02020603050405020304" pitchFamily="18" charset="0"/>
              </a:rPr>
              <a:t>Dashed -It is used to define a dashed border.</a:t>
            </a:r>
          </a:p>
          <a:p>
            <a:pPr lvl="1"/>
            <a:r>
              <a:rPr lang="en-US" sz="2800" dirty="0">
                <a:latin typeface="Times New Roman" panose="02020603050405020304" pitchFamily="18" charset="0"/>
                <a:cs typeface="Times New Roman" panose="02020603050405020304" pitchFamily="18" charset="0"/>
              </a:rPr>
              <a:t>Solid -   It is used to define a solid border.</a:t>
            </a:r>
          </a:p>
          <a:p>
            <a:pPr lvl="1"/>
            <a:r>
              <a:rPr lang="en-US" sz="2800" dirty="0">
                <a:latin typeface="Times New Roman" panose="02020603050405020304" pitchFamily="18" charset="0"/>
                <a:cs typeface="Times New Roman" panose="02020603050405020304" pitchFamily="18" charset="0"/>
              </a:rPr>
              <a:t>Double- It defines two borders </a:t>
            </a:r>
            <a:r>
              <a:rPr lang="en-US" sz="2800" dirty="0" smtClean="0">
                <a:latin typeface="Times New Roman" panose="02020603050405020304" pitchFamily="18" charset="0"/>
                <a:cs typeface="Times New Roman" panose="02020603050405020304" pitchFamily="18" charset="0"/>
              </a:rPr>
              <a:t>with </a:t>
            </a:r>
            <a:r>
              <a:rPr lang="en-US" sz="2800" dirty="0">
                <a:latin typeface="Times New Roman" panose="02020603050405020304" pitchFamily="18" charset="0"/>
                <a:cs typeface="Times New Roman" panose="02020603050405020304" pitchFamily="18" charset="0"/>
              </a:rPr>
              <a:t>the same border-width value.</a:t>
            </a:r>
          </a:p>
        </p:txBody>
      </p:sp>
      <p:sp>
        <p:nvSpPr>
          <p:cNvPr id="4" name="Date Placeholder 3"/>
          <p:cNvSpPr>
            <a:spLocks noGrp="1"/>
          </p:cNvSpPr>
          <p:nvPr>
            <p:ph type="dt" sz="half" idx="4294967295"/>
          </p:nvPr>
        </p:nvSpPr>
        <p:spPr>
          <a:xfrm>
            <a:off x="838200" y="6356350"/>
            <a:ext cx="2743200" cy="365125"/>
          </a:xfrm>
        </p:spPr>
        <p:txBody>
          <a:bodyPr/>
          <a:lstStyle/>
          <a:p>
            <a:pPr>
              <a:defRPr/>
            </a:pPr>
            <a:fld id="{7C774709-785F-457C-9429-4E3DA889C601}" type="datetime3">
              <a:rPr lang="en-US" smtClean="0"/>
              <a:pPr>
                <a:defRPr/>
              </a:pPr>
              <a:t>8 January 2026</a:t>
            </a:fld>
            <a:endParaRPr lang="en-IN"/>
          </a:p>
        </p:txBody>
      </p:sp>
      <p:sp>
        <p:nvSpPr>
          <p:cNvPr id="5" name="Footer Placeholder 4"/>
          <p:cNvSpPr>
            <a:spLocks noGrp="1"/>
          </p:cNvSpPr>
          <p:nvPr>
            <p:ph type="ftr" sz="quarter" idx="4294967295"/>
          </p:nvPr>
        </p:nvSpPr>
        <p:spPr>
          <a:xfrm>
            <a:off x="4038600" y="6356350"/>
            <a:ext cx="4114800" cy="365125"/>
          </a:xfrm>
        </p:spPr>
        <p:txBody>
          <a:bodyPr/>
          <a:lstStyle/>
          <a:p>
            <a:pPr>
              <a:defRPr/>
            </a:pPr>
            <a:r>
              <a:rPr lang="en-IN" dirty="0" smtClean="0"/>
              <a:t> </a:t>
            </a:r>
            <a:endParaRPr lang="en-IN" dirty="0"/>
          </a:p>
        </p:txBody>
      </p:sp>
      <p:sp>
        <p:nvSpPr>
          <p:cNvPr id="6" name="Slide Number Placeholder 5"/>
          <p:cNvSpPr>
            <a:spLocks noGrp="1"/>
          </p:cNvSpPr>
          <p:nvPr>
            <p:ph type="sldNum" sz="quarter" idx="4294967295"/>
          </p:nvPr>
        </p:nvSpPr>
        <p:spPr>
          <a:xfrm>
            <a:off x="8610600" y="6356350"/>
            <a:ext cx="2743200" cy="365125"/>
          </a:xfrm>
        </p:spPr>
        <p:txBody>
          <a:bodyPr/>
          <a:lstStyle/>
          <a:p>
            <a:pPr>
              <a:defRPr/>
            </a:pPr>
            <a:fld id="{DC16FC18-A483-43BC-83D0-C7F7814867AE}" type="slidenum">
              <a:rPr lang="en-IN" smtClean="0"/>
              <a:pPr>
                <a:defRPr/>
              </a:pPr>
              <a:t>114</a:t>
            </a:fld>
            <a:endParaRPr lang="en-IN"/>
          </a:p>
        </p:txBody>
      </p:sp>
    </p:spTree>
    <p:extLst>
      <p:ext uri="{BB962C8B-B14F-4D97-AF65-F5344CB8AC3E}">
        <p14:creationId xmlns:p14="http://schemas.microsoft.com/office/powerpoint/2010/main" val="11254302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a:t>CSS border-width</a:t>
            </a:r>
            <a:br>
              <a:rPr lang="en-US" b="0"/>
            </a:br>
            <a:endParaRPr lang="en-US"/>
          </a:p>
        </p:txBody>
      </p:sp>
      <p:sp>
        <p:nvSpPr>
          <p:cNvPr id="3" name="Content Placeholder 2"/>
          <p:cNvSpPr>
            <a:spLocks noGrp="1"/>
          </p:cNvSpPr>
          <p:nvPr>
            <p:ph idx="1"/>
          </p:nvPr>
        </p:nvSpPr>
        <p:spPr/>
        <p:txBody>
          <a:bodyPr/>
          <a:lstStyle/>
          <a:p>
            <a:r>
              <a:rPr lang="en-US"/>
              <a:t>The border-width property is used to set the border's width. It is set in pixels. You can also use the one of the three pre-defined values, thin, medium or thick to set the width of the border.</a:t>
            </a:r>
          </a:p>
        </p:txBody>
      </p:sp>
      <p:sp>
        <p:nvSpPr>
          <p:cNvPr id="4" name="Date Placeholder 3"/>
          <p:cNvSpPr>
            <a:spLocks noGrp="1"/>
          </p:cNvSpPr>
          <p:nvPr>
            <p:ph type="dt" sz="half" idx="4294967295"/>
          </p:nvPr>
        </p:nvSpPr>
        <p:spPr>
          <a:xfrm>
            <a:off x="838200" y="6356350"/>
            <a:ext cx="2743200" cy="365125"/>
          </a:xfrm>
        </p:spPr>
        <p:txBody>
          <a:bodyPr/>
          <a:lstStyle/>
          <a:p>
            <a:pPr>
              <a:defRPr/>
            </a:pPr>
            <a:fld id="{7C774709-785F-457C-9429-4E3DA889C601}" type="datetime3">
              <a:rPr lang="en-US" smtClean="0"/>
              <a:pPr>
                <a:defRPr/>
              </a:pPr>
              <a:t>8 January 2026</a:t>
            </a:fld>
            <a:endParaRPr lang="en-IN"/>
          </a:p>
        </p:txBody>
      </p:sp>
      <p:sp>
        <p:nvSpPr>
          <p:cNvPr id="5" name="Footer Placeholder 4"/>
          <p:cNvSpPr>
            <a:spLocks noGrp="1"/>
          </p:cNvSpPr>
          <p:nvPr>
            <p:ph type="ftr" sz="quarter" idx="4294967295"/>
          </p:nvPr>
        </p:nvSpPr>
        <p:spPr>
          <a:xfrm>
            <a:off x="4038600" y="6356350"/>
            <a:ext cx="4114800" cy="365125"/>
          </a:xfrm>
        </p:spPr>
        <p:txBody>
          <a:bodyPr/>
          <a:lstStyle/>
          <a:p>
            <a:pPr>
              <a:defRPr/>
            </a:pPr>
            <a:r>
              <a:rPr lang="en-IN" dirty="0" smtClean="0"/>
              <a:t> </a:t>
            </a:r>
            <a:endParaRPr lang="en-IN" dirty="0"/>
          </a:p>
        </p:txBody>
      </p:sp>
      <p:sp>
        <p:nvSpPr>
          <p:cNvPr id="6" name="Slide Number Placeholder 5"/>
          <p:cNvSpPr>
            <a:spLocks noGrp="1"/>
          </p:cNvSpPr>
          <p:nvPr>
            <p:ph type="sldNum" sz="quarter" idx="4294967295"/>
          </p:nvPr>
        </p:nvSpPr>
        <p:spPr>
          <a:xfrm>
            <a:off x="8610600" y="6356350"/>
            <a:ext cx="2743200" cy="365125"/>
          </a:xfrm>
        </p:spPr>
        <p:txBody>
          <a:bodyPr/>
          <a:lstStyle/>
          <a:p>
            <a:pPr>
              <a:defRPr/>
            </a:pPr>
            <a:fld id="{DC16FC18-A483-43BC-83D0-C7F7814867AE}" type="slidenum">
              <a:rPr lang="en-IN" smtClean="0"/>
              <a:pPr>
                <a:defRPr/>
              </a:pPr>
              <a:t>115</a:t>
            </a:fld>
            <a:endParaRPr lang="en-IN"/>
          </a:p>
        </p:txBody>
      </p:sp>
    </p:spTree>
    <p:extLst>
      <p:ext uri="{BB962C8B-B14F-4D97-AF65-F5344CB8AC3E}">
        <p14:creationId xmlns:p14="http://schemas.microsoft.com/office/powerpoint/2010/main" val="11730346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a:t> CSS border-color</a:t>
            </a:r>
            <a:br>
              <a:rPr lang="en-US" b="0"/>
            </a:br>
            <a:endParaRPr lang="en-US"/>
          </a:p>
        </p:txBody>
      </p:sp>
      <p:sp>
        <p:nvSpPr>
          <p:cNvPr id="3" name="Content Placeholder 2"/>
          <p:cNvSpPr>
            <a:spLocks noGrp="1"/>
          </p:cNvSpPr>
          <p:nvPr>
            <p:ph idx="1"/>
          </p:nvPr>
        </p:nvSpPr>
        <p:spPr/>
        <p:txBody>
          <a:bodyPr/>
          <a:lstStyle/>
          <a:p>
            <a:r>
              <a:rPr lang="en-US"/>
              <a:t>There are three methods to set the color of the border.</a:t>
            </a:r>
            <a:br>
              <a:rPr lang="en-US"/>
            </a:br>
            <a:endParaRPr lang="en-US"/>
          </a:p>
          <a:p>
            <a:pPr lvl="1"/>
            <a:r>
              <a:rPr lang="en-US"/>
              <a:t>Name: It specifies the color name. For example: "red".</a:t>
            </a:r>
          </a:p>
          <a:p>
            <a:pPr lvl="1"/>
            <a:r>
              <a:rPr lang="en-US"/>
              <a:t>RGB: It specifies the RGB value of the color. For example: "</a:t>
            </a:r>
            <a:r>
              <a:rPr lang="en-US" err="1"/>
              <a:t>rgb</a:t>
            </a:r>
            <a:r>
              <a:rPr lang="en-US"/>
              <a:t>(255,0,0)".</a:t>
            </a:r>
          </a:p>
          <a:p>
            <a:pPr lvl="1"/>
            <a:r>
              <a:rPr lang="en-US"/>
              <a:t>Hex: It specifies the hex value of the color. For example: "#ff0000".</a:t>
            </a:r>
          </a:p>
          <a:p>
            <a:endParaRPr lang="en-US"/>
          </a:p>
          <a:p>
            <a:r>
              <a:rPr lang="en-US"/>
              <a:t>There is also a border color named "transparent". If the border color is not set it is inherited from the color property of the element.</a:t>
            </a:r>
          </a:p>
        </p:txBody>
      </p:sp>
      <p:sp>
        <p:nvSpPr>
          <p:cNvPr id="4" name="Date Placeholder 3"/>
          <p:cNvSpPr>
            <a:spLocks noGrp="1"/>
          </p:cNvSpPr>
          <p:nvPr>
            <p:ph type="dt" sz="half" idx="4294967295"/>
          </p:nvPr>
        </p:nvSpPr>
        <p:spPr>
          <a:xfrm>
            <a:off x="838200" y="6356350"/>
            <a:ext cx="2743200" cy="365125"/>
          </a:xfrm>
        </p:spPr>
        <p:txBody>
          <a:bodyPr/>
          <a:lstStyle/>
          <a:p>
            <a:pPr>
              <a:defRPr/>
            </a:pPr>
            <a:fld id="{7C774709-785F-457C-9429-4E3DA889C601}" type="datetime3">
              <a:rPr lang="en-US" smtClean="0"/>
              <a:pPr>
                <a:defRPr/>
              </a:pPr>
              <a:t>8 January 2026</a:t>
            </a:fld>
            <a:endParaRPr lang="en-IN"/>
          </a:p>
        </p:txBody>
      </p:sp>
      <p:sp>
        <p:nvSpPr>
          <p:cNvPr id="5" name="Footer Placeholder 4"/>
          <p:cNvSpPr>
            <a:spLocks noGrp="1"/>
          </p:cNvSpPr>
          <p:nvPr>
            <p:ph type="ftr" sz="quarter" idx="4294967295"/>
          </p:nvPr>
        </p:nvSpPr>
        <p:spPr>
          <a:xfrm>
            <a:off x="4038600" y="6356350"/>
            <a:ext cx="4114800" cy="365125"/>
          </a:xfrm>
        </p:spPr>
        <p:txBody>
          <a:bodyPr/>
          <a:lstStyle/>
          <a:p>
            <a:pPr>
              <a:defRPr/>
            </a:pPr>
            <a:r>
              <a:rPr lang="en-IN" dirty="0" smtClean="0"/>
              <a:t> </a:t>
            </a:r>
            <a:endParaRPr lang="en-IN" dirty="0"/>
          </a:p>
        </p:txBody>
      </p:sp>
      <p:sp>
        <p:nvSpPr>
          <p:cNvPr id="6" name="Slide Number Placeholder 5"/>
          <p:cNvSpPr>
            <a:spLocks noGrp="1"/>
          </p:cNvSpPr>
          <p:nvPr>
            <p:ph type="sldNum" sz="quarter" idx="4294967295"/>
          </p:nvPr>
        </p:nvSpPr>
        <p:spPr>
          <a:xfrm>
            <a:off x="8610600" y="6356350"/>
            <a:ext cx="2743200" cy="365125"/>
          </a:xfrm>
        </p:spPr>
        <p:txBody>
          <a:bodyPr/>
          <a:lstStyle/>
          <a:p>
            <a:pPr>
              <a:defRPr/>
            </a:pPr>
            <a:fld id="{DC16FC18-A483-43BC-83D0-C7F7814867AE}" type="slidenum">
              <a:rPr lang="en-IN" smtClean="0"/>
              <a:pPr>
                <a:defRPr/>
              </a:pPr>
              <a:t>116</a:t>
            </a:fld>
            <a:endParaRPr lang="en-IN"/>
          </a:p>
        </p:txBody>
      </p:sp>
    </p:spTree>
    <p:extLst>
      <p:ext uri="{BB962C8B-B14F-4D97-AF65-F5344CB8AC3E}">
        <p14:creationId xmlns:p14="http://schemas.microsoft.com/office/powerpoint/2010/main" val="23224182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a:t>CSS Grid</a:t>
            </a:r>
            <a:br>
              <a:rPr lang="en-US" b="0"/>
            </a:br>
            <a:endParaRPr lang="en-US"/>
          </a:p>
        </p:txBody>
      </p:sp>
      <p:sp>
        <p:nvSpPr>
          <p:cNvPr id="3" name="Content Placeholder 2"/>
          <p:cNvSpPr>
            <a:spLocks noGrp="1"/>
          </p:cNvSpPr>
          <p:nvPr>
            <p:ph idx="1"/>
          </p:nvPr>
        </p:nvSpPr>
        <p:spPr/>
        <p:txBody>
          <a:bodyPr/>
          <a:lstStyle/>
          <a:p>
            <a:r>
              <a:rPr lang="en-US"/>
              <a:t>A grid can be defined as an intersecting set of horizontal lines and vertical lines.</a:t>
            </a:r>
          </a:p>
          <a:p>
            <a:r>
              <a:rPr lang="en-US"/>
              <a:t>CSS Grid layout divides a page into major regions.</a:t>
            </a:r>
          </a:p>
          <a:p>
            <a:r>
              <a:rPr lang="en-US"/>
              <a:t>Grid property offers a grid-based layout system having rows and columns. It makes the designing of web pages easy without positioning and floating.</a:t>
            </a:r>
          </a:p>
          <a:p>
            <a:endParaRPr lang="en-US"/>
          </a:p>
          <a:p>
            <a:r>
              <a:rPr lang="en-US"/>
              <a:t>We can define columns and rows on the grid by using </a:t>
            </a:r>
            <a:r>
              <a:rPr lang="en-US" b="1">
                <a:solidFill>
                  <a:srgbClr val="FF0000"/>
                </a:solidFill>
              </a:rPr>
              <a:t>grid-template-rows</a:t>
            </a:r>
            <a:r>
              <a:rPr lang="en-US"/>
              <a:t> and </a:t>
            </a:r>
            <a:r>
              <a:rPr lang="en-US" b="1">
                <a:solidFill>
                  <a:srgbClr val="FF0000"/>
                </a:solidFill>
              </a:rPr>
              <a:t>grid-template-columns</a:t>
            </a:r>
            <a:r>
              <a:rPr lang="en-US"/>
              <a:t> properties.</a:t>
            </a:r>
          </a:p>
        </p:txBody>
      </p:sp>
      <p:sp>
        <p:nvSpPr>
          <p:cNvPr id="4" name="Date Placeholder 3"/>
          <p:cNvSpPr>
            <a:spLocks noGrp="1"/>
          </p:cNvSpPr>
          <p:nvPr>
            <p:ph type="dt" sz="half" idx="4294967295"/>
          </p:nvPr>
        </p:nvSpPr>
        <p:spPr>
          <a:xfrm>
            <a:off x="838200" y="6356350"/>
            <a:ext cx="2743200" cy="365125"/>
          </a:xfrm>
        </p:spPr>
        <p:txBody>
          <a:bodyPr/>
          <a:lstStyle/>
          <a:p>
            <a:pPr>
              <a:defRPr/>
            </a:pPr>
            <a:fld id="{7C774709-785F-457C-9429-4E3DA889C601}" type="datetime3">
              <a:rPr lang="en-US" smtClean="0"/>
              <a:pPr>
                <a:defRPr/>
              </a:pPr>
              <a:t>8 January 2026</a:t>
            </a:fld>
            <a:endParaRPr lang="en-IN"/>
          </a:p>
        </p:txBody>
      </p:sp>
      <p:sp>
        <p:nvSpPr>
          <p:cNvPr id="5" name="Footer Placeholder 4"/>
          <p:cNvSpPr>
            <a:spLocks noGrp="1"/>
          </p:cNvSpPr>
          <p:nvPr>
            <p:ph type="ftr" sz="quarter" idx="4294967295"/>
          </p:nvPr>
        </p:nvSpPr>
        <p:spPr>
          <a:xfrm>
            <a:off x="4038600" y="6356350"/>
            <a:ext cx="4114800" cy="365125"/>
          </a:xfrm>
        </p:spPr>
        <p:txBody>
          <a:bodyPr/>
          <a:lstStyle/>
          <a:p>
            <a:pPr>
              <a:defRPr/>
            </a:pPr>
            <a:r>
              <a:rPr lang="en-IN" dirty="0" smtClean="0"/>
              <a:t> </a:t>
            </a:r>
            <a:endParaRPr lang="en-IN" dirty="0"/>
          </a:p>
        </p:txBody>
      </p:sp>
      <p:sp>
        <p:nvSpPr>
          <p:cNvPr id="6" name="Slide Number Placeholder 5"/>
          <p:cNvSpPr>
            <a:spLocks noGrp="1"/>
          </p:cNvSpPr>
          <p:nvPr>
            <p:ph type="sldNum" sz="quarter" idx="4294967295"/>
          </p:nvPr>
        </p:nvSpPr>
        <p:spPr>
          <a:xfrm>
            <a:off x="8610600" y="6356350"/>
            <a:ext cx="2743200" cy="365125"/>
          </a:xfrm>
        </p:spPr>
        <p:txBody>
          <a:bodyPr/>
          <a:lstStyle/>
          <a:p>
            <a:pPr>
              <a:defRPr/>
            </a:pPr>
            <a:fld id="{DC16FC18-A483-43BC-83D0-C7F7814867AE}" type="slidenum">
              <a:rPr lang="en-IN" smtClean="0"/>
              <a:pPr>
                <a:defRPr/>
              </a:pPr>
              <a:t>117</a:t>
            </a:fld>
            <a:endParaRPr lang="en-IN"/>
          </a:p>
        </p:txBody>
      </p:sp>
    </p:spTree>
    <p:extLst>
      <p:ext uri="{BB962C8B-B14F-4D97-AF65-F5344CB8AC3E}">
        <p14:creationId xmlns:p14="http://schemas.microsoft.com/office/powerpoint/2010/main" val="12802784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a:t>Grid Container</a:t>
            </a:r>
          </a:p>
        </p:txBody>
      </p:sp>
      <p:sp>
        <p:nvSpPr>
          <p:cNvPr id="3" name="Content Placeholder 2"/>
          <p:cNvSpPr>
            <a:spLocks noGrp="1"/>
          </p:cNvSpPr>
          <p:nvPr>
            <p:ph idx="1"/>
          </p:nvPr>
        </p:nvSpPr>
        <p:spPr/>
        <p:txBody>
          <a:bodyPr/>
          <a:lstStyle/>
          <a:p>
            <a:r>
              <a:rPr lang="en-US"/>
              <a:t>We can define the grid container by setting the </a:t>
            </a:r>
            <a:r>
              <a:rPr lang="en-US" b="1"/>
              <a:t>display</a:t>
            </a:r>
            <a:r>
              <a:rPr lang="en-US"/>
              <a:t> property to </a:t>
            </a:r>
            <a:r>
              <a:rPr lang="en-US" b="1"/>
              <a:t>grid</a:t>
            </a:r>
            <a:r>
              <a:rPr lang="en-US"/>
              <a:t> or </a:t>
            </a:r>
            <a:r>
              <a:rPr lang="en-US" b="1"/>
              <a:t>inline-grid</a:t>
            </a:r>
            <a:r>
              <a:rPr lang="en-US"/>
              <a:t> on an element.</a:t>
            </a:r>
          </a:p>
          <a:p>
            <a:endParaRPr lang="en-US"/>
          </a:p>
          <a:p>
            <a:r>
              <a:rPr lang="en-US"/>
              <a:t>Grid container contains grid items that are placed inside rows and columns.</a:t>
            </a:r>
          </a:p>
        </p:txBody>
      </p:sp>
      <p:sp>
        <p:nvSpPr>
          <p:cNvPr id="4" name="Date Placeholder 3"/>
          <p:cNvSpPr>
            <a:spLocks noGrp="1"/>
          </p:cNvSpPr>
          <p:nvPr>
            <p:ph type="dt" sz="half" idx="4294967295"/>
          </p:nvPr>
        </p:nvSpPr>
        <p:spPr>
          <a:xfrm>
            <a:off x="838200" y="6356350"/>
            <a:ext cx="2743200" cy="365125"/>
          </a:xfrm>
        </p:spPr>
        <p:txBody>
          <a:bodyPr/>
          <a:lstStyle/>
          <a:p>
            <a:pPr>
              <a:defRPr/>
            </a:pPr>
            <a:fld id="{7C774709-785F-457C-9429-4E3DA889C601}" type="datetime3">
              <a:rPr lang="en-US" smtClean="0"/>
              <a:pPr>
                <a:defRPr/>
              </a:pPr>
              <a:t>8 January 2026</a:t>
            </a:fld>
            <a:endParaRPr lang="en-IN"/>
          </a:p>
        </p:txBody>
      </p:sp>
      <p:sp>
        <p:nvSpPr>
          <p:cNvPr id="5" name="Footer Placeholder 4"/>
          <p:cNvSpPr>
            <a:spLocks noGrp="1"/>
          </p:cNvSpPr>
          <p:nvPr>
            <p:ph type="ftr" sz="quarter" idx="4294967295"/>
          </p:nvPr>
        </p:nvSpPr>
        <p:spPr>
          <a:xfrm>
            <a:off x="4038600" y="6356350"/>
            <a:ext cx="4114800" cy="365125"/>
          </a:xfrm>
        </p:spPr>
        <p:txBody>
          <a:bodyPr/>
          <a:lstStyle/>
          <a:p>
            <a:pPr>
              <a:defRPr/>
            </a:pPr>
            <a:r>
              <a:rPr lang="en-IN" dirty="0" smtClean="0"/>
              <a:t> </a:t>
            </a:r>
            <a:endParaRPr lang="en-IN" dirty="0"/>
          </a:p>
        </p:txBody>
      </p:sp>
      <p:sp>
        <p:nvSpPr>
          <p:cNvPr id="6" name="Slide Number Placeholder 5"/>
          <p:cNvSpPr>
            <a:spLocks noGrp="1"/>
          </p:cNvSpPr>
          <p:nvPr>
            <p:ph type="sldNum" sz="quarter" idx="4294967295"/>
          </p:nvPr>
        </p:nvSpPr>
        <p:spPr>
          <a:xfrm>
            <a:off x="8610600" y="6356350"/>
            <a:ext cx="2743200" cy="365125"/>
          </a:xfrm>
        </p:spPr>
        <p:txBody>
          <a:bodyPr/>
          <a:lstStyle/>
          <a:p>
            <a:pPr>
              <a:defRPr/>
            </a:pPr>
            <a:fld id="{DC16FC18-A483-43BC-83D0-C7F7814867AE}" type="slidenum">
              <a:rPr lang="en-IN" smtClean="0"/>
              <a:pPr>
                <a:defRPr/>
              </a:pPr>
              <a:t>118</a:t>
            </a:fld>
            <a:endParaRPr lang="en-IN"/>
          </a:p>
        </p:txBody>
      </p:sp>
    </p:spTree>
    <p:extLst>
      <p:ext uri="{BB962C8B-B14F-4D97-AF65-F5344CB8AC3E}">
        <p14:creationId xmlns:p14="http://schemas.microsoft.com/office/powerpoint/2010/main" val="2544673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pPr>
              <a:buNone/>
            </a:pPr>
            <a:r>
              <a:rPr lang="en-US" sz="1440" b="1"/>
              <a:t>&lt;style&gt;</a:t>
            </a:r>
            <a:r>
              <a:rPr lang="en-US" sz="1440"/>
              <a:t>   </a:t>
            </a:r>
          </a:p>
          <a:p>
            <a:pPr>
              <a:buNone/>
            </a:pPr>
            <a:r>
              <a:rPr lang="en-US" sz="1440"/>
              <a:t>        .main {   </a:t>
            </a:r>
          </a:p>
          <a:p>
            <a:pPr>
              <a:buNone/>
            </a:pPr>
            <a:r>
              <a:rPr lang="en-US" sz="1440"/>
              <a:t>            display: grid;   </a:t>
            </a:r>
          </a:p>
          <a:p>
            <a:pPr>
              <a:buNone/>
            </a:pPr>
            <a:r>
              <a:rPr lang="en-US" sz="1440"/>
              <a:t>            grid: auto </a:t>
            </a:r>
            <a:r>
              <a:rPr lang="en-US" sz="1440" err="1"/>
              <a:t>auto</a:t>
            </a:r>
            <a:r>
              <a:rPr lang="en-US" sz="1440"/>
              <a:t> / auto </a:t>
            </a:r>
            <a:r>
              <a:rPr lang="en-US" sz="1440" err="1"/>
              <a:t>auto</a:t>
            </a:r>
            <a:r>
              <a:rPr lang="en-US" sz="1440"/>
              <a:t> </a:t>
            </a:r>
            <a:r>
              <a:rPr lang="en-US" sz="1440" err="1"/>
              <a:t>auto</a:t>
            </a:r>
            <a:r>
              <a:rPr lang="en-US" sz="1440"/>
              <a:t> </a:t>
            </a:r>
            <a:r>
              <a:rPr lang="en-US" sz="1440" err="1"/>
              <a:t>auto</a:t>
            </a:r>
            <a:r>
              <a:rPr lang="en-US" sz="1440"/>
              <a:t>;   </a:t>
            </a:r>
          </a:p>
          <a:p>
            <a:pPr>
              <a:buNone/>
            </a:pPr>
            <a:r>
              <a:rPr lang="en-US" sz="1440"/>
              <a:t>            grid-gap: 10px;   </a:t>
            </a:r>
          </a:p>
          <a:p>
            <a:pPr>
              <a:buNone/>
            </a:pPr>
            <a:r>
              <a:rPr lang="en-US" sz="1440"/>
              <a:t>            background-color: black;   </a:t>
            </a:r>
          </a:p>
          <a:p>
            <a:pPr>
              <a:buNone/>
            </a:pPr>
            <a:r>
              <a:rPr lang="en-US" sz="1440"/>
              <a:t>            padding: 10px;   </a:t>
            </a:r>
          </a:p>
          <a:p>
            <a:pPr>
              <a:buNone/>
            </a:pPr>
            <a:r>
              <a:rPr lang="en-US" sz="1440"/>
              <a:t>        }   </a:t>
            </a:r>
          </a:p>
          <a:p>
            <a:pPr>
              <a:buNone/>
            </a:pPr>
            <a:r>
              <a:rPr lang="en-US" sz="1440"/>
              <a:t>            </a:t>
            </a:r>
          </a:p>
          <a:p>
            <a:pPr>
              <a:buNone/>
            </a:pPr>
            <a:r>
              <a:rPr lang="en-US" sz="1440"/>
              <a:t>        .num {   </a:t>
            </a:r>
          </a:p>
          <a:p>
            <a:pPr>
              <a:buNone/>
            </a:pPr>
            <a:r>
              <a:rPr lang="en-US" sz="1440"/>
              <a:t>            background-color: grey;   </a:t>
            </a:r>
          </a:p>
          <a:p>
            <a:pPr>
              <a:buNone/>
            </a:pPr>
            <a:r>
              <a:rPr lang="en-US" sz="1440"/>
              <a:t>            text-align: center;   </a:t>
            </a:r>
          </a:p>
          <a:p>
            <a:pPr>
              <a:buNone/>
            </a:pPr>
            <a:r>
              <a:rPr lang="en-US" sz="1440"/>
              <a:t>            color: white;  </a:t>
            </a:r>
          </a:p>
          <a:p>
            <a:pPr>
              <a:buNone/>
            </a:pPr>
            <a:r>
              <a:rPr lang="en-US" sz="1440"/>
              <a:t>            padding: 10px </a:t>
            </a:r>
            <a:r>
              <a:rPr lang="en-US" sz="1440" err="1"/>
              <a:t>10px</a:t>
            </a:r>
            <a:r>
              <a:rPr lang="en-US" sz="1440"/>
              <a:t>;   </a:t>
            </a:r>
          </a:p>
          <a:p>
            <a:pPr>
              <a:buNone/>
            </a:pPr>
            <a:r>
              <a:rPr lang="en-US" sz="1440"/>
              <a:t>            font-size: 30px;   </a:t>
            </a:r>
          </a:p>
          <a:p>
            <a:pPr>
              <a:buNone/>
            </a:pPr>
            <a:r>
              <a:rPr lang="en-US" sz="1440"/>
              <a:t>        }   </a:t>
            </a:r>
          </a:p>
          <a:p>
            <a:pPr>
              <a:buNone/>
            </a:pPr>
            <a:r>
              <a:rPr lang="en-US" sz="1440"/>
              <a:t>    </a:t>
            </a:r>
            <a:r>
              <a:rPr lang="en-US" sz="1440" b="1"/>
              <a:t>&lt;/style&gt;</a:t>
            </a:r>
            <a:r>
              <a:rPr lang="en-US" sz="1440"/>
              <a:t>   </a:t>
            </a:r>
          </a:p>
          <a:p>
            <a:endParaRPr lang="en-US" sz="1440"/>
          </a:p>
        </p:txBody>
      </p:sp>
      <p:sp>
        <p:nvSpPr>
          <p:cNvPr id="4" name="Date Placeholder 3"/>
          <p:cNvSpPr>
            <a:spLocks noGrp="1"/>
          </p:cNvSpPr>
          <p:nvPr>
            <p:ph type="dt" sz="half" idx="4294967295"/>
          </p:nvPr>
        </p:nvSpPr>
        <p:spPr>
          <a:xfrm>
            <a:off x="838200" y="6356350"/>
            <a:ext cx="2743200" cy="365125"/>
          </a:xfrm>
        </p:spPr>
        <p:txBody>
          <a:bodyPr/>
          <a:lstStyle/>
          <a:p>
            <a:pPr>
              <a:defRPr/>
            </a:pPr>
            <a:fld id="{7C774709-785F-457C-9429-4E3DA889C601}" type="datetime3">
              <a:rPr lang="en-US" smtClean="0"/>
              <a:pPr>
                <a:defRPr/>
              </a:pPr>
              <a:t>8 January 2026</a:t>
            </a:fld>
            <a:endParaRPr lang="en-IN"/>
          </a:p>
        </p:txBody>
      </p:sp>
      <p:sp>
        <p:nvSpPr>
          <p:cNvPr id="5" name="Footer Placeholder 4"/>
          <p:cNvSpPr>
            <a:spLocks noGrp="1"/>
          </p:cNvSpPr>
          <p:nvPr>
            <p:ph type="ftr" sz="quarter" idx="4294967295"/>
          </p:nvPr>
        </p:nvSpPr>
        <p:spPr>
          <a:xfrm>
            <a:off x="4038600" y="6356350"/>
            <a:ext cx="4114800" cy="365125"/>
          </a:xfrm>
        </p:spPr>
        <p:txBody>
          <a:bodyPr/>
          <a:lstStyle/>
          <a:p>
            <a:pPr>
              <a:defRPr/>
            </a:pPr>
            <a:r>
              <a:rPr lang="en-IN" dirty="0" smtClean="0"/>
              <a:t> </a:t>
            </a:r>
            <a:endParaRPr lang="en-IN" dirty="0"/>
          </a:p>
        </p:txBody>
      </p:sp>
      <p:sp>
        <p:nvSpPr>
          <p:cNvPr id="6" name="Slide Number Placeholder 5"/>
          <p:cNvSpPr>
            <a:spLocks noGrp="1"/>
          </p:cNvSpPr>
          <p:nvPr>
            <p:ph type="sldNum" sz="quarter" idx="4294967295"/>
          </p:nvPr>
        </p:nvSpPr>
        <p:spPr>
          <a:xfrm>
            <a:off x="8610600" y="6356350"/>
            <a:ext cx="2743200" cy="365125"/>
          </a:xfrm>
        </p:spPr>
        <p:txBody>
          <a:bodyPr/>
          <a:lstStyle/>
          <a:p>
            <a:pPr>
              <a:defRPr/>
            </a:pPr>
            <a:fld id="{DC16FC18-A483-43BC-83D0-C7F7814867AE}" type="slidenum">
              <a:rPr lang="en-IN" smtClean="0"/>
              <a:pPr>
                <a:defRPr/>
              </a:pPr>
              <a:t>119</a:t>
            </a:fld>
            <a:endParaRPr lang="en-IN"/>
          </a:p>
        </p:txBody>
      </p:sp>
    </p:spTree>
    <p:extLst>
      <p:ext uri="{BB962C8B-B14F-4D97-AF65-F5344CB8AC3E}">
        <p14:creationId xmlns:p14="http://schemas.microsoft.com/office/powerpoint/2010/main" val="32356111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Grid</a:t>
            </a:r>
          </a:p>
        </p:txBody>
      </p:sp>
      <p:sp>
        <p:nvSpPr>
          <p:cNvPr id="3" name="Content Placeholder 2"/>
          <p:cNvSpPr>
            <a:spLocks noGrp="1"/>
          </p:cNvSpPr>
          <p:nvPr>
            <p:ph idx="1"/>
          </p:nvPr>
        </p:nvSpPr>
        <p:spPr/>
        <p:txBody>
          <a:bodyPr/>
          <a:lstStyle/>
          <a:p>
            <a:pPr>
              <a:buNone/>
            </a:pPr>
            <a:r>
              <a:rPr lang="en-US"/>
              <a:t>some of the shorthand properties:</a:t>
            </a:r>
          </a:p>
          <a:p>
            <a:pPr lvl="1"/>
            <a:r>
              <a:rPr lang="en-US" b="1"/>
              <a:t>grid-template-columns:</a:t>
            </a:r>
            <a:r>
              <a:rPr lang="en-US"/>
              <a:t> It is used to specify the size of the columns.</a:t>
            </a:r>
          </a:p>
          <a:p>
            <a:pPr lvl="1"/>
            <a:r>
              <a:rPr lang="en-US" b="1"/>
              <a:t>grid-template-rows:</a:t>
            </a:r>
            <a:r>
              <a:rPr lang="en-US"/>
              <a:t> It is used to specify the row size.</a:t>
            </a:r>
          </a:p>
          <a:p>
            <a:pPr lvl="1"/>
            <a:r>
              <a:rPr lang="en-US" b="1"/>
              <a:t>grid-template-areas:</a:t>
            </a:r>
            <a:r>
              <a:rPr lang="en-US"/>
              <a:t> It is used to specify the grid layout by using the named items.</a:t>
            </a:r>
          </a:p>
          <a:p>
            <a:pPr lvl="1"/>
            <a:r>
              <a:rPr lang="en-US" b="1"/>
              <a:t>grid-auto-rows:</a:t>
            </a:r>
            <a:r>
              <a:rPr lang="en-US"/>
              <a:t> It is used to specify the automatic size of the rows.</a:t>
            </a:r>
          </a:p>
          <a:p>
            <a:pPr lvl="1"/>
            <a:r>
              <a:rPr lang="en-US" b="1"/>
              <a:t>grid-auto-columns:</a:t>
            </a:r>
            <a:r>
              <a:rPr lang="en-US"/>
              <a:t> It is used to specify the automatic size of the columns.</a:t>
            </a:r>
          </a:p>
          <a:p>
            <a:pPr lvl="1"/>
            <a:r>
              <a:rPr lang="en-US" b="1"/>
              <a:t>grid-auto-flow:</a:t>
            </a:r>
            <a:r>
              <a:rPr lang="en-US"/>
              <a:t> It is used to specify how to place auto-placed items and the automatic row size.</a:t>
            </a:r>
          </a:p>
          <a:p>
            <a:endParaRPr lang="en-US"/>
          </a:p>
        </p:txBody>
      </p:sp>
      <p:sp>
        <p:nvSpPr>
          <p:cNvPr id="4" name="Date Placeholder 3"/>
          <p:cNvSpPr>
            <a:spLocks noGrp="1"/>
          </p:cNvSpPr>
          <p:nvPr>
            <p:ph type="dt" sz="half" idx="4294967295"/>
          </p:nvPr>
        </p:nvSpPr>
        <p:spPr>
          <a:xfrm>
            <a:off x="838200" y="6356350"/>
            <a:ext cx="2743200" cy="365125"/>
          </a:xfrm>
        </p:spPr>
        <p:txBody>
          <a:bodyPr/>
          <a:lstStyle/>
          <a:p>
            <a:pPr>
              <a:defRPr/>
            </a:pPr>
            <a:fld id="{7C774709-785F-457C-9429-4E3DA889C601}" type="datetime3">
              <a:rPr lang="en-US" smtClean="0"/>
              <a:pPr>
                <a:defRPr/>
              </a:pPr>
              <a:t>8 January 2026</a:t>
            </a:fld>
            <a:endParaRPr lang="en-IN"/>
          </a:p>
        </p:txBody>
      </p:sp>
      <p:sp>
        <p:nvSpPr>
          <p:cNvPr id="5" name="Footer Placeholder 4"/>
          <p:cNvSpPr>
            <a:spLocks noGrp="1"/>
          </p:cNvSpPr>
          <p:nvPr>
            <p:ph type="ftr" sz="quarter" idx="4294967295"/>
          </p:nvPr>
        </p:nvSpPr>
        <p:spPr>
          <a:xfrm>
            <a:off x="4038600" y="6356350"/>
            <a:ext cx="4114800" cy="365125"/>
          </a:xfrm>
        </p:spPr>
        <p:txBody>
          <a:bodyPr/>
          <a:lstStyle/>
          <a:p>
            <a:pPr>
              <a:defRPr/>
            </a:pPr>
            <a:r>
              <a:rPr lang="en-IN" dirty="0" smtClean="0"/>
              <a:t> </a:t>
            </a:r>
            <a:endParaRPr lang="en-IN" dirty="0"/>
          </a:p>
        </p:txBody>
      </p:sp>
      <p:sp>
        <p:nvSpPr>
          <p:cNvPr id="6" name="Slide Number Placeholder 5"/>
          <p:cNvSpPr>
            <a:spLocks noGrp="1"/>
          </p:cNvSpPr>
          <p:nvPr>
            <p:ph type="sldNum" sz="quarter" idx="4294967295"/>
          </p:nvPr>
        </p:nvSpPr>
        <p:spPr>
          <a:xfrm>
            <a:off x="8610600" y="6356350"/>
            <a:ext cx="2743200" cy="365125"/>
          </a:xfrm>
        </p:spPr>
        <p:txBody>
          <a:bodyPr/>
          <a:lstStyle/>
          <a:p>
            <a:pPr>
              <a:defRPr/>
            </a:pPr>
            <a:fld id="{DC16FC18-A483-43BC-83D0-C7F7814867AE}" type="slidenum">
              <a:rPr lang="en-IN" smtClean="0"/>
              <a:pPr>
                <a:defRPr/>
              </a:pPr>
              <a:t>120</a:t>
            </a:fld>
            <a:endParaRPr lang="en-IN"/>
          </a:p>
        </p:txBody>
      </p:sp>
    </p:spTree>
    <p:extLst>
      <p:ext uri="{BB962C8B-B14F-4D97-AF65-F5344CB8AC3E}">
        <p14:creationId xmlns:p14="http://schemas.microsoft.com/office/powerpoint/2010/main" val="38953553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a:t>CSS Table</a:t>
            </a:r>
            <a:br>
              <a:rPr lang="en-US" b="0"/>
            </a:br>
            <a:endParaRPr lang="en-US"/>
          </a:p>
        </p:txBody>
      </p:sp>
      <p:sp>
        <p:nvSpPr>
          <p:cNvPr id="3" name="Content Placeholder 2"/>
          <p:cNvSpPr>
            <a:spLocks noGrp="1"/>
          </p:cNvSpPr>
          <p:nvPr>
            <p:ph idx="1"/>
          </p:nvPr>
        </p:nvSpPr>
        <p:spPr>
          <a:xfrm>
            <a:off x="1158240" y="868681"/>
            <a:ext cx="9875520" cy="5257800"/>
          </a:xfrm>
        </p:spPr>
        <p:txBody>
          <a:bodyPr/>
          <a:lstStyle/>
          <a:p>
            <a:pPr>
              <a:buNone/>
            </a:pPr>
            <a:r>
              <a:rPr lang="en-US"/>
              <a:t>We can apply style on HTML tables for better look and feel. There are some        </a:t>
            </a:r>
          </a:p>
          <a:p>
            <a:pPr>
              <a:buNone/>
            </a:pPr>
            <a:r>
              <a:rPr lang="en-US"/>
              <a:t> CSS properties that are widely used in designing table using CSS:</a:t>
            </a:r>
          </a:p>
          <a:p>
            <a:pPr lvl="1"/>
            <a:r>
              <a:rPr lang="en-US"/>
              <a:t>border</a:t>
            </a:r>
          </a:p>
          <a:p>
            <a:pPr lvl="1"/>
            <a:r>
              <a:rPr lang="en-US"/>
              <a:t>border-collapse</a:t>
            </a:r>
          </a:p>
          <a:p>
            <a:pPr lvl="1"/>
            <a:r>
              <a:rPr lang="en-US"/>
              <a:t>padding</a:t>
            </a:r>
          </a:p>
          <a:p>
            <a:pPr lvl="1"/>
            <a:r>
              <a:rPr lang="en-US"/>
              <a:t>width</a:t>
            </a:r>
          </a:p>
          <a:p>
            <a:pPr lvl="1"/>
            <a:r>
              <a:rPr lang="en-US"/>
              <a:t>height</a:t>
            </a:r>
          </a:p>
          <a:p>
            <a:pPr lvl="1"/>
            <a:r>
              <a:rPr lang="en-US"/>
              <a:t>text-align</a:t>
            </a:r>
          </a:p>
          <a:p>
            <a:pPr lvl="1"/>
            <a:r>
              <a:rPr lang="en-US"/>
              <a:t>color</a:t>
            </a:r>
          </a:p>
          <a:p>
            <a:pPr lvl="1"/>
            <a:r>
              <a:rPr lang="en-US"/>
              <a:t>background-color</a:t>
            </a:r>
          </a:p>
          <a:p>
            <a:endParaRPr lang="en-US"/>
          </a:p>
        </p:txBody>
      </p:sp>
      <p:sp>
        <p:nvSpPr>
          <p:cNvPr id="4" name="Date Placeholder 3"/>
          <p:cNvSpPr>
            <a:spLocks noGrp="1"/>
          </p:cNvSpPr>
          <p:nvPr>
            <p:ph type="dt" sz="half" idx="4294967295"/>
          </p:nvPr>
        </p:nvSpPr>
        <p:spPr>
          <a:xfrm>
            <a:off x="838200" y="6356350"/>
            <a:ext cx="2743200" cy="365125"/>
          </a:xfrm>
        </p:spPr>
        <p:txBody>
          <a:bodyPr/>
          <a:lstStyle/>
          <a:p>
            <a:pPr>
              <a:defRPr/>
            </a:pPr>
            <a:fld id="{7C774709-785F-457C-9429-4E3DA889C601}" type="datetime3">
              <a:rPr lang="en-US" smtClean="0"/>
              <a:pPr>
                <a:defRPr/>
              </a:pPr>
              <a:t>8 January 2026</a:t>
            </a:fld>
            <a:endParaRPr lang="en-IN"/>
          </a:p>
        </p:txBody>
      </p:sp>
      <p:sp>
        <p:nvSpPr>
          <p:cNvPr id="5" name="Footer Placeholder 4"/>
          <p:cNvSpPr>
            <a:spLocks noGrp="1"/>
          </p:cNvSpPr>
          <p:nvPr>
            <p:ph type="ftr" sz="quarter" idx="4294967295"/>
          </p:nvPr>
        </p:nvSpPr>
        <p:spPr>
          <a:xfrm>
            <a:off x="4038600" y="6356350"/>
            <a:ext cx="4114800" cy="365125"/>
          </a:xfrm>
        </p:spPr>
        <p:txBody>
          <a:bodyPr/>
          <a:lstStyle/>
          <a:p>
            <a:pPr>
              <a:defRPr/>
            </a:pPr>
            <a:r>
              <a:rPr lang="en-IN" dirty="0" smtClean="0"/>
              <a:t> </a:t>
            </a:r>
            <a:endParaRPr lang="en-IN" dirty="0"/>
          </a:p>
        </p:txBody>
      </p:sp>
      <p:sp>
        <p:nvSpPr>
          <p:cNvPr id="6" name="Slide Number Placeholder 5"/>
          <p:cNvSpPr>
            <a:spLocks noGrp="1"/>
          </p:cNvSpPr>
          <p:nvPr>
            <p:ph type="sldNum" sz="quarter" idx="4294967295"/>
          </p:nvPr>
        </p:nvSpPr>
        <p:spPr>
          <a:xfrm>
            <a:off x="8610600" y="6356350"/>
            <a:ext cx="2743200" cy="365125"/>
          </a:xfrm>
        </p:spPr>
        <p:txBody>
          <a:bodyPr/>
          <a:lstStyle/>
          <a:p>
            <a:pPr>
              <a:defRPr/>
            </a:pPr>
            <a:fld id="{DC16FC18-A483-43BC-83D0-C7F7814867AE}" type="slidenum">
              <a:rPr lang="en-IN" smtClean="0"/>
              <a:pPr>
                <a:defRPr/>
              </a:pPr>
              <a:t>121</a:t>
            </a:fld>
            <a:endParaRPr lang="en-IN"/>
          </a:p>
        </p:txBody>
      </p:sp>
    </p:spTree>
    <p:extLst>
      <p:ext uri="{BB962C8B-B14F-4D97-AF65-F5344CB8AC3E}">
        <p14:creationId xmlns:p14="http://schemas.microsoft.com/office/powerpoint/2010/main" val="11290316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a:t>CSS Table Border</a:t>
            </a:r>
            <a:br>
              <a:rPr lang="en-US" b="0"/>
            </a:br>
            <a:endParaRPr lang="en-US"/>
          </a:p>
        </p:txBody>
      </p:sp>
      <p:sp>
        <p:nvSpPr>
          <p:cNvPr id="3" name="Content Placeholder 2"/>
          <p:cNvSpPr>
            <a:spLocks noGrp="1"/>
          </p:cNvSpPr>
          <p:nvPr>
            <p:ph idx="1"/>
          </p:nvPr>
        </p:nvSpPr>
        <p:spPr/>
        <p:txBody>
          <a:bodyPr>
            <a:normAutofit lnSpcReduction="10000"/>
          </a:bodyPr>
          <a:lstStyle/>
          <a:p>
            <a:r>
              <a:rPr lang="en-US"/>
              <a:t>We can set border for the table, </a:t>
            </a:r>
            <a:r>
              <a:rPr lang="en-US" err="1"/>
              <a:t>th</a:t>
            </a:r>
            <a:r>
              <a:rPr lang="en-US"/>
              <a:t> and td tags using the CSS border property.</a:t>
            </a:r>
          </a:p>
          <a:p>
            <a:endParaRPr lang="en-US"/>
          </a:p>
          <a:p>
            <a:r>
              <a:rPr lang="en-US"/>
              <a:t>Syntax</a:t>
            </a:r>
          </a:p>
          <a:p>
            <a:pPr>
              <a:buNone/>
            </a:pPr>
            <a:r>
              <a:rPr lang="en-US"/>
              <a:t>	              </a:t>
            </a:r>
            <a:r>
              <a:rPr lang="en-US" b="1"/>
              <a:t>&lt;style&gt;</a:t>
            </a:r>
            <a:r>
              <a:rPr lang="en-US"/>
              <a:t>  </a:t>
            </a:r>
          </a:p>
          <a:p>
            <a:pPr>
              <a:buNone/>
            </a:pPr>
            <a:r>
              <a:rPr lang="en-US"/>
              <a:t>			table, </a:t>
            </a:r>
            <a:r>
              <a:rPr lang="en-US" err="1"/>
              <a:t>th</a:t>
            </a:r>
            <a:r>
              <a:rPr lang="en-US"/>
              <a:t>, td {  </a:t>
            </a:r>
          </a:p>
          <a:p>
            <a:pPr>
              <a:buNone/>
            </a:pPr>
            <a:r>
              <a:rPr lang="en-US"/>
              <a:t>			border: 1px solid black;  </a:t>
            </a:r>
          </a:p>
          <a:p>
            <a:pPr>
              <a:buNone/>
            </a:pPr>
            <a:r>
              <a:rPr lang="en-US"/>
              <a:t>				}  </a:t>
            </a:r>
          </a:p>
          <a:p>
            <a:pPr>
              <a:buNone/>
            </a:pPr>
            <a:r>
              <a:rPr lang="en-US" b="1"/>
              <a:t>		     &lt;/style&gt;</a:t>
            </a:r>
            <a:r>
              <a:rPr lang="en-US"/>
              <a:t>  </a:t>
            </a:r>
          </a:p>
          <a:p>
            <a:pPr>
              <a:buNone/>
            </a:pPr>
            <a:endParaRPr lang="en-US"/>
          </a:p>
        </p:txBody>
      </p:sp>
      <p:sp>
        <p:nvSpPr>
          <p:cNvPr id="4" name="Date Placeholder 3"/>
          <p:cNvSpPr>
            <a:spLocks noGrp="1"/>
          </p:cNvSpPr>
          <p:nvPr>
            <p:ph type="dt" sz="half" idx="4294967295"/>
          </p:nvPr>
        </p:nvSpPr>
        <p:spPr>
          <a:xfrm>
            <a:off x="838200" y="6356350"/>
            <a:ext cx="2743200" cy="365125"/>
          </a:xfrm>
        </p:spPr>
        <p:txBody>
          <a:bodyPr/>
          <a:lstStyle/>
          <a:p>
            <a:pPr>
              <a:defRPr/>
            </a:pPr>
            <a:fld id="{7C774709-785F-457C-9429-4E3DA889C601}" type="datetime3">
              <a:rPr lang="en-US" smtClean="0"/>
              <a:pPr>
                <a:defRPr/>
              </a:pPr>
              <a:t>8 January 2026</a:t>
            </a:fld>
            <a:endParaRPr lang="en-IN"/>
          </a:p>
        </p:txBody>
      </p:sp>
      <p:sp>
        <p:nvSpPr>
          <p:cNvPr id="5" name="Footer Placeholder 4"/>
          <p:cNvSpPr>
            <a:spLocks noGrp="1"/>
          </p:cNvSpPr>
          <p:nvPr>
            <p:ph type="ftr" sz="quarter" idx="4294967295"/>
          </p:nvPr>
        </p:nvSpPr>
        <p:spPr>
          <a:xfrm>
            <a:off x="4038600" y="6356350"/>
            <a:ext cx="4114800" cy="365125"/>
          </a:xfrm>
        </p:spPr>
        <p:txBody>
          <a:bodyPr/>
          <a:lstStyle/>
          <a:p>
            <a:pPr>
              <a:defRPr/>
            </a:pPr>
            <a:r>
              <a:rPr lang="en-IN" dirty="0" smtClean="0"/>
              <a:t> </a:t>
            </a:r>
            <a:endParaRPr lang="en-IN" dirty="0"/>
          </a:p>
        </p:txBody>
      </p:sp>
      <p:sp>
        <p:nvSpPr>
          <p:cNvPr id="6" name="Slide Number Placeholder 5"/>
          <p:cNvSpPr>
            <a:spLocks noGrp="1"/>
          </p:cNvSpPr>
          <p:nvPr>
            <p:ph type="sldNum" sz="quarter" idx="4294967295"/>
          </p:nvPr>
        </p:nvSpPr>
        <p:spPr>
          <a:xfrm>
            <a:off x="8610600" y="6356350"/>
            <a:ext cx="2743200" cy="365125"/>
          </a:xfrm>
        </p:spPr>
        <p:txBody>
          <a:bodyPr/>
          <a:lstStyle/>
          <a:p>
            <a:pPr>
              <a:defRPr/>
            </a:pPr>
            <a:fld id="{DC16FC18-A483-43BC-83D0-C7F7814867AE}" type="slidenum">
              <a:rPr lang="en-IN" smtClean="0"/>
              <a:pPr>
                <a:defRPr/>
              </a:pPr>
              <a:t>122</a:t>
            </a:fld>
            <a:endParaRPr lang="en-IN"/>
          </a:p>
        </p:txBody>
      </p:sp>
    </p:spTree>
    <p:extLst>
      <p:ext uri="{BB962C8B-B14F-4D97-AF65-F5344CB8AC3E}">
        <p14:creationId xmlns:p14="http://schemas.microsoft.com/office/powerpoint/2010/main" val="3807640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a:t>CSS Table Border Collapse</a:t>
            </a:r>
            <a:br>
              <a:rPr lang="en-US" b="0"/>
            </a:br>
            <a:endParaRPr lang="en-US"/>
          </a:p>
        </p:txBody>
      </p:sp>
      <p:sp>
        <p:nvSpPr>
          <p:cNvPr id="3" name="Content Placeholder 2"/>
          <p:cNvSpPr>
            <a:spLocks noGrp="1"/>
          </p:cNvSpPr>
          <p:nvPr>
            <p:ph idx="1"/>
          </p:nvPr>
        </p:nvSpPr>
        <p:spPr/>
        <p:txBody>
          <a:bodyPr>
            <a:normAutofit fontScale="85000" lnSpcReduction="20000"/>
          </a:bodyPr>
          <a:lstStyle/>
          <a:p>
            <a:pPr>
              <a:buNone/>
            </a:pPr>
            <a:r>
              <a:rPr lang="en-US"/>
              <a:t>By the help of border-collapse property, we can collapse all borders in one</a:t>
            </a:r>
          </a:p>
          <a:p>
            <a:pPr>
              <a:buNone/>
            </a:pPr>
            <a:r>
              <a:rPr lang="en-US"/>
              <a:t>  border only.</a:t>
            </a:r>
          </a:p>
          <a:p>
            <a:pPr>
              <a:buNone/>
            </a:pPr>
            <a:endParaRPr lang="en-US"/>
          </a:p>
          <a:p>
            <a:pPr>
              <a:buNone/>
            </a:pPr>
            <a:r>
              <a:rPr lang="en-US"/>
              <a:t>Syntax</a:t>
            </a:r>
          </a:p>
          <a:p>
            <a:pPr>
              <a:buNone/>
            </a:pPr>
            <a:r>
              <a:rPr lang="en-US"/>
              <a:t>  </a:t>
            </a:r>
          </a:p>
          <a:p>
            <a:pPr>
              <a:buNone/>
            </a:pPr>
            <a:r>
              <a:rPr lang="en-US" b="1"/>
              <a:t>&lt;style&gt;</a:t>
            </a:r>
            <a:r>
              <a:rPr lang="en-US"/>
              <a:t>  </a:t>
            </a:r>
          </a:p>
          <a:p>
            <a:pPr>
              <a:buNone/>
            </a:pPr>
            <a:r>
              <a:rPr lang="en-US"/>
              <a:t>	table, </a:t>
            </a:r>
            <a:r>
              <a:rPr lang="en-US" err="1"/>
              <a:t>th</a:t>
            </a:r>
            <a:r>
              <a:rPr lang="en-US"/>
              <a:t>, td {  </a:t>
            </a:r>
          </a:p>
          <a:p>
            <a:pPr>
              <a:buNone/>
            </a:pPr>
            <a:r>
              <a:rPr lang="en-US"/>
              <a:t>     border: 2px solid black;  </a:t>
            </a:r>
          </a:p>
          <a:p>
            <a:pPr>
              <a:buNone/>
            </a:pPr>
            <a:r>
              <a:rPr lang="en-US"/>
              <a:t>	    border-collapse: collapse;  </a:t>
            </a:r>
          </a:p>
          <a:p>
            <a:pPr>
              <a:buNone/>
            </a:pPr>
            <a:r>
              <a:rPr lang="en-US"/>
              <a:t>	}  </a:t>
            </a:r>
          </a:p>
          <a:p>
            <a:pPr>
              <a:buNone/>
            </a:pPr>
            <a:r>
              <a:rPr lang="en-US" b="1"/>
              <a:t>&lt;/style&gt;</a:t>
            </a:r>
            <a:r>
              <a:rPr lang="en-US"/>
              <a:t>  </a:t>
            </a:r>
          </a:p>
          <a:p>
            <a:pPr>
              <a:buNone/>
            </a:pPr>
            <a:endParaRPr lang="en-US"/>
          </a:p>
        </p:txBody>
      </p:sp>
      <p:sp>
        <p:nvSpPr>
          <p:cNvPr id="4" name="Date Placeholder 3"/>
          <p:cNvSpPr>
            <a:spLocks noGrp="1"/>
          </p:cNvSpPr>
          <p:nvPr>
            <p:ph type="dt" sz="half" idx="4294967295"/>
          </p:nvPr>
        </p:nvSpPr>
        <p:spPr>
          <a:xfrm>
            <a:off x="838200" y="6356350"/>
            <a:ext cx="2743200" cy="365125"/>
          </a:xfrm>
        </p:spPr>
        <p:txBody>
          <a:bodyPr/>
          <a:lstStyle/>
          <a:p>
            <a:pPr>
              <a:defRPr/>
            </a:pPr>
            <a:fld id="{7C774709-785F-457C-9429-4E3DA889C601}" type="datetime3">
              <a:rPr lang="en-US" smtClean="0"/>
              <a:pPr>
                <a:defRPr/>
              </a:pPr>
              <a:t>8 January 2026</a:t>
            </a:fld>
            <a:endParaRPr lang="en-IN"/>
          </a:p>
        </p:txBody>
      </p:sp>
      <p:sp>
        <p:nvSpPr>
          <p:cNvPr id="5" name="Footer Placeholder 4"/>
          <p:cNvSpPr>
            <a:spLocks noGrp="1"/>
          </p:cNvSpPr>
          <p:nvPr>
            <p:ph type="ftr" sz="quarter" idx="4294967295"/>
          </p:nvPr>
        </p:nvSpPr>
        <p:spPr>
          <a:xfrm>
            <a:off x="4038600" y="6356350"/>
            <a:ext cx="4114800" cy="365125"/>
          </a:xfrm>
        </p:spPr>
        <p:txBody>
          <a:bodyPr/>
          <a:lstStyle/>
          <a:p>
            <a:pPr>
              <a:defRPr/>
            </a:pPr>
            <a:r>
              <a:rPr lang="en-IN" dirty="0" smtClean="0"/>
              <a:t> </a:t>
            </a:r>
            <a:endParaRPr lang="en-IN" dirty="0"/>
          </a:p>
        </p:txBody>
      </p:sp>
      <p:sp>
        <p:nvSpPr>
          <p:cNvPr id="6" name="Slide Number Placeholder 5"/>
          <p:cNvSpPr>
            <a:spLocks noGrp="1"/>
          </p:cNvSpPr>
          <p:nvPr>
            <p:ph type="sldNum" sz="quarter" idx="4294967295"/>
          </p:nvPr>
        </p:nvSpPr>
        <p:spPr>
          <a:xfrm>
            <a:off x="8610600" y="6356350"/>
            <a:ext cx="2743200" cy="365125"/>
          </a:xfrm>
        </p:spPr>
        <p:txBody>
          <a:bodyPr/>
          <a:lstStyle/>
          <a:p>
            <a:pPr>
              <a:defRPr/>
            </a:pPr>
            <a:fld id="{DC16FC18-A483-43BC-83D0-C7F7814867AE}" type="slidenum">
              <a:rPr lang="en-IN" smtClean="0"/>
              <a:pPr>
                <a:defRPr/>
              </a:pPr>
              <a:t>123</a:t>
            </a:fld>
            <a:endParaRPr lang="en-IN"/>
          </a:p>
        </p:txBody>
      </p:sp>
    </p:spTree>
    <p:extLst>
      <p:ext uri="{BB962C8B-B14F-4D97-AF65-F5344CB8AC3E}">
        <p14:creationId xmlns:p14="http://schemas.microsoft.com/office/powerpoint/2010/main" val="36642098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a:t>CSS Table Padding</a:t>
            </a:r>
            <a:br>
              <a:rPr lang="en-US" b="0"/>
            </a:br>
            <a:endParaRPr lang="en-US"/>
          </a:p>
        </p:txBody>
      </p:sp>
      <p:sp>
        <p:nvSpPr>
          <p:cNvPr id="3" name="Content Placeholder 2"/>
          <p:cNvSpPr>
            <a:spLocks noGrp="1"/>
          </p:cNvSpPr>
          <p:nvPr>
            <p:ph idx="1"/>
          </p:nvPr>
        </p:nvSpPr>
        <p:spPr/>
        <p:txBody>
          <a:bodyPr>
            <a:normAutofit fontScale="77500" lnSpcReduction="20000"/>
          </a:bodyPr>
          <a:lstStyle/>
          <a:p>
            <a:pPr>
              <a:buNone/>
            </a:pPr>
            <a:r>
              <a:rPr lang="en-US"/>
              <a:t>We can specify padding for table header and table data using the CSS padding</a:t>
            </a:r>
          </a:p>
          <a:p>
            <a:pPr>
              <a:buNone/>
            </a:pPr>
            <a:r>
              <a:rPr lang="en-US"/>
              <a:t> property.</a:t>
            </a:r>
          </a:p>
          <a:p>
            <a:pPr>
              <a:buNone/>
            </a:pPr>
            <a:endParaRPr lang="en-US"/>
          </a:p>
          <a:p>
            <a:pPr>
              <a:buNone/>
            </a:pPr>
            <a:r>
              <a:rPr lang="en-US" b="1"/>
              <a:t>&lt;style&gt;</a:t>
            </a:r>
            <a:r>
              <a:rPr lang="en-US"/>
              <a:t>  </a:t>
            </a:r>
          </a:p>
          <a:p>
            <a:pPr>
              <a:buNone/>
            </a:pPr>
            <a:r>
              <a:rPr lang="en-US"/>
              <a:t>	table, </a:t>
            </a:r>
            <a:r>
              <a:rPr lang="en-US" err="1"/>
              <a:t>th</a:t>
            </a:r>
            <a:r>
              <a:rPr lang="en-US"/>
              <a:t>, td {  </a:t>
            </a:r>
          </a:p>
          <a:p>
            <a:pPr>
              <a:buNone/>
            </a:pPr>
            <a:r>
              <a:rPr lang="en-US"/>
              <a:t>	    border: 1px solid black;  </a:t>
            </a:r>
          </a:p>
          <a:p>
            <a:pPr>
              <a:buNone/>
            </a:pPr>
            <a:r>
              <a:rPr lang="en-US"/>
              <a:t>	    border-collapse: collapse;  </a:t>
            </a:r>
          </a:p>
          <a:p>
            <a:pPr lvl="1">
              <a:buNone/>
            </a:pPr>
            <a:r>
              <a:rPr lang="en-US"/>
              <a:t>}  </a:t>
            </a:r>
          </a:p>
          <a:p>
            <a:pPr>
              <a:buNone/>
            </a:pPr>
            <a:r>
              <a:rPr lang="en-US"/>
              <a:t>	</a:t>
            </a:r>
            <a:r>
              <a:rPr lang="en-US" err="1"/>
              <a:t>th</a:t>
            </a:r>
            <a:r>
              <a:rPr lang="en-US"/>
              <a:t>, td {  </a:t>
            </a:r>
          </a:p>
          <a:p>
            <a:pPr>
              <a:buNone/>
            </a:pPr>
            <a:r>
              <a:rPr lang="en-US"/>
              <a:t>    padding: 10px;  </a:t>
            </a:r>
          </a:p>
          <a:p>
            <a:pPr>
              <a:buNone/>
            </a:pPr>
            <a:r>
              <a:rPr lang="en-US"/>
              <a:t>	}  </a:t>
            </a:r>
          </a:p>
          <a:p>
            <a:pPr>
              <a:buNone/>
            </a:pPr>
            <a:r>
              <a:rPr lang="en-US" b="1"/>
              <a:t>&lt;/style&gt;</a:t>
            </a:r>
            <a:r>
              <a:rPr lang="en-US"/>
              <a:t> </a:t>
            </a:r>
          </a:p>
          <a:p>
            <a:pPr>
              <a:buNone/>
            </a:pPr>
            <a:endParaRPr lang="en-US"/>
          </a:p>
        </p:txBody>
      </p:sp>
      <p:sp>
        <p:nvSpPr>
          <p:cNvPr id="4" name="Date Placeholder 3"/>
          <p:cNvSpPr>
            <a:spLocks noGrp="1"/>
          </p:cNvSpPr>
          <p:nvPr>
            <p:ph type="dt" sz="half" idx="4294967295"/>
          </p:nvPr>
        </p:nvSpPr>
        <p:spPr>
          <a:xfrm>
            <a:off x="838200" y="6356350"/>
            <a:ext cx="2743200" cy="365125"/>
          </a:xfrm>
        </p:spPr>
        <p:txBody>
          <a:bodyPr/>
          <a:lstStyle/>
          <a:p>
            <a:pPr>
              <a:defRPr/>
            </a:pPr>
            <a:fld id="{7C774709-785F-457C-9429-4E3DA889C601}" type="datetime3">
              <a:rPr lang="en-US" smtClean="0"/>
              <a:pPr>
                <a:defRPr/>
              </a:pPr>
              <a:t>8 January 2026</a:t>
            </a:fld>
            <a:endParaRPr lang="en-IN"/>
          </a:p>
        </p:txBody>
      </p:sp>
      <p:sp>
        <p:nvSpPr>
          <p:cNvPr id="5" name="Footer Placeholder 4"/>
          <p:cNvSpPr>
            <a:spLocks noGrp="1"/>
          </p:cNvSpPr>
          <p:nvPr>
            <p:ph type="ftr" sz="quarter" idx="4294967295"/>
          </p:nvPr>
        </p:nvSpPr>
        <p:spPr>
          <a:xfrm>
            <a:off x="4038600" y="6356350"/>
            <a:ext cx="4114800" cy="365125"/>
          </a:xfrm>
        </p:spPr>
        <p:txBody>
          <a:bodyPr/>
          <a:lstStyle/>
          <a:p>
            <a:pPr>
              <a:defRPr/>
            </a:pPr>
            <a:r>
              <a:rPr lang="en-IN" dirty="0" smtClean="0"/>
              <a:t> </a:t>
            </a:r>
            <a:endParaRPr lang="en-IN" dirty="0"/>
          </a:p>
        </p:txBody>
      </p:sp>
      <p:sp>
        <p:nvSpPr>
          <p:cNvPr id="6" name="Slide Number Placeholder 5"/>
          <p:cNvSpPr>
            <a:spLocks noGrp="1"/>
          </p:cNvSpPr>
          <p:nvPr>
            <p:ph type="sldNum" sz="quarter" idx="4294967295"/>
          </p:nvPr>
        </p:nvSpPr>
        <p:spPr>
          <a:xfrm>
            <a:off x="8610600" y="6356350"/>
            <a:ext cx="2743200" cy="365125"/>
          </a:xfrm>
        </p:spPr>
        <p:txBody>
          <a:bodyPr/>
          <a:lstStyle/>
          <a:p>
            <a:pPr>
              <a:defRPr/>
            </a:pPr>
            <a:fld id="{DC16FC18-A483-43BC-83D0-C7F7814867AE}" type="slidenum">
              <a:rPr lang="en-IN" smtClean="0"/>
              <a:pPr>
                <a:defRPr/>
              </a:pPr>
              <a:t>124</a:t>
            </a:fld>
            <a:endParaRPr lang="en-IN"/>
          </a:p>
        </p:txBody>
      </p:sp>
    </p:spTree>
    <p:extLst>
      <p:ext uri="{BB962C8B-B14F-4D97-AF65-F5344CB8AC3E}">
        <p14:creationId xmlns:p14="http://schemas.microsoft.com/office/powerpoint/2010/main" val="22356746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a:t>CSS Padding</a:t>
            </a:r>
            <a:br>
              <a:rPr lang="en-US" b="0"/>
            </a:br>
            <a:endParaRPr lang="en-US"/>
          </a:p>
        </p:txBody>
      </p:sp>
      <p:sp>
        <p:nvSpPr>
          <p:cNvPr id="3" name="Content Placeholder 2"/>
          <p:cNvSpPr>
            <a:spLocks noGrp="1"/>
          </p:cNvSpPr>
          <p:nvPr>
            <p:ph idx="1"/>
          </p:nvPr>
        </p:nvSpPr>
        <p:spPr/>
        <p:txBody>
          <a:bodyPr/>
          <a:lstStyle/>
          <a:p>
            <a:r>
              <a:rPr lang="en-US" b="1"/>
              <a:t>CSS Padding property</a:t>
            </a:r>
            <a:r>
              <a:rPr lang="en-US"/>
              <a:t> is used </a:t>
            </a:r>
            <a:r>
              <a:rPr lang="en-US" i="1"/>
              <a:t>to define the space between the element content and the element border</a:t>
            </a:r>
            <a:r>
              <a:rPr lang="en-US"/>
              <a:t>.</a:t>
            </a:r>
          </a:p>
          <a:p>
            <a:r>
              <a:rPr lang="en-US"/>
              <a:t>It is different from CSS margin in the way that CSS margin defines the space around elements. CSS padding is affected by the background colors. It clears an area around the content.</a:t>
            </a:r>
          </a:p>
          <a:p>
            <a:r>
              <a:rPr lang="en-US"/>
              <a:t>Top, bottom, left and right padding can be changed independently using separate properties.</a:t>
            </a:r>
          </a:p>
          <a:p>
            <a:endParaRPr lang="en-US"/>
          </a:p>
        </p:txBody>
      </p:sp>
      <p:sp>
        <p:nvSpPr>
          <p:cNvPr id="4" name="Date Placeholder 3"/>
          <p:cNvSpPr>
            <a:spLocks noGrp="1"/>
          </p:cNvSpPr>
          <p:nvPr>
            <p:ph type="dt" sz="half" idx="4294967295"/>
          </p:nvPr>
        </p:nvSpPr>
        <p:spPr>
          <a:xfrm>
            <a:off x="838200" y="6356350"/>
            <a:ext cx="2743200" cy="365125"/>
          </a:xfrm>
        </p:spPr>
        <p:txBody>
          <a:bodyPr/>
          <a:lstStyle/>
          <a:p>
            <a:pPr>
              <a:defRPr/>
            </a:pPr>
            <a:fld id="{7C774709-785F-457C-9429-4E3DA889C601}" type="datetime3">
              <a:rPr lang="en-US" smtClean="0"/>
              <a:pPr>
                <a:defRPr/>
              </a:pPr>
              <a:t>8 January 2026</a:t>
            </a:fld>
            <a:endParaRPr lang="en-IN"/>
          </a:p>
        </p:txBody>
      </p:sp>
      <p:sp>
        <p:nvSpPr>
          <p:cNvPr id="5" name="Footer Placeholder 4"/>
          <p:cNvSpPr>
            <a:spLocks noGrp="1"/>
          </p:cNvSpPr>
          <p:nvPr>
            <p:ph type="ftr" sz="quarter" idx="4294967295"/>
          </p:nvPr>
        </p:nvSpPr>
        <p:spPr>
          <a:xfrm>
            <a:off x="4038600" y="6356350"/>
            <a:ext cx="4114800" cy="365125"/>
          </a:xfrm>
        </p:spPr>
        <p:txBody>
          <a:bodyPr/>
          <a:lstStyle/>
          <a:p>
            <a:pPr>
              <a:defRPr/>
            </a:pPr>
            <a:r>
              <a:rPr lang="en-IN" dirty="0" smtClean="0"/>
              <a:t> </a:t>
            </a:r>
            <a:endParaRPr lang="en-IN" dirty="0"/>
          </a:p>
        </p:txBody>
      </p:sp>
      <p:sp>
        <p:nvSpPr>
          <p:cNvPr id="6" name="Slide Number Placeholder 5"/>
          <p:cNvSpPr>
            <a:spLocks noGrp="1"/>
          </p:cNvSpPr>
          <p:nvPr>
            <p:ph type="sldNum" sz="quarter" idx="4294967295"/>
          </p:nvPr>
        </p:nvSpPr>
        <p:spPr>
          <a:xfrm>
            <a:off x="8610600" y="6356350"/>
            <a:ext cx="2743200" cy="365125"/>
          </a:xfrm>
        </p:spPr>
        <p:txBody>
          <a:bodyPr/>
          <a:lstStyle/>
          <a:p>
            <a:pPr>
              <a:defRPr/>
            </a:pPr>
            <a:fld id="{DC16FC18-A483-43BC-83D0-C7F7814867AE}" type="slidenum">
              <a:rPr lang="en-IN" smtClean="0"/>
              <a:pPr>
                <a:defRPr/>
              </a:pPr>
              <a:t>125</a:t>
            </a:fld>
            <a:endParaRPr lang="en-IN"/>
          </a:p>
        </p:txBody>
      </p:sp>
    </p:spTree>
    <p:extLst>
      <p:ext uri="{BB962C8B-B14F-4D97-AF65-F5344CB8AC3E}">
        <p14:creationId xmlns:p14="http://schemas.microsoft.com/office/powerpoint/2010/main" val="9078834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0"/>
              <a:t>CSS Padding Properties</a:t>
            </a:r>
            <a:br>
              <a:rPr lang="en-US" b="0"/>
            </a:br>
            <a:r>
              <a:rPr lang="en-US"/>
              <a:t/>
            </a:r>
            <a:br>
              <a:rPr lang="en-US"/>
            </a:br>
            <a:endParaRPr lang="en-US"/>
          </a:p>
        </p:txBody>
      </p:sp>
      <p:sp>
        <p:nvSpPr>
          <p:cNvPr id="4" name="Date Placeholder 3"/>
          <p:cNvSpPr>
            <a:spLocks noGrp="1"/>
          </p:cNvSpPr>
          <p:nvPr>
            <p:ph type="dt" sz="half" idx="4294967295"/>
          </p:nvPr>
        </p:nvSpPr>
        <p:spPr>
          <a:xfrm>
            <a:off x="838200" y="6356350"/>
            <a:ext cx="2743200" cy="365125"/>
          </a:xfrm>
        </p:spPr>
        <p:txBody>
          <a:bodyPr/>
          <a:lstStyle/>
          <a:p>
            <a:pPr>
              <a:defRPr/>
            </a:pPr>
            <a:fld id="{7C774709-785F-457C-9429-4E3DA889C601}" type="datetime3">
              <a:rPr lang="en-US" smtClean="0"/>
              <a:pPr>
                <a:defRPr/>
              </a:pPr>
              <a:t>8 January 2026</a:t>
            </a:fld>
            <a:endParaRPr lang="en-IN"/>
          </a:p>
        </p:txBody>
      </p:sp>
      <p:sp>
        <p:nvSpPr>
          <p:cNvPr id="5" name="Footer Placeholder 4"/>
          <p:cNvSpPr>
            <a:spLocks noGrp="1"/>
          </p:cNvSpPr>
          <p:nvPr>
            <p:ph type="ftr" sz="quarter" idx="4294967295"/>
          </p:nvPr>
        </p:nvSpPr>
        <p:spPr>
          <a:xfrm>
            <a:off x="4038600" y="6356350"/>
            <a:ext cx="4114800" cy="365125"/>
          </a:xfrm>
        </p:spPr>
        <p:txBody>
          <a:bodyPr/>
          <a:lstStyle/>
          <a:p>
            <a:pPr>
              <a:defRPr/>
            </a:pPr>
            <a:r>
              <a:rPr lang="en-IN" dirty="0" smtClean="0"/>
              <a:t> </a:t>
            </a:r>
            <a:endParaRPr lang="en-IN" dirty="0"/>
          </a:p>
        </p:txBody>
      </p:sp>
      <p:sp>
        <p:nvSpPr>
          <p:cNvPr id="6" name="Slide Number Placeholder 5"/>
          <p:cNvSpPr>
            <a:spLocks noGrp="1"/>
          </p:cNvSpPr>
          <p:nvPr>
            <p:ph type="sldNum" sz="quarter" idx="4294967295"/>
          </p:nvPr>
        </p:nvSpPr>
        <p:spPr>
          <a:xfrm>
            <a:off x="8610600" y="6356350"/>
            <a:ext cx="2743200" cy="365125"/>
          </a:xfrm>
        </p:spPr>
        <p:txBody>
          <a:bodyPr/>
          <a:lstStyle/>
          <a:p>
            <a:pPr>
              <a:defRPr/>
            </a:pPr>
            <a:fld id="{DC16FC18-A483-43BC-83D0-C7F7814867AE}" type="slidenum">
              <a:rPr lang="en-IN" smtClean="0"/>
              <a:pPr>
                <a:defRPr/>
              </a:pPr>
              <a:t>126</a:t>
            </a:fld>
            <a:endParaRPr lang="en-IN"/>
          </a:p>
        </p:txBody>
      </p:sp>
      <p:pic>
        <p:nvPicPr>
          <p:cNvPr id="1026" name="Picture 2"/>
          <p:cNvPicPr>
            <a:picLocks noGrp="1" noChangeAspect="1" noChangeArrowheads="1"/>
          </p:cNvPicPr>
          <p:nvPr>
            <p:ph idx="1"/>
          </p:nvPr>
        </p:nvPicPr>
        <p:blipFill>
          <a:blip r:embed="rId2"/>
          <a:srcRect/>
          <a:stretch>
            <a:fillRect/>
          </a:stretch>
        </p:blipFill>
        <p:spPr bwMode="auto">
          <a:xfrm>
            <a:off x="1341121" y="1143001"/>
            <a:ext cx="9326879" cy="4223384"/>
          </a:xfrm>
          <a:prstGeom prst="rect">
            <a:avLst/>
          </a:prstGeom>
          <a:noFill/>
          <a:ln w="9525">
            <a:noFill/>
            <a:miter lim="800000"/>
            <a:headEnd/>
            <a:tailEnd/>
          </a:ln>
          <a:effectLst/>
        </p:spPr>
      </p:pic>
    </p:spTree>
    <p:extLst>
      <p:ext uri="{BB962C8B-B14F-4D97-AF65-F5344CB8AC3E}">
        <p14:creationId xmlns:p14="http://schemas.microsoft.com/office/powerpoint/2010/main" val="39619472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a:t>CSS Padding Values</a:t>
            </a:r>
            <a:br>
              <a:rPr lang="en-US" b="0"/>
            </a:br>
            <a:endParaRPr lang="en-US"/>
          </a:p>
        </p:txBody>
      </p:sp>
      <p:sp>
        <p:nvSpPr>
          <p:cNvPr id="4" name="Date Placeholder 3"/>
          <p:cNvSpPr>
            <a:spLocks noGrp="1"/>
          </p:cNvSpPr>
          <p:nvPr>
            <p:ph type="dt" sz="half" idx="4294967295"/>
          </p:nvPr>
        </p:nvSpPr>
        <p:spPr>
          <a:xfrm>
            <a:off x="838200" y="6356350"/>
            <a:ext cx="2743200" cy="365125"/>
          </a:xfrm>
        </p:spPr>
        <p:txBody>
          <a:bodyPr/>
          <a:lstStyle/>
          <a:p>
            <a:pPr>
              <a:defRPr/>
            </a:pPr>
            <a:fld id="{7C774709-785F-457C-9429-4E3DA889C601}" type="datetime3">
              <a:rPr lang="en-US" smtClean="0"/>
              <a:pPr>
                <a:defRPr/>
              </a:pPr>
              <a:t>8 January 2026</a:t>
            </a:fld>
            <a:endParaRPr lang="en-IN"/>
          </a:p>
        </p:txBody>
      </p:sp>
      <p:sp>
        <p:nvSpPr>
          <p:cNvPr id="5" name="Footer Placeholder 4"/>
          <p:cNvSpPr>
            <a:spLocks noGrp="1"/>
          </p:cNvSpPr>
          <p:nvPr>
            <p:ph type="ftr" sz="quarter" idx="4294967295"/>
          </p:nvPr>
        </p:nvSpPr>
        <p:spPr>
          <a:xfrm>
            <a:off x="4038600" y="6356350"/>
            <a:ext cx="4114800" cy="365125"/>
          </a:xfrm>
        </p:spPr>
        <p:txBody>
          <a:bodyPr/>
          <a:lstStyle/>
          <a:p>
            <a:pPr>
              <a:defRPr/>
            </a:pPr>
            <a:r>
              <a:rPr lang="en-IN" dirty="0" smtClean="0"/>
              <a:t> </a:t>
            </a:r>
            <a:endParaRPr lang="en-IN" dirty="0"/>
          </a:p>
        </p:txBody>
      </p:sp>
      <p:sp>
        <p:nvSpPr>
          <p:cNvPr id="6" name="Slide Number Placeholder 5"/>
          <p:cNvSpPr>
            <a:spLocks noGrp="1"/>
          </p:cNvSpPr>
          <p:nvPr>
            <p:ph type="sldNum" sz="quarter" idx="4294967295"/>
          </p:nvPr>
        </p:nvSpPr>
        <p:spPr>
          <a:xfrm>
            <a:off x="8610600" y="6356350"/>
            <a:ext cx="2743200" cy="365125"/>
          </a:xfrm>
        </p:spPr>
        <p:txBody>
          <a:bodyPr/>
          <a:lstStyle/>
          <a:p>
            <a:pPr>
              <a:defRPr/>
            </a:pPr>
            <a:fld id="{DC16FC18-A483-43BC-83D0-C7F7814867AE}" type="slidenum">
              <a:rPr lang="en-IN" smtClean="0"/>
              <a:pPr>
                <a:defRPr/>
              </a:pPr>
              <a:t>127</a:t>
            </a:fld>
            <a:endParaRPr lang="en-IN"/>
          </a:p>
        </p:txBody>
      </p:sp>
      <p:pic>
        <p:nvPicPr>
          <p:cNvPr id="2050" name="Picture 2"/>
          <p:cNvPicPr>
            <a:picLocks noGrp="1" noChangeAspect="1" noChangeArrowheads="1"/>
          </p:cNvPicPr>
          <p:nvPr>
            <p:ph idx="1"/>
          </p:nvPr>
        </p:nvPicPr>
        <p:blipFill>
          <a:blip r:embed="rId2"/>
          <a:srcRect/>
          <a:stretch>
            <a:fillRect/>
          </a:stretch>
        </p:blipFill>
        <p:spPr bwMode="auto">
          <a:xfrm>
            <a:off x="1432561" y="1874521"/>
            <a:ext cx="8978264" cy="2760344"/>
          </a:xfrm>
          <a:prstGeom prst="rect">
            <a:avLst/>
          </a:prstGeom>
          <a:noFill/>
          <a:ln w="9525">
            <a:noFill/>
            <a:miter lim="800000"/>
            <a:headEnd/>
            <a:tailEnd/>
          </a:ln>
          <a:effectLst/>
        </p:spPr>
      </p:pic>
    </p:spTree>
    <p:extLst>
      <p:ext uri="{BB962C8B-B14F-4D97-AF65-F5344CB8AC3E}">
        <p14:creationId xmlns:p14="http://schemas.microsoft.com/office/powerpoint/2010/main" val="26690036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a:t>CSS Box Model</a:t>
            </a:r>
            <a:br>
              <a:rPr lang="en-US" b="0"/>
            </a:br>
            <a:endParaRPr lang="en-US"/>
          </a:p>
        </p:txBody>
      </p:sp>
      <p:sp>
        <p:nvSpPr>
          <p:cNvPr id="3" name="Content Placeholder 2"/>
          <p:cNvSpPr>
            <a:spLocks noGrp="1"/>
          </p:cNvSpPr>
          <p:nvPr>
            <p:ph idx="1"/>
          </p:nvPr>
        </p:nvSpPr>
        <p:spPr/>
        <p:txBody>
          <a:bodyPr>
            <a:normAutofit lnSpcReduction="10000"/>
          </a:bodyPr>
          <a:lstStyle/>
          <a:p>
            <a:r>
              <a:rPr lang="en-US"/>
              <a:t>A CSS box model is a compartment that includes numerous assets, such as edge, border, padding and material. It is used to develop the design and structure of a web page. It can be used as a set of tools to personalize the layout of different components.</a:t>
            </a:r>
          </a:p>
          <a:p>
            <a:endParaRPr lang="en-US"/>
          </a:p>
          <a:p>
            <a:r>
              <a:rPr lang="en-US"/>
              <a:t>The </a:t>
            </a:r>
            <a:r>
              <a:rPr lang="en-US">
                <a:hlinkClick r:id="rId2"/>
              </a:rPr>
              <a:t>CSS</a:t>
            </a:r>
            <a:r>
              <a:rPr lang="en-US"/>
              <a:t> box model contains the different properties in CSS. These are listed below.</a:t>
            </a:r>
          </a:p>
          <a:p>
            <a:pPr lvl="1"/>
            <a:r>
              <a:rPr lang="en-US" b="1"/>
              <a:t>Border</a:t>
            </a:r>
            <a:endParaRPr lang="en-US"/>
          </a:p>
          <a:p>
            <a:pPr lvl="1"/>
            <a:r>
              <a:rPr lang="en-US" b="1"/>
              <a:t>Margin</a:t>
            </a:r>
            <a:endParaRPr lang="en-US"/>
          </a:p>
          <a:p>
            <a:pPr lvl="1"/>
            <a:r>
              <a:rPr lang="en-US" b="1"/>
              <a:t>Padding</a:t>
            </a:r>
            <a:endParaRPr lang="en-US"/>
          </a:p>
          <a:p>
            <a:pPr lvl="1"/>
            <a:r>
              <a:rPr lang="en-US" b="1"/>
              <a:t>Content</a:t>
            </a:r>
            <a:endParaRPr lang="en-US"/>
          </a:p>
          <a:p>
            <a:endParaRPr lang="en-US"/>
          </a:p>
        </p:txBody>
      </p:sp>
      <p:sp>
        <p:nvSpPr>
          <p:cNvPr id="4" name="Date Placeholder 3"/>
          <p:cNvSpPr>
            <a:spLocks noGrp="1"/>
          </p:cNvSpPr>
          <p:nvPr>
            <p:ph type="dt" sz="half" idx="4294967295"/>
          </p:nvPr>
        </p:nvSpPr>
        <p:spPr>
          <a:xfrm>
            <a:off x="838200" y="6356350"/>
            <a:ext cx="2743200" cy="365125"/>
          </a:xfrm>
        </p:spPr>
        <p:txBody>
          <a:bodyPr/>
          <a:lstStyle/>
          <a:p>
            <a:pPr>
              <a:defRPr/>
            </a:pPr>
            <a:fld id="{7C774709-785F-457C-9429-4E3DA889C601}" type="datetime3">
              <a:rPr lang="en-US" smtClean="0"/>
              <a:pPr>
                <a:defRPr/>
              </a:pPr>
              <a:t>8 January 2026</a:t>
            </a:fld>
            <a:endParaRPr lang="en-IN"/>
          </a:p>
        </p:txBody>
      </p:sp>
      <p:sp>
        <p:nvSpPr>
          <p:cNvPr id="5" name="Footer Placeholder 4"/>
          <p:cNvSpPr>
            <a:spLocks noGrp="1"/>
          </p:cNvSpPr>
          <p:nvPr>
            <p:ph type="ftr" sz="quarter" idx="4294967295"/>
          </p:nvPr>
        </p:nvSpPr>
        <p:spPr>
          <a:xfrm>
            <a:off x="4038600" y="6356350"/>
            <a:ext cx="4114800" cy="365125"/>
          </a:xfrm>
        </p:spPr>
        <p:txBody>
          <a:bodyPr/>
          <a:lstStyle/>
          <a:p>
            <a:pPr>
              <a:defRPr/>
            </a:pPr>
            <a:r>
              <a:rPr lang="en-IN" dirty="0" smtClean="0"/>
              <a:t> </a:t>
            </a:r>
            <a:endParaRPr lang="en-IN" dirty="0"/>
          </a:p>
        </p:txBody>
      </p:sp>
      <p:sp>
        <p:nvSpPr>
          <p:cNvPr id="6" name="Slide Number Placeholder 5"/>
          <p:cNvSpPr>
            <a:spLocks noGrp="1"/>
          </p:cNvSpPr>
          <p:nvPr>
            <p:ph type="sldNum" sz="quarter" idx="4294967295"/>
          </p:nvPr>
        </p:nvSpPr>
        <p:spPr>
          <a:xfrm>
            <a:off x="8610600" y="6356350"/>
            <a:ext cx="2743200" cy="365125"/>
          </a:xfrm>
        </p:spPr>
        <p:txBody>
          <a:bodyPr/>
          <a:lstStyle/>
          <a:p>
            <a:pPr>
              <a:defRPr/>
            </a:pPr>
            <a:fld id="{DC16FC18-A483-43BC-83D0-C7F7814867AE}" type="slidenum">
              <a:rPr lang="en-IN" smtClean="0"/>
              <a:pPr>
                <a:defRPr/>
              </a:pPr>
              <a:t>128</a:t>
            </a:fld>
            <a:endParaRPr lang="en-IN"/>
          </a:p>
        </p:txBody>
      </p:sp>
    </p:spTree>
    <p:extLst>
      <p:ext uri="{BB962C8B-B14F-4D97-AF65-F5344CB8AC3E}">
        <p14:creationId xmlns:p14="http://schemas.microsoft.com/office/powerpoint/2010/main" val="23384809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4" name="Date Placeholder 3"/>
          <p:cNvSpPr>
            <a:spLocks noGrp="1"/>
          </p:cNvSpPr>
          <p:nvPr>
            <p:ph type="dt" sz="half" idx="4294967295"/>
          </p:nvPr>
        </p:nvSpPr>
        <p:spPr>
          <a:xfrm>
            <a:off x="838200" y="6356350"/>
            <a:ext cx="2743200" cy="365125"/>
          </a:xfrm>
        </p:spPr>
        <p:txBody>
          <a:bodyPr/>
          <a:lstStyle/>
          <a:p>
            <a:pPr>
              <a:defRPr/>
            </a:pPr>
            <a:fld id="{7C774709-785F-457C-9429-4E3DA889C601}" type="datetime3">
              <a:rPr lang="en-US" smtClean="0"/>
              <a:pPr>
                <a:defRPr/>
              </a:pPr>
              <a:t>8 January 2026</a:t>
            </a:fld>
            <a:endParaRPr lang="en-IN"/>
          </a:p>
        </p:txBody>
      </p:sp>
      <p:sp>
        <p:nvSpPr>
          <p:cNvPr id="5" name="Footer Placeholder 4"/>
          <p:cNvSpPr>
            <a:spLocks noGrp="1"/>
          </p:cNvSpPr>
          <p:nvPr>
            <p:ph type="ftr" sz="quarter" idx="4294967295"/>
          </p:nvPr>
        </p:nvSpPr>
        <p:spPr>
          <a:xfrm>
            <a:off x="4038600" y="6356350"/>
            <a:ext cx="4114800" cy="365125"/>
          </a:xfrm>
        </p:spPr>
        <p:txBody>
          <a:bodyPr/>
          <a:lstStyle/>
          <a:p>
            <a:pPr>
              <a:defRPr/>
            </a:pPr>
            <a:r>
              <a:rPr lang="en-IN" dirty="0" smtClean="0"/>
              <a:t> </a:t>
            </a:r>
            <a:endParaRPr lang="en-IN" dirty="0"/>
          </a:p>
        </p:txBody>
      </p:sp>
      <p:sp>
        <p:nvSpPr>
          <p:cNvPr id="6" name="Slide Number Placeholder 5"/>
          <p:cNvSpPr>
            <a:spLocks noGrp="1"/>
          </p:cNvSpPr>
          <p:nvPr>
            <p:ph type="sldNum" sz="quarter" idx="4294967295"/>
          </p:nvPr>
        </p:nvSpPr>
        <p:spPr>
          <a:xfrm>
            <a:off x="8610600" y="6356350"/>
            <a:ext cx="2743200" cy="365125"/>
          </a:xfrm>
        </p:spPr>
        <p:txBody>
          <a:bodyPr/>
          <a:lstStyle/>
          <a:p>
            <a:pPr>
              <a:defRPr/>
            </a:pPr>
            <a:fld id="{DC16FC18-A483-43BC-83D0-C7F7814867AE}" type="slidenum">
              <a:rPr lang="en-IN" smtClean="0"/>
              <a:pPr>
                <a:defRPr/>
              </a:pPr>
              <a:t>129</a:t>
            </a:fld>
            <a:endParaRPr lang="en-IN"/>
          </a:p>
        </p:txBody>
      </p:sp>
      <p:pic>
        <p:nvPicPr>
          <p:cNvPr id="8" name="Picture 7"/>
          <p:cNvPicPr>
            <a:picLocks noChangeAspect="1"/>
          </p:cNvPicPr>
          <p:nvPr/>
        </p:nvPicPr>
        <p:blipFill>
          <a:blip r:embed="rId2"/>
          <a:stretch>
            <a:fillRect/>
          </a:stretch>
        </p:blipFill>
        <p:spPr>
          <a:xfrm>
            <a:off x="148590" y="-80978"/>
            <a:ext cx="12043410" cy="6938978"/>
          </a:xfrm>
          <a:prstGeom prst="rect">
            <a:avLst/>
          </a:prstGeom>
        </p:spPr>
      </p:pic>
    </p:spTree>
    <p:extLst>
      <p:ext uri="{BB962C8B-B14F-4D97-AF65-F5344CB8AC3E}">
        <p14:creationId xmlns:p14="http://schemas.microsoft.com/office/powerpoint/2010/main" val="15438404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975" y="0"/>
            <a:ext cx="10515600" cy="1325563"/>
          </a:xfrm>
        </p:spPr>
        <p:txBody>
          <a:bodyPr/>
          <a:lstStyle/>
          <a:p>
            <a:r>
              <a:rPr lang="en-US" b="0" dirty="0"/>
              <a:t>CSS </a:t>
            </a:r>
            <a:r>
              <a:rPr lang="en-US" b="0" dirty="0" smtClean="0"/>
              <a:t>TEXT and FONT Properties</a:t>
            </a:r>
            <a:endParaRPr lang="en-US" dirty="0"/>
          </a:p>
        </p:txBody>
      </p:sp>
      <p:sp>
        <p:nvSpPr>
          <p:cNvPr id="4" name="Date Placeholder 3"/>
          <p:cNvSpPr>
            <a:spLocks noGrp="1"/>
          </p:cNvSpPr>
          <p:nvPr>
            <p:ph type="dt" sz="half" idx="4294967295"/>
          </p:nvPr>
        </p:nvSpPr>
        <p:spPr>
          <a:xfrm>
            <a:off x="838200" y="6356350"/>
            <a:ext cx="2743200" cy="365125"/>
          </a:xfrm>
        </p:spPr>
        <p:txBody>
          <a:bodyPr/>
          <a:lstStyle/>
          <a:p>
            <a:pPr>
              <a:defRPr/>
            </a:pPr>
            <a:fld id="{7C774709-785F-457C-9429-4E3DA889C601}" type="datetime3">
              <a:rPr lang="en-US" smtClean="0"/>
              <a:pPr>
                <a:defRPr/>
              </a:pPr>
              <a:t>8 January 2026</a:t>
            </a:fld>
            <a:endParaRPr lang="en-IN"/>
          </a:p>
        </p:txBody>
      </p:sp>
      <p:sp>
        <p:nvSpPr>
          <p:cNvPr id="5" name="Footer Placeholder 4"/>
          <p:cNvSpPr>
            <a:spLocks noGrp="1"/>
          </p:cNvSpPr>
          <p:nvPr>
            <p:ph type="ftr" sz="quarter" idx="4294967295"/>
          </p:nvPr>
        </p:nvSpPr>
        <p:spPr>
          <a:xfrm>
            <a:off x="4038600" y="6356350"/>
            <a:ext cx="4114800" cy="365125"/>
          </a:xfrm>
        </p:spPr>
        <p:txBody>
          <a:bodyPr/>
          <a:lstStyle/>
          <a:p>
            <a:pPr>
              <a:defRPr/>
            </a:pPr>
            <a:r>
              <a:rPr lang="en-IN" dirty="0" smtClean="0"/>
              <a:t> </a:t>
            </a:r>
            <a:endParaRPr lang="en-IN" dirty="0"/>
          </a:p>
        </p:txBody>
      </p:sp>
      <p:sp>
        <p:nvSpPr>
          <p:cNvPr id="6" name="Slide Number Placeholder 5"/>
          <p:cNvSpPr>
            <a:spLocks noGrp="1"/>
          </p:cNvSpPr>
          <p:nvPr>
            <p:ph type="sldNum" sz="quarter" idx="4294967295"/>
          </p:nvPr>
        </p:nvSpPr>
        <p:spPr>
          <a:xfrm>
            <a:off x="8610600" y="6356350"/>
            <a:ext cx="2743200" cy="365125"/>
          </a:xfrm>
        </p:spPr>
        <p:txBody>
          <a:bodyPr/>
          <a:lstStyle/>
          <a:p>
            <a:pPr>
              <a:defRPr/>
            </a:pPr>
            <a:fld id="{DC16FC18-A483-43BC-83D0-C7F7814867AE}" type="slidenum">
              <a:rPr lang="en-IN" smtClean="0"/>
              <a:pPr>
                <a:defRPr/>
              </a:pPr>
              <a:t>130</a:t>
            </a:fld>
            <a:endParaRPr lang="en-IN"/>
          </a:p>
        </p:txBody>
      </p:sp>
      <p:pic>
        <p:nvPicPr>
          <p:cNvPr id="7" name="Picture 6"/>
          <p:cNvPicPr>
            <a:picLocks noChangeAspect="1"/>
          </p:cNvPicPr>
          <p:nvPr/>
        </p:nvPicPr>
        <p:blipFill>
          <a:blip r:embed="rId2"/>
          <a:stretch>
            <a:fillRect/>
          </a:stretch>
        </p:blipFill>
        <p:spPr>
          <a:xfrm>
            <a:off x="485217" y="937958"/>
            <a:ext cx="11106707" cy="5076216"/>
          </a:xfrm>
          <a:prstGeom prst="rect">
            <a:avLst/>
          </a:prstGeom>
        </p:spPr>
      </p:pic>
    </p:spTree>
    <p:extLst>
      <p:ext uri="{BB962C8B-B14F-4D97-AF65-F5344CB8AC3E}">
        <p14:creationId xmlns:p14="http://schemas.microsoft.com/office/powerpoint/2010/main" val="850762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975" y="0"/>
            <a:ext cx="10515600" cy="1325563"/>
          </a:xfrm>
        </p:spPr>
        <p:txBody>
          <a:bodyPr/>
          <a:lstStyle/>
          <a:p>
            <a:r>
              <a:rPr lang="en-US" b="0" dirty="0"/>
              <a:t>CSS </a:t>
            </a:r>
            <a:r>
              <a:rPr lang="en-US" b="0" dirty="0" smtClean="0"/>
              <a:t>TEXT and </a:t>
            </a:r>
            <a:r>
              <a:rPr lang="en-US" b="0" smtClean="0"/>
              <a:t>FONT </a:t>
            </a:r>
            <a:r>
              <a:rPr lang="en-US" b="0" smtClean="0"/>
              <a:t>Properties</a:t>
            </a:r>
            <a:endParaRPr lang="en-US" dirty="0"/>
          </a:p>
        </p:txBody>
      </p:sp>
      <p:sp>
        <p:nvSpPr>
          <p:cNvPr id="4" name="Date Placeholder 3"/>
          <p:cNvSpPr>
            <a:spLocks noGrp="1"/>
          </p:cNvSpPr>
          <p:nvPr>
            <p:ph type="dt" sz="half" idx="4294967295"/>
          </p:nvPr>
        </p:nvSpPr>
        <p:spPr>
          <a:xfrm>
            <a:off x="838200" y="6356350"/>
            <a:ext cx="2743200" cy="365125"/>
          </a:xfrm>
        </p:spPr>
        <p:txBody>
          <a:bodyPr/>
          <a:lstStyle/>
          <a:p>
            <a:pPr>
              <a:defRPr/>
            </a:pPr>
            <a:fld id="{7C774709-785F-457C-9429-4E3DA889C601}" type="datetime3">
              <a:rPr lang="en-US" smtClean="0"/>
              <a:pPr>
                <a:defRPr/>
              </a:pPr>
              <a:t>8 January 2026</a:t>
            </a:fld>
            <a:endParaRPr lang="en-IN"/>
          </a:p>
        </p:txBody>
      </p:sp>
      <p:sp>
        <p:nvSpPr>
          <p:cNvPr id="5" name="Footer Placeholder 4"/>
          <p:cNvSpPr>
            <a:spLocks noGrp="1"/>
          </p:cNvSpPr>
          <p:nvPr>
            <p:ph type="ftr" sz="quarter" idx="4294967295"/>
          </p:nvPr>
        </p:nvSpPr>
        <p:spPr>
          <a:xfrm>
            <a:off x="4038600" y="6356350"/>
            <a:ext cx="4114800" cy="365125"/>
          </a:xfrm>
        </p:spPr>
        <p:txBody>
          <a:bodyPr/>
          <a:lstStyle/>
          <a:p>
            <a:pPr>
              <a:defRPr/>
            </a:pPr>
            <a:r>
              <a:rPr lang="en-IN" dirty="0" smtClean="0"/>
              <a:t> </a:t>
            </a:r>
            <a:endParaRPr lang="en-IN" dirty="0"/>
          </a:p>
        </p:txBody>
      </p:sp>
      <p:sp>
        <p:nvSpPr>
          <p:cNvPr id="6" name="Slide Number Placeholder 5"/>
          <p:cNvSpPr>
            <a:spLocks noGrp="1"/>
          </p:cNvSpPr>
          <p:nvPr>
            <p:ph type="sldNum" sz="quarter" idx="4294967295"/>
          </p:nvPr>
        </p:nvSpPr>
        <p:spPr>
          <a:xfrm>
            <a:off x="8610600" y="6356350"/>
            <a:ext cx="2743200" cy="365125"/>
          </a:xfrm>
        </p:spPr>
        <p:txBody>
          <a:bodyPr/>
          <a:lstStyle/>
          <a:p>
            <a:pPr>
              <a:defRPr/>
            </a:pPr>
            <a:fld id="{DC16FC18-A483-43BC-83D0-C7F7814867AE}" type="slidenum">
              <a:rPr lang="en-IN" smtClean="0"/>
              <a:pPr>
                <a:defRPr/>
              </a:pPr>
              <a:t>131</a:t>
            </a:fld>
            <a:endParaRPr lang="en-IN"/>
          </a:p>
        </p:txBody>
      </p:sp>
      <p:pic>
        <p:nvPicPr>
          <p:cNvPr id="3" name="Picture 2"/>
          <p:cNvPicPr>
            <a:picLocks noChangeAspect="1"/>
          </p:cNvPicPr>
          <p:nvPr/>
        </p:nvPicPr>
        <p:blipFill>
          <a:blip r:embed="rId2"/>
          <a:stretch>
            <a:fillRect/>
          </a:stretch>
        </p:blipFill>
        <p:spPr>
          <a:xfrm>
            <a:off x="1330831" y="1063099"/>
            <a:ext cx="9530338" cy="5475813"/>
          </a:xfrm>
          <a:prstGeom prst="rect">
            <a:avLst/>
          </a:prstGeom>
        </p:spPr>
      </p:pic>
    </p:spTree>
    <p:extLst>
      <p:ext uri="{BB962C8B-B14F-4D97-AF65-F5344CB8AC3E}">
        <p14:creationId xmlns:p14="http://schemas.microsoft.com/office/powerpoint/2010/main" val="17222393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TM03090430[[fn=Banded]]</Template>
  <TotalTime>1659</TotalTime>
  <Words>6440</Words>
  <Application>Microsoft Office PowerPoint</Application>
  <PresentationFormat>Widescreen</PresentationFormat>
  <Paragraphs>1303</Paragraphs>
  <Slides>131</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131</vt:i4>
      </vt:variant>
    </vt:vector>
  </HeadingPairs>
  <TitlesOfParts>
    <vt:vector size="141" baseType="lpstr">
      <vt:lpstr>Arial Unicode MS</vt:lpstr>
      <vt:lpstr>Arial</vt:lpstr>
      <vt:lpstr>Calibri</vt:lpstr>
      <vt:lpstr>Calibri Light</vt:lpstr>
      <vt:lpstr>Consolas</vt:lpstr>
      <vt:lpstr>DejaVu Sans</vt:lpstr>
      <vt:lpstr>Times New Roman</vt:lpstr>
      <vt:lpstr>Wingdings</vt:lpstr>
      <vt:lpstr>等线</vt:lpstr>
      <vt:lpstr>Office Theme</vt:lpstr>
      <vt:lpstr>Module No. 1</vt:lpstr>
      <vt:lpstr>Internet</vt:lpstr>
      <vt:lpstr>Web page</vt:lpstr>
      <vt:lpstr>Website</vt:lpstr>
      <vt:lpstr>Client/Server Architecture</vt:lpstr>
      <vt:lpstr>Internet vs. Web</vt:lpstr>
      <vt:lpstr>How does the Internet Work?</vt:lpstr>
      <vt:lpstr>The Internet Protocol (IP)</vt:lpstr>
      <vt:lpstr>The Internet Protocol (IP)</vt:lpstr>
      <vt:lpstr>Transmission Control Protocol (TCP)</vt:lpstr>
      <vt:lpstr>Uses of the Internet</vt:lpstr>
      <vt:lpstr>World wide web</vt:lpstr>
      <vt:lpstr>WWW</vt:lpstr>
      <vt:lpstr>Static Websites</vt:lpstr>
      <vt:lpstr>Dynamic Websites</vt:lpstr>
      <vt:lpstr>Web Browser</vt:lpstr>
      <vt:lpstr>Domain Name Service</vt:lpstr>
      <vt:lpstr>DNS</vt:lpstr>
      <vt:lpstr>Uniform Resource Locator (URL)</vt:lpstr>
      <vt:lpstr>Uniform Resource Locator (URL)</vt:lpstr>
      <vt:lpstr>PowerPoint Presentation</vt:lpstr>
      <vt:lpstr>Web Programming Languages</vt:lpstr>
      <vt:lpstr>PowerPoint Presentation</vt:lpstr>
      <vt:lpstr>Introduction to HTML 5</vt:lpstr>
      <vt:lpstr>PowerPoint Presentation</vt:lpstr>
      <vt:lpstr>PowerPoint Presentation</vt:lpstr>
      <vt:lpstr>                 Why use HTML5 </vt:lpstr>
      <vt:lpstr>syntax</vt:lpstr>
      <vt:lpstr>   HTML5-Syntax</vt:lpstr>
      <vt:lpstr>Text Formatting Tags</vt:lpstr>
      <vt:lpstr>Heading Tags…</vt:lpstr>
      <vt:lpstr> &lt;img/video&gt; Tag  </vt:lpstr>
      <vt:lpstr>HTML Links – &lt;a&gt; tag </vt:lpstr>
      <vt:lpstr>LISTS</vt:lpstr>
      <vt:lpstr>1. Unordered lists</vt:lpstr>
      <vt:lpstr>Example</vt:lpstr>
      <vt:lpstr>2. Ordered Lists</vt:lpstr>
      <vt:lpstr>Example:</vt:lpstr>
      <vt:lpstr>3. Definition Lists</vt:lpstr>
      <vt:lpstr>Example:</vt:lpstr>
      <vt:lpstr>Tables</vt:lpstr>
      <vt:lpstr>Cont ..</vt:lpstr>
      <vt:lpstr>Cellpadding and Cellspacing Attributes</vt:lpstr>
      <vt:lpstr>Colspan and Rowspan Attributes</vt:lpstr>
      <vt:lpstr>PowerPoint Presentation</vt:lpstr>
      <vt:lpstr>PowerPoint Presentation</vt:lpstr>
      <vt:lpstr>PowerPoint Presentation</vt:lpstr>
      <vt:lpstr>Frames</vt:lpstr>
      <vt:lpstr>iframe</vt:lpstr>
      <vt:lpstr>FORMS</vt:lpstr>
      <vt:lpstr>PowerPoint Presentation</vt:lpstr>
      <vt:lpstr>FORMS</vt:lpstr>
      <vt:lpstr>HTML Form Controls or Elements</vt:lpstr>
      <vt:lpstr>Text Input Controls</vt:lpstr>
      <vt:lpstr>Cont … </vt:lpstr>
      <vt:lpstr>Example</vt:lpstr>
      <vt:lpstr>OUTPUT:</vt:lpstr>
      <vt:lpstr>Radio Buttons  </vt:lpstr>
      <vt:lpstr>PowerPoint Presentation</vt:lpstr>
      <vt:lpstr>Checkboxes</vt:lpstr>
      <vt:lpstr>Example</vt:lpstr>
      <vt:lpstr>Select Box </vt:lpstr>
      <vt:lpstr>Example</vt:lpstr>
      <vt:lpstr>Output</vt:lpstr>
      <vt:lpstr>File Select boxes</vt:lpstr>
      <vt:lpstr>File Select boxes</vt:lpstr>
      <vt:lpstr>Button Controls</vt:lpstr>
      <vt:lpstr>PowerPoint Presentation</vt:lpstr>
      <vt:lpstr>Fieldsets &amp; Labels</vt:lpstr>
      <vt:lpstr>PowerPoint Presentation</vt:lpstr>
      <vt:lpstr>&lt;marquee&gt; tag</vt:lpstr>
      <vt:lpstr>&lt;marquees&gt; tag</vt:lpstr>
      <vt:lpstr>EVENTS</vt:lpstr>
      <vt:lpstr>PowerPoint Presentation</vt:lpstr>
      <vt:lpstr>PowerPoint Presentation</vt:lpstr>
      <vt:lpstr>PowerPoint Presentation</vt:lpstr>
      <vt:lpstr>    SVG (Scalable Vector Graphics) </vt:lpstr>
      <vt:lpstr>PowerPoint Presentation</vt:lpstr>
      <vt:lpstr>PowerPoint Presentation</vt:lpstr>
      <vt:lpstr>PowerPoint Presentation</vt:lpstr>
      <vt:lpstr>Geolocations</vt:lpstr>
      <vt:lpstr>Geolocations</vt:lpstr>
      <vt:lpstr>Geolocations</vt:lpstr>
      <vt:lpstr>Semantic Elements</vt:lpstr>
      <vt:lpstr>How CSS is different from HTML? </vt:lpstr>
      <vt:lpstr>CSS Syntax </vt:lpstr>
      <vt:lpstr>CSS (Cascading Style Sheets) </vt:lpstr>
      <vt:lpstr>CSS</vt:lpstr>
      <vt:lpstr>Inline Style Sheet</vt:lpstr>
      <vt:lpstr>Example Program</vt:lpstr>
      <vt:lpstr>Internal Style Sheet</vt:lpstr>
      <vt:lpstr>Example</vt:lpstr>
      <vt:lpstr>External CSS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CSS Align</vt:lpstr>
      <vt:lpstr>CSS Align</vt:lpstr>
      <vt:lpstr>CSS Margin</vt:lpstr>
      <vt:lpstr>CSS Margin</vt:lpstr>
      <vt:lpstr>CSS Background</vt:lpstr>
      <vt:lpstr>CSS background-color</vt:lpstr>
      <vt:lpstr>Example</vt:lpstr>
      <vt:lpstr>CSS background-image </vt:lpstr>
      <vt:lpstr>CSS background-repeat </vt:lpstr>
      <vt:lpstr>CSS background-attachment </vt:lpstr>
      <vt:lpstr>CSS background-position </vt:lpstr>
      <vt:lpstr>CSS Border</vt:lpstr>
      <vt:lpstr>CSS border-style </vt:lpstr>
      <vt:lpstr>CSS border-width </vt:lpstr>
      <vt:lpstr> CSS border-color </vt:lpstr>
      <vt:lpstr>CSS Grid </vt:lpstr>
      <vt:lpstr>Grid Container</vt:lpstr>
      <vt:lpstr>PowerPoint Presentation</vt:lpstr>
      <vt:lpstr>Grid</vt:lpstr>
      <vt:lpstr>CSS Table </vt:lpstr>
      <vt:lpstr>CSS Table Border </vt:lpstr>
      <vt:lpstr>CSS Table Border Collapse </vt:lpstr>
      <vt:lpstr>CSS Table Padding </vt:lpstr>
      <vt:lpstr>CSS Padding </vt:lpstr>
      <vt:lpstr>CSS Padding Properties  </vt:lpstr>
      <vt:lpstr>CSS Padding Values </vt:lpstr>
      <vt:lpstr>CSS Box Model </vt:lpstr>
      <vt:lpstr>PowerPoint Presentation</vt:lpstr>
      <vt:lpstr>CSS TEXT and FONT Properties</vt:lpstr>
      <vt:lpstr>CSS TEXT and FONT Properties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shaik reehana</dc:creator>
  <cp:lastModifiedBy>BHARATHI</cp:lastModifiedBy>
  <cp:revision>106</cp:revision>
  <dcterms:created xsi:type="dcterms:W3CDTF">2024-12-18T07:49:55Z</dcterms:created>
  <dcterms:modified xsi:type="dcterms:W3CDTF">2026-01-08T03:26:08Z</dcterms:modified>
</cp:coreProperties>
</file>