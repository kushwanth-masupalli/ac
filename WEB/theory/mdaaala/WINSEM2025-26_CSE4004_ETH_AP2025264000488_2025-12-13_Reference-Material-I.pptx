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A16E4-BC8A-B5CF-2396-8765EBBEC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86D41-B115-B524-CCE2-F4A83DE06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519D3-4117-B1FC-DBE8-D6ED900C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DD6C-DCD2-4A7A-BACC-09D3F589356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F126F-BFDA-16C7-B857-C064B708A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64C77-AECC-F808-C5BF-94E2F5F31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4C78-67D0-453A-AEF3-7FCB3545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6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FB68A-EEDC-2508-5664-1DCD6469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1759F-92E4-D798-E473-CE5DB6DB2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A06EB-EA83-3B95-C7DA-2658CAF6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DD6C-DCD2-4A7A-BACC-09D3F589356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95D9A-724A-FE0F-9D07-EDA215D5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87348-CA1C-D02C-C2BC-136287266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4C78-67D0-453A-AEF3-7FCB3545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77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479EA-E41E-FC53-BCA1-FBC6DB418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FDF7D-1BA4-7500-5D41-0E38008A4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681F8-A9D9-620E-C8A0-EFCD0751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DD6C-DCD2-4A7A-BACC-09D3F589356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D66D4-618A-7062-4280-C2498BC52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48928-63E9-F772-0D5A-22681AB0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4C78-67D0-453A-AEF3-7FCB3545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47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EAAB1-C2B6-9BBC-171B-0D1CFB8C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4DA01-788E-0D72-8589-3FD45F201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7A955-FDC1-6810-8713-76EEB47C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F64E0-C2A8-0931-E38C-48E24671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DD6C-DCD2-4A7A-BACC-09D3F589356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30FF1-460D-3FA7-61D2-2A4DF3275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674AB-8020-85C4-762F-FC5088981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4C78-67D0-453A-AEF3-7FCB3545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E3BDD-6B0F-93A3-469E-BBB469A26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9DDCB-771F-079C-3CBF-D5CD09D0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1DB33-FE68-A6B6-9E72-93E7F20D8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8FA786-3727-EB8D-5FCD-8E45E3292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CABFD-ABAD-7D8A-52B0-2B6DF3144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B05BA7-14BA-1ED9-6D14-DC29A708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DD6C-DCD2-4A7A-BACC-09D3F589356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5B41C2-4933-ABE4-430F-B175E9B6A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7BF5E-96BC-6992-02DE-84B076559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4C78-67D0-453A-AEF3-7FCB3545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3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5BD9F-DF46-D915-CFD0-05DDFD881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790E5-5BEA-98C0-46BB-C77A271D9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DD6C-DCD2-4A7A-BACC-09D3F589356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E54B9-F56D-418F-2ACB-C72D62BE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9425C-3994-0DFF-C558-45756E3B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4C78-67D0-453A-AEF3-7FCB3545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0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31599C-EC03-656E-BDDC-7ABDDB10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DD6C-DCD2-4A7A-BACC-09D3F589356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9B53E-2998-E4CA-A7F3-BE7BDA41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B8949-E6AA-975A-F1EC-006C6B1E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4C78-67D0-453A-AEF3-7FCB3545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53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9C15-3340-5079-DDB8-E740617F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D1890-1D4B-3515-C5DE-2B2634B34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82D18-F77F-36B4-3D55-E3CB84DB8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59300-A476-42B8-664B-CB8DB592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DD6C-DCD2-4A7A-BACC-09D3F589356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535FB-D1B7-DB7A-8614-DBD7D37E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63AC5-C8ED-ED3C-9B32-E8AA907DD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4C78-67D0-453A-AEF3-7FCB3545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DFEA-EC6E-1C2B-AB00-D4EB72875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890D2-BFCB-0F57-2D01-02100E2DB3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A28A1-06A1-9D0F-91C4-E73DD98D8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0936F-00C6-1038-9700-7486102E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DD6C-DCD2-4A7A-BACC-09D3F589356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96428-56A7-D603-56BE-499FD4F53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F0987-FC8E-1CCE-DB2C-B9E41CE8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4C78-67D0-453A-AEF3-7FCB3545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0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E6541-6D36-E7F9-4A4F-BE5686E2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B8F32-C644-F4BE-EE15-C92C5CB72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35063-3A8C-4B29-391A-AC4E0719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DD6C-DCD2-4A7A-BACC-09D3F589356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3DBD5-CC5D-DEF5-192E-0ED0ADFE4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DE49A-F31E-D1D5-8AEB-57BCB238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4C78-67D0-453A-AEF3-7FCB3545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4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A80DC3-79EF-64AE-D539-286CA5A89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17607-E621-1184-2B80-F6E7CB982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D11E3-60D2-67DC-EE9F-72A47F979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DD6C-DCD2-4A7A-BACC-09D3F589356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81F2D-2535-F65A-5CD5-50A8CA4A7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4E5EF-E13F-BF33-D143-55B17478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4C78-67D0-453A-AEF3-7FCB3545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9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1DCCE-856F-CA34-9438-1A4088BE5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D8B82-42A7-55F5-5EF2-F6FAEFDAD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F66A3-B7B2-397A-24FE-1A079B49D1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0DD6C-DCD2-4A7A-BACC-09D3F589356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A6F81-9505-950C-B83B-3C0F6B3E1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E1545-0967-F131-42C2-944C7F726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94C78-67D0-453A-AEF3-7FCB3545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6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4652">
              <a:srgbClr val="EEF32D"/>
            </a:gs>
            <a:gs pos="0">
              <a:srgbClr val="FFFF0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81A9-58A7-54F3-AEA2-700B420036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HTML Vs </a:t>
            </a:r>
            <a:r>
              <a:rPr lang="en-IN" dirty="0" err="1"/>
              <a:t>HTML5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521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2A083B05-A7F8-4574-3E32-E30987A09E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" y="8725"/>
            <a:ext cx="12301539" cy="71650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HTML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provided the fundamental structure of web pages using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basic set of tags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and attributes.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HTML5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builds upon this foundation with numerous additions and improvements that support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modern web development needs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, such as responsiveness, interactivity, and multimedia experiences without external plugins.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+mn-lt"/>
            </a:endParaRP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en-US" b="1" dirty="0" err="1">
                <a:latin typeface="+mn-lt"/>
              </a:rPr>
              <a:t>HTML5</a:t>
            </a:r>
            <a:r>
              <a:rPr lang="en-US" b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visually and technically improves HTML by introducing semantic layout, native multimedia, graphics, advanced forms, client-side storage, geolocation, and mobile support, making it ideal for modern, responsive, and high-performance web applications.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For any new web development project, the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HTML5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standard is the recommended approach as it offers enhanced functionality, better accessibility, and is supported by all modern browsers. 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735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DA9D3-A96D-D446-49BF-67CEC6E5E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Doctype Declaration (Browser Identification)</a:t>
            </a:r>
          </a:p>
          <a:p>
            <a:r>
              <a:rPr lang="en-US" dirty="0"/>
              <a:t>Browser needs to know which HTML version the page uses.</a:t>
            </a:r>
          </a:p>
          <a:p>
            <a:pPr marL="0" indent="0">
              <a:buNone/>
            </a:pPr>
            <a:r>
              <a:rPr lang="en-US" b="1" dirty="0"/>
              <a:t>HTML (Older)</a:t>
            </a:r>
          </a:p>
          <a:p>
            <a:r>
              <a:rPr lang="en-US" dirty="0"/>
              <a:t>Long and complex</a:t>
            </a:r>
          </a:p>
          <a:p>
            <a:r>
              <a:rPr lang="en-US" dirty="0"/>
              <a:t>&lt;!DOCTYPE HTML PUBLIC "-//</a:t>
            </a:r>
            <a:r>
              <a:rPr lang="en-US" dirty="0" err="1"/>
              <a:t>W3C</a:t>
            </a:r>
            <a:r>
              <a:rPr lang="en-US" dirty="0"/>
              <a:t>//DTD HTML 4.01 Transitional//EN"&gt;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HTML5</a:t>
            </a:r>
            <a:endParaRPr lang="en-US" b="1" dirty="0"/>
          </a:p>
          <a:p>
            <a:r>
              <a:rPr lang="en-US" dirty="0"/>
              <a:t>Simple and readable</a:t>
            </a:r>
          </a:p>
          <a:p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advantage:</a:t>
            </a:r>
            <a:r>
              <a:rPr lang="en-US" dirty="0"/>
              <a:t> Faster parsing, easier to write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730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F55E4-929B-A628-14DC-BCC5C8566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Page Structure &amp; Semantic Meaning</a:t>
            </a:r>
          </a:p>
          <a:p>
            <a:r>
              <a:rPr lang="en-US" dirty="0"/>
              <a:t>Creating a webpage with header, content, and footer.</a:t>
            </a:r>
          </a:p>
          <a:p>
            <a:pPr marL="0" indent="0">
              <a:buNone/>
            </a:pPr>
            <a:r>
              <a:rPr lang="en-US" b="1" dirty="0"/>
              <a:t>HTML (Using &lt;div&gt;)</a:t>
            </a:r>
          </a:p>
          <a:p>
            <a:r>
              <a:rPr lang="en-US" dirty="0"/>
              <a:t>&lt;div id="header"&gt;My Website&lt;/div&gt;</a:t>
            </a:r>
          </a:p>
          <a:p>
            <a:r>
              <a:rPr lang="en-US" dirty="0"/>
              <a:t>&lt;div id="content"&gt;Welcome&lt;/div&gt;</a:t>
            </a:r>
          </a:p>
          <a:p>
            <a:r>
              <a:rPr lang="en-US" dirty="0"/>
              <a:t>&lt;div id="footer"&gt;Copyright&lt;/div&gt;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(Semantic Tags)</a:t>
            </a:r>
          </a:p>
          <a:p>
            <a:r>
              <a:rPr lang="en-US" dirty="0"/>
              <a:t>&lt;header&gt;My Website&lt;/header&gt;</a:t>
            </a:r>
          </a:p>
          <a:p>
            <a:r>
              <a:rPr lang="en-US" dirty="0"/>
              <a:t>&lt;section&gt;Welcome&lt;/section&gt;</a:t>
            </a:r>
          </a:p>
          <a:p>
            <a:r>
              <a:rPr lang="en-US" dirty="0"/>
              <a:t>&lt;footer&gt;Copyright&lt;/footer&gt;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advantage:</a:t>
            </a:r>
            <a:endParaRPr lang="en-US" dirty="0"/>
          </a:p>
          <a:p>
            <a:r>
              <a:rPr lang="en-US" dirty="0"/>
              <a:t>Better readability</a:t>
            </a:r>
          </a:p>
          <a:p>
            <a:r>
              <a:rPr lang="en-US" dirty="0"/>
              <a:t>Meaningful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443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9489F-44E8-E1DC-DAD7-86C46181B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Audio Support</a:t>
            </a:r>
          </a:p>
          <a:p>
            <a:r>
              <a:rPr lang="en-US" dirty="0"/>
              <a:t>Adding background music or voice content.</a:t>
            </a:r>
          </a:p>
          <a:p>
            <a:pPr marL="0" indent="0">
              <a:buNone/>
            </a:pPr>
            <a:r>
              <a:rPr lang="en-US" b="1" dirty="0"/>
              <a:t>HTML (Not Supported)</a:t>
            </a:r>
          </a:p>
          <a:p>
            <a:r>
              <a:rPr lang="en-US" dirty="0"/>
              <a:t>&lt;!-- Requires Flash plugin --&gt;</a:t>
            </a:r>
          </a:p>
          <a:p>
            <a:r>
              <a:rPr lang="en-US" dirty="0"/>
              <a:t>&lt;object data="</a:t>
            </a:r>
            <a:r>
              <a:rPr lang="en-US" dirty="0" err="1"/>
              <a:t>song.mp3</a:t>
            </a:r>
            <a:r>
              <a:rPr lang="en-US" dirty="0"/>
              <a:t>"&gt;&lt;/object&gt;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(Native Support)</a:t>
            </a:r>
          </a:p>
          <a:p>
            <a:r>
              <a:rPr lang="en-US" dirty="0"/>
              <a:t>&lt;audio controls&gt;</a:t>
            </a:r>
          </a:p>
          <a:p>
            <a:r>
              <a:rPr lang="en-US" dirty="0"/>
              <a:t>  &lt;source </a:t>
            </a:r>
            <a:r>
              <a:rPr lang="en-US" dirty="0" err="1"/>
              <a:t>src</a:t>
            </a:r>
            <a:r>
              <a:rPr lang="en-US" dirty="0"/>
              <a:t>="</a:t>
            </a:r>
            <a:r>
              <a:rPr lang="en-US" dirty="0" err="1"/>
              <a:t>song.mp3</a:t>
            </a:r>
            <a:r>
              <a:rPr lang="en-US" dirty="0"/>
              <a:t>" type="audio/mpeg"&gt;</a:t>
            </a:r>
          </a:p>
          <a:p>
            <a:r>
              <a:rPr lang="en-US" dirty="0"/>
              <a:t>&lt;/audio&gt;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advantage:</a:t>
            </a:r>
            <a:r>
              <a:rPr lang="en-US" dirty="0"/>
              <a:t> No plugins required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2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A87EE-B47D-7CF8-92D8-5C7440C4D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C629D-9F2B-CE50-B418-08B264116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Video Support</a:t>
            </a:r>
          </a:p>
          <a:p>
            <a:r>
              <a:rPr lang="en-US" dirty="0"/>
              <a:t>Embedding lecture videos or tutorials.</a:t>
            </a:r>
          </a:p>
          <a:p>
            <a:pPr marL="0" indent="0">
              <a:buNone/>
            </a:pPr>
            <a:r>
              <a:rPr lang="en-US" b="1" dirty="0"/>
              <a:t>HTML (Plugin Based)</a:t>
            </a:r>
          </a:p>
          <a:p>
            <a:r>
              <a:rPr lang="en-US" dirty="0"/>
              <a:t>&lt;object data="</a:t>
            </a:r>
            <a:r>
              <a:rPr lang="en-US" dirty="0" err="1"/>
              <a:t>video.swf</a:t>
            </a:r>
            <a:r>
              <a:rPr lang="en-US" dirty="0"/>
              <a:t>"&gt;&lt;/object&gt;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HTML5</a:t>
            </a:r>
            <a:endParaRPr lang="en-US" b="1" dirty="0"/>
          </a:p>
          <a:p>
            <a:r>
              <a:rPr lang="en-US" dirty="0"/>
              <a:t>&lt;video controls width="300"&gt;</a:t>
            </a:r>
          </a:p>
          <a:p>
            <a:r>
              <a:rPr lang="en-US" dirty="0"/>
              <a:t>  &lt;source </a:t>
            </a:r>
            <a:r>
              <a:rPr lang="en-US" dirty="0" err="1"/>
              <a:t>src</a:t>
            </a:r>
            <a:r>
              <a:rPr lang="en-US" dirty="0"/>
              <a:t>="</a:t>
            </a:r>
            <a:r>
              <a:rPr lang="en-US" dirty="0" err="1"/>
              <a:t>video.mp4</a:t>
            </a:r>
            <a:r>
              <a:rPr lang="en-US" dirty="0"/>
              <a:t>" type="video/</a:t>
            </a:r>
            <a:r>
              <a:rPr lang="en-US" dirty="0" err="1"/>
              <a:t>mp4</a:t>
            </a:r>
            <a:r>
              <a:rPr lang="en-US" dirty="0"/>
              <a:t>"&gt;</a:t>
            </a:r>
          </a:p>
          <a:p>
            <a:r>
              <a:rPr lang="en-US" dirty="0"/>
              <a:t>&lt;/video&gt;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advantage:</a:t>
            </a:r>
            <a:r>
              <a:rPr lang="en-US" dirty="0"/>
              <a:t> Works on mobile &amp; modern browsers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503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505A5-0025-A1FC-5571-AF619F00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D8B113CF-D693-3BF9-9E50-2C1A76A02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797510"/>
            <a:ext cx="12192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Graphics &amp; Drawing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Drawing shapes, charts, or animations.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HTML (Not Possible)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&lt;!-- No native drawing support --&gt;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HTML5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Canvas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&lt;canvas id="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myCanvas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 width="200" height="100"&gt;&lt;/canvas&gt; &lt;script&gt; let c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document.getElementById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myCanvas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"); let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ctx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c.getContext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2d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");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ctx.fillRect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(20,20,100,50); &lt;/script&gt;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HTML5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advantage: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Built-in graphics support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C2F9363-A3F8-A74E-874C-65811A8CBA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5613" y="1371600"/>
            <a:ext cx="304800" cy="1857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61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9E39F-07F2-7B5F-1482-5AB9A0E3B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AE372-72BA-9473-7E8C-6E8956CAD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Form Input Types</a:t>
            </a:r>
          </a:p>
          <a:p>
            <a:r>
              <a:rPr lang="en-US" dirty="0"/>
              <a:t>Collecting user details accurately.</a:t>
            </a:r>
          </a:p>
          <a:p>
            <a:pPr marL="0" indent="0">
              <a:buNone/>
            </a:pPr>
            <a:r>
              <a:rPr lang="en-US" b="1" dirty="0"/>
              <a:t>HTML (Generic Input)</a:t>
            </a:r>
          </a:p>
          <a:p>
            <a:r>
              <a:rPr lang="en-US" dirty="0"/>
              <a:t>&lt;input type="text"&gt;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(Specific Input Types)</a:t>
            </a:r>
          </a:p>
          <a:p>
            <a:r>
              <a:rPr lang="en-US" dirty="0"/>
              <a:t>&lt;input type="email"&gt;</a:t>
            </a:r>
          </a:p>
          <a:p>
            <a:r>
              <a:rPr lang="en-US" dirty="0"/>
              <a:t>&lt;input type="date"&gt;</a:t>
            </a:r>
          </a:p>
          <a:p>
            <a:r>
              <a:rPr lang="en-US" dirty="0"/>
              <a:t>&lt;input type="number"&gt;</a:t>
            </a:r>
          </a:p>
          <a:p>
            <a:r>
              <a:rPr lang="en-US" dirty="0"/>
              <a:t>&lt;input type="range"&gt;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advantage:</a:t>
            </a:r>
            <a:r>
              <a:rPr lang="en-US" dirty="0"/>
              <a:t> Automatic validation + better </a:t>
            </a:r>
            <a:r>
              <a:rPr lang="en-US" dirty="0" err="1"/>
              <a:t>UX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65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381AC-5FDF-3A09-54D7-023F7984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Form Validation</a:t>
            </a:r>
          </a:p>
          <a:p>
            <a:r>
              <a:rPr lang="en-US" dirty="0"/>
              <a:t>Ensuring correct email entry.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HTML (JavaScript Needed)</a:t>
            </a:r>
          </a:p>
          <a:p>
            <a:r>
              <a:rPr lang="en-US" dirty="0"/>
              <a:t>&lt;script&gt;</a:t>
            </a:r>
          </a:p>
          <a:p>
            <a:r>
              <a:rPr lang="en-US" dirty="0"/>
              <a:t>if(email=="") alert("Enter email");</a:t>
            </a:r>
          </a:p>
          <a:p>
            <a:r>
              <a:rPr lang="en-US" dirty="0"/>
              <a:t>&lt;/script&gt;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(Built-in)</a:t>
            </a:r>
          </a:p>
          <a:p>
            <a:r>
              <a:rPr lang="en-US" dirty="0"/>
              <a:t>&lt;input type="email" required&gt;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advantage:</a:t>
            </a:r>
            <a:r>
              <a:rPr lang="en-US" dirty="0"/>
              <a:t> Less JavaScript, cleaner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809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C9AAC-D9AC-5EBC-5575-EE3F11100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Storage</a:t>
            </a:r>
          </a:p>
          <a:p>
            <a:r>
              <a:rPr lang="en-US" dirty="0"/>
              <a:t>Storing user preferences in browser.</a:t>
            </a:r>
          </a:p>
          <a:p>
            <a:pPr marL="0" indent="0">
              <a:buNone/>
            </a:pPr>
            <a:r>
              <a:rPr lang="en-US" b="1" dirty="0"/>
              <a:t>HTML (Cookies – Small &amp; Slow)</a:t>
            </a:r>
          </a:p>
          <a:p>
            <a:r>
              <a:rPr lang="en-US" dirty="0" err="1"/>
              <a:t>document.cookie</a:t>
            </a:r>
            <a:r>
              <a:rPr lang="en-US" dirty="0"/>
              <a:t> = "user=admin";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– Web Storage</a:t>
            </a:r>
          </a:p>
          <a:p>
            <a:r>
              <a:rPr lang="en-US" dirty="0" err="1"/>
              <a:t>localStorage.setItem</a:t>
            </a:r>
            <a:r>
              <a:rPr lang="en-US" dirty="0"/>
              <a:t>("user", "admin");</a:t>
            </a:r>
          </a:p>
          <a:p>
            <a:r>
              <a:rPr lang="en-US" dirty="0" err="1"/>
              <a:t>sessionStorage.setItem</a:t>
            </a:r>
            <a:r>
              <a:rPr lang="en-US" dirty="0"/>
              <a:t>("theme", "dark");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 err="1"/>
              <a:t>HTML5</a:t>
            </a:r>
            <a:r>
              <a:rPr lang="en-US" b="1" dirty="0"/>
              <a:t> advantage:</a:t>
            </a:r>
            <a:endParaRPr lang="en-US" dirty="0"/>
          </a:p>
          <a:p>
            <a:r>
              <a:rPr lang="en-US" dirty="0"/>
              <a:t>Larger storage</a:t>
            </a:r>
          </a:p>
          <a:p>
            <a:r>
              <a:rPr lang="en-US" dirty="0"/>
              <a:t>Faster</a:t>
            </a:r>
          </a:p>
          <a:p>
            <a:r>
              <a:rPr lang="en-US" dirty="0"/>
              <a:t>More secure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955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5231A-B22F-9597-2117-5EDAB33A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Offline Web Applications</a:t>
            </a:r>
          </a:p>
          <a:p>
            <a:r>
              <a:rPr lang="en-US" dirty="0"/>
              <a:t>Website should work without internet.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HTML</a:t>
            </a:r>
          </a:p>
          <a:p>
            <a:r>
              <a:rPr lang="en-US" dirty="0"/>
              <a:t>Not supported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HTML5</a:t>
            </a:r>
            <a:endParaRPr lang="en-US" b="1" dirty="0"/>
          </a:p>
          <a:p>
            <a:r>
              <a:rPr lang="en-US" dirty="0"/>
              <a:t>&lt;html manifest="</a:t>
            </a:r>
            <a:r>
              <a:rPr lang="en-US" dirty="0" err="1"/>
              <a:t>app.appcache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advantage:</a:t>
            </a:r>
            <a:r>
              <a:rPr lang="en-US" dirty="0"/>
              <a:t> Offline access for apps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102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C31D5-B0E8-7B0F-3908-A2FF423B4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Geolocation</a:t>
            </a:r>
          </a:p>
          <a:p>
            <a:r>
              <a:rPr lang="en-US" dirty="0"/>
              <a:t>Finding user location for maps or delivery.</a:t>
            </a:r>
          </a:p>
          <a:p>
            <a:pPr marL="0" indent="0">
              <a:buNone/>
            </a:pPr>
            <a:r>
              <a:rPr lang="en-US" b="1" dirty="0"/>
              <a:t>HTML</a:t>
            </a:r>
          </a:p>
          <a:p>
            <a:r>
              <a:rPr lang="en-US" dirty="0"/>
              <a:t>Not supported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HTML5</a:t>
            </a:r>
            <a:endParaRPr lang="en-US" b="1" dirty="0"/>
          </a:p>
          <a:p>
            <a:r>
              <a:rPr lang="en-US" dirty="0"/>
              <a:t>&lt;script&gt;</a:t>
            </a:r>
          </a:p>
          <a:p>
            <a:r>
              <a:rPr lang="en-US" dirty="0" err="1"/>
              <a:t>navigator.geolocation.getCurrentPosition</a:t>
            </a:r>
            <a:r>
              <a:rPr lang="en-US" dirty="0"/>
              <a:t>(</a:t>
            </a:r>
          </a:p>
          <a:p>
            <a:r>
              <a:rPr lang="en-US" dirty="0"/>
              <a:t>  position =&gt; alert(</a:t>
            </a:r>
            <a:r>
              <a:rPr lang="en-US" dirty="0" err="1"/>
              <a:t>position.coords.latitude</a:t>
            </a:r>
            <a:r>
              <a:rPr lang="en-US" dirty="0"/>
              <a:t>)</a:t>
            </a:r>
          </a:p>
          <a:p>
            <a:r>
              <a:rPr lang="en-US" dirty="0"/>
              <a:t>);</a:t>
            </a:r>
          </a:p>
          <a:p>
            <a:r>
              <a:rPr lang="en-US" dirty="0"/>
              <a:t>&lt;/script&gt;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advantage:</a:t>
            </a:r>
            <a:r>
              <a:rPr lang="en-US" dirty="0"/>
              <a:t> Location-based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142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24D3B-E614-7CEF-21B0-3A8B2D055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Mobile &amp; Responsive Support</a:t>
            </a:r>
          </a:p>
          <a:p>
            <a:r>
              <a:rPr lang="en-US" dirty="0"/>
              <a:t>Website should work on mobile devices.</a:t>
            </a:r>
          </a:p>
          <a:p>
            <a:pPr marL="0" indent="0">
              <a:buNone/>
            </a:pPr>
            <a:r>
              <a:rPr lang="en-US" b="1" dirty="0"/>
              <a:t>HTML</a:t>
            </a:r>
          </a:p>
          <a:p>
            <a:r>
              <a:rPr lang="en-US" dirty="0"/>
              <a:t>Not mobile-friendly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endParaRPr lang="en-US" b="1" dirty="0"/>
          </a:p>
          <a:p>
            <a:r>
              <a:rPr lang="en-US" dirty="0"/>
              <a:t>&lt;meta name="viewport" content="width=device-width, initial-scale=1.0"&gt;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advantage:</a:t>
            </a:r>
            <a:r>
              <a:rPr lang="en-US" dirty="0"/>
              <a:t> Mobile-first design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Performance &amp; Plugins</a:t>
            </a:r>
          </a:p>
          <a:p>
            <a:pPr marL="0" indent="0">
              <a:buNone/>
            </a:pPr>
            <a:r>
              <a:rPr lang="en-US" b="1" dirty="0"/>
              <a:t>HTML</a:t>
            </a:r>
          </a:p>
          <a:p>
            <a:r>
              <a:rPr lang="en-US" dirty="0"/>
              <a:t>Depends on Flash, Java Applets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endParaRPr lang="en-US" b="1" dirty="0"/>
          </a:p>
          <a:p>
            <a:r>
              <a:rPr lang="en-US" dirty="0"/>
              <a:t>Plugin-free architecture</a:t>
            </a:r>
          </a:p>
          <a:p>
            <a:r>
              <a:rPr lang="en-US" dirty="0"/>
              <a:t>&lt;!-- No plugins needed --&gt;</a:t>
            </a:r>
          </a:p>
          <a:p>
            <a:r>
              <a:rPr lang="en-US" dirty="0"/>
              <a:t>&lt;video&gt;&lt;/video&gt;</a:t>
            </a:r>
          </a:p>
          <a:p>
            <a:r>
              <a:rPr lang="en-US" dirty="0"/>
              <a:t>&lt;audio&gt;&lt;/audio&gt;</a:t>
            </a:r>
          </a:p>
          <a:p>
            <a:pPr marL="0" indent="0">
              <a:buNone/>
            </a:pPr>
            <a:r>
              <a:rPr lang="en-US" b="1" dirty="0" err="1"/>
              <a:t>HTML5</a:t>
            </a:r>
            <a:r>
              <a:rPr lang="en-US" b="1" dirty="0"/>
              <a:t> advantage:</a:t>
            </a:r>
            <a:r>
              <a:rPr lang="en-US" dirty="0"/>
              <a:t> Faster &amp; secure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795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A705F7-6F99-1F01-CE07-6C368DFAE0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6300163"/>
              </p:ext>
            </p:extLst>
          </p:nvPr>
        </p:nvGraphicFramePr>
        <p:xfrm>
          <a:off x="652463" y="1638141"/>
          <a:ext cx="10515600" cy="29260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979597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113307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87984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91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Semantic Tags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7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Audio/Video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627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Canvas/SVG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66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Form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0893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Cookies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519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Offline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479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Mobile Friendly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414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792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796</Words>
  <Application>Microsoft Office PowerPoint</Application>
  <PresentationFormat>Widescreen</PresentationFormat>
  <Paragraphs>165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HTML Vs HTML5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 Madala</dc:creator>
  <cp:lastModifiedBy>Guru Madala</cp:lastModifiedBy>
  <cp:revision>3</cp:revision>
  <dcterms:created xsi:type="dcterms:W3CDTF">2025-12-16T05:10:31Z</dcterms:created>
  <dcterms:modified xsi:type="dcterms:W3CDTF">2025-12-16T09:15:02Z</dcterms:modified>
</cp:coreProperties>
</file>