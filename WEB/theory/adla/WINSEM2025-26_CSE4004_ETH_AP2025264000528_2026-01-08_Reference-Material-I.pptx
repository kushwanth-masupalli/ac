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3"/>
    <p:sldId id="257" r:id="rId4"/>
    <p:sldId id="330" r:id="rId5"/>
    <p:sldId id="336" r:id="rId6"/>
    <p:sldId id="337" r:id="rId7"/>
    <p:sldId id="338" r:id="rId8"/>
    <p:sldId id="331" r:id="rId9"/>
    <p:sldId id="332" r:id="rId10"/>
    <p:sldId id="333" r:id="rId11"/>
    <p:sldId id="334" r:id="rId12"/>
    <p:sldId id="335" r:id="rId13"/>
    <p:sldId id="339" r:id="rId14"/>
    <p:sldId id="340" r:id="rId15"/>
    <p:sldId id="341" r:id="rId16"/>
    <p:sldId id="329" r:id="rId17"/>
    <p:sldId id="342" r:id="rId18"/>
    <p:sldId id="343" r:id="rId19"/>
    <p:sldId id="344" r:id="rId20"/>
    <p:sldId id="345" r:id="rId21"/>
    <p:sldId id="346" r:id="rId22"/>
    <p:sldId id="347" r:id="rId23"/>
    <p:sldId id="27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eela j" initials="sj"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94" y="11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0BB9DE-4883-40DF-955D-F285507BDA0E}"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0B3FD9A-2878-4272-B8C4-9A043A3F6FB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r>
              <a:rPr lang="en-US"/>
              <a:t>Dr. Adla Padma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r>
              <a:rPr lang="en-US"/>
              <a:t>Dr. Adla Padma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r>
              <a:rPr lang="en-US"/>
              <a:t>Dr. Adla Padma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r>
              <a:rPr lang="en-US"/>
              <a:t>Dr. Adla Padma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r>
              <a:rPr lang="en-US"/>
              <a:t>Dr. Adla Padma</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r>
              <a:rPr lang="en-US"/>
              <a:t>Dr. Adla Padma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r>
              <a:rPr lang="en-US"/>
              <a:t>Dr. Adla Padma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r>
              <a:rPr lang="en-US"/>
              <a:t>Dr. Adla Padma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r>
              <a:rPr lang="en-US"/>
              <a:t>Dr. Adla Padma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r>
              <a:rPr lang="en-US"/>
              <a:t>Dr. Adla Padma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r>
              <a:rPr lang="en-US"/>
              <a:t>Dr. Adla Padma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Adla Padma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189865"/>
            <a:ext cx="8686800" cy="6439535"/>
          </a:xfrm>
          <a:ln>
            <a:solidFill>
              <a:srgbClr val="C00000"/>
            </a:solidFill>
          </a:ln>
        </p:spPr>
        <p:txBody>
          <a:bodyPr>
            <a:normAutofit fontScale="25000" lnSpcReduction="20000"/>
          </a:bodyPr>
          <a:lstStyle/>
          <a:p>
            <a:endParaRPr lang="en-US" sz="4500" b="1" u="sng" dirty="0">
              <a:solidFill>
                <a:schemeClr val="accent2">
                  <a:lumMod val="50000"/>
                </a:schemeClr>
              </a:solidFill>
              <a:latin typeface="+mj-lt"/>
            </a:endParaRPr>
          </a:p>
          <a:p>
            <a:endParaRPr lang="en-US" sz="4500" b="1" u="sng" dirty="0">
              <a:solidFill>
                <a:schemeClr val="accent2">
                  <a:lumMod val="50000"/>
                </a:schemeClr>
              </a:solidFill>
              <a:latin typeface="+mj-lt"/>
            </a:endParaRPr>
          </a:p>
          <a:p>
            <a:endParaRPr lang="en-US" sz="2800" b="1" dirty="0">
              <a:solidFill>
                <a:schemeClr val="tx1"/>
              </a:solidFill>
              <a:latin typeface="+mj-lt"/>
            </a:endParaRPr>
          </a:p>
          <a:p>
            <a:endParaRPr lang="en-US" sz="2800" b="1" dirty="0">
              <a:solidFill>
                <a:schemeClr val="tx1"/>
              </a:solidFill>
              <a:latin typeface="+mj-lt"/>
            </a:endParaRPr>
          </a:p>
          <a:p>
            <a:endParaRPr lang="en-US" sz="2800" b="1" dirty="0">
              <a:solidFill>
                <a:schemeClr val="tx1"/>
              </a:solidFill>
              <a:latin typeface="+mj-lt"/>
            </a:endParaRPr>
          </a:p>
          <a:p>
            <a:r>
              <a:rPr lang="en-US" altLang="en-US" sz="14400" b="1" u="sng" dirty="0">
                <a:solidFill>
                  <a:srgbClr val="C00000"/>
                </a:solidFill>
                <a:latin typeface="Times New Roman" panose="02020603050405020304" pitchFamily="18" charset="0"/>
                <a:cs typeface="Times New Roman" panose="02020603050405020304" pitchFamily="18" charset="0"/>
              </a:rPr>
              <a:t>Web Technologies</a:t>
            </a:r>
            <a:r>
              <a:rPr lang="en-IN" altLang="en-US" sz="14400" b="1" u="sng" dirty="0">
                <a:solidFill>
                  <a:srgbClr val="C00000"/>
                </a:solidFill>
                <a:latin typeface="Times New Roman" panose="02020603050405020304" pitchFamily="18" charset="0"/>
                <a:cs typeface="Times New Roman" panose="02020603050405020304" pitchFamily="18" charset="0"/>
              </a:rPr>
              <a:t> - CSE4004</a:t>
            </a:r>
            <a:endParaRPr lang="en-US" sz="14400" b="1" dirty="0">
              <a:solidFill>
                <a:srgbClr val="002060"/>
              </a:solidFill>
              <a:latin typeface="Times New Roman" panose="02020603050405020304" pitchFamily="18" charset="0"/>
              <a:cs typeface="Times New Roman" panose="02020603050405020304" pitchFamily="18" charset="0"/>
            </a:endParaRPr>
          </a:p>
          <a:p>
            <a:endParaRPr lang="en-US" sz="9000" b="1" dirty="0">
              <a:solidFill>
                <a:srgbClr val="002060"/>
              </a:solidFill>
              <a:latin typeface="Times New Roman" panose="02020603050405020304" pitchFamily="18" charset="0"/>
              <a:cs typeface="Times New Roman" panose="02020603050405020304" pitchFamily="18" charset="0"/>
            </a:endParaRPr>
          </a:p>
          <a:p>
            <a:endParaRPr lang="en-IN" sz="8600" b="1" dirty="0">
              <a:solidFill>
                <a:srgbClr val="0000FF"/>
              </a:solidFill>
              <a:effectLst/>
              <a:latin typeface="Arial Black" panose="020B0A04020102020204" pitchFamily="34" charset="0"/>
              <a:ea typeface="Calibri" panose="020F0502020204030204" pitchFamily="34" charset="0"/>
            </a:endParaRPr>
          </a:p>
          <a:p>
            <a:endParaRPr lang="en-IN" sz="8600" b="1" dirty="0">
              <a:solidFill>
                <a:srgbClr val="0000FF"/>
              </a:solidFill>
              <a:effectLst/>
              <a:latin typeface="Arial Black" panose="020B0A04020102020204" pitchFamily="34" charset="0"/>
              <a:ea typeface="Calibri" panose="020F0502020204030204" pitchFamily="34" charset="0"/>
            </a:endParaRPr>
          </a:p>
          <a:p>
            <a:r>
              <a:rPr lang="en-IN" sz="8600" b="1" dirty="0">
                <a:solidFill>
                  <a:srgbClr val="0000FF"/>
                </a:solidFill>
                <a:effectLst/>
                <a:latin typeface="Arial Black" panose="020B0A04020102020204" pitchFamily="34" charset="0"/>
                <a:ea typeface="Calibri" panose="020F0502020204030204" pitchFamily="34" charset="0"/>
              </a:rPr>
              <a:t>Module No-1</a:t>
            </a:r>
            <a:r>
              <a:rPr lang="en-IN" sz="6200" b="1" dirty="0">
                <a:solidFill>
                  <a:srgbClr val="0000FF"/>
                </a:solidFill>
                <a:effectLst/>
                <a:latin typeface="Arial Black" panose="020B0A04020102020204" pitchFamily="34" charset="0"/>
                <a:ea typeface="Calibri" panose="020F0502020204030204" pitchFamily="34" charset="0"/>
              </a:rPr>
              <a:t> : </a:t>
            </a:r>
            <a:r>
              <a:rPr lang="en-US" altLang="en-US" sz="9600" dirty="0">
                <a:solidFill>
                  <a:srgbClr val="7030A0"/>
                </a:solidFill>
                <a:effectLst/>
                <a:latin typeface="Arial Black" panose="020B0A04020102020204" pitchFamily="34" charset="0"/>
                <a:ea typeface="Calibri" panose="020F0502020204030204" pitchFamily="34" charset="0"/>
              </a:rPr>
              <a:t>Introduction to Web Design</a:t>
            </a:r>
            <a:endParaRPr lang="en-US" altLang="en-US" sz="9600" dirty="0">
              <a:solidFill>
                <a:srgbClr val="7030A0"/>
              </a:solidFill>
              <a:effectLst/>
              <a:latin typeface="Arial Black" panose="020B0A04020102020204" pitchFamily="34" charset="0"/>
              <a:ea typeface="Calibri" panose="020F0502020204030204" pitchFamily="34" charset="0"/>
            </a:endParaRPr>
          </a:p>
          <a:p>
            <a:endParaRPr lang="en-IN" sz="6200" dirty="0">
              <a:solidFill>
                <a:srgbClr val="7030A0"/>
              </a:solidFill>
              <a:effectLst/>
              <a:latin typeface="Arial Black" panose="020B0A04020102020204" pitchFamily="34" charset="0"/>
              <a:ea typeface="Calibri" panose="020F0502020204030204" pitchFamily="34" charset="0"/>
            </a:endParaRPr>
          </a:p>
          <a:p>
            <a:pPr algn="just"/>
            <a:r>
              <a:rPr lang="en-IN" altLang="en-US" sz="9600" dirty="0">
                <a:solidFill>
                  <a:schemeClr val="accent6"/>
                </a:solidFill>
                <a:latin typeface="Times New Roman" panose="02020603050405020304" pitchFamily="18" charset="0"/>
                <a:cs typeface="Times New Roman" panose="02020603050405020304" pitchFamily="18" charset="0"/>
              </a:rPr>
              <a:t>Part-1</a:t>
            </a:r>
            <a:endParaRPr lang="en-US" altLang="en-US" sz="9600" dirty="0">
              <a:solidFill>
                <a:schemeClr val="accent6"/>
              </a:solidFill>
              <a:latin typeface="Times New Roman" panose="02020603050405020304" pitchFamily="18" charset="0"/>
              <a:cs typeface="Times New Roman" panose="02020603050405020304" pitchFamily="18" charset="0"/>
            </a:endParaRPr>
          </a:p>
          <a:p>
            <a:pPr algn="just"/>
            <a:endParaRPr lang="en-US" altLang="en-US" sz="9600" dirty="0">
              <a:solidFill>
                <a:schemeClr val="accent6"/>
              </a:solidFill>
              <a:latin typeface="Times New Roman" panose="02020603050405020304" pitchFamily="18" charset="0"/>
              <a:cs typeface="Times New Roman" panose="02020603050405020304" pitchFamily="18" charset="0"/>
            </a:endParaRPr>
          </a:p>
          <a:p>
            <a:pPr algn="just"/>
            <a:r>
              <a:rPr lang="en-US" altLang="en-US" sz="9600" dirty="0">
                <a:solidFill>
                  <a:schemeClr val="accent6"/>
                </a:solidFill>
                <a:latin typeface="Times New Roman" panose="02020603050405020304" pitchFamily="18" charset="0"/>
                <a:cs typeface="Times New Roman" panose="02020603050405020304" pitchFamily="18" charset="0"/>
              </a:rPr>
              <a:t>Introduction to HTML 5, syntax, attributes, events, SVG, Web storage, Introduction to Canvas,  Audio &amp; Video, Geolocations, Drag &amp; Drop, Web workers, working with Fonts, working with other graphics. </a:t>
            </a:r>
            <a:endParaRPr lang="en-US" altLang="en-US" sz="9600" dirty="0">
              <a:solidFill>
                <a:schemeClr val="accent6"/>
              </a:solidFill>
              <a:latin typeface="Times New Roman" panose="02020603050405020304" pitchFamily="18" charset="0"/>
              <a:cs typeface="Times New Roman" panose="02020603050405020304" pitchFamily="18" charset="0"/>
            </a:endParaRPr>
          </a:p>
          <a:p>
            <a:r>
              <a:rPr lang="en-US" sz="3600" b="1">
                <a:solidFill>
                  <a:schemeClr val="tx1"/>
                </a:solidFill>
                <a:latin typeface="Arial Rounded MT Bold" panose="020F0704030504030204" pitchFamily="34" charset="0"/>
                <a:cs typeface="Times New Roman" panose="02020603050405020304" pitchFamily="18" charset="0"/>
              </a:rPr>
              <a:t>                                                                                                                                                                                                                                    </a:t>
            </a:r>
            <a:endParaRPr lang="en-US" sz="5500" b="1" dirty="0">
              <a:solidFill>
                <a:schemeClr val="tx1"/>
              </a:solidFill>
              <a:latin typeface="AngsanaUPC" pitchFamily="18" charset="-34"/>
              <a:cs typeface="AngsanaUPC" pitchFamily="18" charset="-34"/>
            </a:endParaRPr>
          </a:p>
          <a:p>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50178" name="AutoShape 2" descr="SBI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1026" name="Picture 2" descr="Overview – VIT-A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434340"/>
            <a:ext cx="7086600" cy="105473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p:cNvSpPr>
            <a:spLocks noGrp="1"/>
          </p:cNvSpPr>
          <p:nvPr>
            <p:ph type="ftr" sz="quarter" idx="11"/>
          </p:nvPr>
        </p:nvSpPr>
        <p:spPr/>
        <p:txBody>
          <a:bodyPr/>
          <a:p>
            <a:r>
              <a:rPr lang="en-US"/>
              <a:t>Dr. Adla Padma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a:ln>
            <a:solidFill>
              <a:srgbClr val="C00000"/>
            </a:solidFill>
          </a:ln>
        </p:spPr>
        <p:txBody>
          <a:bodyPr>
            <a:normAutofit/>
          </a:bodyPr>
          <a:lstStyle/>
          <a:p>
            <a:pPr marL="0" lvl="0" indent="0" algn="just">
              <a:lnSpc>
                <a:spcPct val="115000"/>
              </a:lnSpc>
              <a:spcAft>
                <a:spcPts val="1000"/>
              </a:spcAft>
              <a:buNone/>
            </a:pPr>
            <a:r>
              <a:rPr lang="en-IN" sz="2800" b="1" dirty="0">
                <a:solidFill>
                  <a:srgbClr val="0000FF"/>
                </a:solidFill>
                <a:latin typeface="Times New Roman" panose="02020603050405020304" pitchFamily="18" charset="0"/>
                <a:ea typeface="Calibri" panose="020F0502020204030204" pitchFamily="34" charset="0"/>
              </a:rPr>
              <a:t>Course </a:t>
            </a:r>
            <a:r>
              <a:rPr lang="en-IN" sz="2800" b="1" dirty="0">
                <a:solidFill>
                  <a:srgbClr val="0000FF"/>
                </a:solidFill>
                <a:effectLst/>
                <a:latin typeface="Times New Roman" panose="02020603050405020304" pitchFamily="18" charset="0"/>
                <a:ea typeface="Calibri" panose="020F0502020204030204" pitchFamily="34" charset="0"/>
              </a:rPr>
              <a:t>Objectives:</a:t>
            </a:r>
            <a:endParaRPr lang="en-US" sz="2800" kern="15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r>
              <a:rPr lang="en-US" altLang="en-US" sz="2800" kern="150" dirty="0">
                <a:effectLst/>
                <a:latin typeface="Calibri" panose="020F0502020204030204" pitchFamily="34" charset="0"/>
                <a:ea typeface="Calibri" panose="020F0502020204030204" pitchFamily="34" charset="0"/>
                <a:cs typeface="Times New Roman" panose="02020603050405020304" pitchFamily="18" charset="0"/>
              </a:rPr>
              <a:t>Understand state-of-the-art in </a:t>
            </a:r>
            <a:r>
              <a:rPr lang="en-US" altLang="en-US" sz="2800" kern="15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Client-side application</a:t>
            </a:r>
            <a:r>
              <a:rPr lang="en-US" altLang="en-US" sz="2800" kern="150" dirty="0">
                <a:effectLst/>
                <a:latin typeface="Calibri" panose="020F0502020204030204" pitchFamily="34" charset="0"/>
                <a:ea typeface="Calibri" panose="020F0502020204030204" pitchFamily="34" charset="0"/>
                <a:cs typeface="Times New Roman" panose="02020603050405020304" pitchFamily="18" charset="0"/>
              </a:rPr>
              <a:t> development web technologies, architectures, and applications. </a:t>
            </a:r>
            <a:endParaRPr lang="en-US" altLang="en-US" sz="2800" kern="15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r>
              <a:rPr lang="en-US" altLang="en-US" sz="2800" kern="150" dirty="0">
                <a:effectLst/>
                <a:latin typeface="Calibri" panose="020F0502020204030204" pitchFamily="34" charset="0"/>
                <a:ea typeface="Calibri" panose="020F0502020204030204" pitchFamily="34" charset="0"/>
                <a:cs typeface="Times New Roman" panose="02020603050405020304" pitchFamily="18" charset="0"/>
              </a:rPr>
              <a:t>To get hands on experience on various </a:t>
            </a:r>
            <a:r>
              <a:rPr lang="en-US" altLang="en-US" sz="2800" kern="15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Full Stack Development tools</a:t>
            </a:r>
            <a:r>
              <a:rPr lang="en-US" altLang="en-US" sz="2800" kern="150" dirty="0">
                <a:effectLst/>
                <a:latin typeface="Calibri" panose="020F0502020204030204" pitchFamily="34" charset="0"/>
                <a:ea typeface="Calibri" panose="020F0502020204030204" pitchFamily="34" charset="0"/>
                <a:cs typeface="Times New Roman" panose="02020603050405020304" pitchFamily="18" charset="0"/>
              </a:rPr>
              <a:t> and techniques.</a:t>
            </a:r>
            <a:endParaRPr lang="en-US" altLang="en-US" sz="2800" kern="15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r>
              <a:rPr lang="en-US" altLang="en-US" sz="2800" kern="150" dirty="0">
                <a:effectLst/>
                <a:latin typeface="Calibri" panose="020F0502020204030204" pitchFamily="34" charset="0"/>
                <a:ea typeface="Calibri" panose="020F0502020204030204" pitchFamily="34" charset="0"/>
                <a:cs typeface="Times New Roman" panose="02020603050405020304" pitchFamily="18" charset="0"/>
              </a:rPr>
              <a:t>To understand </a:t>
            </a:r>
            <a:r>
              <a:rPr lang="en-US" altLang="en-US" sz="2800" kern="15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Java script ES6 features to perform CRUD operations</a:t>
            </a:r>
            <a:endParaRPr lang="en-US" altLang="en-US" sz="2800" kern="15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p:cNvSpPr>
            <a:spLocks noGrp="1"/>
          </p:cNvSpPr>
          <p:nvPr>
            <p:ph type="ftr" sz="quarter" idx="11"/>
          </p:nvPr>
        </p:nvSpPr>
        <p:spPr/>
        <p:txBody>
          <a:bodyPr/>
          <a:p>
            <a:r>
              <a:rPr lang="en-US"/>
              <a:t>Dr. Adla Padma</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B64220-B09A-480D-A219-EE829AF6DE82}" type="datetime1">
              <a:rPr lang="en-IN" sz="900" smtClean="0"/>
            </a:fld>
            <a:endParaRPr lang="en-IN" sz="900"/>
          </a:p>
        </p:txBody>
      </p:sp>
      <p:sp>
        <p:nvSpPr>
          <p:cNvPr id="5" name="AutoShape 2" descr="blob:https://web.whatsapp.com/7c132392-5c8c-4796-b5f8-d845b7c51a0f"/>
          <p:cNvSpPr>
            <a:spLocks noChangeAspect="1" noChangeArrowheads="1"/>
          </p:cNvSpPr>
          <p:nvPr/>
        </p:nvSpPr>
        <p:spPr bwMode="auto">
          <a:xfrm>
            <a:off x="116681" y="7489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IN" sz="1350"/>
          </a:p>
        </p:txBody>
      </p:sp>
      <p:pic>
        <p:nvPicPr>
          <p:cNvPr id="6" name="Picture 5"/>
          <p:cNvPicPr>
            <a:picLocks noChangeAspect="1"/>
          </p:cNvPicPr>
          <p:nvPr/>
        </p:nvPicPr>
        <p:blipFill>
          <a:blip r:embed="rId1"/>
          <a:stretch>
            <a:fillRect/>
          </a:stretch>
        </p:blipFill>
        <p:spPr>
          <a:xfrm>
            <a:off x="609600" y="911860"/>
            <a:ext cx="7701280" cy="3075940"/>
          </a:xfrm>
          <a:prstGeom prst="rect">
            <a:avLst/>
          </a:prstGeom>
          <a:ln>
            <a:solidFill>
              <a:srgbClr val="C00000"/>
            </a:solidFill>
          </a:ln>
        </p:spPr>
      </p:pic>
      <p:sp>
        <p:nvSpPr>
          <p:cNvPr id="3" name="Text Box 2"/>
          <p:cNvSpPr txBox="1"/>
          <p:nvPr/>
        </p:nvSpPr>
        <p:spPr>
          <a:xfrm>
            <a:off x="762000" y="152400"/>
            <a:ext cx="5401310" cy="1322070"/>
          </a:xfrm>
          <a:prstGeom prst="rect">
            <a:avLst/>
          </a:prstGeom>
          <a:noFill/>
        </p:spPr>
        <p:txBody>
          <a:bodyPr wrap="square" rtlCol="0">
            <a:spAutoFit/>
          </a:bodyPr>
          <a:p>
            <a:r>
              <a:rPr lang="en-US" sz="4000" dirty="0">
                <a:latin typeface="Times New Roman" panose="02020603050405020304" pitchFamily="18" charset="0"/>
                <a:cs typeface="Times New Roman" panose="02020603050405020304" pitchFamily="18" charset="0"/>
                <a:sym typeface="+mn-ea"/>
              </a:rPr>
              <a:t>Web Essentials</a:t>
            </a:r>
            <a:endParaRPr lang="en-US" sz="4000" dirty="0">
              <a:latin typeface="Times New Roman" panose="02020603050405020304" pitchFamily="18" charset="0"/>
              <a:cs typeface="Times New Roman" panose="02020603050405020304" pitchFamily="18" charset="0"/>
            </a:endParaRPr>
          </a:p>
          <a:p>
            <a:endParaRPr lang="en-US" sz="400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609600" y="3962400"/>
            <a:ext cx="7701280" cy="2200275"/>
          </a:xfrm>
          <a:prstGeom prst="rect">
            <a:avLst/>
          </a:prstGeom>
          <a:ln>
            <a:solidFill>
              <a:srgbClr val="C00000"/>
            </a:solid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r>
              <a:rPr lang="en-US"/>
              <a:t>Dr. Adla Padma</a:t>
            </a:r>
            <a:endParaRPr lang="en-US"/>
          </a:p>
        </p:txBody>
      </p:sp>
      <p:pic>
        <p:nvPicPr>
          <p:cNvPr id="3" name="Picture 2"/>
          <p:cNvPicPr>
            <a:picLocks noChangeAspect="1"/>
          </p:cNvPicPr>
          <p:nvPr/>
        </p:nvPicPr>
        <p:blipFill>
          <a:blip r:embed="rId1"/>
          <a:stretch>
            <a:fillRect/>
          </a:stretch>
        </p:blipFill>
        <p:spPr>
          <a:xfrm>
            <a:off x="381000" y="533400"/>
            <a:ext cx="7783830" cy="2118360"/>
          </a:xfrm>
          <a:prstGeom prst="rect">
            <a:avLst/>
          </a:prstGeom>
        </p:spPr>
      </p:pic>
      <p:pic>
        <p:nvPicPr>
          <p:cNvPr id="4" name="Picture 3"/>
          <p:cNvPicPr>
            <a:picLocks noChangeAspect="1"/>
          </p:cNvPicPr>
          <p:nvPr/>
        </p:nvPicPr>
        <p:blipFill>
          <a:blip r:embed="rId2"/>
          <a:stretch>
            <a:fillRect/>
          </a:stretch>
        </p:blipFill>
        <p:spPr>
          <a:xfrm>
            <a:off x="381000" y="2743200"/>
            <a:ext cx="8065135" cy="3512820"/>
          </a:xfrm>
          <a:prstGeom prst="rect">
            <a:avLst/>
          </a:prstGeom>
        </p:spPr>
      </p:pic>
      <p:sp>
        <p:nvSpPr>
          <p:cNvPr id="5" name="Text Box 4"/>
          <p:cNvSpPr txBox="1"/>
          <p:nvPr/>
        </p:nvSpPr>
        <p:spPr>
          <a:xfrm>
            <a:off x="255905" y="385445"/>
            <a:ext cx="8244205" cy="5961380"/>
          </a:xfrm>
          <a:prstGeom prst="rect">
            <a:avLst/>
          </a:prstGeom>
          <a:noFill/>
          <a:ln>
            <a:solidFill>
              <a:srgbClr val="C00000"/>
            </a:solidFill>
          </a:ln>
        </p:spPr>
        <p:txBody>
          <a:bodyPr wrap="square" rtlCol="0">
            <a:noAutofit/>
          </a:bodyPr>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r>
              <a:rPr lang="en-US"/>
              <a:t>Dr. Adla Padma</a:t>
            </a:r>
            <a:endParaRPr lang="en-US"/>
          </a:p>
        </p:txBody>
      </p:sp>
      <p:pic>
        <p:nvPicPr>
          <p:cNvPr id="6" name="Picture 5"/>
          <p:cNvPicPr>
            <a:picLocks noChangeAspect="1"/>
          </p:cNvPicPr>
          <p:nvPr/>
        </p:nvPicPr>
        <p:blipFill>
          <a:blip r:embed="rId1"/>
          <a:stretch>
            <a:fillRect/>
          </a:stretch>
        </p:blipFill>
        <p:spPr>
          <a:xfrm>
            <a:off x="586740" y="617220"/>
            <a:ext cx="7748270" cy="5395595"/>
          </a:xfrm>
          <a:prstGeom prst="rect">
            <a:avLst/>
          </a:prstGeom>
          <a:ln>
            <a:solidFill>
              <a:srgbClr val="C00000"/>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r>
              <a:rPr lang="en-US"/>
              <a:t>Dr. Adla Padma</a:t>
            </a:r>
            <a:endParaRPr lang="en-US"/>
          </a:p>
        </p:txBody>
      </p:sp>
      <p:pic>
        <p:nvPicPr>
          <p:cNvPr id="3" name="Picture 2"/>
          <p:cNvPicPr>
            <a:picLocks noChangeAspect="1"/>
          </p:cNvPicPr>
          <p:nvPr/>
        </p:nvPicPr>
        <p:blipFill>
          <a:blip r:embed="rId1"/>
          <a:stretch>
            <a:fillRect/>
          </a:stretch>
        </p:blipFill>
        <p:spPr>
          <a:xfrm>
            <a:off x="457200" y="381000"/>
            <a:ext cx="8010525" cy="3429635"/>
          </a:xfrm>
          <a:prstGeom prst="rect">
            <a:avLst/>
          </a:prstGeom>
        </p:spPr>
      </p:pic>
      <p:pic>
        <p:nvPicPr>
          <p:cNvPr id="4" name="Picture 3"/>
          <p:cNvPicPr>
            <a:picLocks noChangeAspect="1"/>
          </p:cNvPicPr>
          <p:nvPr/>
        </p:nvPicPr>
        <p:blipFill>
          <a:blip r:embed="rId2"/>
          <a:stretch>
            <a:fillRect/>
          </a:stretch>
        </p:blipFill>
        <p:spPr>
          <a:xfrm>
            <a:off x="685800" y="3810000"/>
            <a:ext cx="7428865" cy="2336165"/>
          </a:xfrm>
          <a:prstGeom prst="rect">
            <a:avLst/>
          </a:prstGeom>
        </p:spPr>
      </p:pic>
      <p:sp>
        <p:nvSpPr>
          <p:cNvPr id="5" name="Text Box 4"/>
          <p:cNvSpPr txBox="1"/>
          <p:nvPr/>
        </p:nvSpPr>
        <p:spPr>
          <a:xfrm>
            <a:off x="371475" y="315595"/>
            <a:ext cx="8096885" cy="5854700"/>
          </a:xfrm>
          <a:prstGeom prst="rect">
            <a:avLst/>
          </a:prstGeom>
          <a:noFill/>
          <a:ln>
            <a:solidFill>
              <a:srgbClr val="C00000"/>
            </a:solidFill>
          </a:ln>
        </p:spPr>
        <p:txBody>
          <a:bodyPr wrap="square" rtlCol="0">
            <a:noAutofit/>
          </a:bodyPr>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6CCB26-08CA-442D-B29C-11C43E01DB0A}" type="datetime1">
              <a:rPr lang="en-IN" sz="900" smtClean="0"/>
            </a:fld>
            <a:endParaRPr lang="en-IN" sz="900"/>
          </a:p>
        </p:txBody>
      </p:sp>
      <p:sp>
        <p:nvSpPr>
          <p:cNvPr id="5" name="AutoShape 2" descr="blob:https://web.whatsapp.com/a9c5e7d4-35b3-4b69-8bde-30ea71f9541c"/>
          <p:cNvSpPr>
            <a:spLocks noChangeAspect="1" noChangeArrowheads="1"/>
          </p:cNvSpPr>
          <p:nvPr/>
        </p:nvSpPr>
        <p:spPr bwMode="auto">
          <a:xfrm>
            <a:off x="116681" y="74890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IN" sz="1350"/>
          </a:p>
        </p:txBody>
      </p:sp>
      <p:pic>
        <p:nvPicPr>
          <p:cNvPr id="6" name="Picture 5"/>
          <p:cNvPicPr>
            <a:picLocks noChangeAspect="1"/>
          </p:cNvPicPr>
          <p:nvPr/>
        </p:nvPicPr>
        <p:blipFill>
          <a:blip r:embed="rId1"/>
          <a:stretch>
            <a:fillRect/>
          </a:stretch>
        </p:blipFill>
        <p:spPr>
          <a:xfrm>
            <a:off x="214630" y="734060"/>
            <a:ext cx="8715375" cy="4890770"/>
          </a:xfrm>
          <a:prstGeom prst="rect">
            <a:avLst/>
          </a:prstGeom>
          <a:ln>
            <a:solidFill>
              <a:srgbClr val="C00000"/>
            </a:solid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405F15-A889-43BC-959E-90096EF923AB}" type="datetime1">
              <a:rPr lang="en-IN" sz="900" smtClean="0"/>
            </a:fld>
            <a:endParaRPr lang="en-IN" sz="900"/>
          </a:p>
        </p:txBody>
      </p:sp>
      <p:pic>
        <p:nvPicPr>
          <p:cNvPr id="5" name="Picture 4"/>
          <p:cNvPicPr>
            <a:picLocks noChangeAspect="1"/>
          </p:cNvPicPr>
          <p:nvPr/>
        </p:nvPicPr>
        <p:blipFill>
          <a:blip r:embed="rId1"/>
          <a:stretch>
            <a:fillRect/>
          </a:stretch>
        </p:blipFill>
        <p:spPr>
          <a:xfrm>
            <a:off x="214313" y="1287065"/>
            <a:ext cx="8715375" cy="4436269"/>
          </a:xfrm>
          <a:prstGeom prst="rect">
            <a:avLst/>
          </a:prstGeom>
          <a:ln>
            <a:solidFill>
              <a:srgbClr val="C00000"/>
            </a:solid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10EDD7-45E9-4DA8-9BAE-5E23C9599405}" type="datetime1">
              <a:rPr lang="en-IN" sz="900" smtClean="0"/>
            </a:fld>
            <a:endParaRPr lang="en-IN" sz="900"/>
          </a:p>
        </p:txBody>
      </p:sp>
      <p:pic>
        <p:nvPicPr>
          <p:cNvPr id="5" name="Picture 4"/>
          <p:cNvPicPr>
            <a:picLocks noChangeAspect="1"/>
          </p:cNvPicPr>
          <p:nvPr/>
        </p:nvPicPr>
        <p:blipFill>
          <a:blip r:embed="rId1"/>
          <a:stretch>
            <a:fillRect/>
          </a:stretch>
        </p:blipFill>
        <p:spPr>
          <a:xfrm>
            <a:off x="289322" y="1122722"/>
            <a:ext cx="8565356" cy="4445832"/>
          </a:xfrm>
          <a:prstGeom prst="rect">
            <a:avLst/>
          </a:prstGeom>
          <a:ln>
            <a:solidFill>
              <a:srgbClr val="C00000"/>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7A6BE-DC65-4B37-BEF6-F0D20EA9D776}" type="datetime1">
              <a:rPr lang="en-IN" sz="900" smtClean="0"/>
            </a:fld>
            <a:endParaRPr lang="en-IN" sz="900"/>
          </a:p>
        </p:txBody>
      </p:sp>
      <p:pic>
        <p:nvPicPr>
          <p:cNvPr id="5" name="Picture 4"/>
          <p:cNvPicPr>
            <a:picLocks noChangeAspect="1"/>
          </p:cNvPicPr>
          <p:nvPr/>
        </p:nvPicPr>
        <p:blipFill>
          <a:blip r:embed="rId1"/>
          <a:stretch>
            <a:fillRect/>
          </a:stretch>
        </p:blipFill>
        <p:spPr>
          <a:xfrm>
            <a:off x="214313" y="1243013"/>
            <a:ext cx="8715375" cy="4371975"/>
          </a:xfrm>
          <a:prstGeom prst="rect">
            <a:avLst/>
          </a:prstGeom>
          <a:ln>
            <a:solidFill>
              <a:srgbClr val="C00000"/>
            </a:solidFill>
          </a:ln>
        </p:spPr>
      </p:pic>
      <p:sp>
        <p:nvSpPr>
          <p:cNvPr id="6" name="TextBox 5"/>
          <p:cNvSpPr txBox="1"/>
          <p:nvPr/>
        </p:nvSpPr>
        <p:spPr>
          <a:xfrm>
            <a:off x="4723175" y="2151423"/>
            <a:ext cx="3044825" cy="368300"/>
          </a:xfrm>
          <a:prstGeom prst="rect">
            <a:avLst/>
          </a:prstGeom>
          <a:noFill/>
        </p:spPr>
        <p:txBody>
          <a:bodyPr wrap="none" rtlCol="0">
            <a:spAutoFit/>
          </a:bodyPr>
          <a:lstStyle/>
          <a:p>
            <a:r>
              <a:rPr lang="en-US" dirty="0" smtClean="0"/>
              <a:t>(World </a:t>
            </a:r>
            <a:r>
              <a:rPr lang="en-US" dirty="0"/>
              <a:t>Wide Web </a:t>
            </a:r>
            <a:r>
              <a:rPr lang="en-US" dirty="0" smtClean="0"/>
              <a:t>Consortium)</a:t>
            </a:r>
            <a:endParaRPr lang="en-IN"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D78AA4-ACDF-4330-BB64-39A85D637FD2}" type="datetime1">
              <a:rPr lang="en-IN" sz="900" smtClean="0"/>
            </a:fld>
            <a:endParaRPr lang="en-IN" sz="900"/>
          </a:p>
        </p:txBody>
      </p:sp>
      <p:pic>
        <p:nvPicPr>
          <p:cNvPr id="5" name="Picture 4"/>
          <p:cNvPicPr>
            <a:picLocks noChangeAspect="1"/>
          </p:cNvPicPr>
          <p:nvPr/>
        </p:nvPicPr>
        <p:blipFill>
          <a:blip r:embed="rId1"/>
          <a:stretch>
            <a:fillRect/>
          </a:stretch>
        </p:blipFill>
        <p:spPr>
          <a:xfrm>
            <a:off x="214313" y="1232297"/>
            <a:ext cx="8715375" cy="4393406"/>
          </a:xfrm>
          <a:prstGeom prst="rect">
            <a:avLst/>
          </a:prstGeom>
          <a:ln>
            <a:solidFill>
              <a:srgbClr val="C00000"/>
            </a:solid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r>
              <a:rPr lang="en-US"/>
              <a:t>Dr. Adla Padma</a:t>
            </a:r>
            <a:endParaRPr lang="en-US"/>
          </a:p>
        </p:txBody>
      </p:sp>
      <p:pic>
        <p:nvPicPr>
          <p:cNvPr id="3" name="Picture 2"/>
          <p:cNvPicPr>
            <a:picLocks noChangeAspect="1"/>
          </p:cNvPicPr>
          <p:nvPr/>
        </p:nvPicPr>
        <p:blipFill>
          <a:blip r:embed="rId1"/>
          <a:stretch>
            <a:fillRect/>
          </a:stretch>
        </p:blipFill>
        <p:spPr>
          <a:xfrm>
            <a:off x="685800" y="914400"/>
            <a:ext cx="7391400" cy="4301490"/>
          </a:xfrm>
          <a:prstGeom prst="rect">
            <a:avLst/>
          </a:prstGeom>
          <a:ln>
            <a:solidFill>
              <a:srgbClr val="C00000"/>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11824"/>
            <a:ext cx="7886700" cy="367230"/>
          </a:xfrm>
        </p:spPr>
        <p:txBody>
          <a:bodyPr>
            <a:normAutofit fontScale="90000"/>
          </a:bodyPr>
          <a:lstStyle/>
          <a:p>
            <a:r>
              <a:rPr lang="en-US" dirty="0"/>
              <a:t>Paired/Non-Paired</a:t>
            </a:r>
            <a:endParaRPr lang="en-IN" dirty="0"/>
          </a:p>
        </p:txBody>
      </p:sp>
      <p:graphicFrame>
        <p:nvGraphicFramePr>
          <p:cNvPr id="4" name="Content Placeholder 3"/>
          <p:cNvGraphicFramePr>
            <a:graphicFrameLocks noGrp="1"/>
          </p:cNvGraphicFramePr>
          <p:nvPr>
            <p:ph idx="1"/>
          </p:nvPr>
        </p:nvGraphicFramePr>
        <p:xfrm>
          <a:off x="819978" y="1505778"/>
          <a:ext cx="6978015" cy="4077970"/>
        </p:xfrm>
        <a:graphic>
          <a:graphicData uri="http://schemas.openxmlformats.org/drawingml/2006/table">
            <a:tbl>
              <a:tblPr/>
              <a:tblGrid>
                <a:gridCol w="2326005"/>
                <a:gridCol w="2326005"/>
                <a:gridCol w="2326005"/>
              </a:tblGrid>
              <a:tr h="246380">
                <a:tc>
                  <a:txBody>
                    <a:bodyPr/>
                    <a:lstStyle/>
                    <a:p>
                      <a:pPr algn="r"/>
                      <a:r>
                        <a:rPr lang="en-IN" sz="1350" b="1" dirty="0">
                          <a:solidFill>
                            <a:srgbClr val="FF0000"/>
                          </a:solidFill>
                        </a:rPr>
                        <a:t>&lt;html&gt;</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a:solidFill>
                            <a:srgbClr val="FF0000"/>
                          </a:solidFill>
                        </a:rPr>
                        <a:t>begins html file</a:t>
                      </a:r>
                      <a:endParaRPr lang="en-IN" sz="135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i="1">
                          <a:solidFill>
                            <a:srgbClr val="FF0000"/>
                          </a:solidFill>
                        </a:rPr>
                        <a:t>paired</a:t>
                      </a:r>
                      <a:endParaRPr lang="en-IN" sz="1350">
                        <a:solidFill>
                          <a:srgbClr val="FF0000"/>
                        </a:solidFill>
                      </a:endParaRPr>
                    </a:p>
                  </a:txBody>
                  <a:tcPr marL="25697" marR="25697" marT="12848" marB="12848" anchor="ctr">
                    <a:lnL>
                      <a:noFill/>
                    </a:lnL>
                    <a:lnR>
                      <a:noFill/>
                    </a:lnR>
                    <a:lnT>
                      <a:noFill/>
                    </a:lnT>
                    <a:lnB>
                      <a:noFill/>
                    </a:lnB>
                    <a:solidFill>
                      <a:srgbClr val="FFFFB0"/>
                    </a:solidFill>
                  </a:tcPr>
                </a:tc>
              </a:tr>
              <a:tr h="246380">
                <a:tc>
                  <a:txBody>
                    <a:bodyPr/>
                    <a:lstStyle/>
                    <a:p>
                      <a:pPr algn="r"/>
                      <a:r>
                        <a:rPr lang="en-IN" sz="1350" b="1" dirty="0">
                          <a:solidFill>
                            <a:srgbClr val="FF0000"/>
                          </a:solidFill>
                        </a:rPr>
                        <a:t>&lt;head&gt;</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US" sz="1350">
                          <a:solidFill>
                            <a:srgbClr val="FF0000"/>
                          </a:solidFill>
                        </a:rPr>
                        <a:t>first section of html file</a:t>
                      </a:r>
                      <a:endParaRPr lang="en-US" sz="135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i="1">
                          <a:solidFill>
                            <a:srgbClr val="FF0000"/>
                          </a:solidFill>
                        </a:rPr>
                        <a:t>paired</a:t>
                      </a:r>
                      <a:endParaRPr lang="en-IN" sz="1350">
                        <a:solidFill>
                          <a:srgbClr val="FF0000"/>
                        </a:solidFill>
                      </a:endParaRPr>
                    </a:p>
                  </a:txBody>
                  <a:tcPr marL="25697" marR="25697" marT="12848" marB="12848" anchor="ctr">
                    <a:lnL>
                      <a:noFill/>
                    </a:lnL>
                    <a:lnR>
                      <a:noFill/>
                    </a:lnR>
                    <a:lnT>
                      <a:noFill/>
                    </a:lnT>
                    <a:lnB>
                      <a:noFill/>
                    </a:lnB>
                    <a:solidFill>
                      <a:srgbClr val="FFFFB0"/>
                    </a:solidFill>
                  </a:tcPr>
                </a:tc>
              </a:tr>
              <a:tr h="247015">
                <a:tc>
                  <a:txBody>
                    <a:bodyPr/>
                    <a:lstStyle/>
                    <a:p>
                      <a:pPr algn="r"/>
                      <a:r>
                        <a:rPr lang="en-IN" sz="1350" b="1" dirty="0">
                          <a:solidFill>
                            <a:srgbClr val="FF0000"/>
                          </a:solidFill>
                        </a:rPr>
                        <a:t>&lt;body&gt;</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US" sz="1350" dirty="0">
                          <a:solidFill>
                            <a:srgbClr val="FF0000"/>
                          </a:solidFill>
                        </a:rPr>
                        <a:t>second, main section of html file</a:t>
                      </a:r>
                      <a:endParaRPr lang="en-US"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i="1">
                          <a:solidFill>
                            <a:srgbClr val="FF0000"/>
                          </a:solidFill>
                        </a:rPr>
                        <a:t>paired</a:t>
                      </a:r>
                      <a:endParaRPr lang="en-IN" sz="1350">
                        <a:solidFill>
                          <a:srgbClr val="FF0000"/>
                        </a:solidFill>
                      </a:endParaRPr>
                    </a:p>
                  </a:txBody>
                  <a:tcPr marL="25697" marR="25697" marT="12848" marB="12848" anchor="ctr">
                    <a:lnL>
                      <a:noFill/>
                    </a:lnL>
                    <a:lnR>
                      <a:noFill/>
                    </a:lnR>
                    <a:lnT>
                      <a:noFill/>
                    </a:lnT>
                    <a:lnB>
                      <a:noFill/>
                    </a:lnB>
                    <a:solidFill>
                      <a:srgbClr val="FFFFB0"/>
                    </a:solidFill>
                  </a:tcPr>
                </a:tc>
              </a:tr>
              <a:tr h="436880">
                <a:tc>
                  <a:txBody>
                    <a:bodyPr/>
                    <a:lstStyle/>
                    <a:p>
                      <a:pPr algn="r"/>
                      <a:r>
                        <a:rPr lang="en-IN" sz="1350" b="1">
                          <a:solidFill>
                            <a:srgbClr val="FF0000"/>
                          </a:solidFill>
                        </a:rPr>
                        <a:t>&lt;title&gt;</a:t>
                      </a:r>
                      <a:endParaRPr lang="en-IN" sz="135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US" sz="1350" dirty="0">
                          <a:solidFill>
                            <a:srgbClr val="FF0000"/>
                          </a:solidFill>
                        </a:rPr>
                        <a:t>within HEAD - title goes in top bar</a:t>
                      </a:r>
                      <a:endParaRPr lang="en-US"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i="1" dirty="0">
                          <a:solidFill>
                            <a:srgbClr val="FF0000"/>
                          </a:solidFill>
                        </a:rPr>
                        <a:t>paired</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r>
              <a:tr h="246380">
                <a:tc>
                  <a:txBody>
                    <a:bodyPr/>
                    <a:lstStyle/>
                    <a:p>
                      <a:pPr algn="r"/>
                      <a:r>
                        <a:rPr lang="en-IN" sz="1350" b="1" dirty="0">
                          <a:solidFill>
                            <a:srgbClr val="FF0000"/>
                          </a:solidFill>
                        </a:rPr>
                        <a:t>&lt;p&gt;</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dirty="0">
                          <a:solidFill>
                            <a:srgbClr val="FF0000"/>
                          </a:solidFill>
                        </a:rPr>
                        <a:t>paragraph</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i="1" dirty="0">
                          <a:solidFill>
                            <a:srgbClr val="FF0000"/>
                          </a:solidFill>
                        </a:rPr>
                        <a:t>paired</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r>
              <a:tr h="246380">
                <a:tc>
                  <a:txBody>
                    <a:bodyPr/>
                    <a:lstStyle/>
                    <a:p>
                      <a:pPr algn="r"/>
                      <a:r>
                        <a:rPr lang="en-IN" sz="1350" b="1"/>
                        <a:t>&lt;br&gt;</a:t>
                      </a:r>
                      <a:endParaRPr lang="en-IN" sz="1350"/>
                    </a:p>
                  </a:txBody>
                  <a:tcPr marL="25697" marR="25697" marT="12848" marB="12848" anchor="ctr">
                    <a:lnL>
                      <a:noFill/>
                    </a:lnL>
                    <a:lnR>
                      <a:noFill/>
                    </a:lnR>
                    <a:lnT>
                      <a:noFill/>
                    </a:lnT>
                    <a:lnB>
                      <a:noFill/>
                    </a:lnB>
                    <a:solidFill>
                      <a:srgbClr val="FFFFB0"/>
                    </a:solidFill>
                  </a:tcPr>
                </a:tc>
                <a:tc>
                  <a:txBody>
                    <a:bodyPr/>
                    <a:lstStyle/>
                    <a:p>
                      <a:r>
                        <a:rPr lang="en-IN" sz="1350"/>
                        <a:t>line break</a:t>
                      </a:r>
                      <a:endParaRPr lang="en-IN" sz="1350"/>
                    </a:p>
                  </a:txBody>
                  <a:tcPr marL="25697" marR="25697" marT="12848" marB="12848" anchor="ctr">
                    <a:lnL>
                      <a:noFill/>
                    </a:lnL>
                    <a:lnR>
                      <a:noFill/>
                    </a:lnR>
                    <a:lnT>
                      <a:noFill/>
                    </a:lnT>
                    <a:lnB>
                      <a:noFill/>
                    </a:lnB>
                    <a:solidFill>
                      <a:srgbClr val="FFFFB0"/>
                    </a:solidFill>
                  </a:tcPr>
                </a:tc>
                <a:tc>
                  <a:txBody>
                    <a:bodyPr/>
                    <a:lstStyle/>
                    <a:p>
                      <a:r>
                        <a:rPr lang="en-IN" sz="1350" i="1" dirty="0"/>
                        <a:t>single</a:t>
                      </a:r>
                      <a:endParaRPr lang="en-IN" sz="1350" dirty="0"/>
                    </a:p>
                  </a:txBody>
                  <a:tcPr marL="25697" marR="25697" marT="12848" marB="12848" anchor="ctr">
                    <a:lnL>
                      <a:noFill/>
                    </a:lnL>
                    <a:lnR>
                      <a:noFill/>
                    </a:lnR>
                    <a:lnT>
                      <a:noFill/>
                    </a:lnT>
                    <a:lnB>
                      <a:noFill/>
                    </a:lnB>
                    <a:solidFill>
                      <a:srgbClr val="FFFFB0"/>
                    </a:solidFill>
                  </a:tcPr>
                </a:tc>
              </a:tr>
              <a:tr h="247015">
                <a:tc>
                  <a:txBody>
                    <a:bodyPr/>
                    <a:lstStyle/>
                    <a:p>
                      <a:pPr algn="r"/>
                      <a:r>
                        <a:rPr lang="en-IN" sz="1350" b="1"/>
                        <a:t>&lt;hr&gt;</a:t>
                      </a:r>
                      <a:endParaRPr lang="en-IN" sz="1350"/>
                    </a:p>
                  </a:txBody>
                  <a:tcPr marL="25697" marR="25697" marT="12848" marB="12848" anchor="ctr">
                    <a:lnL>
                      <a:noFill/>
                    </a:lnL>
                    <a:lnR>
                      <a:noFill/>
                    </a:lnR>
                    <a:lnT>
                      <a:noFill/>
                    </a:lnT>
                    <a:lnB>
                      <a:noFill/>
                    </a:lnB>
                    <a:solidFill>
                      <a:srgbClr val="FFFFB0"/>
                    </a:solidFill>
                  </a:tcPr>
                </a:tc>
                <a:tc>
                  <a:txBody>
                    <a:bodyPr/>
                    <a:lstStyle/>
                    <a:p>
                      <a:r>
                        <a:rPr lang="en-IN" sz="1350" dirty="0"/>
                        <a:t>horizontal rule</a:t>
                      </a:r>
                      <a:endParaRPr lang="en-IN" sz="1350" dirty="0"/>
                    </a:p>
                  </a:txBody>
                  <a:tcPr marL="25697" marR="25697" marT="12848" marB="12848" anchor="ctr">
                    <a:lnL>
                      <a:noFill/>
                    </a:lnL>
                    <a:lnR>
                      <a:noFill/>
                    </a:lnR>
                    <a:lnT>
                      <a:noFill/>
                    </a:lnT>
                    <a:lnB>
                      <a:noFill/>
                    </a:lnB>
                    <a:solidFill>
                      <a:srgbClr val="FFFFB0"/>
                    </a:solidFill>
                  </a:tcPr>
                </a:tc>
                <a:tc>
                  <a:txBody>
                    <a:bodyPr/>
                    <a:lstStyle/>
                    <a:p>
                      <a:r>
                        <a:rPr lang="en-IN" sz="1350" i="1"/>
                        <a:t>single</a:t>
                      </a:r>
                      <a:endParaRPr lang="en-IN" sz="1350"/>
                    </a:p>
                  </a:txBody>
                  <a:tcPr marL="25697" marR="25697" marT="12848" marB="12848" anchor="ctr">
                    <a:lnL>
                      <a:noFill/>
                    </a:lnL>
                    <a:lnR>
                      <a:noFill/>
                    </a:lnR>
                    <a:lnT>
                      <a:noFill/>
                    </a:lnT>
                    <a:lnB>
                      <a:noFill/>
                    </a:lnB>
                    <a:solidFill>
                      <a:srgbClr val="FFFFB0"/>
                    </a:solidFill>
                  </a:tcPr>
                </a:tc>
              </a:tr>
              <a:tr h="246380">
                <a:tc>
                  <a:txBody>
                    <a:bodyPr/>
                    <a:lstStyle/>
                    <a:p>
                      <a:pPr algn="r"/>
                      <a:r>
                        <a:rPr lang="en-IN" sz="1350" b="1" dirty="0">
                          <a:solidFill>
                            <a:srgbClr val="FF0000"/>
                          </a:solidFill>
                        </a:rPr>
                        <a:t>&lt;h1&gt; &lt;h2&gt;</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dirty="0">
                          <a:solidFill>
                            <a:srgbClr val="FF0000"/>
                          </a:solidFill>
                        </a:rPr>
                        <a:t>headings</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i="1" dirty="0">
                          <a:solidFill>
                            <a:srgbClr val="FF0000"/>
                          </a:solidFill>
                        </a:rPr>
                        <a:t>paired</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r>
              <a:tr h="246380">
                <a:tc>
                  <a:txBody>
                    <a:bodyPr/>
                    <a:lstStyle/>
                    <a:p>
                      <a:pPr algn="r"/>
                      <a:r>
                        <a:rPr lang="en-IN" sz="1350" b="1" dirty="0">
                          <a:solidFill>
                            <a:srgbClr val="FF0000"/>
                          </a:solidFill>
                        </a:rPr>
                        <a:t>&lt;a</a:t>
                      </a:r>
                      <a:r>
                        <a:rPr lang="en-IN" sz="1350" dirty="0">
                          <a:solidFill>
                            <a:srgbClr val="FF0000"/>
                          </a:solidFill>
                        </a:rPr>
                        <a:t> </a:t>
                      </a:r>
                      <a:r>
                        <a:rPr lang="en-IN" sz="1350" dirty="0" err="1">
                          <a:solidFill>
                            <a:srgbClr val="FF0000"/>
                          </a:solidFill>
                        </a:rPr>
                        <a:t>href</a:t>
                      </a:r>
                      <a:r>
                        <a:rPr lang="en-IN" sz="1350" dirty="0">
                          <a:solidFill>
                            <a:srgbClr val="FF0000"/>
                          </a:solidFill>
                        </a:rPr>
                        <a:t>=" "&gt;</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dirty="0">
                          <a:solidFill>
                            <a:srgbClr val="FF0000"/>
                          </a:solidFill>
                        </a:rPr>
                        <a:t>link</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i="1" dirty="0">
                          <a:solidFill>
                            <a:srgbClr val="FF0000"/>
                          </a:solidFill>
                        </a:rPr>
                        <a:t>paired</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r>
              <a:tr h="246380">
                <a:tc>
                  <a:txBody>
                    <a:bodyPr/>
                    <a:lstStyle/>
                    <a:p>
                      <a:pPr algn="r"/>
                      <a:r>
                        <a:rPr lang="en-IN" sz="1350" b="1"/>
                        <a:t>&lt;img</a:t>
                      </a:r>
                      <a:r>
                        <a:rPr lang="en-IN" sz="1350"/>
                        <a:t> src=" "&gt;</a:t>
                      </a:r>
                      <a:endParaRPr lang="en-IN" sz="1350"/>
                    </a:p>
                  </a:txBody>
                  <a:tcPr marL="25697" marR="25697" marT="12848" marB="12848" anchor="ctr">
                    <a:lnL>
                      <a:noFill/>
                    </a:lnL>
                    <a:lnR>
                      <a:noFill/>
                    </a:lnR>
                    <a:lnT>
                      <a:noFill/>
                    </a:lnT>
                    <a:lnB>
                      <a:noFill/>
                    </a:lnB>
                    <a:solidFill>
                      <a:srgbClr val="FFFFB0"/>
                    </a:solidFill>
                  </a:tcPr>
                </a:tc>
                <a:tc>
                  <a:txBody>
                    <a:bodyPr/>
                    <a:lstStyle/>
                    <a:p>
                      <a:r>
                        <a:rPr lang="en-IN" sz="1350" dirty="0"/>
                        <a:t>image</a:t>
                      </a:r>
                      <a:endParaRPr lang="en-IN" sz="1350" dirty="0"/>
                    </a:p>
                  </a:txBody>
                  <a:tcPr marL="25697" marR="25697" marT="12848" marB="12848" anchor="ctr">
                    <a:lnL>
                      <a:noFill/>
                    </a:lnL>
                    <a:lnR>
                      <a:noFill/>
                    </a:lnR>
                    <a:lnT>
                      <a:noFill/>
                    </a:lnT>
                    <a:lnB>
                      <a:noFill/>
                    </a:lnB>
                    <a:solidFill>
                      <a:srgbClr val="FFFFB0"/>
                    </a:solidFill>
                  </a:tcPr>
                </a:tc>
                <a:tc>
                  <a:txBody>
                    <a:bodyPr/>
                    <a:lstStyle/>
                    <a:p>
                      <a:r>
                        <a:rPr lang="en-IN" sz="1350" i="1" dirty="0"/>
                        <a:t>single</a:t>
                      </a:r>
                      <a:endParaRPr lang="en-IN" sz="1350" dirty="0"/>
                    </a:p>
                  </a:txBody>
                  <a:tcPr marL="25697" marR="25697" marT="12848" marB="12848" anchor="ctr">
                    <a:lnL>
                      <a:noFill/>
                    </a:lnL>
                    <a:lnR>
                      <a:noFill/>
                    </a:lnR>
                    <a:lnT>
                      <a:noFill/>
                    </a:lnT>
                    <a:lnB>
                      <a:noFill/>
                    </a:lnB>
                    <a:solidFill>
                      <a:srgbClr val="FFFFB0"/>
                    </a:solidFill>
                  </a:tcPr>
                </a:tc>
              </a:tr>
              <a:tr h="436880">
                <a:tc>
                  <a:txBody>
                    <a:bodyPr/>
                    <a:lstStyle/>
                    <a:p>
                      <a:pPr algn="r"/>
                      <a:r>
                        <a:rPr lang="en-IN" sz="1350" b="1" dirty="0"/>
                        <a:t>&lt;pre&gt;</a:t>
                      </a:r>
                      <a:endParaRPr lang="en-IN" sz="1350" dirty="0"/>
                    </a:p>
                  </a:txBody>
                  <a:tcPr marL="25697" marR="25697" marT="12848" marB="12848" anchor="ctr">
                    <a:lnL>
                      <a:noFill/>
                    </a:lnL>
                    <a:lnR>
                      <a:noFill/>
                    </a:lnR>
                    <a:lnT>
                      <a:noFill/>
                    </a:lnT>
                    <a:lnB>
                      <a:noFill/>
                    </a:lnB>
                    <a:solidFill>
                      <a:srgbClr val="FFFFB0"/>
                    </a:solidFill>
                  </a:tcPr>
                </a:tc>
                <a:tc>
                  <a:txBody>
                    <a:bodyPr/>
                    <a:lstStyle/>
                    <a:p>
                      <a:r>
                        <a:rPr lang="en-US" sz="1350"/>
                        <a:t>preformatted - displayed like the source</a:t>
                      </a:r>
                      <a:endParaRPr lang="en-US" sz="1350"/>
                    </a:p>
                  </a:txBody>
                  <a:tcPr marL="25697" marR="25697" marT="12848" marB="12848" anchor="ctr">
                    <a:lnL>
                      <a:noFill/>
                    </a:lnL>
                    <a:lnR>
                      <a:noFill/>
                    </a:lnR>
                    <a:lnT>
                      <a:noFill/>
                    </a:lnT>
                    <a:lnB>
                      <a:noFill/>
                    </a:lnB>
                    <a:solidFill>
                      <a:srgbClr val="FFFFB0"/>
                    </a:solidFill>
                  </a:tcPr>
                </a:tc>
                <a:tc>
                  <a:txBody>
                    <a:bodyPr/>
                    <a:lstStyle/>
                    <a:p>
                      <a:r>
                        <a:rPr lang="en-IN" sz="1350" i="1" dirty="0"/>
                        <a:t>paired</a:t>
                      </a:r>
                      <a:endParaRPr lang="en-IN" sz="1350" dirty="0"/>
                    </a:p>
                  </a:txBody>
                  <a:tcPr marL="25697" marR="25697" marT="12848" marB="12848" anchor="ctr">
                    <a:lnL>
                      <a:noFill/>
                    </a:lnL>
                    <a:lnR>
                      <a:noFill/>
                    </a:lnR>
                    <a:lnT>
                      <a:noFill/>
                    </a:lnT>
                    <a:lnB>
                      <a:noFill/>
                    </a:lnB>
                    <a:solidFill>
                      <a:srgbClr val="FFFFB0"/>
                    </a:solidFill>
                  </a:tcPr>
                </a:tc>
              </a:tr>
              <a:tr h="246380">
                <a:tc>
                  <a:txBody>
                    <a:bodyPr/>
                    <a:lstStyle/>
                    <a:p>
                      <a:pPr algn="r"/>
                      <a:r>
                        <a:rPr lang="en-IN" sz="1350" b="1"/>
                        <a:t>&lt;blockquote&gt;</a:t>
                      </a:r>
                      <a:endParaRPr lang="en-IN" sz="1350"/>
                    </a:p>
                  </a:txBody>
                  <a:tcPr marL="25697" marR="25697" marT="12848" marB="12848" anchor="ctr">
                    <a:lnL>
                      <a:noFill/>
                    </a:lnL>
                    <a:lnR>
                      <a:noFill/>
                    </a:lnR>
                    <a:lnT>
                      <a:noFill/>
                    </a:lnT>
                    <a:lnB>
                      <a:noFill/>
                    </a:lnB>
                    <a:solidFill>
                      <a:srgbClr val="FFFFB0"/>
                    </a:solidFill>
                  </a:tcPr>
                </a:tc>
                <a:tc>
                  <a:txBody>
                    <a:bodyPr/>
                    <a:lstStyle/>
                    <a:p>
                      <a:r>
                        <a:rPr lang="en-IN" sz="1350"/>
                        <a:t>separate, indented text</a:t>
                      </a:r>
                      <a:endParaRPr lang="en-IN" sz="1350"/>
                    </a:p>
                  </a:txBody>
                  <a:tcPr marL="25697" marR="25697" marT="12848" marB="12848" anchor="ctr">
                    <a:lnL>
                      <a:noFill/>
                    </a:lnL>
                    <a:lnR>
                      <a:noFill/>
                    </a:lnR>
                    <a:lnT>
                      <a:noFill/>
                    </a:lnT>
                    <a:lnB>
                      <a:noFill/>
                    </a:lnB>
                    <a:solidFill>
                      <a:srgbClr val="FFFFB0"/>
                    </a:solidFill>
                  </a:tcPr>
                </a:tc>
                <a:tc>
                  <a:txBody>
                    <a:bodyPr/>
                    <a:lstStyle/>
                    <a:p>
                      <a:r>
                        <a:rPr lang="en-IN" sz="1350" i="1" dirty="0"/>
                        <a:t>paired</a:t>
                      </a:r>
                      <a:endParaRPr lang="en-IN" sz="1350" dirty="0"/>
                    </a:p>
                  </a:txBody>
                  <a:tcPr marL="25697" marR="25697" marT="12848" marB="12848" anchor="ctr">
                    <a:lnL>
                      <a:noFill/>
                    </a:lnL>
                    <a:lnR>
                      <a:noFill/>
                    </a:lnR>
                    <a:lnT>
                      <a:noFill/>
                    </a:lnT>
                    <a:lnB>
                      <a:noFill/>
                    </a:lnB>
                    <a:solidFill>
                      <a:srgbClr val="FFFFB0"/>
                    </a:solidFill>
                  </a:tcPr>
                </a:tc>
              </a:tr>
              <a:tr h="246380">
                <a:tc>
                  <a:txBody>
                    <a:bodyPr/>
                    <a:lstStyle/>
                    <a:p>
                      <a:pPr algn="r"/>
                      <a:r>
                        <a:rPr lang="en-IN" sz="1350" b="1" dirty="0"/>
                        <a:t>&lt;!--   --&gt;</a:t>
                      </a:r>
                      <a:endParaRPr lang="en-IN" sz="1350" dirty="0"/>
                    </a:p>
                  </a:txBody>
                  <a:tcPr marL="25697" marR="25697" marT="12848" marB="12848" anchor="ctr">
                    <a:lnL>
                      <a:noFill/>
                    </a:lnL>
                    <a:lnR>
                      <a:noFill/>
                    </a:lnR>
                    <a:lnT>
                      <a:noFill/>
                    </a:lnT>
                    <a:lnB>
                      <a:noFill/>
                    </a:lnB>
                    <a:solidFill>
                      <a:srgbClr val="FFFFB0"/>
                    </a:solidFill>
                  </a:tcPr>
                </a:tc>
                <a:tc>
                  <a:txBody>
                    <a:bodyPr/>
                    <a:lstStyle/>
                    <a:p>
                      <a:r>
                        <a:rPr lang="en-IN" sz="1350" dirty="0"/>
                        <a:t>comments</a:t>
                      </a:r>
                      <a:endParaRPr lang="en-IN" sz="1350" dirty="0"/>
                    </a:p>
                  </a:txBody>
                  <a:tcPr marL="25697" marR="25697" marT="12848" marB="12848" anchor="ctr">
                    <a:lnL>
                      <a:noFill/>
                    </a:lnL>
                    <a:lnR>
                      <a:noFill/>
                    </a:lnR>
                    <a:lnT>
                      <a:noFill/>
                    </a:lnT>
                    <a:lnB>
                      <a:noFill/>
                    </a:lnB>
                    <a:solidFill>
                      <a:srgbClr val="FFFFB0"/>
                    </a:solidFill>
                  </a:tcPr>
                </a:tc>
                <a:tc>
                  <a:txBody>
                    <a:bodyPr/>
                    <a:lstStyle/>
                    <a:p>
                      <a:r>
                        <a:rPr lang="en-IN" sz="1350" i="1" dirty="0"/>
                        <a:t>single</a:t>
                      </a:r>
                      <a:endParaRPr lang="en-IN" sz="1350" dirty="0"/>
                    </a:p>
                  </a:txBody>
                  <a:tcPr marL="25697" marR="25697" marT="12848" marB="12848" anchor="ctr">
                    <a:lnL>
                      <a:noFill/>
                    </a:lnL>
                    <a:lnR>
                      <a:noFill/>
                    </a:lnR>
                    <a:lnT>
                      <a:noFill/>
                    </a:lnT>
                    <a:lnB>
                      <a:noFill/>
                    </a:lnB>
                    <a:solidFill>
                      <a:srgbClr val="FFFFB0"/>
                    </a:solidFill>
                  </a:tcPr>
                </a:tc>
              </a:tr>
              <a:tr h="246380">
                <a:tc>
                  <a:txBody>
                    <a:bodyPr/>
                    <a:lstStyle/>
                    <a:p>
                      <a:pPr algn="r"/>
                      <a:r>
                        <a:rPr lang="en-IN" sz="1350" b="1" dirty="0">
                          <a:solidFill>
                            <a:srgbClr val="FF0000"/>
                          </a:solidFill>
                        </a:rPr>
                        <a:t>&lt;</a:t>
                      </a:r>
                      <a:r>
                        <a:rPr lang="en-IN" sz="1350" b="1" dirty="0" err="1">
                          <a:solidFill>
                            <a:srgbClr val="FF0000"/>
                          </a:solidFill>
                        </a:rPr>
                        <a:t>i</a:t>
                      </a:r>
                      <a:r>
                        <a:rPr lang="en-IN" sz="1350" b="1" dirty="0">
                          <a:solidFill>
                            <a:srgbClr val="FF0000"/>
                          </a:solidFill>
                        </a:rPr>
                        <a:t>&gt;</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dirty="0">
                          <a:solidFill>
                            <a:srgbClr val="FF0000"/>
                          </a:solidFill>
                        </a:rPr>
                        <a:t>italic physical style</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i="1" dirty="0">
                          <a:solidFill>
                            <a:srgbClr val="FF0000"/>
                          </a:solidFill>
                        </a:rPr>
                        <a:t>paired</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r>
              <a:tr h="246380">
                <a:tc>
                  <a:txBody>
                    <a:bodyPr/>
                    <a:lstStyle/>
                    <a:p>
                      <a:pPr algn="r"/>
                      <a:r>
                        <a:rPr lang="en-IN" sz="1350" b="1">
                          <a:solidFill>
                            <a:srgbClr val="FF0000"/>
                          </a:solidFill>
                        </a:rPr>
                        <a:t>&lt;b&gt;</a:t>
                      </a:r>
                      <a:endParaRPr lang="en-IN" sz="135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a:solidFill>
                            <a:srgbClr val="FF0000"/>
                          </a:solidFill>
                        </a:rPr>
                        <a:t>bold physical style</a:t>
                      </a:r>
                      <a:endParaRPr lang="en-IN" sz="1350">
                        <a:solidFill>
                          <a:srgbClr val="FF0000"/>
                        </a:solidFill>
                      </a:endParaRPr>
                    </a:p>
                  </a:txBody>
                  <a:tcPr marL="25697" marR="25697" marT="12848" marB="12848" anchor="ctr">
                    <a:lnL>
                      <a:noFill/>
                    </a:lnL>
                    <a:lnR>
                      <a:noFill/>
                    </a:lnR>
                    <a:lnT>
                      <a:noFill/>
                    </a:lnT>
                    <a:lnB>
                      <a:noFill/>
                    </a:lnB>
                    <a:solidFill>
                      <a:srgbClr val="FFFFB0"/>
                    </a:solidFill>
                  </a:tcPr>
                </a:tc>
                <a:tc>
                  <a:txBody>
                    <a:bodyPr/>
                    <a:lstStyle/>
                    <a:p>
                      <a:r>
                        <a:rPr lang="en-IN" sz="1350" i="1" dirty="0">
                          <a:solidFill>
                            <a:srgbClr val="FF0000"/>
                          </a:solidFill>
                        </a:rPr>
                        <a:t>paired</a:t>
                      </a:r>
                      <a:endParaRPr lang="en-IN" sz="1350" dirty="0">
                        <a:solidFill>
                          <a:srgbClr val="FF0000"/>
                        </a:solidFill>
                      </a:endParaRPr>
                    </a:p>
                  </a:txBody>
                  <a:tcPr marL="25697" marR="25697" marT="12848" marB="12848" anchor="ctr">
                    <a:lnL>
                      <a:noFill/>
                    </a:lnL>
                    <a:lnR>
                      <a:noFill/>
                    </a:lnR>
                    <a:lnT>
                      <a:noFill/>
                    </a:lnT>
                    <a:lnB>
                      <a:noFill/>
                    </a:lnB>
                    <a:solidFill>
                      <a:srgbClr val="FFFFB0"/>
                    </a:solidFill>
                  </a:tcPr>
                </a:tc>
              </a:tr>
            </a:tbl>
          </a:graphicData>
        </a:graphic>
      </p:graphicFrame>
      <p:sp>
        <p:nvSpPr>
          <p:cNvPr id="3" name="Date Placeholder 2"/>
          <p:cNvSpPr>
            <a:spLocks noGrp="1"/>
          </p:cNvSpPr>
          <p:nvPr>
            <p:ph type="dt" sz="half" idx="10"/>
          </p:nvPr>
        </p:nvSpPr>
        <p:spPr/>
        <p:txBody>
          <a:bodyPr/>
          <a:lstStyle/>
          <a:p>
            <a:fld id="{855230A6-2133-4683-A859-3CC460366119}" type="datetime1">
              <a:rPr lang="en-IN" sz="900" smtClean="0"/>
            </a:fld>
            <a:endParaRPr lang="en-IN"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31095"/>
            <a:ext cx="7886700" cy="389594"/>
          </a:xfrm>
        </p:spPr>
        <p:txBody>
          <a:bodyPr>
            <a:normAutofit fontScale="90000"/>
          </a:bodyPr>
          <a:lstStyle/>
          <a:p>
            <a:r>
              <a:rPr lang="en-US" dirty="0" err="1"/>
              <a:t>condt</a:t>
            </a:r>
            <a:endParaRPr lang="en-IN" dirty="0"/>
          </a:p>
        </p:txBody>
      </p:sp>
      <p:graphicFrame>
        <p:nvGraphicFramePr>
          <p:cNvPr id="4" name="Content Placeholder 3"/>
          <p:cNvGraphicFramePr>
            <a:graphicFrameLocks noGrp="1"/>
          </p:cNvGraphicFramePr>
          <p:nvPr>
            <p:ph idx="1"/>
          </p:nvPr>
        </p:nvGraphicFramePr>
        <p:xfrm>
          <a:off x="628650" y="1714500"/>
          <a:ext cx="7886700" cy="3779520"/>
        </p:xfrm>
        <a:graphic>
          <a:graphicData uri="http://schemas.openxmlformats.org/drawingml/2006/table">
            <a:tbl>
              <a:tblPr/>
              <a:tblGrid>
                <a:gridCol w="2628900"/>
                <a:gridCol w="2628900"/>
                <a:gridCol w="2628900"/>
              </a:tblGrid>
              <a:tr h="236220">
                <a:tc>
                  <a:txBody>
                    <a:bodyPr/>
                    <a:lstStyle/>
                    <a:p>
                      <a:pPr algn="r"/>
                      <a:r>
                        <a:rPr lang="en-IN" sz="1200" b="1" dirty="0">
                          <a:solidFill>
                            <a:srgbClr val="FF0000"/>
                          </a:solidFill>
                        </a:rPr>
                        <a:t>&lt;</a:t>
                      </a:r>
                      <a:r>
                        <a:rPr lang="en-IN" sz="1200" b="1" dirty="0" err="1">
                          <a:solidFill>
                            <a:srgbClr val="FF0000"/>
                          </a:solidFill>
                        </a:rPr>
                        <a:t>tt</a:t>
                      </a:r>
                      <a:r>
                        <a:rPr lang="en-IN" sz="1200" b="1" dirty="0">
                          <a:solidFill>
                            <a:srgbClr val="FF0000"/>
                          </a:solidFill>
                        </a:rPr>
                        <a:t>&gt;</a:t>
                      </a:r>
                      <a:endParaRPr lang="en-IN" sz="1200" dirty="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a:solidFill>
                            <a:srgbClr val="FF0000"/>
                          </a:solidFill>
                        </a:rPr>
                        <a:t>teletype physical style</a:t>
                      </a:r>
                      <a:endParaRPr lang="en-IN" sz="120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i="1">
                          <a:solidFill>
                            <a:srgbClr val="FF0000"/>
                          </a:solidFill>
                        </a:rPr>
                        <a:t>paired</a:t>
                      </a:r>
                      <a:endParaRPr lang="en-IN" sz="1200">
                        <a:solidFill>
                          <a:srgbClr val="FF0000"/>
                        </a:solidFill>
                      </a:endParaRPr>
                    </a:p>
                  </a:txBody>
                  <a:tcPr marL="50992" marR="50992" marT="25496" marB="25496" anchor="ctr">
                    <a:lnL>
                      <a:noFill/>
                    </a:lnL>
                    <a:lnR>
                      <a:noFill/>
                    </a:lnR>
                    <a:lnT>
                      <a:noFill/>
                    </a:lnT>
                    <a:lnB>
                      <a:noFill/>
                    </a:lnB>
                    <a:solidFill>
                      <a:srgbClr val="FFFFB0"/>
                    </a:solidFill>
                  </a:tcPr>
                </a:tc>
              </a:tr>
              <a:tr h="236220">
                <a:tc>
                  <a:txBody>
                    <a:bodyPr/>
                    <a:lstStyle/>
                    <a:p>
                      <a:pPr algn="r"/>
                      <a:r>
                        <a:rPr lang="en-IN" sz="1200" b="1" dirty="0">
                          <a:solidFill>
                            <a:srgbClr val="FF0000"/>
                          </a:solidFill>
                        </a:rPr>
                        <a:t>&lt;</a:t>
                      </a:r>
                      <a:r>
                        <a:rPr lang="en-IN" sz="1200" b="1" dirty="0" err="1">
                          <a:solidFill>
                            <a:srgbClr val="FF0000"/>
                          </a:solidFill>
                        </a:rPr>
                        <a:t>em</a:t>
                      </a:r>
                      <a:r>
                        <a:rPr lang="en-IN" sz="1200" b="1" dirty="0">
                          <a:solidFill>
                            <a:srgbClr val="FF0000"/>
                          </a:solidFill>
                        </a:rPr>
                        <a:t>&gt;</a:t>
                      </a:r>
                      <a:endParaRPr lang="en-IN" sz="1200" dirty="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dirty="0">
                          <a:solidFill>
                            <a:srgbClr val="FF0000"/>
                          </a:solidFill>
                        </a:rPr>
                        <a:t>emphasis logical style</a:t>
                      </a:r>
                      <a:endParaRPr lang="en-IN" sz="1200" dirty="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i="1">
                          <a:solidFill>
                            <a:srgbClr val="FF0000"/>
                          </a:solidFill>
                        </a:rPr>
                        <a:t>paired</a:t>
                      </a:r>
                      <a:endParaRPr lang="en-IN" sz="1200">
                        <a:solidFill>
                          <a:srgbClr val="FF0000"/>
                        </a:solidFill>
                      </a:endParaRPr>
                    </a:p>
                  </a:txBody>
                  <a:tcPr marL="50992" marR="50992" marT="25496" marB="25496" anchor="ctr">
                    <a:lnL>
                      <a:noFill/>
                    </a:lnL>
                    <a:lnR>
                      <a:noFill/>
                    </a:lnR>
                    <a:lnT>
                      <a:noFill/>
                    </a:lnT>
                    <a:lnB>
                      <a:noFill/>
                    </a:lnB>
                    <a:solidFill>
                      <a:srgbClr val="FFFFB0"/>
                    </a:solidFill>
                  </a:tcPr>
                </a:tc>
              </a:tr>
              <a:tr h="236220">
                <a:tc>
                  <a:txBody>
                    <a:bodyPr/>
                    <a:lstStyle/>
                    <a:p>
                      <a:pPr algn="r"/>
                      <a:r>
                        <a:rPr lang="en-IN" sz="1200" b="1">
                          <a:solidFill>
                            <a:srgbClr val="FF0000"/>
                          </a:solidFill>
                        </a:rPr>
                        <a:t>&lt;strong&gt;</a:t>
                      </a:r>
                      <a:endParaRPr lang="en-IN" sz="120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dirty="0">
                          <a:solidFill>
                            <a:srgbClr val="FF0000"/>
                          </a:solidFill>
                        </a:rPr>
                        <a:t>strong logical style</a:t>
                      </a:r>
                      <a:endParaRPr lang="en-IN" sz="1200" dirty="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i="1">
                          <a:solidFill>
                            <a:srgbClr val="FF0000"/>
                          </a:solidFill>
                        </a:rPr>
                        <a:t>paired</a:t>
                      </a:r>
                      <a:endParaRPr lang="en-IN" sz="1200">
                        <a:solidFill>
                          <a:srgbClr val="FF0000"/>
                        </a:solidFill>
                      </a:endParaRPr>
                    </a:p>
                  </a:txBody>
                  <a:tcPr marL="50992" marR="50992" marT="25496" marB="25496" anchor="ctr">
                    <a:lnL>
                      <a:noFill/>
                    </a:lnL>
                    <a:lnR>
                      <a:noFill/>
                    </a:lnR>
                    <a:lnT>
                      <a:noFill/>
                    </a:lnT>
                    <a:lnB>
                      <a:noFill/>
                    </a:lnB>
                    <a:solidFill>
                      <a:srgbClr val="FFFFB0"/>
                    </a:solidFill>
                  </a:tcPr>
                </a:tc>
              </a:tr>
              <a:tr h="236220">
                <a:tc>
                  <a:txBody>
                    <a:bodyPr/>
                    <a:lstStyle/>
                    <a:p>
                      <a:pPr algn="r"/>
                      <a:r>
                        <a:rPr lang="en-IN" sz="1200" b="1">
                          <a:solidFill>
                            <a:srgbClr val="FF0000"/>
                          </a:solidFill>
                        </a:rPr>
                        <a:t>&lt;tt&gt;</a:t>
                      </a:r>
                      <a:endParaRPr lang="en-IN" sz="120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dirty="0">
                          <a:solidFill>
                            <a:srgbClr val="FF0000"/>
                          </a:solidFill>
                        </a:rPr>
                        <a:t>code logical style</a:t>
                      </a:r>
                      <a:endParaRPr lang="en-IN" sz="1200" dirty="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i="1">
                          <a:solidFill>
                            <a:srgbClr val="FF0000"/>
                          </a:solidFill>
                        </a:rPr>
                        <a:t>paired</a:t>
                      </a:r>
                      <a:endParaRPr lang="en-IN" sz="1200">
                        <a:solidFill>
                          <a:srgbClr val="FF0000"/>
                        </a:solidFill>
                      </a:endParaRPr>
                    </a:p>
                  </a:txBody>
                  <a:tcPr marL="50992" marR="50992" marT="25496" marB="25496" anchor="ctr">
                    <a:lnL>
                      <a:noFill/>
                    </a:lnL>
                    <a:lnR>
                      <a:noFill/>
                    </a:lnR>
                    <a:lnT>
                      <a:noFill/>
                    </a:lnT>
                    <a:lnB>
                      <a:noFill/>
                    </a:lnB>
                    <a:solidFill>
                      <a:srgbClr val="FFFFB0"/>
                    </a:solidFill>
                  </a:tcPr>
                </a:tc>
              </a:tr>
              <a:tr h="236220">
                <a:tc>
                  <a:txBody>
                    <a:bodyPr/>
                    <a:lstStyle/>
                    <a:p>
                      <a:pPr algn="r"/>
                      <a:r>
                        <a:rPr lang="en-IN" sz="1200" b="1">
                          <a:solidFill>
                            <a:srgbClr val="FF0000"/>
                          </a:solidFill>
                        </a:rPr>
                        <a:t>&lt;cite&gt;</a:t>
                      </a:r>
                      <a:endParaRPr lang="en-IN" sz="120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dirty="0">
                          <a:solidFill>
                            <a:srgbClr val="FF0000"/>
                          </a:solidFill>
                        </a:rPr>
                        <a:t>citation logical style</a:t>
                      </a:r>
                      <a:endParaRPr lang="en-IN" sz="1200" dirty="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i="1">
                          <a:solidFill>
                            <a:srgbClr val="FF0000"/>
                          </a:solidFill>
                        </a:rPr>
                        <a:t>paired</a:t>
                      </a:r>
                      <a:endParaRPr lang="en-IN" sz="1200">
                        <a:solidFill>
                          <a:srgbClr val="FF0000"/>
                        </a:solidFill>
                      </a:endParaRPr>
                    </a:p>
                  </a:txBody>
                  <a:tcPr marL="50992" marR="50992" marT="25496" marB="25496" anchor="ctr">
                    <a:lnL>
                      <a:noFill/>
                    </a:lnL>
                    <a:lnR>
                      <a:noFill/>
                    </a:lnR>
                    <a:lnT>
                      <a:noFill/>
                    </a:lnT>
                    <a:lnB>
                      <a:noFill/>
                    </a:lnB>
                    <a:solidFill>
                      <a:srgbClr val="FFFFB0"/>
                    </a:solidFill>
                  </a:tcPr>
                </a:tc>
              </a:tr>
              <a:tr h="236220">
                <a:tc>
                  <a:txBody>
                    <a:bodyPr/>
                    <a:lstStyle/>
                    <a:p>
                      <a:pPr algn="r"/>
                      <a:r>
                        <a:rPr lang="en-IN" sz="1200" b="1">
                          <a:solidFill>
                            <a:srgbClr val="FF0000"/>
                          </a:solidFill>
                        </a:rPr>
                        <a:t>&lt;ol&gt;</a:t>
                      </a:r>
                      <a:endParaRPr lang="en-IN" sz="120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dirty="0">
                          <a:solidFill>
                            <a:srgbClr val="FF0000"/>
                          </a:solidFill>
                        </a:rPr>
                        <a:t>ordered list</a:t>
                      </a:r>
                      <a:endParaRPr lang="en-IN" sz="1200" dirty="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i="1" dirty="0">
                          <a:solidFill>
                            <a:srgbClr val="FF0000"/>
                          </a:solidFill>
                        </a:rPr>
                        <a:t>paired</a:t>
                      </a:r>
                      <a:endParaRPr lang="en-IN" sz="1200" dirty="0">
                        <a:solidFill>
                          <a:srgbClr val="FF0000"/>
                        </a:solidFill>
                      </a:endParaRPr>
                    </a:p>
                  </a:txBody>
                  <a:tcPr marL="50992" marR="50992" marT="25496" marB="25496" anchor="ctr">
                    <a:lnL>
                      <a:noFill/>
                    </a:lnL>
                    <a:lnR>
                      <a:noFill/>
                    </a:lnR>
                    <a:lnT>
                      <a:noFill/>
                    </a:lnT>
                    <a:lnB>
                      <a:noFill/>
                    </a:lnB>
                    <a:solidFill>
                      <a:srgbClr val="FFFFB0"/>
                    </a:solidFill>
                  </a:tcPr>
                </a:tc>
              </a:tr>
              <a:tr h="236220">
                <a:tc>
                  <a:txBody>
                    <a:bodyPr/>
                    <a:lstStyle/>
                    <a:p>
                      <a:pPr algn="r"/>
                      <a:r>
                        <a:rPr lang="en-IN" sz="1200" b="1">
                          <a:solidFill>
                            <a:srgbClr val="FF0000"/>
                          </a:solidFill>
                        </a:rPr>
                        <a:t>&lt;ul&gt;</a:t>
                      </a:r>
                      <a:endParaRPr lang="en-IN" sz="120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dirty="0">
                          <a:solidFill>
                            <a:srgbClr val="FF0000"/>
                          </a:solidFill>
                        </a:rPr>
                        <a:t>unordered list</a:t>
                      </a:r>
                      <a:endParaRPr lang="en-IN" sz="1200" dirty="0">
                        <a:solidFill>
                          <a:srgbClr val="FF0000"/>
                        </a:solidFill>
                      </a:endParaRPr>
                    </a:p>
                  </a:txBody>
                  <a:tcPr marL="50992" marR="50992" marT="25496" marB="25496" anchor="ctr">
                    <a:lnL>
                      <a:noFill/>
                    </a:lnL>
                    <a:lnR>
                      <a:noFill/>
                    </a:lnR>
                    <a:lnT>
                      <a:noFill/>
                    </a:lnT>
                    <a:lnB>
                      <a:noFill/>
                    </a:lnB>
                    <a:solidFill>
                      <a:srgbClr val="FFFFB0"/>
                    </a:solidFill>
                  </a:tcPr>
                </a:tc>
                <a:tc>
                  <a:txBody>
                    <a:bodyPr/>
                    <a:lstStyle/>
                    <a:p>
                      <a:r>
                        <a:rPr lang="en-IN" sz="1200" i="1" dirty="0">
                          <a:solidFill>
                            <a:srgbClr val="FF0000"/>
                          </a:solidFill>
                        </a:rPr>
                        <a:t>paired</a:t>
                      </a:r>
                      <a:endParaRPr lang="en-IN" sz="1200" dirty="0">
                        <a:solidFill>
                          <a:srgbClr val="FF0000"/>
                        </a:solidFill>
                      </a:endParaRPr>
                    </a:p>
                  </a:txBody>
                  <a:tcPr marL="50992" marR="50992" marT="25496" marB="25496" anchor="ctr">
                    <a:lnL>
                      <a:noFill/>
                    </a:lnL>
                    <a:lnR>
                      <a:noFill/>
                    </a:lnR>
                    <a:lnT>
                      <a:noFill/>
                    </a:lnT>
                    <a:lnB>
                      <a:noFill/>
                    </a:lnB>
                    <a:solidFill>
                      <a:srgbClr val="FFFFB0"/>
                    </a:solidFill>
                  </a:tcPr>
                </a:tc>
              </a:tr>
              <a:tr h="236220">
                <a:tc>
                  <a:txBody>
                    <a:bodyPr/>
                    <a:lstStyle/>
                    <a:p>
                      <a:pPr algn="r"/>
                      <a:r>
                        <a:rPr lang="en-IN" sz="1200" b="1"/>
                        <a:t>&lt;li&gt;</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a:t>list item</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i="1"/>
                        <a:t>can be paired</a:t>
                      </a:r>
                      <a:endParaRPr lang="en-IN" sz="1200"/>
                    </a:p>
                  </a:txBody>
                  <a:tcPr marL="50992" marR="50992" marT="25496" marB="25496" anchor="ctr">
                    <a:lnL>
                      <a:noFill/>
                    </a:lnL>
                    <a:lnR>
                      <a:noFill/>
                    </a:lnR>
                    <a:lnT>
                      <a:noFill/>
                    </a:lnT>
                    <a:lnB>
                      <a:noFill/>
                    </a:lnB>
                    <a:solidFill>
                      <a:srgbClr val="FFFFB0"/>
                    </a:solidFill>
                  </a:tcPr>
                </a:tc>
              </a:tr>
              <a:tr h="236220">
                <a:tc>
                  <a:txBody>
                    <a:bodyPr/>
                    <a:lstStyle/>
                    <a:p>
                      <a:pPr algn="r"/>
                      <a:r>
                        <a:rPr lang="en-IN" sz="1200" b="1"/>
                        <a:t>&lt;dl&gt;</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dirty="0"/>
                        <a:t>definition list</a:t>
                      </a:r>
                      <a:endParaRPr lang="en-IN" sz="1200" dirty="0"/>
                    </a:p>
                  </a:txBody>
                  <a:tcPr marL="50992" marR="50992" marT="25496" marB="25496" anchor="ctr">
                    <a:lnL>
                      <a:noFill/>
                    </a:lnL>
                    <a:lnR>
                      <a:noFill/>
                    </a:lnR>
                    <a:lnT>
                      <a:noFill/>
                    </a:lnT>
                    <a:lnB>
                      <a:noFill/>
                    </a:lnB>
                    <a:solidFill>
                      <a:srgbClr val="FFFFB0"/>
                    </a:solidFill>
                  </a:tcPr>
                </a:tc>
                <a:tc>
                  <a:txBody>
                    <a:bodyPr/>
                    <a:lstStyle/>
                    <a:p>
                      <a:r>
                        <a:rPr lang="en-IN" sz="1200" i="1"/>
                        <a:t>paired</a:t>
                      </a:r>
                      <a:endParaRPr lang="en-IN" sz="1200"/>
                    </a:p>
                  </a:txBody>
                  <a:tcPr marL="50992" marR="50992" marT="25496" marB="25496" anchor="ctr">
                    <a:lnL>
                      <a:noFill/>
                    </a:lnL>
                    <a:lnR>
                      <a:noFill/>
                    </a:lnR>
                    <a:lnT>
                      <a:noFill/>
                    </a:lnT>
                    <a:lnB>
                      <a:noFill/>
                    </a:lnB>
                    <a:solidFill>
                      <a:srgbClr val="FFFFB0"/>
                    </a:solidFill>
                  </a:tcPr>
                </a:tc>
              </a:tr>
              <a:tr h="236220">
                <a:tc>
                  <a:txBody>
                    <a:bodyPr/>
                    <a:lstStyle/>
                    <a:p>
                      <a:pPr algn="r"/>
                      <a:r>
                        <a:rPr lang="en-IN" sz="1200" b="1"/>
                        <a:t>&lt;dt&gt;</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a:t>term name (left aligned)</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i="1" dirty="0"/>
                        <a:t>can be paired</a:t>
                      </a:r>
                      <a:endParaRPr lang="en-IN" sz="1200" dirty="0"/>
                    </a:p>
                  </a:txBody>
                  <a:tcPr marL="50992" marR="50992" marT="25496" marB="25496" anchor="ctr">
                    <a:lnL>
                      <a:noFill/>
                    </a:lnL>
                    <a:lnR>
                      <a:noFill/>
                    </a:lnR>
                    <a:lnT>
                      <a:noFill/>
                    </a:lnT>
                    <a:lnB>
                      <a:noFill/>
                    </a:lnB>
                    <a:solidFill>
                      <a:srgbClr val="FFFFB0"/>
                    </a:solidFill>
                  </a:tcPr>
                </a:tc>
              </a:tr>
              <a:tr h="236220">
                <a:tc>
                  <a:txBody>
                    <a:bodyPr/>
                    <a:lstStyle/>
                    <a:p>
                      <a:pPr algn="r"/>
                      <a:r>
                        <a:rPr lang="en-IN" sz="1200" b="1"/>
                        <a:t>&lt;dd&gt;</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a:t>term definition (indented)</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i="1" dirty="0"/>
                        <a:t>can be paired</a:t>
                      </a:r>
                      <a:endParaRPr lang="en-IN" sz="1200" dirty="0"/>
                    </a:p>
                  </a:txBody>
                  <a:tcPr marL="50992" marR="50992" marT="25496" marB="25496" anchor="ctr">
                    <a:lnL>
                      <a:noFill/>
                    </a:lnL>
                    <a:lnR>
                      <a:noFill/>
                    </a:lnR>
                    <a:lnT>
                      <a:noFill/>
                    </a:lnT>
                    <a:lnB>
                      <a:noFill/>
                    </a:lnB>
                    <a:solidFill>
                      <a:srgbClr val="FFFFB0"/>
                    </a:solidFill>
                  </a:tcPr>
                </a:tc>
              </a:tr>
              <a:tr h="236220">
                <a:tc>
                  <a:txBody>
                    <a:bodyPr/>
                    <a:lstStyle/>
                    <a:p>
                      <a:pPr algn="r"/>
                      <a:r>
                        <a:rPr lang="en-IN" sz="1200" b="1"/>
                        <a:t>&lt;a</a:t>
                      </a:r>
                      <a:r>
                        <a:rPr lang="en-IN" sz="1200"/>
                        <a:t> name=" "&gt;</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a:t>anchor</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i="1" dirty="0"/>
                        <a:t>paired</a:t>
                      </a:r>
                      <a:endParaRPr lang="en-IN" sz="1200" dirty="0"/>
                    </a:p>
                  </a:txBody>
                  <a:tcPr marL="50992" marR="50992" marT="25496" marB="25496" anchor="ctr">
                    <a:lnL>
                      <a:noFill/>
                    </a:lnL>
                    <a:lnR>
                      <a:noFill/>
                    </a:lnR>
                    <a:lnT>
                      <a:noFill/>
                    </a:lnT>
                    <a:lnB>
                      <a:noFill/>
                    </a:lnB>
                    <a:solidFill>
                      <a:srgbClr val="FFFFB0"/>
                    </a:solidFill>
                  </a:tcPr>
                </a:tc>
              </a:tr>
              <a:tr h="236220">
                <a:tc>
                  <a:txBody>
                    <a:bodyPr/>
                    <a:lstStyle/>
                    <a:p>
                      <a:pPr algn="r"/>
                      <a:r>
                        <a:rPr lang="en-IN" sz="1200" b="1"/>
                        <a:t>&amp;...;</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a:t>escape sequences</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i="1" dirty="0"/>
                        <a:t>single</a:t>
                      </a:r>
                      <a:endParaRPr lang="en-IN" sz="1200" dirty="0"/>
                    </a:p>
                  </a:txBody>
                  <a:tcPr marL="50992" marR="50992" marT="25496" marB="25496" anchor="ctr">
                    <a:lnL>
                      <a:noFill/>
                    </a:lnL>
                    <a:lnR>
                      <a:noFill/>
                    </a:lnR>
                    <a:lnT>
                      <a:noFill/>
                    </a:lnT>
                    <a:lnB>
                      <a:noFill/>
                    </a:lnB>
                    <a:solidFill>
                      <a:srgbClr val="FFFFB0"/>
                    </a:solidFill>
                  </a:tcPr>
                </a:tc>
              </a:tr>
              <a:tr h="236220">
                <a:tc>
                  <a:txBody>
                    <a:bodyPr/>
                    <a:lstStyle/>
                    <a:p>
                      <a:pPr algn="r"/>
                      <a:r>
                        <a:rPr lang="en-IN" sz="1200" b="1"/>
                        <a:t>&lt;table&gt;</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a:t>table</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i="1" dirty="0"/>
                        <a:t>paired</a:t>
                      </a:r>
                      <a:endParaRPr lang="en-IN" sz="1200" dirty="0"/>
                    </a:p>
                  </a:txBody>
                  <a:tcPr marL="50992" marR="50992" marT="25496" marB="25496" anchor="ctr">
                    <a:lnL>
                      <a:noFill/>
                    </a:lnL>
                    <a:lnR>
                      <a:noFill/>
                    </a:lnR>
                    <a:lnT>
                      <a:noFill/>
                    </a:lnT>
                    <a:lnB>
                      <a:noFill/>
                    </a:lnB>
                    <a:solidFill>
                      <a:srgbClr val="FFFFB0"/>
                    </a:solidFill>
                  </a:tcPr>
                </a:tc>
              </a:tr>
              <a:tr h="236220">
                <a:tc>
                  <a:txBody>
                    <a:bodyPr/>
                    <a:lstStyle/>
                    <a:p>
                      <a:pPr algn="r"/>
                      <a:r>
                        <a:rPr lang="en-IN" sz="1200" b="1"/>
                        <a:t>&lt;tr&gt;</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a:t>table row</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i="1" dirty="0"/>
                        <a:t>paired</a:t>
                      </a:r>
                      <a:endParaRPr lang="en-IN" sz="1200" dirty="0"/>
                    </a:p>
                  </a:txBody>
                  <a:tcPr marL="50992" marR="50992" marT="25496" marB="25496" anchor="ctr">
                    <a:lnL>
                      <a:noFill/>
                    </a:lnL>
                    <a:lnR>
                      <a:noFill/>
                    </a:lnR>
                    <a:lnT>
                      <a:noFill/>
                    </a:lnT>
                    <a:lnB>
                      <a:noFill/>
                    </a:lnB>
                    <a:solidFill>
                      <a:srgbClr val="FFFFB0"/>
                    </a:solidFill>
                  </a:tcPr>
                </a:tc>
              </a:tr>
              <a:tr h="236220">
                <a:tc>
                  <a:txBody>
                    <a:bodyPr/>
                    <a:lstStyle/>
                    <a:p>
                      <a:pPr algn="r"/>
                      <a:r>
                        <a:rPr lang="en-IN" sz="1200" b="1"/>
                        <a:t>&lt;td&gt;</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a:t>table cell</a:t>
                      </a:r>
                      <a:endParaRPr lang="en-IN" sz="1200"/>
                    </a:p>
                  </a:txBody>
                  <a:tcPr marL="50992" marR="50992" marT="25496" marB="25496" anchor="ctr">
                    <a:lnL>
                      <a:noFill/>
                    </a:lnL>
                    <a:lnR>
                      <a:noFill/>
                    </a:lnR>
                    <a:lnT>
                      <a:noFill/>
                    </a:lnT>
                    <a:lnB>
                      <a:noFill/>
                    </a:lnB>
                    <a:solidFill>
                      <a:srgbClr val="FFFFB0"/>
                    </a:solidFill>
                  </a:tcPr>
                </a:tc>
                <a:tc>
                  <a:txBody>
                    <a:bodyPr/>
                    <a:lstStyle/>
                    <a:p>
                      <a:r>
                        <a:rPr lang="en-IN" sz="1200" i="1" dirty="0"/>
                        <a:t>paired</a:t>
                      </a:r>
                      <a:endParaRPr lang="en-IN" sz="1200" dirty="0"/>
                    </a:p>
                  </a:txBody>
                  <a:tcPr marL="50992" marR="50992" marT="25496" marB="25496" anchor="ctr">
                    <a:lnL>
                      <a:noFill/>
                    </a:lnL>
                    <a:lnR>
                      <a:noFill/>
                    </a:lnR>
                    <a:lnT>
                      <a:noFill/>
                    </a:lnT>
                    <a:lnB>
                      <a:noFill/>
                    </a:lnB>
                    <a:solidFill>
                      <a:srgbClr val="FFFFB0"/>
                    </a:solidFill>
                  </a:tcPr>
                </a:tc>
              </a:tr>
            </a:tbl>
          </a:graphicData>
        </a:graphic>
      </p:graphicFrame>
      <p:sp>
        <p:nvSpPr>
          <p:cNvPr id="3" name="Date Placeholder 2"/>
          <p:cNvSpPr>
            <a:spLocks noGrp="1"/>
          </p:cNvSpPr>
          <p:nvPr>
            <p:ph type="dt" sz="half" idx="10"/>
          </p:nvPr>
        </p:nvSpPr>
        <p:spPr/>
        <p:txBody>
          <a:bodyPr/>
          <a:lstStyle/>
          <a:p>
            <a:fld id="{149924EC-396B-44A9-91EA-B42A802272B4}" type="datetime1">
              <a:rPr lang="en-IN" sz="900" smtClean="0"/>
            </a:fld>
            <a:endParaRPr lang="en-IN"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a:ln>
            <a:solidFill>
              <a:srgbClr val="C00000"/>
            </a:solidFill>
          </a:ln>
        </p:spPr>
        <p:txBody>
          <a:bodyPr>
            <a:normAutofit fontScale="25000"/>
          </a:bodyPr>
          <a:lstStyle/>
          <a:p>
            <a:pPr marL="0" lvl="0" indent="0" algn="just">
              <a:lnSpc>
                <a:spcPct val="5000"/>
              </a:lnSpc>
              <a:spcAft>
                <a:spcPts val="1000"/>
              </a:spcAft>
              <a:buNone/>
            </a:pPr>
            <a:endParaRPr lang="en-IN" altLang="en-US" sz="48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100000"/>
              </a:lnSpc>
              <a:spcAft>
                <a:spcPts val="1000"/>
              </a:spcAft>
              <a:buNone/>
            </a:pPr>
            <a:r>
              <a:rPr lang="en-IN" altLang="en-US" sz="96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HTML </a:t>
            </a:r>
            <a:r>
              <a:rPr lang="en-US" altLang="en-US" sz="96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Event</a:t>
            </a:r>
            <a:r>
              <a:rPr lang="en-IN" altLang="en-US" sz="96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US" altLang="en-US" sz="96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altLang="en-US" sz="96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HTML events are actions or occurrences triggered by user interaction or browser activity, such as clicking a button, typing on a keyboard, loading a page, or playing media.</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Events enable interactivity in web pages, allowing dynamic responses like validation, content updates, and visual effects without reloading the page.</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HTML events are specified as attributes inside HTML elements using the prefix on, for example: onclick, onload, onfocus.</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Mouse Events</a:t>
            </a: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handle actions performed using the mouse:</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onclick, ondblclick, onmouseover, onmouseout, onmousedown, onmouseup</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Keyboard Events</a:t>
            </a: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are triggered by keyboard interactions:</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onkeydown, onkeyup, onkeypress</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Form and Input Events</a:t>
            </a: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occur during user input and form handling:</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onfocus, onblur, onchange, oninput, onsubmit, onreset</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Window Events</a:t>
            </a: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occur at the browser or document level:</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onload, onresize, onunload, onscro</a:t>
            </a:r>
            <a:r>
              <a:rPr lang="en-US" altLang="en-US" sz="6000" kern="150" dirty="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rPr>
              <a:t>ll</a:t>
            </a:r>
            <a:endParaRPr lang="en-US" altLang="en-US" sz="6000" kern="150" dirty="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Clipboard Events</a:t>
            </a: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manage copy–paste operations:</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oncopy, oncut, onpaste</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Media Events</a:t>
            </a: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are associated with audio and video elements:</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onplay, onpause, onended, onvolumechange</a:t>
            </a:r>
            <a:endParaRPr lang="en-US" altLang="en-US" sz="6000" kern="15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Touch and Drag-Drop Events</a:t>
            </a: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support mobile and interactive UI features:</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Touch: ontouchstart, ontouchmove, ontouchend</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Drag-Drop:</a:t>
            </a: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ondragstart, ondragover, ondrop</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Footer Placeholder 1"/>
          <p:cNvSpPr>
            <a:spLocks noGrp="1"/>
          </p:cNvSpPr>
          <p:nvPr>
            <p:ph type="ftr" sz="quarter" idx="11"/>
          </p:nvPr>
        </p:nvSpPr>
        <p:spPr/>
        <p:txBody>
          <a:bodyPr/>
          <a:p>
            <a:r>
              <a:rPr lang="en-US"/>
              <a:t>Dr. Adla Padma</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a:ln>
            <a:solidFill>
              <a:srgbClr val="C00000"/>
            </a:solidFill>
          </a:ln>
        </p:spPr>
        <p:txBody>
          <a:bodyPr>
            <a:normAutofit fontScale="25000"/>
          </a:bodyPr>
          <a:lstStyle/>
          <a:p>
            <a:pPr marL="0" lvl="0" indent="0" algn="just">
              <a:lnSpc>
                <a:spcPct val="5000"/>
              </a:lnSpc>
              <a:spcAft>
                <a:spcPts val="1000"/>
              </a:spcAft>
              <a:buNone/>
            </a:pPr>
            <a:endParaRPr lang="en-IN" altLang="en-US" sz="96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5000"/>
              </a:lnSpc>
              <a:spcAft>
                <a:spcPts val="1000"/>
              </a:spcAft>
              <a:buNone/>
            </a:pPr>
            <a:r>
              <a:rPr lang="en-IN" altLang="en-US" sz="96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HTML SVG</a:t>
            </a:r>
            <a:r>
              <a:rPr lang="en-US" altLang="en-US" sz="96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altLang="en-US" sz="96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SVG (Scalable Vector Graphics) is an XML-based vector image format used to create two-dimensional graphics on the web that scale without loss of quality.</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SVG graphics are resolution-independent, making them suitable for responsive web design, icons, diagrams, charts, and animations.</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SVG elements are written directly inside HTML using the &lt;svg&gt; tag and can be styled using CSS and controlled using attributes.</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Basic Shape Elements are used to draw simple geometric figures:</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&lt;rect&gt;, &lt;circle&gt;, &lt;ellipse&gt;, &lt;line&gt;, &lt;polyline&gt;, &lt;polygon&gt;</a:t>
            </a:r>
            <a:endPar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Path Element is used to draw complex shapes and curves:</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&lt;path&gt; (using commands like M, L, C, Q, Z)</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M (Move To)</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L (Line To)</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H (Horizontal Line To)</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V (Vertical Line To)</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 C (Cubic Curve)</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S (Smooth Cubic</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Curve)</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Q (Quadratic Curve)</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T (Smooth Quadratic  Curve)</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A (Arc)</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sym typeface="+mn-ea"/>
              </a:rPr>
              <a:t>Z (Close Path)</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Text Elements are used to display text in graphics:</a:t>
            </a:r>
            <a:r>
              <a:rPr lang="en-IN"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&lt;text&gt;, &lt;textPath&gt;</a:t>
            </a:r>
            <a:endPar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Structural and Reusable Elements help organize and reuse graphics:</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&lt;g&gt; (grouping), &lt;defs&gt; (definitions), &lt;use&gt; (reuse elements)</a:t>
            </a:r>
            <a:endPar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Painting and Styling Elements control colors and fills:</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&lt;linearGradient&gt;, &lt;radialGradient&gt;, &lt;stop&gt;, &lt;pattern&gt;</a:t>
            </a:r>
            <a:endPar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Media and Visual Effect Elements enhance graphics:</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&lt;image&gt;, &lt;clipPath&gt;, &lt;mask&gt;</a:t>
            </a:r>
            <a:endPar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Animation Elements add motion to SVG graphics:</a:t>
            </a:r>
            <a:r>
              <a:rPr lang="en-IN" altLang="en-US" sz="6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&lt;animate&gt;, &lt;animateTransform&gt;, &lt;animateMotion&gt;</a:t>
            </a:r>
            <a:endParaRPr lang="en-US" altLang="en-US" sz="6000" kern="15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Footer Placeholder 1"/>
          <p:cNvSpPr>
            <a:spLocks noGrp="1"/>
          </p:cNvSpPr>
          <p:nvPr>
            <p:ph type="ftr" sz="quarter" idx="11"/>
          </p:nvPr>
        </p:nvSpPr>
        <p:spPr/>
        <p:txBody>
          <a:bodyPr/>
          <a:p>
            <a:r>
              <a:rPr lang="en-US"/>
              <a:t>Dr. Adla Padma</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a:ln>
            <a:solidFill>
              <a:srgbClr val="C00000"/>
            </a:solidFill>
          </a:ln>
        </p:spPr>
        <p:txBody>
          <a:bodyPr>
            <a:normAutofit fontScale="90000" lnSpcReduction="10000"/>
          </a:bodyPr>
          <a:lstStyle/>
          <a:p>
            <a:pPr marL="0" lvl="0" indent="0" algn="just">
              <a:lnSpc>
                <a:spcPct val="5000"/>
              </a:lnSpc>
              <a:spcAft>
                <a:spcPts val="1000"/>
              </a:spcAft>
              <a:buNone/>
            </a:pPr>
            <a:endParaRPr lang="en-IN" altLang="en-US" sz="12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100000"/>
              </a:lnSpc>
              <a:spcAft>
                <a:spcPts val="1000"/>
              </a:spcAft>
              <a:buNone/>
            </a:pPr>
            <a:r>
              <a:rPr lang="en-US" altLang="en-US" sz="457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Web storage</a:t>
            </a:r>
            <a:endParaRPr lang="en-US" altLang="en-US" sz="457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100000"/>
              </a:lnSpc>
              <a:spcAft>
                <a:spcPts val="1000"/>
              </a:spcAft>
              <a:buNone/>
            </a:pPr>
            <a:endParaRPr lang="en-US" altLang="en-US" sz="12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With web storage, applications can store data locally within the user's browser.</a:t>
            </a:r>
            <a:r>
              <a:rPr lang="en-IN"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Before HTML5, application data had to be stored in cookies, included in every server request. Web storage is more secure, and large amounts of data can be stored locally, without affecting website performance.</a:t>
            </a:r>
            <a:r>
              <a:rPr lang="en-IN"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Unlike cookies, the storage limit is far larger (at least 5MB) and information is never transferred to the server.</a:t>
            </a:r>
            <a:r>
              <a:rPr lang="en-IN"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Web storage is per origin (per domain and protocol). All pages, from one origin, can store and access the same data.</a:t>
            </a:r>
            <a:r>
              <a:rPr lang="en-IN"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Web Storage API Objects</a:t>
            </a:r>
            <a:r>
              <a:rPr lang="en-IN"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Web storage provides two objects for storing data in the browser</a:t>
            </a:r>
            <a:r>
              <a:rPr lang="en-IN"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2000" kern="15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window.localStorage</a:t>
            </a:r>
            <a:r>
              <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stores data with no expiration date (data is not lost when the browser tab is closed)</a:t>
            </a:r>
            <a:endPar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0000"/>
              </a:lnSpc>
              <a:spcAft>
                <a:spcPts val="1000"/>
              </a:spcAft>
              <a:buFont typeface="Wingdings" panose="05000000000000000000" charset="0"/>
              <a:buChar char="Ø"/>
            </a:pPr>
            <a:r>
              <a:rPr lang="en-US" altLang="en-US" sz="2000" kern="15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window.sessionStorage</a:t>
            </a:r>
            <a:r>
              <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stores data for one session (data is lost when the browser tab is closed)</a:t>
            </a:r>
            <a:endPar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100000"/>
              </a:lnSpc>
              <a:spcAft>
                <a:spcPts val="1000"/>
              </a:spcAft>
              <a:buNone/>
            </a:pPr>
            <a:endParaRPr lang="en-US" altLang="en-US" sz="2000" kern="15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Footer Placeholder 1"/>
          <p:cNvSpPr>
            <a:spLocks noGrp="1"/>
          </p:cNvSpPr>
          <p:nvPr>
            <p:ph type="ftr" sz="quarter" idx="11"/>
          </p:nvPr>
        </p:nvSpPr>
        <p:spPr/>
        <p:txBody>
          <a:bodyPr/>
          <a:p>
            <a:r>
              <a:rPr lang="en-US"/>
              <a:t>Dr. Adla Padma</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6830"/>
            <a:ext cx="8229600" cy="953135"/>
          </a:xfrm>
        </p:spPr>
        <p:txBody>
          <a:bodyPr/>
          <a:p>
            <a:r>
              <a:rPr lang="en-US" altLang="en-US">
                <a:latin typeface="Times New Roman" panose="02020603050405020304" pitchFamily="18" charset="0"/>
                <a:cs typeface="Times New Roman" panose="02020603050405020304" pitchFamily="18" charset="0"/>
              </a:rPr>
              <a:t>Introduction to Canvas</a:t>
            </a:r>
            <a:endParaRPr lang="en-US" alt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25195"/>
            <a:ext cx="8229600" cy="5437505"/>
          </a:xfrm>
        </p:spPr>
        <p:txBody>
          <a:bodyPr>
            <a:noAutofit/>
          </a:bodyPr>
          <a:p>
            <a:pPr algn="just">
              <a:buFont typeface="Wingdings" panose="05000000000000000000" charset="0"/>
              <a:buChar char="Ø"/>
            </a:pPr>
            <a:r>
              <a:rPr lang="en-US" altLang="en-US" sz="1800">
                <a:latin typeface="Times New Roman" panose="02020603050405020304" pitchFamily="18" charset="0"/>
                <a:cs typeface="Times New Roman" panose="02020603050405020304" pitchFamily="18" charset="0"/>
              </a:rPr>
              <a:t>HTML Canvas is a bitmap-based graphics system introduced in HTML5 for drawing graphics dynamically on web pages.</a:t>
            </a:r>
            <a:endParaRPr lang="en-US" altLang="en-US" sz="180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latin typeface="Times New Roman" panose="02020603050405020304" pitchFamily="18" charset="0"/>
                <a:cs typeface="Times New Roman" panose="02020603050405020304" pitchFamily="18" charset="0"/>
              </a:rPr>
              <a:t>The </a:t>
            </a:r>
            <a:r>
              <a:rPr lang="en-US" altLang="en-US" sz="1800">
                <a:solidFill>
                  <a:srgbClr val="C00000"/>
                </a:solidFill>
                <a:latin typeface="Times New Roman" panose="02020603050405020304" pitchFamily="18" charset="0"/>
                <a:cs typeface="Times New Roman" panose="02020603050405020304" pitchFamily="18" charset="0"/>
              </a:rPr>
              <a:t>&lt;canvas&gt;</a:t>
            </a:r>
            <a:r>
              <a:rPr lang="en-US" altLang="en-US" sz="1800">
                <a:latin typeface="Times New Roman" panose="02020603050405020304" pitchFamily="18" charset="0"/>
                <a:cs typeface="Times New Roman" panose="02020603050405020304" pitchFamily="18" charset="0"/>
              </a:rPr>
              <a:t> element is the only HTML element, used to define a rectangular drawing area on the web page.</a:t>
            </a:r>
            <a:endParaRPr lang="en-US" altLang="en-US" sz="180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latin typeface="Times New Roman" panose="02020603050405020304" pitchFamily="18" charset="0"/>
                <a:cs typeface="Times New Roman" panose="02020603050405020304" pitchFamily="18" charset="0"/>
              </a:rPr>
              <a:t>The &lt;canvas&gt; element uses attributes such as id, width, and height to identify and size the drawing surface.</a:t>
            </a:r>
            <a:endParaRPr lang="en-US" altLang="en-US" sz="180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latin typeface="Times New Roman" panose="02020603050405020304" pitchFamily="18" charset="0"/>
                <a:cs typeface="Times New Roman" panose="02020603050405020304" pitchFamily="18" charset="0"/>
              </a:rPr>
              <a:t>Canvas graphics are rendered using a rendering context, most commonly the 2D context (</a:t>
            </a:r>
            <a:r>
              <a:rPr lang="en-US" altLang="en-US" sz="1800">
                <a:solidFill>
                  <a:srgbClr val="C00000"/>
                </a:solidFill>
                <a:latin typeface="Times New Roman" panose="02020603050405020304" pitchFamily="18" charset="0"/>
                <a:cs typeface="Times New Roman" panose="02020603050405020304" pitchFamily="18" charset="0"/>
              </a:rPr>
              <a:t>getContext("2d")</a:t>
            </a:r>
            <a:r>
              <a:rPr lang="en-US" altLang="en-US" sz="1800">
                <a:latin typeface="Times New Roman" panose="02020603050405020304" pitchFamily="18" charset="0"/>
                <a:cs typeface="Times New Roman" panose="02020603050405020304" pitchFamily="18" charset="0"/>
              </a:rPr>
              <a:t>).</a:t>
            </a:r>
            <a:endParaRPr lang="en-US" altLang="en-US" sz="180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latin typeface="Times New Roman" panose="02020603050405020304" pitchFamily="18" charset="0"/>
                <a:cs typeface="Times New Roman" panose="02020603050405020304" pitchFamily="18" charset="0"/>
              </a:rPr>
              <a:t>Canvas supports drawing primitives through context methods, including lines, rectangles, circles, arcs, paths, text, and images.</a:t>
            </a:r>
            <a:endParaRPr lang="en-US" altLang="en-US" sz="180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latin typeface="Times New Roman" panose="02020603050405020304" pitchFamily="18" charset="0"/>
                <a:cs typeface="Times New Roman" panose="02020603050405020304" pitchFamily="18" charset="0"/>
              </a:rPr>
              <a:t>Rectangle – Rectangles are drawn using methods like </a:t>
            </a:r>
            <a:r>
              <a:rPr lang="en-US" altLang="en-US" sz="1800">
                <a:solidFill>
                  <a:srgbClr val="C00000"/>
                </a:solidFill>
                <a:latin typeface="Times New Roman" panose="02020603050405020304" pitchFamily="18" charset="0"/>
                <a:cs typeface="Times New Roman" panose="02020603050405020304" pitchFamily="18" charset="0"/>
              </a:rPr>
              <a:t>fillRect(), strokeRect(), and clearRect().</a:t>
            </a:r>
            <a:endParaRPr lang="en-US" altLang="en-US" sz="1800">
              <a:solidFill>
                <a:srgbClr val="C00000"/>
              </a:solidFill>
              <a:latin typeface="Times New Roman" panose="02020603050405020304" pitchFamily="18" charset="0"/>
              <a:cs typeface="Times New Roman" panose="02020603050405020304" pitchFamily="18" charset="0"/>
            </a:endParaRPr>
          </a:p>
          <a:p>
            <a:pPr algn="just">
              <a:buFont typeface="Wingdings" panose="05000000000000000000" charset="0"/>
              <a:buChar char="Ø"/>
            </a:pPr>
            <a:endParaRPr lang="en-US" altLang="en-US" sz="180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solidFill>
                  <a:srgbClr val="C00000"/>
                </a:solidFill>
                <a:latin typeface="Times New Roman" panose="02020603050405020304" pitchFamily="18" charset="0"/>
                <a:cs typeface="Times New Roman" panose="02020603050405020304" pitchFamily="18" charset="0"/>
              </a:rPr>
              <a:t>Line </a:t>
            </a:r>
            <a:r>
              <a:rPr lang="en-IN" altLang="en-US" sz="1800">
                <a:solidFill>
                  <a:srgbClr val="C00000"/>
                </a:solidFill>
                <a:latin typeface="Times New Roman" panose="02020603050405020304" pitchFamily="18" charset="0"/>
                <a:cs typeface="Times New Roman" panose="02020603050405020304" pitchFamily="18" charset="0"/>
              </a:rPr>
              <a:t>, </a:t>
            </a:r>
            <a:r>
              <a:rPr lang="en-US" altLang="en-US" sz="1800">
                <a:solidFill>
                  <a:srgbClr val="C00000"/>
                </a:solidFill>
                <a:latin typeface="Times New Roman" panose="02020603050405020304" pitchFamily="18" charset="0"/>
                <a:cs typeface="Times New Roman" panose="02020603050405020304" pitchFamily="18" charset="0"/>
              </a:rPr>
              <a:t>Circle / Arc </a:t>
            </a:r>
            <a:r>
              <a:rPr lang="en-IN" altLang="en-US" sz="1800">
                <a:solidFill>
                  <a:srgbClr val="C00000"/>
                </a:solidFill>
                <a:latin typeface="Times New Roman" panose="02020603050405020304" pitchFamily="18" charset="0"/>
                <a:cs typeface="Times New Roman" panose="02020603050405020304" pitchFamily="18" charset="0"/>
              </a:rPr>
              <a:t>, </a:t>
            </a:r>
            <a:r>
              <a:rPr lang="en-US" altLang="en-US" sz="1800">
                <a:solidFill>
                  <a:srgbClr val="C00000"/>
                </a:solidFill>
                <a:latin typeface="Times New Roman" panose="02020603050405020304" pitchFamily="18" charset="0"/>
                <a:cs typeface="Times New Roman" panose="02020603050405020304" pitchFamily="18" charset="0"/>
              </a:rPr>
              <a:t>Path –  beginPath(), closePath(), moveTo(), and lineTo()</a:t>
            </a:r>
            <a:r>
              <a:rPr lang="en-IN" altLang="en-US" sz="1800">
                <a:solidFill>
                  <a:srgbClr val="C00000"/>
                </a:solidFill>
                <a:latin typeface="Times New Roman" panose="02020603050405020304" pitchFamily="18" charset="0"/>
                <a:cs typeface="Times New Roman" panose="02020603050405020304" pitchFamily="18" charset="0"/>
              </a:rPr>
              <a:t>, </a:t>
            </a:r>
            <a:r>
              <a:rPr lang="en-US" altLang="en-US" sz="1800">
                <a:solidFill>
                  <a:srgbClr val="C00000"/>
                </a:solidFill>
                <a:latin typeface="Times New Roman" panose="02020603050405020304" pitchFamily="18" charset="0"/>
                <a:cs typeface="Times New Roman" panose="02020603050405020304" pitchFamily="18" charset="0"/>
              </a:rPr>
              <a:t>Text </a:t>
            </a:r>
            <a:r>
              <a:rPr lang="en-IN" altLang="en-US" sz="1800">
                <a:solidFill>
                  <a:srgbClr val="C00000"/>
                </a:solidFill>
                <a:latin typeface="Times New Roman" panose="02020603050405020304" pitchFamily="18" charset="0"/>
                <a:cs typeface="Times New Roman" panose="02020603050405020304" pitchFamily="18" charset="0"/>
              </a:rPr>
              <a:t>, </a:t>
            </a:r>
            <a:r>
              <a:rPr lang="en-US" altLang="en-US" sz="1800">
                <a:solidFill>
                  <a:srgbClr val="C00000"/>
                </a:solidFill>
                <a:latin typeface="Times New Roman" panose="02020603050405020304" pitchFamily="18" charset="0"/>
                <a:cs typeface="Times New Roman" panose="02020603050405020304" pitchFamily="18" charset="0"/>
              </a:rPr>
              <a:t>Stroke Text</a:t>
            </a:r>
            <a:r>
              <a:rPr lang="en-IN" altLang="en-US" sz="1800">
                <a:solidFill>
                  <a:srgbClr val="C00000"/>
                </a:solidFill>
                <a:latin typeface="Times New Roman" panose="02020603050405020304" pitchFamily="18" charset="0"/>
                <a:cs typeface="Times New Roman" panose="02020603050405020304" pitchFamily="18" charset="0"/>
              </a:rPr>
              <a:t>, </a:t>
            </a:r>
            <a:r>
              <a:rPr lang="en-US" altLang="en-US" sz="1800">
                <a:solidFill>
                  <a:srgbClr val="C00000"/>
                </a:solidFill>
                <a:latin typeface="Times New Roman" panose="02020603050405020304" pitchFamily="18" charset="0"/>
                <a:cs typeface="Times New Roman" panose="02020603050405020304" pitchFamily="18" charset="0"/>
              </a:rPr>
              <a:t>Linear Gradient </a:t>
            </a:r>
            <a:r>
              <a:rPr lang="en-IN" altLang="en-US" sz="1800">
                <a:solidFill>
                  <a:srgbClr val="C00000"/>
                </a:solidFill>
                <a:latin typeface="Times New Roman" panose="02020603050405020304" pitchFamily="18" charset="0"/>
                <a:cs typeface="Times New Roman" panose="02020603050405020304" pitchFamily="18" charset="0"/>
              </a:rPr>
              <a:t>, </a:t>
            </a:r>
            <a:r>
              <a:rPr lang="en-US" altLang="en-US" sz="1800">
                <a:solidFill>
                  <a:srgbClr val="C00000"/>
                </a:solidFill>
                <a:latin typeface="Times New Roman" panose="02020603050405020304" pitchFamily="18" charset="0"/>
                <a:cs typeface="Times New Roman" panose="02020603050405020304" pitchFamily="18" charset="0"/>
              </a:rPr>
              <a:t>Circular (Radial) Gradient</a:t>
            </a:r>
            <a:r>
              <a:rPr lang="en-IN" altLang="en-US" sz="1800">
                <a:solidFill>
                  <a:srgbClr val="C00000"/>
                </a:solidFill>
                <a:latin typeface="Times New Roman" panose="02020603050405020304" pitchFamily="18" charset="0"/>
                <a:cs typeface="Times New Roman" panose="02020603050405020304" pitchFamily="18" charset="0"/>
              </a:rPr>
              <a:t>, </a:t>
            </a:r>
            <a:r>
              <a:rPr lang="en-US" altLang="en-US" sz="1800">
                <a:solidFill>
                  <a:srgbClr val="C00000"/>
                </a:solidFill>
                <a:latin typeface="Times New Roman" panose="02020603050405020304" pitchFamily="18" charset="0"/>
                <a:cs typeface="Times New Roman" panose="02020603050405020304" pitchFamily="18" charset="0"/>
              </a:rPr>
              <a:t>Colors and Styles</a:t>
            </a:r>
            <a:r>
              <a:rPr lang="en-IN" altLang="en-US" sz="1800">
                <a:solidFill>
                  <a:srgbClr val="C00000"/>
                </a:solidFill>
                <a:latin typeface="Times New Roman" panose="02020603050405020304" pitchFamily="18" charset="0"/>
                <a:cs typeface="Times New Roman" panose="02020603050405020304" pitchFamily="18" charset="0"/>
              </a:rPr>
              <a:t>,</a:t>
            </a:r>
            <a:r>
              <a:rPr lang="en-US" altLang="en-US" sz="1800">
                <a:solidFill>
                  <a:srgbClr val="C00000"/>
                </a:solidFill>
                <a:latin typeface="Times New Roman" panose="02020603050405020304" pitchFamily="18" charset="0"/>
                <a:cs typeface="Times New Roman" panose="02020603050405020304" pitchFamily="18" charset="0"/>
              </a:rPr>
              <a:t> Images – Images are drawn onto the canvas using the drawImage() method.</a:t>
            </a:r>
            <a:endParaRPr lang="en-US" altLang="en-US" sz="1800">
              <a:solidFill>
                <a:srgbClr val="C00000"/>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p>
            <a:r>
              <a:rPr lang="en-US"/>
              <a:t>Dr. Adla Padma</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6830"/>
            <a:ext cx="8229600" cy="953135"/>
          </a:xfrm>
        </p:spPr>
        <p:txBody>
          <a:bodyPr/>
          <a:p>
            <a:r>
              <a:rPr lang="en-US" altLang="en-US">
                <a:latin typeface="Times New Roman" panose="02020603050405020304" pitchFamily="18" charset="0"/>
                <a:cs typeface="Times New Roman" panose="02020603050405020304" pitchFamily="18" charset="0"/>
              </a:rPr>
              <a:t>Audio &amp; Video</a:t>
            </a:r>
            <a:endParaRPr lang="en-US" alt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2575" y="858520"/>
            <a:ext cx="8507730" cy="5848985"/>
          </a:xfrm>
          <a:ln>
            <a:solidFill>
              <a:srgbClr val="C00000"/>
            </a:solidFill>
          </a:ln>
        </p:spPr>
        <p:txBody>
          <a:bodyPr>
            <a:noAutofit/>
          </a:bodyPr>
          <a:p>
            <a:pPr algn="just">
              <a:buFont typeface="Wingdings" panose="05000000000000000000" charset="0"/>
              <a:buChar char="Ø"/>
            </a:pPr>
            <a:r>
              <a:rPr lang="en-US" altLang="en-US" sz="1800">
                <a:solidFill>
                  <a:schemeClr val="tx1"/>
                </a:solidFill>
                <a:latin typeface="Times New Roman" panose="02020603050405020304" pitchFamily="18" charset="0"/>
                <a:cs typeface="Times New Roman" panose="02020603050405020304" pitchFamily="18" charset="0"/>
              </a:rPr>
              <a:t>HTML5 provides built-in support for multimedia using the </a:t>
            </a:r>
            <a:r>
              <a:rPr lang="en-US" altLang="en-US" sz="1800">
                <a:solidFill>
                  <a:srgbClr val="C00000"/>
                </a:solidFill>
                <a:latin typeface="Times New Roman" panose="02020603050405020304" pitchFamily="18" charset="0"/>
                <a:cs typeface="Times New Roman" panose="02020603050405020304" pitchFamily="18" charset="0"/>
              </a:rPr>
              <a:t>&lt;audio&gt; and &lt;video&gt;</a:t>
            </a:r>
            <a:r>
              <a:rPr lang="en-US" altLang="en-US" sz="1800">
                <a:solidFill>
                  <a:schemeClr val="tx1"/>
                </a:solidFill>
                <a:latin typeface="Times New Roman" panose="02020603050405020304" pitchFamily="18" charset="0"/>
                <a:cs typeface="Times New Roman" panose="02020603050405020304" pitchFamily="18" charset="0"/>
              </a:rPr>
              <a:t> tags, which allow developers to embed sound and video content directly into web pages without relying on external plugins. The &lt;audio&gt; tag is used for sound files such as music and speech, while the &lt;video&gt; tag is used for video playback. The </a:t>
            </a:r>
            <a:r>
              <a:rPr lang="en-US" altLang="en-US" sz="1800">
                <a:solidFill>
                  <a:srgbClr val="C00000"/>
                </a:solidFill>
                <a:latin typeface="Times New Roman" panose="02020603050405020304" pitchFamily="18" charset="0"/>
                <a:cs typeface="Times New Roman" panose="02020603050405020304" pitchFamily="18" charset="0"/>
              </a:rPr>
              <a:t>&lt;source&gt; </a:t>
            </a:r>
            <a:r>
              <a:rPr lang="en-US" altLang="en-US" sz="1800">
                <a:solidFill>
                  <a:schemeClr val="tx1"/>
                </a:solidFill>
                <a:latin typeface="Times New Roman" panose="02020603050405020304" pitchFamily="18" charset="0"/>
                <a:cs typeface="Times New Roman" panose="02020603050405020304" pitchFamily="18" charset="0"/>
              </a:rPr>
              <a:t>tag is used inside both audio and video elements to specify media files in different formats, and the</a:t>
            </a:r>
            <a:r>
              <a:rPr lang="en-US" altLang="en-US" sz="1800">
                <a:solidFill>
                  <a:srgbClr val="C00000"/>
                </a:solidFill>
                <a:latin typeface="Times New Roman" panose="02020603050405020304" pitchFamily="18" charset="0"/>
                <a:cs typeface="Times New Roman" panose="02020603050405020304" pitchFamily="18" charset="0"/>
              </a:rPr>
              <a:t> &lt;track&gt;</a:t>
            </a:r>
            <a:r>
              <a:rPr lang="en-US" altLang="en-US" sz="1800">
                <a:solidFill>
                  <a:schemeClr val="tx1"/>
                </a:solidFill>
                <a:latin typeface="Times New Roman" panose="02020603050405020304" pitchFamily="18" charset="0"/>
                <a:cs typeface="Times New Roman" panose="02020603050405020304" pitchFamily="18" charset="0"/>
              </a:rPr>
              <a:t> tag is used with video to add subtitles or captions.</a:t>
            </a:r>
            <a:endParaRPr lang="en-US" altLang="en-US" sz="180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charset="0"/>
              <a:buChar char="Ø"/>
            </a:pPr>
            <a:endParaRPr lang="en-US" altLang="en-US" sz="180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solidFill>
                  <a:schemeClr val="tx1"/>
                </a:solidFill>
                <a:latin typeface="Times New Roman" panose="02020603050405020304" pitchFamily="18" charset="0"/>
                <a:cs typeface="Times New Roman" panose="02020603050405020304" pitchFamily="18" charset="0"/>
              </a:rPr>
              <a:t>Both audio and video elements support important attributes such as controls for </a:t>
            </a:r>
            <a:r>
              <a:rPr lang="en-US" altLang="en-US" sz="1800">
                <a:solidFill>
                  <a:srgbClr val="C00000"/>
                </a:solidFill>
                <a:latin typeface="Times New Roman" panose="02020603050405020304" pitchFamily="18" charset="0"/>
                <a:cs typeface="Times New Roman" panose="02020603050405020304" pitchFamily="18" charset="0"/>
              </a:rPr>
              <a:t>playback controls, autoplay, loop, and muted</a:t>
            </a:r>
            <a:r>
              <a:rPr lang="en-US" altLang="en-US" sz="1800">
                <a:solidFill>
                  <a:schemeClr val="tx1"/>
                </a:solidFill>
                <a:latin typeface="Times New Roman" panose="02020603050405020304" pitchFamily="18" charset="0"/>
                <a:cs typeface="Times New Roman" panose="02020603050405020304" pitchFamily="18" charset="0"/>
              </a:rPr>
              <a:t> to manage playback behavior. The poster attribute in the video tag displays an image before the video starts playing. HTML audio and video elements also support media events like play, pause, and ended, enabling interactive and user-controlled multimedia experiences on web pages.</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rgbClr val="C00000"/>
                </a:solidFill>
                <a:latin typeface="Times New Roman" panose="02020603050405020304" pitchFamily="18" charset="0"/>
                <a:cs typeface="Times New Roman" panose="02020603050405020304" pitchFamily="18" charset="0"/>
              </a:rPr>
              <a:t>&lt;audio src</a:t>
            </a:r>
            <a:r>
              <a:rPr lang="en-US" altLang="en-US" sz="1800">
                <a:solidFill>
                  <a:schemeClr val="tx1"/>
                </a:solidFill>
                <a:latin typeface="Times New Roman" panose="02020603050405020304" pitchFamily="18" charset="0"/>
                <a:cs typeface="Times New Roman" panose="02020603050405020304" pitchFamily="18" charset="0"/>
              </a:rPr>
              <a:t>="audio.mp3" controls autoplay loop muted preload="auto"&gt;&lt;/audio&gt;</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rgbClr val="C00000"/>
                </a:solidFill>
                <a:latin typeface="Times New Roman" panose="02020603050405020304" pitchFamily="18" charset="0"/>
                <a:cs typeface="Times New Roman" panose="02020603050405020304" pitchFamily="18" charset="0"/>
              </a:rPr>
              <a:t>&lt;video src</a:t>
            </a:r>
            <a:r>
              <a:rPr lang="en-US" altLang="en-US" sz="1800">
                <a:solidFill>
                  <a:schemeClr val="tx1"/>
                </a:solidFill>
                <a:latin typeface="Times New Roman" panose="02020603050405020304" pitchFamily="18" charset="0"/>
                <a:cs typeface="Times New Roman" panose="02020603050405020304" pitchFamily="18" charset="0"/>
              </a:rPr>
              <a:t>="video.mp4" controls autoplay loop muted width="640" height="360" poster="poster.jpg"&gt;</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chemeClr val="tx1"/>
                </a:solidFill>
                <a:latin typeface="Times New Roman" panose="02020603050405020304" pitchFamily="18" charset="0"/>
                <a:cs typeface="Times New Roman" panose="02020603050405020304" pitchFamily="18" charset="0"/>
              </a:rPr>
              <a:t>&lt;source src="video.mp4" type="video/mp4"&gt;</a:t>
            </a:r>
            <a:r>
              <a:rPr lang="en-IN" altLang="en-US" sz="1800">
                <a:solidFill>
                  <a:schemeClr val="tx1"/>
                </a:solidFill>
                <a:latin typeface="Times New Roman" panose="02020603050405020304" pitchFamily="18" charset="0"/>
                <a:cs typeface="Times New Roman" panose="02020603050405020304" pitchFamily="18" charset="0"/>
              </a:rPr>
              <a:t> </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chemeClr val="tx1"/>
                </a:solidFill>
                <a:latin typeface="Times New Roman" panose="02020603050405020304" pitchFamily="18" charset="0"/>
                <a:cs typeface="Times New Roman" panose="02020603050405020304" pitchFamily="18" charset="0"/>
              </a:rPr>
              <a:t>&lt;source src="video.webm" type="video/webm"&gt;</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chemeClr val="tx1"/>
                </a:solidFill>
                <a:latin typeface="Times New Roman" panose="02020603050405020304" pitchFamily="18" charset="0"/>
                <a:cs typeface="Times New Roman" panose="02020603050405020304" pitchFamily="18" charset="0"/>
              </a:rPr>
              <a:t>&lt;track src="subtitles.vtt" kind="subtitles" srclang="en" label="English" default&gt;&lt;/video&gt;</a:t>
            </a:r>
            <a:endParaRPr lang="en-US" altLang="en-US" sz="180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p>
            <a:r>
              <a:rPr lang="en-US"/>
              <a:t>Dr. Adla Padma</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6830"/>
            <a:ext cx="8229600" cy="953135"/>
          </a:xfrm>
        </p:spPr>
        <p:txBody>
          <a:bodyPr/>
          <a:p>
            <a:r>
              <a:rPr lang="en-US" altLang="en-US">
                <a:latin typeface="Times New Roman" panose="02020603050405020304" pitchFamily="18" charset="0"/>
                <a:cs typeface="Times New Roman" panose="02020603050405020304" pitchFamily="18" charset="0"/>
              </a:rPr>
              <a:t>Geolocations</a:t>
            </a:r>
            <a:endParaRPr lang="en-US" alt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2575" y="858520"/>
            <a:ext cx="8507730" cy="5848985"/>
          </a:xfrm>
          <a:ln>
            <a:solidFill>
              <a:srgbClr val="C00000"/>
            </a:solidFill>
          </a:ln>
        </p:spPr>
        <p:txBody>
          <a:bodyPr>
            <a:noAutofit/>
          </a:bodyPr>
          <a:p>
            <a:pPr algn="just">
              <a:buFont typeface="Wingdings" panose="05000000000000000000" charset="0"/>
              <a:buChar char="Ø"/>
            </a:pPr>
            <a:r>
              <a:rPr lang="en-US" altLang="en-US" sz="1800">
                <a:solidFill>
                  <a:schemeClr val="tx1"/>
                </a:solidFill>
                <a:latin typeface="Times New Roman" panose="02020603050405020304" pitchFamily="18" charset="0"/>
                <a:cs typeface="Times New Roman" panose="02020603050405020304" pitchFamily="18" charset="0"/>
              </a:rPr>
              <a:t>HTML5 Geolocation API allows web pages to access a user’s geographical location, including latitude, longitude, and optionally altitude, accuracy, speed, and heading. It is commonly used for location-based services such as maps, navigation, weather updates, and location tracking. Geolocation is not an HTML tag, but a JavaScript API accessed via </a:t>
            </a:r>
            <a:r>
              <a:rPr lang="en-US" altLang="en-US" sz="1800">
                <a:solidFill>
                  <a:srgbClr val="FF0000"/>
                </a:solidFill>
                <a:latin typeface="Times New Roman" panose="02020603050405020304" pitchFamily="18" charset="0"/>
                <a:cs typeface="Times New Roman" panose="02020603050405020304" pitchFamily="18" charset="0"/>
              </a:rPr>
              <a:t>navigator.geolocation</a:t>
            </a:r>
            <a:r>
              <a:rPr lang="en-US" altLang="en-US" sz="1800">
                <a:solidFill>
                  <a:schemeClr val="tx1"/>
                </a:solidFill>
                <a:latin typeface="Times New Roman" panose="02020603050405020304" pitchFamily="18" charset="0"/>
                <a:cs typeface="Times New Roman" panose="02020603050405020304" pitchFamily="18" charset="0"/>
              </a:rPr>
              <a:t>, which requires user permission before retrieving location data. The main methods include </a:t>
            </a:r>
            <a:r>
              <a:rPr lang="en-US" altLang="en-US" sz="1800">
                <a:solidFill>
                  <a:srgbClr val="C00000"/>
                </a:solidFill>
                <a:latin typeface="Times New Roman" panose="02020603050405020304" pitchFamily="18" charset="0"/>
                <a:cs typeface="Times New Roman" panose="02020603050405020304" pitchFamily="18" charset="0"/>
              </a:rPr>
              <a:t>getCurrentPosition() to get the current location once, watchPosition() </a:t>
            </a:r>
            <a:r>
              <a:rPr lang="en-US" altLang="en-US" sz="1800">
                <a:solidFill>
                  <a:schemeClr val="tx1"/>
                </a:solidFill>
                <a:latin typeface="Times New Roman" panose="02020603050405020304" pitchFamily="18" charset="0"/>
                <a:cs typeface="Times New Roman" panose="02020603050405020304" pitchFamily="18" charset="0"/>
              </a:rPr>
              <a:t>to continuously track location changes, and </a:t>
            </a:r>
            <a:r>
              <a:rPr lang="en-US" altLang="en-US" sz="1800">
                <a:solidFill>
                  <a:srgbClr val="C00000"/>
                </a:solidFill>
                <a:latin typeface="Times New Roman" panose="02020603050405020304" pitchFamily="18" charset="0"/>
                <a:cs typeface="Times New Roman" panose="02020603050405020304" pitchFamily="18" charset="0"/>
              </a:rPr>
              <a:t>clearWatch()</a:t>
            </a:r>
            <a:r>
              <a:rPr lang="en-US" altLang="en-US" sz="1800">
                <a:solidFill>
                  <a:schemeClr val="tx1"/>
                </a:solidFill>
                <a:latin typeface="Times New Roman" panose="02020603050405020304" pitchFamily="18" charset="0"/>
                <a:cs typeface="Times New Roman" panose="02020603050405020304" pitchFamily="18" charset="0"/>
              </a:rPr>
              <a:t> to stop tracking.</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chemeClr val="tx1"/>
                </a:solidFill>
                <a:latin typeface="Times New Roman" panose="02020603050405020304" pitchFamily="18" charset="0"/>
                <a:cs typeface="Times New Roman" panose="02020603050405020304" pitchFamily="18" charset="0"/>
              </a:rPr>
              <a:t>&lt;button </a:t>
            </a:r>
            <a:r>
              <a:rPr lang="en-US" altLang="en-US" sz="1800">
                <a:solidFill>
                  <a:srgbClr val="C00000"/>
                </a:solidFill>
                <a:latin typeface="Times New Roman" panose="02020603050405020304" pitchFamily="18" charset="0"/>
                <a:cs typeface="Times New Roman" panose="02020603050405020304" pitchFamily="18" charset="0"/>
              </a:rPr>
              <a:t>onclick="navigator.geolocation.getCurrentPosition(showPosition)"</a:t>
            </a:r>
            <a:r>
              <a:rPr lang="en-US" altLang="en-US" sz="1800">
                <a:solidFill>
                  <a:schemeClr val="tx1"/>
                </a:solidFill>
                <a:latin typeface="Times New Roman" panose="02020603050405020304" pitchFamily="18" charset="0"/>
                <a:cs typeface="Times New Roman" panose="02020603050405020304" pitchFamily="18" charset="0"/>
              </a:rPr>
              <a:t>&gt;Get My Location&lt;/button&gt;</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chemeClr val="tx1"/>
                </a:solidFill>
                <a:latin typeface="Times New Roman" panose="02020603050405020304" pitchFamily="18" charset="0"/>
                <a:cs typeface="Times New Roman" panose="02020603050405020304" pitchFamily="18" charset="0"/>
              </a:rPr>
              <a:t>&lt;p id="demo"&gt;&lt;/p&gt;</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chemeClr val="tx1"/>
                </a:solidFill>
                <a:latin typeface="Times New Roman" panose="02020603050405020304" pitchFamily="18" charset="0"/>
                <a:cs typeface="Times New Roman" panose="02020603050405020304" pitchFamily="18" charset="0"/>
              </a:rPr>
              <a:t>&lt;script&gt;</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chemeClr val="tx1"/>
                </a:solidFill>
                <a:latin typeface="Times New Roman" panose="02020603050405020304" pitchFamily="18" charset="0"/>
                <a:cs typeface="Times New Roman" panose="02020603050405020304" pitchFamily="18" charset="0"/>
              </a:rPr>
              <a:t>function showPosition(position){</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chemeClr val="tx1"/>
                </a:solidFill>
                <a:latin typeface="Times New Roman" panose="02020603050405020304" pitchFamily="18" charset="0"/>
                <a:cs typeface="Times New Roman" panose="02020603050405020304" pitchFamily="18" charset="0"/>
              </a:rPr>
              <a:t>  document.getElementById("demo").innerHTML = "Latitude: "+position.coords.latitude+", Longitude: "+position.coords.longitude;</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chemeClr val="tx1"/>
                </a:solidFill>
                <a:latin typeface="Times New Roman" panose="02020603050405020304" pitchFamily="18" charset="0"/>
                <a:cs typeface="Times New Roman" panose="02020603050405020304" pitchFamily="18" charset="0"/>
              </a:rPr>
              <a:t>}</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r>
              <a:rPr lang="en-US" altLang="en-US" sz="1800">
                <a:solidFill>
                  <a:schemeClr val="tx1"/>
                </a:solidFill>
                <a:latin typeface="Times New Roman" panose="02020603050405020304" pitchFamily="18" charset="0"/>
                <a:cs typeface="Times New Roman" panose="02020603050405020304" pitchFamily="18" charset="0"/>
              </a:rPr>
              <a:t>&lt;/script&gt;</a:t>
            </a:r>
            <a:endParaRPr lang="en-US" altLang="en-US" sz="1800">
              <a:solidFill>
                <a:schemeClr val="tx1"/>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endParaRPr lang="en-US" altLang="en-US" sz="180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p>
            <a:r>
              <a:rPr lang="en-US"/>
              <a:t>Dr. Adla Padma</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6830"/>
            <a:ext cx="8229600" cy="953135"/>
          </a:xfrm>
        </p:spPr>
        <p:txBody>
          <a:bodyPr/>
          <a:p>
            <a:r>
              <a:rPr lang="en-IN" altLang="en-US">
                <a:latin typeface="Times New Roman" panose="02020603050405020304" pitchFamily="18" charset="0"/>
                <a:cs typeface="Times New Roman" panose="02020603050405020304" pitchFamily="18" charset="0"/>
              </a:rPr>
              <a:t>Webworkers</a:t>
            </a:r>
            <a:endParaRPr lang="en-IN" alt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2575" y="858520"/>
            <a:ext cx="8507730" cy="5848985"/>
          </a:xfrm>
          <a:ln>
            <a:solidFill>
              <a:srgbClr val="C00000"/>
            </a:solidFill>
          </a:ln>
        </p:spPr>
        <p:txBody>
          <a:bodyPr>
            <a:noAutofit/>
          </a:bodyPr>
          <a:p>
            <a:pPr algn="just">
              <a:buFont typeface="Wingdings" panose="05000000000000000000" charset="0"/>
              <a:buChar char="Ø"/>
            </a:pPr>
            <a:r>
              <a:rPr lang="en-US" altLang="en-US" sz="1800">
                <a:solidFill>
                  <a:schemeClr val="tx1"/>
                </a:solidFill>
                <a:latin typeface="Times New Roman" panose="02020603050405020304" pitchFamily="18" charset="0"/>
                <a:cs typeface="Times New Roman" panose="02020603050405020304" pitchFamily="18" charset="0"/>
              </a:rPr>
              <a:t>Web workers are multithreaded objects that are used to execute Javascript in the background without affecting the performance of the application or webpage. Web Workers allow for long-running scripts that are not interrupted by scripts that respond to clicks or other user interactions and allow long tasks to be executed without affecting the responsiveness of the web page. Generally, it is used for big CPU-intensive tasks.</a:t>
            </a:r>
            <a:endParaRPr lang="en-US" altLang="en-US" sz="180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solidFill>
                  <a:srgbClr val="FF0000"/>
                </a:solidFill>
                <a:latin typeface="Times New Roman" panose="02020603050405020304" pitchFamily="18" charset="0"/>
                <a:cs typeface="Times New Roman" panose="02020603050405020304" pitchFamily="18" charset="0"/>
              </a:rPr>
              <a:t>Dedicated Workers:</a:t>
            </a:r>
            <a:r>
              <a:rPr lang="en-IN" altLang="en-US" sz="1800">
                <a:solidFill>
                  <a:schemeClr val="tx1"/>
                </a:solidFill>
                <a:latin typeface="Times New Roman" panose="02020603050405020304" pitchFamily="18" charset="0"/>
                <a:cs typeface="Times New Roman" panose="02020603050405020304" pitchFamily="18" charset="0"/>
              </a:rPr>
              <a:t> </a:t>
            </a:r>
            <a:r>
              <a:rPr lang="en-US" altLang="en-US" sz="1800">
                <a:solidFill>
                  <a:schemeClr val="tx1"/>
                </a:solidFill>
                <a:latin typeface="Times New Roman" panose="02020603050405020304" pitchFamily="18" charset="0"/>
                <a:cs typeface="Times New Roman" panose="02020603050405020304" pitchFamily="18" charset="0"/>
              </a:rPr>
              <a:t>Dedicated workers are typically used within a single script.</a:t>
            </a:r>
            <a:endParaRPr lang="en-US" altLang="en-US" sz="180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IN" altLang="en-US" sz="1800">
                <a:solidFill>
                  <a:srgbClr val="FF0000"/>
                </a:solidFill>
                <a:latin typeface="Times New Roman" panose="02020603050405020304" pitchFamily="18" charset="0"/>
                <a:cs typeface="Times New Roman" panose="02020603050405020304" pitchFamily="18" charset="0"/>
              </a:rPr>
              <a:t>S</a:t>
            </a:r>
            <a:r>
              <a:rPr lang="en-US" altLang="en-US" sz="1800">
                <a:solidFill>
                  <a:srgbClr val="FF0000"/>
                </a:solidFill>
                <a:latin typeface="Times New Roman" panose="02020603050405020304" pitchFamily="18" charset="0"/>
                <a:cs typeface="Times New Roman" panose="02020603050405020304" pitchFamily="18" charset="0"/>
              </a:rPr>
              <a:t>hared Workers:</a:t>
            </a:r>
            <a:r>
              <a:rPr lang="en-IN" altLang="en-US" sz="1800">
                <a:solidFill>
                  <a:schemeClr val="tx1"/>
                </a:solidFill>
                <a:latin typeface="Times New Roman" panose="02020603050405020304" pitchFamily="18" charset="0"/>
                <a:cs typeface="Times New Roman" panose="02020603050405020304" pitchFamily="18" charset="0"/>
              </a:rPr>
              <a:t> </a:t>
            </a:r>
            <a:r>
              <a:rPr lang="en-US" altLang="en-US" sz="1800">
                <a:solidFill>
                  <a:schemeClr val="tx1"/>
                </a:solidFill>
                <a:latin typeface="Times New Roman" panose="02020603050405020304" pitchFamily="18" charset="0"/>
                <a:cs typeface="Times New Roman" panose="02020603050405020304" pitchFamily="18" charset="0"/>
              </a:rPr>
              <a:t>A shared worker can be accessed by multiple scripts running in different windows, iframes, or other contexts, as long as they are in the same domain.</a:t>
            </a:r>
            <a:endParaRPr lang="en-US" altLang="en-US" sz="180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solidFill>
                  <a:schemeClr val="tx1"/>
                </a:solidFill>
                <a:latin typeface="Times New Roman" panose="02020603050405020304" pitchFamily="18" charset="0"/>
                <a:cs typeface="Times New Roman" panose="02020603050405020304" pitchFamily="18" charset="0"/>
              </a:rPr>
              <a:t> create a web worker</a:t>
            </a:r>
            <a:endParaRPr lang="en-US" altLang="en-US" sz="180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solidFill>
                  <a:srgbClr val="FF0000"/>
                </a:solidFill>
                <a:latin typeface="Times New Roman" panose="02020603050405020304" pitchFamily="18" charset="0"/>
                <a:cs typeface="Times New Roman" panose="02020603050405020304" pitchFamily="18" charset="0"/>
              </a:rPr>
              <a:t>worker = new Worker("webWorker.js");</a:t>
            </a:r>
            <a:endParaRPr lang="en-US" altLang="en-US" sz="1800">
              <a:solidFill>
                <a:srgbClr val="FF0000"/>
              </a:solidFill>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solidFill>
                  <a:schemeClr val="tx1"/>
                </a:solidFill>
                <a:latin typeface="Times New Roman" panose="02020603050405020304" pitchFamily="18" charset="0"/>
                <a:cs typeface="Times New Roman" panose="02020603050405020304" pitchFamily="18" charset="0"/>
              </a:rPr>
              <a:t>terminate a web worker.</a:t>
            </a:r>
            <a:endParaRPr lang="en-US" altLang="en-US" sz="180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1800">
                <a:solidFill>
                  <a:srgbClr val="FF0000"/>
                </a:solidFill>
                <a:latin typeface="Times New Roman" panose="02020603050405020304" pitchFamily="18" charset="0"/>
                <a:cs typeface="Times New Roman" panose="02020603050405020304" pitchFamily="18" charset="0"/>
              </a:rPr>
              <a:t>worker.terminate();</a:t>
            </a:r>
            <a:endParaRPr lang="en-US" altLang="en-US" sz="1800">
              <a:solidFill>
                <a:srgbClr val="FF0000"/>
              </a:solidFill>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endParaRPr lang="en-US" altLang="en-US" sz="1800">
              <a:solidFill>
                <a:srgbClr val="FF0000"/>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p>
            <a:r>
              <a:rPr lang="en-US"/>
              <a:t>Dr. Adla Padma</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09800"/>
            <a:ext cx="8229600" cy="3916363"/>
          </a:xfrm>
        </p:spPr>
        <p:txBody>
          <a:bodyPr>
            <a:normAutofit/>
          </a:bodyPr>
          <a:lstStyle/>
          <a:p>
            <a:pPr algn="ctr">
              <a:buNone/>
            </a:pPr>
            <a:r>
              <a:rPr lang="en-US" sz="11500" dirty="0">
                <a:solidFill>
                  <a:srgbClr val="002060"/>
                </a:solidFill>
                <a:latin typeface="Bauhaus 93" panose="04030905020B02020C02" pitchFamily="82" charset="0"/>
              </a:rPr>
              <a:t>THANK YOU</a:t>
            </a:r>
            <a:endParaRPr lang="en-US" sz="11500" dirty="0">
              <a:solidFill>
                <a:srgbClr val="002060"/>
              </a:solidFill>
              <a:latin typeface="Bauhaus 93" panose="04030905020B02020C02" pitchFamily="82" charset="0"/>
            </a:endParaRPr>
          </a:p>
        </p:txBody>
      </p:sp>
      <p:sp>
        <p:nvSpPr>
          <p:cNvPr id="2" name="Footer Placeholder 1"/>
          <p:cNvSpPr>
            <a:spLocks noGrp="1"/>
          </p:cNvSpPr>
          <p:nvPr>
            <p:ph type="ftr" sz="quarter" idx="11"/>
          </p:nvPr>
        </p:nvSpPr>
        <p:spPr/>
        <p:txBody>
          <a:bodyPr/>
          <a:p>
            <a:r>
              <a:rPr lang="en-US"/>
              <a:t>Dr. Adla Padma</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9152</Words>
  <Application>WPS Presentation</Application>
  <PresentationFormat>On-screen Show (4:3)</PresentationFormat>
  <Paragraphs>343</Paragraphs>
  <Slides>22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22</vt:i4>
      </vt:variant>
    </vt:vector>
  </HeadingPairs>
  <TitlesOfParts>
    <vt:vector size="36" baseType="lpstr">
      <vt:lpstr>Arial</vt:lpstr>
      <vt:lpstr>SimSun</vt:lpstr>
      <vt:lpstr>Wingdings</vt:lpstr>
      <vt:lpstr>Times New Roman</vt:lpstr>
      <vt:lpstr>Arial Black</vt:lpstr>
      <vt:lpstr>Calibri</vt:lpstr>
      <vt:lpstr>Arial Rounded MT Bold</vt:lpstr>
      <vt:lpstr>AngsanaUPC</vt:lpstr>
      <vt:lpstr>Microsoft Sans Serif</vt:lpstr>
      <vt:lpstr>Microsoft YaHei</vt:lpstr>
      <vt:lpstr>Arial Unicode MS</vt:lpstr>
      <vt:lpstr>Wingdings</vt:lpstr>
      <vt:lpstr>Bauhaus 93</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Paired/Non-Paired</vt:lpstr>
      <vt:lpstr>condt</vt:lpstr>
      <vt:lpstr>PowerPoint 演示文稿</vt:lpstr>
      <vt:lpstr>PowerPoint 演示文稿</vt:lpstr>
      <vt:lpstr>PowerPoint 演示文稿</vt:lpstr>
      <vt:lpstr>Introduction to Canvas</vt:lpstr>
      <vt:lpstr>Audio &amp; Video</vt:lpstr>
      <vt:lpstr>Geolocations</vt:lpstr>
      <vt:lpstr>Webworkers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ANIL</dc:creator>
  <cp:lastModifiedBy>padma padhu</cp:lastModifiedBy>
  <cp:revision>82</cp:revision>
  <dcterms:created xsi:type="dcterms:W3CDTF">2006-08-16T00:00:00Z</dcterms:created>
  <dcterms:modified xsi:type="dcterms:W3CDTF">2025-12-20T03:49:30Z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7C2F805AF7254096B91E7FED7BB514DC_12</vt:lpwstr>
  </property>
  <property fmtid="{D5CDD505-2E9C-101B-9397-08002B2CF9AE}" pid="3" name="KSOProductBuildVer">
    <vt:lpwstr>1033-12.2.0.23155</vt:lpwstr>
  </property>
</Properties>
</file>