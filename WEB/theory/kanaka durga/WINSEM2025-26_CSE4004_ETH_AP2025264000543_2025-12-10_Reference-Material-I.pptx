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1" r:id="rId2"/>
    <p:sldId id="327" r:id="rId3"/>
    <p:sldId id="335" r:id="rId4"/>
    <p:sldId id="336" r:id="rId5"/>
    <p:sldId id="337" r:id="rId6"/>
    <p:sldId id="338" r:id="rId7"/>
    <p:sldId id="344" r:id="rId8"/>
    <p:sldId id="339" r:id="rId9"/>
    <p:sldId id="342" r:id="rId10"/>
    <p:sldId id="341" r:id="rId11"/>
    <p:sldId id="340" r:id="rId12"/>
    <p:sldId id="343" r:id="rId13"/>
    <p:sldId id="333" r:id="rId14"/>
    <p:sldId id="315" r:id="rId15"/>
  </p:sldIdLst>
  <p:sldSz cx="9144000" cy="5715000" type="screen16x10"/>
  <p:notesSz cx="6645275" cy="91741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0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F3FC"/>
    <a:srgbClr val="FFFFCC"/>
    <a:srgbClr val="FF0000"/>
    <a:srgbClr val="003399"/>
    <a:srgbClr val="C51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1" autoAdjust="0"/>
  </p:normalViewPr>
  <p:slideViewPr>
    <p:cSldViewPr>
      <p:cViewPr varScale="1">
        <p:scale>
          <a:sx n="72" d="100"/>
          <a:sy n="72" d="100"/>
        </p:scale>
        <p:origin x="1052" y="44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98" y="-90"/>
      </p:cViewPr>
      <p:guideLst>
        <p:guide orient="horz" pos="2890"/>
        <p:guide pos="209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3073400" y="86883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algn="r" defTabSz="835025">
              <a:defRPr sz="1000" b="1"/>
            </a:lvl1pPr>
          </a:lstStyle>
          <a:p>
            <a:pPr>
              <a:defRPr/>
            </a:pPr>
            <a:r>
              <a:rPr lang="en-IN"/>
              <a:t>DC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5953125" y="8688388"/>
            <a:ext cx="6207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defTabSz="835025">
              <a:defRPr sz="1000" b="1"/>
            </a:lvl1pPr>
          </a:lstStyle>
          <a:p>
            <a:pPr>
              <a:defRPr/>
            </a:pPr>
            <a:fld id="{73B4E500-E37F-4B0E-96AA-0E2483706BB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6261894" y="10052844"/>
            <a:ext cx="200025" cy="1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989" name="Picture 2" descr="D:\Design Images\pic\search-bar-bg.jpg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463"/>
            <a:ext cx="20796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158750"/>
            <a:ext cx="6645275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marL="176213" defTabSz="835025">
              <a:defRPr sz="1100" b="1"/>
            </a:lvl1pPr>
          </a:lstStyle>
          <a:p>
            <a:pPr>
              <a:defRPr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7749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763963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algn="r"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255D118-8232-4825-B18F-F0CD1BEB431D}" type="datetime1">
              <a:rPr lang="en-US"/>
              <a:pPr>
                <a:defRPr/>
              </a:pPr>
              <a:t>9/9/2021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8975"/>
            <a:ext cx="5502275" cy="3438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63575" y="4357688"/>
            <a:ext cx="5318125" cy="412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IN"/>
              <a:t>DC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763963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algn="r"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6F143FB-66E5-4E47-8069-3C3B0CBB9B7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98291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573088" y="688975"/>
            <a:ext cx="5499100" cy="343852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IN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CD1C9B-69BB-40ED-88E4-C0F9C29B81B8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39941" name="Footer Placeholder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IN"/>
              <a:t>DC Meeting</a:t>
            </a:r>
          </a:p>
        </p:txBody>
      </p:sp>
      <p:sp>
        <p:nvSpPr>
          <p:cNvPr id="39942" name="Header Placeholder 5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42875"/>
            <a:ext cx="9144000" cy="6429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28575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6858000" y="5286375"/>
            <a:ext cx="28575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9" name="Rectangle 49"/>
          <p:cNvSpPr>
            <a:spLocks noChangeArrowheads="1"/>
          </p:cNvSpPr>
          <p:nvPr userDrawn="1"/>
        </p:nvSpPr>
        <p:spPr bwMode="auto">
          <a:xfrm>
            <a:off x="0" y="4189413"/>
            <a:ext cx="9144000" cy="365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06" y="4786326"/>
            <a:ext cx="9072594" cy="468638"/>
          </a:xfrm>
        </p:spPr>
        <p:txBody>
          <a:bodyPr>
            <a:normAutofit/>
          </a:bodyPr>
          <a:lstStyle>
            <a:lvl1pPr algn="r">
              <a:defRPr sz="2400" b="1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06" y="5252831"/>
            <a:ext cx="9072594" cy="357190"/>
          </a:xfrm>
        </p:spPr>
        <p:txBody>
          <a:bodyPr>
            <a:noAutofit/>
          </a:bodyPr>
          <a:lstStyle>
            <a:lvl1pPr marL="0" indent="0" algn="r">
              <a:buNone/>
              <a:defRPr sz="1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3" y="142875"/>
            <a:ext cx="2386224" cy="7388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7" y="337220"/>
            <a:ext cx="1728191" cy="4171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4"/>
            <a:ext cx="8258204" cy="52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74709-785F-457C-9429-4E3DA889C601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6FC18-A483-43BC-83D0-C7F7814867A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28674"/>
            <a:ext cx="4038600" cy="421484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28674"/>
            <a:ext cx="4038600" cy="421484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210CE-E9BF-439F-887E-E5FC4510379A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8C114-B763-4CBF-B5DD-49D2D8823C4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52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28674"/>
            <a:ext cx="4040188" cy="53313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0178"/>
            <a:ext cx="4040188" cy="37147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928674"/>
            <a:ext cx="4041775" cy="53313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0178"/>
            <a:ext cx="4041775" cy="37147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B9085-2344-4D33-ABA8-34A6022C206F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66475-10CE-487A-A234-748010D13EC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5BE3B-6E56-4DBB-8503-D66D5865FAEA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88A24-15B2-4014-B454-8406F43B342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C778C-E472-459B-A199-6D1A098CE9FE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E58E4-4C09-4B68-AA89-9B519AD825D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58175" cy="5222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000125"/>
            <a:ext cx="8229600" cy="41052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85099-9D73-4FF5-824F-18922298BE49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75163-F4B9-4804-9087-CAD0DE4888D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58175" cy="5222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00125"/>
            <a:ext cx="403860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00125"/>
            <a:ext cx="403860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3C916-84AC-49A4-BA95-C87AE8C788FC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36D7-947C-46F4-AAB0-A4F6E570EC1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42875"/>
            <a:ext cx="9144000" cy="6429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28575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6858000" y="5286375"/>
            <a:ext cx="28575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9" name="Rectangle 49"/>
          <p:cNvSpPr>
            <a:spLocks noChangeArrowheads="1"/>
          </p:cNvSpPr>
          <p:nvPr userDrawn="1"/>
        </p:nvSpPr>
        <p:spPr bwMode="auto">
          <a:xfrm>
            <a:off x="0" y="4189413"/>
            <a:ext cx="9144000" cy="365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06" y="5252831"/>
            <a:ext cx="9072594" cy="357190"/>
          </a:xfrm>
        </p:spPr>
        <p:txBody>
          <a:bodyPr>
            <a:noAutofit/>
          </a:bodyPr>
          <a:lstStyle>
            <a:lvl1pPr marL="0" indent="0" algn="r">
              <a:buNone/>
              <a:defRPr sz="1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3" y="142875"/>
            <a:ext cx="2386224" cy="7388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7" y="337220"/>
            <a:ext cx="1728191" cy="4171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715375" y="238125"/>
            <a:ext cx="428625" cy="4968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000125"/>
            <a:ext cx="82296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875" y="5297488"/>
            <a:ext cx="1674813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5123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8B9D937-9D35-46BF-A1AD-A550A037BCB7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05275" y="5297488"/>
            <a:ext cx="2895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5375" y="274638"/>
            <a:ext cx="428625" cy="428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1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63BC23E-C0FD-44A0-8393-5A086AC36B3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58175" cy="5222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42875" cy="5724525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 rot="5400000">
            <a:off x="6910388" y="5456238"/>
            <a:ext cx="179387" cy="1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9" r:id="rId9"/>
  </p:sldLayoutIdLst>
  <p:transition>
    <p:wipe dir="r"/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 kern="1200">
          <a:solidFill>
            <a:srgbClr val="003399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tag_ul.asp" TargetMode="External"/><Relationship Id="rId2" Type="http://schemas.openxmlformats.org/officeDocument/2006/relationships/hyperlink" Target="https://www.w3schools.com/tags/tag_ol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www.w3schools.com/tags/tag_menu.asp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tag_iframe.as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wt/exe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684213" y="1920875"/>
            <a:ext cx="788828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hangingPunct="0"/>
            <a:r>
              <a:rPr lang="en-US" sz="2400" b="1" dirty="0">
                <a:solidFill>
                  <a:srgbClr val="003399"/>
                </a:solidFill>
                <a:ea typeface="Arial Unicode MS" pitchFamily="34" charset="-128"/>
                <a:cs typeface="Arial Unicode MS" pitchFamily="34" charset="-128"/>
              </a:rPr>
              <a:t>CSE4004 – Web Technologies</a:t>
            </a:r>
          </a:p>
          <a:p>
            <a:pPr hangingPunct="0"/>
            <a:r>
              <a:rPr lang="en-US" sz="2400" b="1" dirty="0"/>
              <a:t>					</a:t>
            </a:r>
          </a:p>
          <a:p>
            <a:r>
              <a:rPr lang="en-US" sz="2400" b="1" dirty="0"/>
              <a:t>					 HTML </a:t>
            </a:r>
          </a:p>
          <a:p>
            <a:r>
              <a:rPr lang="en-US" sz="2400" dirty="0"/>
              <a:t>		</a:t>
            </a:r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FBB98B5-F5DD-4ACD-BBC4-A7A506D59B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Client and Server Programming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762000"/>
            <a:ext cx="48768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90068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Markup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the structure and content of hypertext documents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538833"/>
            <a:ext cx="35147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66059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Meta tags</a:t>
            </a:r>
          </a:p>
          <a:p>
            <a:r>
              <a:rPr lang="en-US" b="1" dirty="0"/>
              <a:t>Include Scripts (</a:t>
            </a:r>
            <a:r>
              <a:rPr lang="en-US" b="1" dirty="0" err="1"/>
              <a:t>Javascript</a:t>
            </a:r>
            <a:r>
              <a:rPr lang="en-US" b="1" dirty="0"/>
              <a:t> or VB Script)</a:t>
            </a:r>
          </a:p>
          <a:p>
            <a:r>
              <a:rPr lang="en-US" b="1" dirty="0"/>
              <a:t>Include Styles (Internal/external)</a:t>
            </a:r>
          </a:p>
          <a:p>
            <a:r>
              <a:rPr lang="en-US" b="1" dirty="0"/>
              <a:t>Include audio/video in a page</a:t>
            </a:r>
          </a:p>
          <a:p>
            <a:r>
              <a:rPr lang="en-US" b="1" dirty="0">
                <a:solidFill>
                  <a:srgbClr val="C00000"/>
                </a:solidFill>
              </a:rPr>
              <a:t>Create Hyperlinks/anchors</a:t>
            </a:r>
          </a:p>
          <a:p>
            <a:r>
              <a:rPr lang="en-US" b="1" dirty="0">
                <a:solidFill>
                  <a:srgbClr val="C00000"/>
                </a:solidFill>
              </a:rPr>
              <a:t>Create ordered and unordered lists</a:t>
            </a:r>
          </a:p>
          <a:p>
            <a:r>
              <a:rPr lang="en-US" b="1" dirty="0">
                <a:solidFill>
                  <a:srgbClr val="C00000"/>
                </a:solidFill>
              </a:rPr>
              <a:t>Create frames</a:t>
            </a:r>
          </a:p>
          <a:p>
            <a:r>
              <a:rPr lang="en-US" b="1" dirty="0"/>
              <a:t>Create tables</a:t>
            </a:r>
          </a:p>
          <a:p>
            <a:r>
              <a:rPr lang="en-US" b="1" dirty="0"/>
              <a:t>DIV tag to organize pages</a:t>
            </a:r>
          </a:p>
          <a:p>
            <a:r>
              <a:rPr lang="en-US" b="1" dirty="0"/>
              <a:t>Create Maps</a:t>
            </a:r>
          </a:p>
          <a:p>
            <a:r>
              <a:rPr lang="en-US" b="1" dirty="0"/>
              <a:t>Create Forms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096572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25"/>
            <a:ext cx="8686800" cy="4105275"/>
          </a:xfrm>
        </p:spPr>
        <p:txBody>
          <a:bodyPr/>
          <a:lstStyle/>
          <a:p>
            <a:r>
              <a:rPr lang="en-US" b="1" dirty="0"/>
              <a:t>The </a:t>
            </a:r>
            <a:r>
              <a:rPr lang="en-US" b="1" dirty="0">
                <a:solidFill>
                  <a:srgbClr val="C00000"/>
                </a:solidFill>
              </a:rPr>
              <a:t>&lt;meta&gt; tag </a:t>
            </a:r>
            <a:r>
              <a:rPr lang="en-US" b="1" dirty="0"/>
              <a:t>defines metadata about an HTML document. </a:t>
            </a:r>
          </a:p>
          <a:p>
            <a:r>
              <a:rPr lang="en-US" b="1" dirty="0"/>
              <a:t>Metadata is data (information) about data.</a:t>
            </a:r>
          </a:p>
          <a:p>
            <a:r>
              <a:rPr lang="en-US" b="1" dirty="0"/>
              <a:t>&lt;meta&gt; tags always </a:t>
            </a:r>
            <a:r>
              <a:rPr lang="en-US" b="1" dirty="0">
                <a:solidFill>
                  <a:srgbClr val="C00000"/>
                </a:solidFill>
              </a:rPr>
              <a:t>go inside the &lt;head&gt; </a:t>
            </a:r>
            <a:r>
              <a:rPr lang="en-US" b="1" dirty="0"/>
              <a:t>element</a:t>
            </a:r>
          </a:p>
          <a:p>
            <a:r>
              <a:rPr lang="en-US" b="1" dirty="0"/>
              <a:t>Typically used to specify </a:t>
            </a:r>
            <a:r>
              <a:rPr lang="en-US" b="1" dirty="0">
                <a:solidFill>
                  <a:srgbClr val="C00000"/>
                </a:solidFill>
              </a:rPr>
              <a:t>character set, page description, keywords, author of the document, and viewport settings</a:t>
            </a:r>
            <a:r>
              <a:rPr lang="en-US" b="1" dirty="0"/>
              <a:t>.</a:t>
            </a:r>
          </a:p>
          <a:p>
            <a:endParaRPr lang="en-US" b="1" dirty="0"/>
          </a:p>
          <a:p>
            <a:pPr marL="400050" lvl="1" indent="0">
              <a:buNone/>
            </a:pPr>
            <a:r>
              <a:rPr lang="en-US" b="1" dirty="0">
                <a:solidFill>
                  <a:srgbClr val="7030A0"/>
                </a:solidFill>
              </a:rPr>
              <a:t>&lt;meta charset="UTF-8"&gt;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&lt;meta name="description" content="Free Web tutorials"&gt;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&lt;meta name="keywords" content="HTML, CSS, JavaScript"&gt;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&lt;meta name="author" content="John Doe"&gt;</a:t>
            </a:r>
          </a:p>
          <a:p>
            <a:pPr marL="400050" lvl="1" indent="0">
              <a:buNone/>
            </a:pPr>
            <a:r>
              <a:rPr lang="en-US" b="1" dirty="0">
                <a:solidFill>
                  <a:srgbClr val="7030A0"/>
                </a:solidFill>
              </a:rPr>
              <a:t>&lt;meta name="viewport" content="width=device-width, initial-scale=1.0"&gt;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735899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Hyperlinks/anchors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 </a:t>
            </a:r>
            <a:r>
              <a:rPr lang="en-US" b="1" dirty="0">
                <a:solidFill>
                  <a:srgbClr val="C00000"/>
                </a:solidFill>
              </a:rPr>
              <a:t>&lt;a&gt; tag </a:t>
            </a:r>
            <a:r>
              <a:rPr lang="en-US" b="1" dirty="0"/>
              <a:t>defines a</a:t>
            </a:r>
            <a:r>
              <a:rPr lang="en-US" b="1" dirty="0">
                <a:solidFill>
                  <a:srgbClr val="C00000"/>
                </a:solidFill>
              </a:rPr>
              <a:t> hyperlink</a:t>
            </a:r>
            <a:r>
              <a:rPr lang="en-US" b="1" dirty="0"/>
              <a:t>, which is used to link from one page to another.</a:t>
            </a:r>
          </a:p>
          <a:p>
            <a:r>
              <a:rPr lang="en-US" b="1" dirty="0"/>
              <a:t>The most important attribute of the &lt;a&gt; element is the </a:t>
            </a:r>
            <a:r>
              <a:rPr lang="en-US" b="1" dirty="0" err="1">
                <a:solidFill>
                  <a:srgbClr val="C00000"/>
                </a:solidFill>
              </a:rPr>
              <a:t>href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attribute, which indicates the link's destination.</a:t>
            </a:r>
          </a:p>
          <a:p>
            <a:r>
              <a:rPr lang="en-US" b="1" dirty="0"/>
              <a:t>By default, links will appear as follows in all browsers:</a:t>
            </a:r>
          </a:p>
          <a:p>
            <a:pPr lvl="1"/>
            <a:r>
              <a:rPr lang="en-US" b="1" dirty="0"/>
              <a:t>An </a:t>
            </a:r>
            <a:r>
              <a:rPr lang="en-US" b="1" dirty="0">
                <a:solidFill>
                  <a:srgbClr val="C00000"/>
                </a:solidFill>
              </a:rPr>
              <a:t>unvisited</a:t>
            </a:r>
            <a:r>
              <a:rPr lang="en-US" b="1" dirty="0"/>
              <a:t> link is </a:t>
            </a:r>
            <a:r>
              <a:rPr lang="en-US" b="1" dirty="0">
                <a:solidFill>
                  <a:srgbClr val="0070C0"/>
                </a:solidFill>
              </a:rPr>
              <a:t>underlined and blue</a:t>
            </a:r>
          </a:p>
          <a:p>
            <a:pPr lvl="1"/>
            <a:r>
              <a:rPr lang="en-US" b="1" dirty="0"/>
              <a:t>A </a:t>
            </a:r>
            <a:r>
              <a:rPr lang="en-US" b="1" dirty="0">
                <a:solidFill>
                  <a:srgbClr val="C00000"/>
                </a:solidFill>
              </a:rPr>
              <a:t>visited</a:t>
            </a:r>
            <a:r>
              <a:rPr lang="en-US" b="1" dirty="0"/>
              <a:t> link is </a:t>
            </a:r>
            <a:r>
              <a:rPr lang="en-US" b="1" dirty="0">
                <a:solidFill>
                  <a:srgbClr val="0070C0"/>
                </a:solidFill>
              </a:rPr>
              <a:t>underlined and purple</a:t>
            </a:r>
          </a:p>
          <a:p>
            <a:pPr lvl="1"/>
            <a:r>
              <a:rPr lang="en-US" b="1" dirty="0"/>
              <a:t>An </a:t>
            </a:r>
            <a:r>
              <a:rPr lang="en-US" b="1" dirty="0">
                <a:solidFill>
                  <a:srgbClr val="C00000"/>
                </a:solidFill>
              </a:rPr>
              <a:t>active</a:t>
            </a:r>
            <a:r>
              <a:rPr lang="en-US" b="1" dirty="0"/>
              <a:t> link is </a:t>
            </a:r>
            <a:r>
              <a:rPr lang="en-US" b="1" dirty="0">
                <a:solidFill>
                  <a:srgbClr val="0070C0"/>
                </a:solidFill>
              </a:rPr>
              <a:t>underlined and red</a:t>
            </a:r>
          </a:p>
          <a:p>
            <a:pPr lvl="1"/>
            <a:endParaRPr lang="en-US" b="1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7030A0"/>
                </a:solidFill>
              </a:rPr>
              <a:t>&lt;a </a:t>
            </a:r>
            <a:r>
              <a:rPr lang="en-US" b="1" dirty="0" err="1">
                <a:solidFill>
                  <a:srgbClr val="7030A0"/>
                </a:solidFill>
              </a:rPr>
              <a:t>href</a:t>
            </a:r>
            <a:r>
              <a:rPr lang="en-US" b="1" dirty="0">
                <a:solidFill>
                  <a:srgbClr val="7030A0"/>
                </a:solidFill>
              </a:rPr>
              <a:t>=“https://vitap.ac.in”&gt;VIT-AP Official </a:t>
            </a:r>
            <a:r>
              <a:rPr lang="en-US" b="1" dirty="0" err="1">
                <a:solidFill>
                  <a:srgbClr val="7030A0"/>
                </a:solidFill>
              </a:rPr>
              <a:t>WebSite</a:t>
            </a:r>
            <a:r>
              <a:rPr lang="en-US" b="1" dirty="0">
                <a:solidFill>
                  <a:srgbClr val="7030A0"/>
                </a:solidFill>
              </a:rPr>
              <a:t>&lt;/a&gt;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7030A0"/>
                </a:solidFill>
              </a:rPr>
              <a:t>&lt;a </a:t>
            </a:r>
            <a:r>
              <a:rPr lang="en-US" b="1" dirty="0" err="1">
                <a:solidFill>
                  <a:srgbClr val="7030A0"/>
                </a:solidFill>
              </a:rPr>
              <a:t>href</a:t>
            </a:r>
            <a:r>
              <a:rPr lang="en-US" b="1" dirty="0">
                <a:solidFill>
                  <a:srgbClr val="7030A0"/>
                </a:solidFill>
              </a:rPr>
              <a:t>=“contact.htm”&gt;contact us&lt;/a&gt;</a:t>
            </a:r>
          </a:p>
          <a:p>
            <a:pPr marL="457200" lvl="1" indent="0">
              <a:buNone/>
            </a:pPr>
            <a:endParaRPr lang="en-US" b="1" dirty="0">
              <a:solidFill>
                <a:srgbClr val="7030A0"/>
              </a:solidFill>
            </a:endParaRPr>
          </a:p>
          <a:p>
            <a:pPr marL="457200" lvl="1" indent="0">
              <a:buNone/>
            </a:pPr>
            <a:endParaRPr lang="en-US" b="1" dirty="0">
              <a:solidFill>
                <a:srgbClr val="7030A0"/>
              </a:solidFill>
            </a:endParaRP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389262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33450-2CD7-4969-B8C5-BD40633D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Hyper link to same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AE141-1727-4B3C-80DB-1AD7D6F75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0" lvl="1"/>
            <a:r>
              <a:rPr lang="en-US" b="1" i="0" dirty="0">
                <a:solidFill>
                  <a:srgbClr val="454545"/>
                </a:solidFill>
                <a:effectLst/>
              </a:rPr>
              <a:t>Using </a:t>
            </a:r>
            <a:r>
              <a:rPr lang="en-US" b="1" i="0" dirty="0">
                <a:solidFill>
                  <a:srgbClr val="0070C0"/>
                </a:solidFill>
                <a:effectLst/>
              </a:rPr>
              <a:t>#</a:t>
            </a:r>
            <a:r>
              <a:rPr lang="en-US" b="1" i="0" dirty="0">
                <a:solidFill>
                  <a:srgbClr val="454545"/>
                </a:solidFill>
                <a:effectLst/>
              </a:rPr>
              <a:t> and </a:t>
            </a:r>
            <a:r>
              <a:rPr lang="en-US" b="1" i="0" dirty="0">
                <a:solidFill>
                  <a:srgbClr val="0070C0"/>
                </a:solidFill>
                <a:effectLst/>
              </a:rPr>
              <a:t>id</a:t>
            </a:r>
          </a:p>
          <a:p>
            <a:pPr marL="800100" lvl="2" indent="0">
              <a:buNone/>
            </a:pPr>
            <a:endParaRPr lang="en-US" b="1" dirty="0">
              <a:solidFill>
                <a:srgbClr val="454545"/>
              </a:solidFill>
            </a:endParaRPr>
          </a:p>
          <a:p>
            <a:pPr marL="800100" lvl="2" indent="0">
              <a:buNone/>
            </a:pPr>
            <a:r>
              <a:rPr lang="en-US" b="1" i="0" dirty="0">
                <a:solidFill>
                  <a:srgbClr val="454545"/>
                </a:solidFill>
                <a:effectLst/>
              </a:rPr>
              <a:t>&lt;a </a:t>
            </a:r>
            <a:r>
              <a:rPr lang="en-US" b="1" i="0" dirty="0" err="1">
                <a:solidFill>
                  <a:srgbClr val="454545"/>
                </a:solidFill>
                <a:effectLst/>
              </a:rPr>
              <a:t>href</a:t>
            </a:r>
            <a:r>
              <a:rPr lang="en-US" b="1" i="0" dirty="0">
                <a:solidFill>
                  <a:srgbClr val="454545"/>
                </a:solidFill>
                <a:effectLst/>
              </a:rPr>
              <a:t>="#top"&gt;Top&lt;/a&gt;</a:t>
            </a:r>
          </a:p>
          <a:p>
            <a:pPr marL="800100" lvl="2" indent="0">
              <a:buNone/>
            </a:pPr>
            <a:r>
              <a:rPr lang="en-US" b="1" i="0" dirty="0">
                <a:solidFill>
                  <a:srgbClr val="454545"/>
                </a:solidFill>
                <a:effectLst/>
              </a:rPr>
              <a:t>&lt;a </a:t>
            </a:r>
            <a:r>
              <a:rPr lang="en-US" b="1" i="0" dirty="0" err="1">
                <a:solidFill>
                  <a:srgbClr val="454545"/>
                </a:solidFill>
                <a:effectLst/>
              </a:rPr>
              <a:t>href</a:t>
            </a:r>
            <a:r>
              <a:rPr lang="en-US" b="1" i="0" dirty="0">
                <a:solidFill>
                  <a:srgbClr val="454545"/>
                </a:solidFill>
                <a:effectLst/>
              </a:rPr>
              <a:t>="#bottom"&gt;Bottom&lt;/a&gt;</a:t>
            </a:r>
            <a:endParaRPr lang="en-US" b="1" dirty="0">
              <a:solidFill>
                <a:srgbClr val="454545"/>
              </a:solidFill>
            </a:endParaRPr>
          </a:p>
          <a:p>
            <a:pPr marL="800100" lvl="2" indent="0">
              <a:buNone/>
            </a:pPr>
            <a:endParaRPr lang="en-US" b="1" dirty="0">
              <a:solidFill>
                <a:srgbClr val="454545"/>
              </a:solidFill>
            </a:endParaRPr>
          </a:p>
          <a:p>
            <a:pPr marL="800100" lvl="2" indent="0">
              <a:buNone/>
            </a:pPr>
            <a:r>
              <a:rPr lang="en-US" b="1" i="0" dirty="0">
                <a:solidFill>
                  <a:srgbClr val="454545"/>
                </a:solidFill>
                <a:effectLst/>
              </a:rPr>
              <a:t>&lt;p </a:t>
            </a:r>
            <a:r>
              <a:rPr lang="en-US" b="1" i="0" dirty="0">
                <a:solidFill>
                  <a:srgbClr val="FF0000"/>
                </a:solidFill>
                <a:effectLst/>
              </a:rPr>
              <a:t>id=“bottom"</a:t>
            </a:r>
            <a:r>
              <a:rPr lang="en-US" b="1" i="0" dirty="0">
                <a:solidFill>
                  <a:srgbClr val="454545"/>
                </a:solidFill>
                <a:effectLst/>
              </a:rPr>
              <a:t>&gt;Hyperlinks are utilized by a web browser to move from one page to another...&lt;/p&gt;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7ADAD-8057-4F39-9238-52EF03E8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B228F-67C3-4A01-A526-05847051D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1694F-0B6D-4A6A-A845-6621DBF5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961225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 </a:t>
            </a:r>
            <a:r>
              <a:rPr lang="en-US" b="1" dirty="0">
                <a:solidFill>
                  <a:srgbClr val="C00000"/>
                </a:solidFill>
              </a:rPr>
              <a:t>&lt;li&gt; tag </a:t>
            </a:r>
            <a:r>
              <a:rPr lang="en-US" b="1" dirty="0"/>
              <a:t>defines a list item.</a:t>
            </a:r>
          </a:p>
          <a:p>
            <a:r>
              <a:rPr lang="en-US" b="1" dirty="0"/>
              <a:t>The &lt;li&gt; tag is used inside ordered lists(</a:t>
            </a:r>
            <a:r>
              <a:rPr lang="en-US" b="1" dirty="0">
                <a:hlinkClick r:id="rId2"/>
              </a:rPr>
              <a:t>&lt;</a:t>
            </a:r>
            <a:r>
              <a:rPr lang="en-US" b="1" dirty="0" err="1">
                <a:hlinkClick r:id="rId2"/>
              </a:rPr>
              <a:t>ol</a:t>
            </a:r>
            <a:r>
              <a:rPr lang="en-US" b="1" dirty="0">
                <a:hlinkClick r:id="rId2"/>
              </a:rPr>
              <a:t>&gt;</a:t>
            </a:r>
            <a:r>
              <a:rPr lang="en-US" b="1" dirty="0"/>
              <a:t>), unordered lists (</a:t>
            </a:r>
            <a:r>
              <a:rPr lang="en-US" b="1" dirty="0">
                <a:hlinkClick r:id="rId3"/>
              </a:rPr>
              <a:t>&lt;ul&gt;</a:t>
            </a:r>
            <a:r>
              <a:rPr lang="en-US" b="1" dirty="0"/>
              <a:t>),description list </a:t>
            </a:r>
            <a:r>
              <a:rPr lang="en-US" b="1" u="sng" dirty="0"/>
              <a:t>(</a:t>
            </a:r>
            <a:r>
              <a:rPr lang="en-US" b="1" u="sng" dirty="0">
                <a:solidFill>
                  <a:srgbClr val="0070C0"/>
                </a:solidFill>
              </a:rPr>
              <a:t>&lt;dl&gt;) </a:t>
            </a:r>
            <a:r>
              <a:rPr lang="en-US" b="1" dirty="0"/>
              <a:t>and in menu lists (</a:t>
            </a:r>
            <a:r>
              <a:rPr lang="en-US" b="1" dirty="0">
                <a:hlinkClick r:id="rId4"/>
              </a:rPr>
              <a:t>&lt;menu&gt;</a:t>
            </a:r>
            <a:r>
              <a:rPr lang="en-US" b="1" dirty="0"/>
              <a:t>).</a:t>
            </a:r>
          </a:p>
          <a:p>
            <a:r>
              <a:rPr lang="en-US" b="1" dirty="0"/>
              <a:t>In </a:t>
            </a:r>
            <a:r>
              <a:rPr lang="en-US" b="1" dirty="0">
                <a:solidFill>
                  <a:srgbClr val="C00000"/>
                </a:solidFill>
              </a:rPr>
              <a:t>&lt;</a:t>
            </a:r>
            <a:r>
              <a:rPr lang="en-US" b="1" dirty="0" err="1">
                <a:solidFill>
                  <a:srgbClr val="C00000"/>
                </a:solidFill>
              </a:rPr>
              <a:t>ul</a:t>
            </a:r>
            <a:r>
              <a:rPr lang="en-US" b="1" dirty="0">
                <a:solidFill>
                  <a:srgbClr val="C00000"/>
                </a:solidFill>
              </a:rPr>
              <a:t>&gt; </a:t>
            </a:r>
            <a:r>
              <a:rPr lang="en-US" b="1" dirty="0"/>
              <a:t>and &lt;</a:t>
            </a:r>
            <a:r>
              <a:rPr lang="en-US" b="1" u="sng" dirty="0">
                <a:solidFill>
                  <a:srgbClr val="0070C0"/>
                </a:solidFill>
              </a:rPr>
              <a:t>menu</a:t>
            </a:r>
            <a:r>
              <a:rPr lang="en-US" b="1" dirty="0"/>
              <a:t>&gt;, the list items will usually be displayed with bullet points.</a:t>
            </a:r>
          </a:p>
          <a:p>
            <a:r>
              <a:rPr lang="en-US" b="1" dirty="0"/>
              <a:t>In </a:t>
            </a:r>
            <a:r>
              <a:rPr lang="en-US" b="1" dirty="0">
                <a:solidFill>
                  <a:srgbClr val="C00000"/>
                </a:solidFill>
              </a:rPr>
              <a:t>&lt;</a:t>
            </a:r>
            <a:r>
              <a:rPr lang="en-US" b="1" dirty="0" err="1">
                <a:solidFill>
                  <a:srgbClr val="C00000"/>
                </a:solidFill>
              </a:rPr>
              <a:t>ol</a:t>
            </a:r>
            <a:r>
              <a:rPr lang="en-US" b="1" dirty="0">
                <a:solidFill>
                  <a:srgbClr val="C00000"/>
                </a:solidFill>
              </a:rPr>
              <a:t>&gt;, </a:t>
            </a:r>
            <a:r>
              <a:rPr lang="en-US" b="1" dirty="0"/>
              <a:t>the list items will usually be displayed with numbers or letters.</a:t>
            </a:r>
          </a:p>
          <a:p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8</a:t>
            </a:fld>
            <a:endParaRPr lang="en-IN"/>
          </a:p>
        </p:txBody>
      </p:sp>
      <p:pic>
        <p:nvPicPr>
          <p:cNvPr id="1026" name="Picture 2" descr="Picture">
            <a:extLst>
              <a:ext uri="{FF2B5EF4-FFF2-40B4-BE49-F238E27FC236}">
                <a16:creationId xmlns:a16="http://schemas.microsoft.com/office/drawing/2014/main" id="{D39DF3FA-01AB-46B6-8ADB-364A67874C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08"/>
          <a:stretch/>
        </p:blipFill>
        <p:spPr bwMode="auto">
          <a:xfrm>
            <a:off x="662903" y="3361556"/>
            <a:ext cx="8077200" cy="183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649404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C987F-70A0-4DD3-A189-F40CDCB7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and unordered lists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FA7AA-66C8-481D-B684-34591CDB8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 ordered list starts with the </a:t>
            </a:r>
            <a:r>
              <a:rPr lang="en-US" b="1" dirty="0">
                <a:solidFill>
                  <a:srgbClr val="0070C0"/>
                </a:solidFill>
              </a:rPr>
              <a:t>&lt;</a:t>
            </a:r>
            <a:r>
              <a:rPr lang="en-US" b="1" dirty="0" err="1">
                <a:solidFill>
                  <a:srgbClr val="0070C0"/>
                </a:solidFill>
              </a:rPr>
              <a:t>ol</a:t>
            </a:r>
            <a:r>
              <a:rPr lang="en-US" b="1" dirty="0">
                <a:solidFill>
                  <a:srgbClr val="0070C0"/>
                </a:solidFill>
              </a:rPr>
              <a:t>&gt; </a:t>
            </a:r>
            <a:r>
              <a:rPr lang="en-US" b="1" dirty="0"/>
              <a:t>tag. Each list item starts with the </a:t>
            </a:r>
            <a:r>
              <a:rPr lang="en-US" b="1" dirty="0">
                <a:solidFill>
                  <a:srgbClr val="0070C0"/>
                </a:solidFill>
              </a:rPr>
              <a:t>&lt;li&gt; </a:t>
            </a:r>
            <a:r>
              <a:rPr lang="en-US" b="1" dirty="0"/>
              <a:t>tag.</a:t>
            </a:r>
          </a:p>
          <a:p>
            <a:pPr lvl="2"/>
            <a:r>
              <a:rPr lang="en-US" dirty="0">
                <a:solidFill>
                  <a:srgbClr val="DC143C"/>
                </a:solidFill>
                <a:latin typeface="Consolas" panose="020B0609020204030204" pitchFamily="49" charset="0"/>
              </a:rPr>
              <a:t>type attribute – 1, A, a, I, </a:t>
            </a:r>
            <a:r>
              <a:rPr lang="en-US" dirty="0" err="1">
                <a:solidFill>
                  <a:srgbClr val="DC143C"/>
                </a:solidFill>
                <a:latin typeface="Consolas" panose="020B0609020204030204" pitchFamily="49" charset="0"/>
              </a:rPr>
              <a:t>i</a:t>
            </a:r>
            <a:endParaRPr lang="en-US" dirty="0">
              <a:solidFill>
                <a:srgbClr val="DC143C"/>
              </a:solidFill>
              <a:latin typeface="Consolas" panose="020B0609020204030204" pitchFamily="49" charset="0"/>
            </a:endParaRPr>
          </a:p>
          <a:p>
            <a:r>
              <a:rPr lang="en-US" b="1" dirty="0"/>
              <a:t>An unordered list starts with the </a:t>
            </a:r>
            <a:r>
              <a:rPr lang="en-US" b="1" dirty="0">
                <a:solidFill>
                  <a:srgbClr val="0070C0"/>
                </a:solidFill>
              </a:rPr>
              <a:t>&lt;ul&gt; </a:t>
            </a:r>
            <a:r>
              <a:rPr lang="en-US" b="1" dirty="0"/>
              <a:t>tag. Each list item starts with the </a:t>
            </a:r>
            <a:r>
              <a:rPr lang="en-US" b="1" dirty="0">
                <a:solidFill>
                  <a:srgbClr val="0070C0"/>
                </a:solidFill>
              </a:rPr>
              <a:t>&lt;li&gt; </a:t>
            </a:r>
            <a:r>
              <a:rPr lang="en-US" b="1" dirty="0"/>
              <a:t>tag</a:t>
            </a:r>
          </a:p>
          <a:p>
            <a:pPr lvl="2"/>
            <a:r>
              <a:rPr lang="en-IN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list-style-type – disc , circle, square , none</a:t>
            </a:r>
          </a:p>
          <a:p>
            <a:pPr marL="914400" lvl="2" indent="0">
              <a:buNone/>
            </a:pPr>
            <a:endParaRPr lang="en-IN" b="1" dirty="0"/>
          </a:p>
          <a:p>
            <a:pPr marL="1714500" lvl="4" indent="0">
              <a:buNone/>
            </a:pP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				</a:t>
            </a:r>
            <a:b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Coffee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Tea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Milk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/ul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it-IT" dirty="0"/>
            </a:b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5E6F-B421-4D0D-B80C-F6D4BCE8E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697EC-2CA2-445D-9B90-AB8D7535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828CC-D49A-4BAF-BBF3-E89B8A04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9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21DE6D-416C-40A7-AD03-35E81F422C07}"/>
              </a:ext>
            </a:extLst>
          </p:cNvPr>
          <p:cNvSpPr txBox="1"/>
          <p:nvPr/>
        </p:nvSpPr>
        <p:spPr>
          <a:xfrm>
            <a:off x="4841665" y="3244969"/>
            <a:ext cx="38415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ol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it-IT" dirty="0"/>
            </a:b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Coffee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it-IT" dirty="0"/>
            </a:b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Tea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it-IT" dirty="0"/>
            </a:b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Milk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it-IT" dirty="0"/>
            </a:b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/ol</a:t>
            </a:r>
            <a:r>
              <a:rPr lang="it-IT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339328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CC39-B707-44A3-A3CA-4FD2D0B7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Lists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0A9FF-17EE-4307-AECD-88E935A21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</a:rPr>
              <a:t>A description list is a list of terms, with a description of each term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endParaRPr lang="en-US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b="1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800100" lvl="2" indent="0">
              <a:buNone/>
            </a:pP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dl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dirty="0"/>
            </a:br>
            <a:r>
              <a:rPr lang="en-IN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&gt;&lt;b&gt;</a:t>
            </a:r>
            <a:r>
              <a:rPr lang="en-IN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Coffee:</a:t>
            </a:r>
            <a:r>
              <a:rPr lang="en-IN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&lt;/b&gt;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/dt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dirty="0"/>
            </a:br>
            <a:r>
              <a:rPr lang="en-IN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dd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black hot drink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/dd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dirty="0"/>
            </a:br>
            <a:r>
              <a:rPr lang="en-IN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&gt;&lt;b&gt;</a:t>
            </a:r>
            <a:r>
              <a:rPr lang="en-IN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Milk:</a:t>
            </a:r>
            <a:r>
              <a:rPr lang="en-IN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&lt;/b&gt;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/dt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dirty="0"/>
            </a:br>
            <a:r>
              <a:rPr lang="en-IN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dd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white cold drink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/dd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dirty="0"/>
            </a:b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/dl</a:t>
            </a:r>
            <a:r>
              <a:rPr lang="en-IN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1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457200" lvl="1" indent="0">
              <a:buNone/>
            </a:pP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51764-84ED-49B5-997E-DD2AA524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38D5D-22E3-402B-B037-2A52CAF2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5BAFF-EDB0-4680-984B-40CEDC51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10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1146A3-4F41-4C85-94A5-A1A349A34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2193532"/>
            <a:ext cx="2623252" cy="138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6117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</a:t>
            </a:r>
            <a:r>
              <a:rPr lang="en-US" b="1" dirty="0">
                <a:solidFill>
                  <a:srgbClr val="C00000"/>
                </a:solidFill>
              </a:rPr>
              <a:t> &lt;frame&gt; tag </a:t>
            </a:r>
            <a:r>
              <a:rPr lang="en-US" b="1" dirty="0"/>
              <a:t>was used in HTML 4 to define one particular window (frame) within a </a:t>
            </a:r>
            <a:r>
              <a:rPr lang="en-US" b="1" dirty="0">
                <a:solidFill>
                  <a:srgbClr val="C00000"/>
                </a:solidFill>
              </a:rPr>
              <a:t>&lt;frameset&gt;.</a:t>
            </a:r>
          </a:p>
          <a:p>
            <a:pPr marL="1257300" lvl="3" indent="0">
              <a:buNone/>
            </a:pPr>
            <a:r>
              <a:rPr lang="en-US" b="1" dirty="0">
                <a:solidFill>
                  <a:srgbClr val="C00000"/>
                </a:solidFill>
              </a:rPr>
              <a:t>&lt;frameset cols = "25%,50%,25%"&gt;</a:t>
            </a:r>
          </a:p>
          <a:p>
            <a:pPr marL="1257300" lvl="3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&lt;frame name = "left" </a:t>
            </a:r>
            <a:r>
              <a:rPr lang="en-US" b="1" dirty="0" err="1">
                <a:solidFill>
                  <a:srgbClr val="C00000"/>
                </a:solidFill>
              </a:rPr>
              <a:t>src</a:t>
            </a:r>
            <a:r>
              <a:rPr lang="en-US" b="1" dirty="0">
                <a:solidFill>
                  <a:srgbClr val="C00000"/>
                </a:solidFill>
              </a:rPr>
              <a:t> = "/html/top_frame.htm" /&gt;</a:t>
            </a:r>
          </a:p>
          <a:p>
            <a:pPr marL="1257300" lvl="3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&lt;frame name = "center" </a:t>
            </a:r>
            <a:r>
              <a:rPr lang="en-US" b="1" dirty="0" err="1">
                <a:solidFill>
                  <a:srgbClr val="C00000"/>
                </a:solidFill>
              </a:rPr>
              <a:t>src</a:t>
            </a:r>
            <a:r>
              <a:rPr lang="en-US" b="1" dirty="0">
                <a:solidFill>
                  <a:srgbClr val="C00000"/>
                </a:solidFill>
              </a:rPr>
              <a:t> = "/html/main_frame.htm" /&gt;</a:t>
            </a:r>
          </a:p>
          <a:p>
            <a:pPr marL="1257300" lvl="3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&lt;frame name = "right" </a:t>
            </a:r>
            <a:r>
              <a:rPr lang="en-US" b="1" dirty="0" err="1">
                <a:solidFill>
                  <a:srgbClr val="C00000"/>
                </a:solidFill>
              </a:rPr>
              <a:t>src</a:t>
            </a:r>
            <a:r>
              <a:rPr lang="en-US" b="1" dirty="0">
                <a:solidFill>
                  <a:srgbClr val="C00000"/>
                </a:solidFill>
              </a:rPr>
              <a:t> = "/html/bottom_frame.htm" /&gt;</a:t>
            </a:r>
          </a:p>
          <a:p>
            <a:pPr marL="1257300" lvl="3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&lt;</a:t>
            </a:r>
            <a:r>
              <a:rPr lang="en-US" b="1" dirty="0" err="1">
                <a:solidFill>
                  <a:srgbClr val="C00000"/>
                </a:solidFill>
              </a:rPr>
              <a:t>noframes</a:t>
            </a:r>
            <a:r>
              <a:rPr lang="en-US" b="1" dirty="0">
                <a:solidFill>
                  <a:srgbClr val="C00000"/>
                </a:solidFill>
              </a:rPr>
              <a:t>&gt;</a:t>
            </a:r>
          </a:p>
          <a:p>
            <a:pPr marL="1257300" lvl="3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   &lt;body&gt;Your browser does not support frames.&lt;/body&gt;</a:t>
            </a:r>
          </a:p>
          <a:p>
            <a:pPr marL="1257300" lvl="3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&lt;/</a:t>
            </a:r>
            <a:r>
              <a:rPr lang="en-US" b="1" dirty="0" err="1">
                <a:solidFill>
                  <a:srgbClr val="C00000"/>
                </a:solidFill>
              </a:rPr>
              <a:t>noframes</a:t>
            </a:r>
            <a:r>
              <a:rPr lang="en-US" b="1" dirty="0">
                <a:solidFill>
                  <a:srgbClr val="C00000"/>
                </a:solidFill>
              </a:rPr>
              <a:t>&gt;</a:t>
            </a:r>
          </a:p>
          <a:p>
            <a:pPr marL="1257300" lvl="3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&lt;/frameset&gt;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952269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8E6CD-46F5-457E-8B22-A7893A1A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80858-051E-457E-AC8A-4A5DF5B24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hlinkClick r:id="rId2"/>
              </a:rPr>
              <a:t>&lt;iframe&gt;</a:t>
            </a:r>
            <a:r>
              <a:rPr lang="en-US" b="1" dirty="0"/>
              <a:t> tag to embed another document within the current HTML document.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pPr marL="800100" lvl="2" indent="0">
              <a:buNone/>
            </a:pPr>
            <a:r>
              <a:rPr lang="en-US" b="1" dirty="0">
                <a:solidFill>
                  <a:srgbClr val="0070C0"/>
                </a:solidFill>
              </a:rPr>
              <a:t>&lt;iframe </a:t>
            </a:r>
            <a:r>
              <a:rPr lang="en-US" b="1" dirty="0" err="1">
                <a:solidFill>
                  <a:srgbClr val="0070C0"/>
                </a:solidFill>
              </a:rPr>
              <a:t>src</a:t>
            </a:r>
            <a:r>
              <a:rPr lang="en-US" b="1" dirty="0">
                <a:solidFill>
                  <a:srgbClr val="0070C0"/>
                </a:solidFill>
              </a:rPr>
              <a:t>=“www.HTMLSamples.com" title=“Sample HTML Page"&gt;</a:t>
            </a:r>
          </a:p>
          <a:p>
            <a:pPr marL="800100" lvl="2" indent="0">
              <a:buNone/>
            </a:pPr>
            <a:r>
              <a:rPr lang="en-US" b="1" dirty="0">
                <a:solidFill>
                  <a:srgbClr val="0070C0"/>
                </a:solidFill>
              </a:rPr>
              <a:t>&lt;/iframe&gt;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DECE3-F078-4043-AA29-A41C70E5D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AB701-EACD-4A52-B12D-3F4D4A80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B5693-22EA-4610-97D7-9FE1C0FA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251680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action="ppaction://hlinkfile"/>
              </a:rPr>
              <a:t>Sample HTML pages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877436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Ahead?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CSS</a:t>
            </a:r>
          </a:p>
          <a:p>
            <a:r>
              <a:rPr lang="en-US" altLang="zh-CN" dirty="0"/>
              <a:t>Client Side Scripting</a:t>
            </a:r>
          </a:p>
          <a:p>
            <a:r>
              <a:rPr lang="en-US" altLang="zh-CN" dirty="0"/>
              <a:t>Server Side Scripting</a:t>
            </a:r>
          </a:p>
          <a:p>
            <a:r>
              <a:rPr lang="en-US" altLang="zh-CN" dirty="0"/>
              <a:t>Web Frameworks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992073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Theme">
  <a:themeElements>
    <a:clrScheme name="Cambridge">
      <a:dk1>
        <a:srgbClr val="000000"/>
      </a:dk1>
      <a:lt1>
        <a:srgbClr val="FFFFFF"/>
      </a:lt1>
      <a:dk2>
        <a:srgbClr val="003E72"/>
      </a:dk2>
      <a:lt2>
        <a:srgbClr val="FFFFFF"/>
      </a:lt2>
      <a:accent1>
        <a:srgbClr val="8E258D"/>
      </a:accent1>
      <a:accent2>
        <a:srgbClr val="205867"/>
      </a:accent2>
      <a:accent3>
        <a:srgbClr val="412D5D"/>
      </a:accent3>
      <a:accent4>
        <a:srgbClr val="8064A2"/>
      </a:accent4>
      <a:accent5>
        <a:srgbClr val="58A618"/>
      </a:accent5>
      <a:accent6>
        <a:srgbClr val="C84E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3317</TotalTime>
  <Words>886</Words>
  <Application>Microsoft Office PowerPoint</Application>
  <PresentationFormat>On-screen Show (16:10)</PresentationFormat>
  <Paragraphs>128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Verdana</vt:lpstr>
      <vt:lpstr>Office Theme</vt:lpstr>
      <vt:lpstr>PowerPoint Presentation</vt:lpstr>
      <vt:lpstr>Web Client and Server Programming</vt:lpstr>
      <vt:lpstr>Markup language</vt:lpstr>
      <vt:lpstr>HTML Features</vt:lpstr>
      <vt:lpstr>Meta tags</vt:lpstr>
      <vt:lpstr>Hyperlinks/anchors</vt:lpstr>
      <vt:lpstr>Hyper link to same page</vt:lpstr>
      <vt:lpstr>Lists in HTML</vt:lpstr>
      <vt:lpstr>Ordered and unordered lists</vt:lpstr>
      <vt:lpstr>Description Lists</vt:lpstr>
      <vt:lpstr>Frames</vt:lpstr>
      <vt:lpstr>iframe</vt:lpstr>
      <vt:lpstr>HTML</vt:lpstr>
      <vt:lpstr>What’s Ahead?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M.DEIVAMANI</dc:creator>
  <cp:lastModifiedBy>sheela j</cp:lastModifiedBy>
  <cp:revision>289</cp:revision>
  <dcterms:created xsi:type="dcterms:W3CDTF">2010-01-03T09:38:03Z</dcterms:created>
  <dcterms:modified xsi:type="dcterms:W3CDTF">2021-09-09T08:59:43Z</dcterms:modified>
</cp:coreProperties>
</file>