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71" r:id="rId2"/>
    <p:sldId id="300" r:id="rId3"/>
    <p:sldId id="324" r:id="rId4"/>
    <p:sldId id="325" r:id="rId5"/>
    <p:sldId id="326" r:id="rId6"/>
    <p:sldId id="329" r:id="rId7"/>
    <p:sldId id="330" r:id="rId8"/>
    <p:sldId id="331" r:id="rId9"/>
    <p:sldId id="332" r:id="rId10"/>
    <p:sldId id="328" r:id="rId11"/>
    <p:sldId id="327" r:id="rId12"/>
    <p:sldId id="335" r:id="rId13"/>
    <p:sldId id="336" r:id="rId14"/>
    <p:sldId id="337" r:id="rId15"/>
    <p:sldId id="338" r:id="rId16"/>
    <p:sldId id="339" r:id="rId17"/>
    <p:sldId id="342" r:id="rId18"/>
    <p:sldId id="343" r:id="rId19"/>
    <p:sldId id="340" r:id="rId20"/>
    <p:sldId id="341" r:id="rId21"/>
    <p:sldId id="333" r:id="rId22"/>
    <p:sldId id="315" r:id="rId23"/>
  </p:sldIdLst>
  <p:sldSz cx="9144000" cy="5715000" type="screen16x10"/>
  <p:notesSz cx="6645275" cy="91741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90">
          <p15:clr>
            <a:srgbClr val="A4A3A4"/>
          </p15:clr>
        </p15:guide>
        <p15:guide id="2" pos="209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F3FC"/>
    <a:srgbClr val="FFFFCC"/>
    <a:srgbClr val="FF0000"/>
    <a:srgbClr val="003399"/>
    <a:srgbClr val="C512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71" autoAdjust="0"/>
  </p:normalViewPr>
  <p:slideViewPr>
    <p:cSldViewPr>
      <p:cViewPr varScale="1">
        <p:scale>
          <a:sx n="72" d="100"/>
          <a:sy n="72" d="100"/>
        </p:scale>
        <p:origin x="1052" y="44"/>
      </p:cViewPr>
      <p:guideLst>
        <p:guide orient="horz" pos="180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2598" y="-90"/>
      </p:cViewPr>
      <p:guideLst>
        <p:guide orient="horz" pos="2890"/>
        <p:guide pos="209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3073400" y="8688388"/>
            <a:ext cx="2879725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388" tIns="45194" rIns="90388" bIns="45194" numCol="1" anchor="b" anchorCtr="0" compatLnSpc="1">
            <a:prstTxWarp prst="textNoShape">
              <a:avLst/>
            </a:prstTxWarp>
          </a:bodyPr>
          <a:lstStyle>
            <a:lvl1pPr algn="r" defTabSz="835025">
              <a:defRPr sz="1000" b="1"/>
            </a:lvl1pPr>
          </a:lstStyle>
          <a:p>
            <a:pPr>
              <a:defRPr/>
            </a:pPr>
            <a:r>
              <a:rPr lang="en-IN"/>
              <a:t>DC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5953125" y="8688388"/>
            <a:ext cx="620713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388" tIns="45194" rIns="90388" bIns="45194" numCol="1" anchor="b" anchorCtr="0" compatLnSpc="1">
            <a:prstTxWarp prst="textNoShape">
              <a:avLst/>
            </a:prstTxWarp>
          </a:bodyPr>
          <a:lstStyle>
            <a:lvl1pPr defTabSz="835025">
              <a:defRPr sz="1000" b="1"/>
            </a:lvl1pPr>
          </a:lstStyle>
          <a:p>
            <a:pPr>
              <a:defRPr/>
            </a:pPr>
            <a:fld id="{73B4E500-E37F-4B0E-96AA-0E2483706BB5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cxnSp>
        <p:nvCxnSpPr>
          <p:cNvPr id="6" name="Straight Connector 5"/>
          <p:cNvCxnSpPr/>
          <p:nvPr/>
        </p:nvCxnSpPr>
        <p:spPr>
          <a:xfrm rot="5400000">
            <a:off x="6261894" y="10052844"/>
            <a:ext cx="200025" cy="158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989" name="Picture 2" descr="D:\Design Images\pic\search-bar-bg.jpg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4463"/>
            <a:ext cx="207963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158750"/>
            <a:ext cx="6645275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388" tIns="45194" rIns="90388" bIns="45194" numCol="1" anchor="t" anchorCtr="0" compatLnSpc="1">
            <a:prstTxWarp prst="textNoShape">
              <a:avLst/>
            </a:prstTxWarp>
          </a:bodyPr>
          <a:lstStyle>
            <a:lvl1pPr marL="176213" defTabSz="835025">
              <a:defRPr sz="1100" b="1"/>
            </a:lvl1pPr>
          </a:lstStyle>
          <a:p>
            <a:pPr>
              <a:defRPr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77493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87972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388" tIns="45194" rIns="90388" bIns="45194" numCol="1" anchor="t" anchorCtr="0" compatLnSpc="1">
            <a:prstTxWarp prst="textNoShape">
              <a:avLst/>
            </a:prstTxWarp>
          </a:bodyPr>
          <a:lstStyle>
            <a:lvl1pPr defTabSz="8350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763963" y="0"/>
            <a:ext cx="287972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388" tIns="45194" rIns="90388" bIns="45194" numCol="1" anchor="t" anchorCtr="0" compatLnSpc="1">
            <a:prstTxWarp prst="textNoShape">
              <a:avLst/>
            </a:prstTxWarp>
          </a:bodyPr>
          <a:lstStyle>
            <a:lvl1pPr algn="r" defTabSz="8350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F255D118-8232-4825-B18F-F0CD1BEB431D}" type="datetime1">
              <a:rPr lang="en-US"/>
              <a:pPr>
                <a:defRPr/>
              </a:pPr>
              <a:t>9/9/2021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8975"/>
            <a:ext cx="5502275" cy="3438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63575" y="4357688"/>
            <a:ext cx="5318125" cy="412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388" tIns="45194" rIns="90388" bIns="4519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713788"/>
            <a:ext cx="2879725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388" tIns="45194" rIns="90388" bIns="45194" numCol="1" anchor="b" anchorCtr="0" compatLnSpc="1">
            <a:prstTxWarp prst="textNoShape">
              <a:avLst/>
            </a:prstTxWarp>
          </a:bodyPr>
          <a:lstStyle>
            <a:lvl1pPr defTabSz="8350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IN"/>
              <a:t>DC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763963" y="8713788"/>
            <a:ext cx="2879725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388" tIns="45194" rIns="90388" bIns="45194" numCol="1" anchor="b" anchorCtr="0" compatLnSpc="1">
            <a:prstTxWarp prst="textNoShape">
              <a:avLst/>
            </a:prstTxWarp>
          </a:bodyPr>
          <a:lstStyle>
            <a:lvl1pPr algn="r" defTabSz="8350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36F143FB-66E5-4E47-8069-3C3B0CBB9B7D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98291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573088" y="688975"/>
            <a:ext cx="5499100" cy="343852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IN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3CD1C9B-69BB-40ED-88E4-C0F9C29B81B8}" type="slidenum">
              <a:rPr lang="en-IN" smtClean="0"/>
              <a:pPr/>
              <a:t>1</a:t>
            </a:fld>
            <a:endParaRPr lang="en-IN"/>
          </a:p>
        </p:txBody>
      </p:sp>
      <p:sp>
        <p:nvSpPr>
          <p:cNvPr id="39941" name="Footer Placeholder 4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IN"/>
              <a:t>DC Meeting</a:t>
            </a:r>
          </a:p>
        </p:txBody>
      </p:sp>
      <p:sp>
        <p:nvSpPr>
          <p:cNvPr id="39942" name="Header Placeholder 5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142875"/>
            <a:ext cx="9144000" cy="6429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28575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6" name="Rectangle 5"/>
          <p:cNvSpPr/>
          <p:nvPr userDrawn="1"/>
        </p:nvSpPr>
        <p:spPr>
          <a:xfrm>
            <a:off x="6858000" y="5286375"/>
            <a:ext cx="285750" cy="428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9" name="Rectangle 49"/>
          <p:cNvSpPr>
            <a:spLocks noChangeArrowheads="1"/>
          </p:cNvSpPr>
          <p:nvPr userDrawn="1"/>
        </p:nvSpPr>
        <p:spPr bwMode="auto">
          <a:xfrm>
            <a:off x="0" y="4189413"/>
            <a:ext cx="9144000" cy="36512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406" y="4786326"/>
            <a:ext cx="9072594" cy="468638"/>
          </a:xfrm>
        </p:spPr>
        <p:txBody>
          <a:bodyPr>
            <a:normAutofit/>
          </a:bodyPr>
          <a:lstStyle>
            <a:lvl1pPr algn="r">
              <a:defRPr sz="2400" b="1">
                <a:solidFill>
                  <a:srgbClr val="003399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406" y="5252831"/>
            <a:ext cx="9072594" cy="357190"/>
          </a:xfrm>
        </p:spPr>
        <p:txBody>
          <a:bodyPr>
            <a:noAutofit/>
          </a:bodyPr>
          <a:lstStyle>
            <a:lvl1pPr marL="0" indent="0" algn="r">
              <a:buNone/>
              <a:defRPr sz="19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23" y="142875"/>
            <a:ext cx="2386224" cy="73881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7" y="337220"/>
            <a:ext cx="1728191" cy="41715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864"/>
            <a:ext cx="8258204" cy="52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774709-785F-457C-9429-4E3DA889C601}" type="datetime3">
              <a:rPr lang="en-US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dirty="0"/>
              <a:t>CSE4004 WT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16FC18-A483-43BC-83D0-C7F7814867AE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5161756"/>
            <a:ext cx="1584176" cy="4904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5269912"/>
            <a:ext cx="1135873" cy="274176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28674"/>
            <a:ext cx="4038600" cy="421484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28674"/>
            <a:ext cx="4038600" cy="421484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2210CE-E9BF-439F-887E-E5FC4510379A}" type="datetime3">
              <a:rPr lang="en-US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r>
              <a:rPr lang="en-IN" dirty="0"/>
              <a:t>CSE4004 WT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F8C114-B763-4CBF-B5DD-49D2D8823C44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5161756"/>
            <a:ext cx="1584176" cy="4904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5269912"/>
            <a:ext cx="1135873" cy="274176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522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28674"/>
            <a:ext cx="4040188" cy="533135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500178"/>
            <a:ext cx="4040188" cy="371477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928674"/>
            <a:ext cx="4041775" cy="533135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500178"/>
            <a:ext cx="4041775" cy="371477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6B9085-2344-4D33-ABA8-34A6022C206F}" type="datetime3">
              <a:rPr lang="en-US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r>
              <a:rPr lang="en-IN" dirty="0"/>
              <a:t>CSE4004 WT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166475-10CE-487A-A234-748010D13EC0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5161756"/>
            <a:ext cx="1584176" cy="49048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5269912"/>
            <a:ext cx="1135873" cy="274176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15BE3B-6E56-4DBB-8503-D66D5865FAEA}" type="datetime3">
              <a:rPr lang="en-US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dirty="0"/>
              <a:t>CSE4004 WT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E88A24-15B2-4014-B454-8406F43B342A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5161756"/>
            <a:ext cx="1584176" cy="49048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5269912"/>
            <a:ext cx="1135873" cy="274176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C778C-E472-459B-A199-6D1A098CE9FE}" type="datetime3">
              <a:rPr lang="en-US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r>
              <a:rPr lang="en-IN" dirty="0"/>
              <a:t>CSE4004 WT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BE58E4-4C09-4B68-AA89-9B519AD825DD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5161756"/>
            <a:ext cx="1584176" cy="49048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5269912"/>
            <a:ext cx="1135873" cy="274176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58175" cy="5222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000125"/>
            <a:ext cx="8229600" cy="410527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85099-9D73-4FF5-824F-18922298BE49}" type="datetime3">
              <a:rPr lang="en-US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dirty="0"/>
              <a:t>CSE4004 WT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975163-F4B9-4804-9087-CAD0DE4888DA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5161756"/>
            <a:ext cx="1584176" cy="49048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5269912"/>
            <a:ext cx="1135873" cy="274176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58175" cy="5222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000125"/>
            <a:ext cx="4038600" cy="4105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00125"/>
            <a:ext cx="4038600" cy="4105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03C916-84AC-49A4-BA95-C87AE8C788FC}" type="datetime3">
              <a:rPr lang="en-US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r>
              <a:rPr lang="en-IN" dirty="0"/>
              <a:t>CSE4004 WT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436D7-947C-46F4-AAB0-A4F6E570EC14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5161756"/>
            <a:ext cx="1584176" cy="4904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5269912"/>
            <a:ext cx="1135873" cy="274176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142875"/>
            <a:ext cx="9144000" cy="6429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28575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6" name="Rectangle 5"/>
          <p:cNvSpPr/>
          <p:nvPr userDrawn="1"/>
        </p:nvSpPr>
        <p:spPr>
          <a:xfrm>
            <a:off x="6858000" y="5286375"/>
            <a:ext cx="285750" cy="428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9" name="Rectangle 49"/>
          <p:cNvSpPr>
            <a:spLocks noChangeArrowheads="1"/>
          </p:cNvSpPr>
          <p:nvPr userDrawn="1"/>
        </p:nvSpPr>
        <p:spPr bwMode="auto">
          <a:xfrm>
            <a:off x="0" y="4189413"/>
            <a:ext cx="9144000" cy="36512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406" y="5252831"/>
            <a:ext cx="9072594" cy="357190"/>
          </a:xfrm>
        </p:spPr>
        <p:txBody>
          <a:bodyPr>
            <a:noAutofit/>
          </a:bodyPr>
          <a:lstStyle>
            <a:lvl1pPr marL="0" indent="0" algn="r">
              <a:buNone/>
              <a:defRPr sz="19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23" y="142875"/>
            <a:ext cx="2386224" cy="73881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7" y="337220"/>
            <a:ext cx="1728191" cy="41715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8715375" y="238125"/>
            <a:ext cx="428625" cy="496888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000125"/>
            <a:ext cx="8229600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00875" y="5297488"/>
            <a:ext cx="1674813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5123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48B9D937-9D35-46BF-A1AD-A550A037BCB7}" type="datetime3">
              <a:rPr lang="en-US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05275" y="5297488"/>
            <a:ext cx="2895600" cy="3032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b="1">
                <a:solidFill>
                  <a:srgbClr val="003399"/>
                </a:solidFill>
              </a:defRPr>
            </a:lvl1pPr>
          </a:lstStyle>
          <a:p>
            <a:pPr>
              <a:defRPr/>
            </a:pPr>
            <a:r>
              <a:rPr lang="en-IN" dirty="0"/>
              <a:t>CSE4004 WT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15375" y="274638"/>
            <a:ext cx="428625" cy="4286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1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C63BC23E-C0FD-44A0-8393-5A086AC36B3D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sp>
        <p:nvSpPr>
          <p:cNvPr id="1031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28600"/>
            <a:ext cx="8258175" cy="5222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142875" cy="5724525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cxnSp>
        <p:nvCxnSpPr>
          <p:cNvPr id="13" name="Straight Connector 12"/>
          <p:cNvCxnSpPr/>
          <p:nvPr userDrawn="1"/>
        </p:nvCxnSpPr>
        <p:spPr>
          <a:xfrm rot="5400000">
            <a:off x="6910388" y="5456238"/>
            <a:ext cx="179387" cy="158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61" r:id="rId2"/>
    <p:sldLayoutId id="2147483862" r:id="rId3"/>
    <p:sldLayoutId id="2147483863" r:id="rId4"/>
    <p:sldLayoutId id="2147483864" r:id="rId5"/>
    <p:sldLayoutId id="2147483865" r:id="rId6"/>
    <p:sldLayoutId id="2147483866" r:id="rId7"/>
    <p:sldLayoutId id="2147483867" r:id="rId8"/>
    <p:sldLayoutId id="2147483869" r:id="rId9"/>
  </p:sldLayoutIdLst>
  <p:transition>
    <p:wipe dir="r"/>
  </p:transition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 kern="1200">
          <a:solidFill>
            <a:srgbClr val="003399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399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399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399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399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200" b="1">
          <a:solidFill>
            <a:schemeClr val="accent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 b="1">
          <a:solidFill>
            <a:schemeClr val="accent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 b="1">
          <a:solidFill>
            <a:schemeClr val="accent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 b="1">
          <a:solidFill>
            <a:schemeClr val="accent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jpg"/><Relationship Id="rId4" Type="http://schemas.openxmlformats.org/officeDocument/2006/relationships/image" Target="../media/image15.png"/><Relationship Id="rId9" Type="http://schemas.openxmlformats.org/officeDocument/2006/relationships/image" Target="../media/image20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wt/exes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684213" y="1920875"/>
            <a:ext cx="7888287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hangingPunct="0"/>
            <a:r>
              <a:rPr lang="en-US" sz="2400" b="1" dirty="0">
                <a:solidFill>
                  <a:srgbClr val="003399"/>
                </a:solidFill>
                <a:ea typeface="Arial Unicode MS" pitchFamily="34" charset="-128"/>
                <a:cs typeface="Arial Unicode MS" pitchFamily="34" charset="-128"/>
              </a:rPr>
              <a:t>CSE4004 – Web Technologies</a:t>
            </a:r>
          </a:p>
          <a:p>
            <a:pPr hangingPunct="0"/>
            <a:r>
              <a:rPr lang="en-US" sz="2400" b="1" dirty="0"/>
              <a:t>					</a:t>
            </a:r>
          </a:p>
          <a:p>
            <a:r>
              <a:rPr lang="en-US" sz="2400" b="1" dirty="0"/>
              <a:t>	 </a:t>
            </a:r>
            <a:r>
              <a:rPr lang="en-US" sz="2400" dirty="0"/>
              <a:t>Web Communication &amp; HTML </a:t>
            </a:r>
          </a:p>
          <a:p>
            <a:r>
              <a:rPr lang="en-US" sz="2400" dirty="0"/>
              <a:t>		</a:t>
            </a:r>
            <a:endParaRPr lang="en-US" sz="2400" b="1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D1CB68F-73D7-4DC8-BF36-95DE9DE504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Essentials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Client</a:t>
            </a:r>
            <a:r>
              <a:rPr lang="en-US" dirty="0"/>
              <a:t>: web browsers, used to surf the Web</a:t>
            </a:r>
          </a:p>
          <a:p>
            <a:r>
              <a:rPr lang="en-US" dirty="0">
                <a:solidFill>
                  <a:srgbClr val="C00000"/>
                </a:solidFill>
              </a:rPr>
              <a:t>Server systems</a:t>
            </a:r>
            <a:r>
              <a:rPr lang="en-US" dirty="0"/>
              <a:t>: used to supply information to these browsers</a:t>
            </a:r>
          </a:p>
          <a:p>
            <a:r>
              <a:rPr lang="en-US" dirty="0">
                <a:solidFill>
                  <a:srgbClr val="C00000"/>
                </a:solidFill>
              </a:rPr>
              <a:t>Computer networks</a:t>
            </a:r>
            <a:r>
              <a:rPr lang="en-US" dirty="0"/>
              <a:t>: used to support the browser-server communication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2</a:t>
            </a:fld>
            <a:endParaRPr lang="en-IN"/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8777421"/>
              </p:ext>
            </p:extLst>
          </p:nvPr>
        </p:nvGraphicFramePr>
        <p:xfrm>
          <a:off x="1676400" y="2823467"/>
          <a:ext cx="120015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4755600" imgH="4827960" progId="MS_ClipArt_Gallery.2">
                  <p:embed/>
                </p:oleObj>
              </mc:Choice>
              <mc:Fallback>
                <p:oleObj name="Clip" r:id="rId2" imgW="4755600" imgH="48279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823467"/>
                        <a:ext cx="120015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5717078"/>
              </p:ext>
            </p:extLst>
          </p:nvPr>
        </p:nvGraphicFramePr>
        <p:xfrm>
          <a:off x="6248400" y="2569468"/>
          <a:ext cx="920750" cy="1346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4" imgW="1927080" imgH="3382560" progId="MS_ClipArt_Gallery.2">
                  <p:embed/>
                </p:oleObj>
              </mc:Choice>
              <mc:Fallback>
                <p:oleObj name="Clip" r:id="rId4" imgW="1927080" imgH="33825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2569468"/>
                        <a:ext cx="920750" cy="13467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676400" y="3839468"/>
            <a:ext cx="1219200" cy="4001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sz="2000">
                <a:latin typeface="Verdana" pitchFamily="34" charset="0"/>
              </a:rPr>
              <a:t>Client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6096000" y="3839468"/>
            <a:ext cx="1219200" cy="4001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sz="2000">
                <a:latin typeface="Verdana" pitchFamily="34" charset="0"/>
              </a:rPr>
              <a:t>Server</a:t>
            </a:r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>
            <a:off x="2895600" y="3140967"/>
            <a:ext cx="3429000" cy="0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 flipH="1">
            <a:off x="2895600" y="3394967"/>
            <a:ext cx="3429000" cy="0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3124200" y="2759968"/>
            <a:ext cx="2895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latin typeface="Verdana" pitchFamily="34" charset="0"/>
              </a:rPr>
              <a:t>Request “document A”</a:t>
            </a: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3657600" y="3406874"/>
            <a:ext cx="1828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latin typeface="Verdana" pitchFamily="34" charset="0"/>
              </a:rPr>
              <a:t>document A</a:t>
            </a:r>
          </a:p>
        </p:txBody>
      </p:sp>
    </p:spTree>
    <p:extLst>
      <p:ext uri="{BB962C8B-B14F-4D97-AF65-F5344CB8AC3E}">
        <p14:creationId xmlns:p14="http://schemas.microsoft.com/office/powerpoint/2010/main" val="262660016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autoUpdateAnimBg="0"/>
      <p:bldP spid="10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Address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3</a:t>
            </a:fld>
            <a:endParaRPr lang="en-IN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249462"/>
            <a:ext cx="5837063" cy="3264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8921850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Address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4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99" y="818407"/>
            <a:ext cx="6986729" cy="482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827659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Server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5</a:t>
            </a:fld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271" y="769268"/>
            <a:ext cx="6835105" cy="4315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3391643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Client/Browsers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913284"/>
            <a:ext cx="5040560" cy="3972778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497466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044" y="1000125"/>
            <a:ext cx="6157912" cy="4105275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29532"/>
      </p:ext>
    </p:extLst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Servers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2465" y="1561356"/>
            <a:ext cx="1823977" cy="1011974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8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672344"/>
            <a:ext cx="1623861" cy="87848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3015111"/>
            <a:ext cx="2356490" cy="137061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653" y="695699"/>
            <a:ext cx="1500700" cy="144172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505" y="1973240"/>
            <a:ext cx="2857500" cy="1600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40" y="3576708"/>
            <a:ext cx="2421475" cy="109802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137420"/>
            <a:ext cx="2642947" cy="104385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251" y="3532252"/>
            <a:ext cx="1886727" cy="114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370362"/>
      </p:ext>
    </p:extLst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Server Home Page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625252"/>
            <a:ext cx="6231473" cy="4492631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529299"/>
      </p:ext>
    </p:extLst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Client and Server Communication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985292"/>
            <a:ext cx="6038800" cy="3738866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304094"/>
      </p:ext>
    </p:extLst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Client and Server Programming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11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762000"/>
            <a:ext cx="48768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190068"/>
      </p:ext>
    </p:extLst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Markup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defines the structure and content of hypertext documents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12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1538833"/>
            <a:ext cx="3514725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066059"/>
      </p:ext>
    </p:extLst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– Hyper Text Markup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r>
              <a:rPr lang="en-US" b="1" dirty="0"/>
              <a:t>HTML documents are simply text documents with a specific form</a:t>
            </a:r>
          </a:p>
          <a:p>
            <a:endParaRPr lang="en-US" b="1" dirty="0"/>
          </a:p>
          <a:p>
            <a:pPr lvl="1"/>
            <a:r>
              <a:rPr lang="en-US" b="1" dirty="0"/>
              <a:t>Documents comprised of </a:t>
            </a:r>
            <a:r>
              <a:rPr lang="en-US" b="1" dirty="0">
                <a:solidFill>
                  <a:srgbClr val="C00000"/>
                </a:solidFill>
              </a:rPr>
              <a:t>content</a:t>
            </a:r>
            <a:r>
              <a:rPr lang="en-US" b="1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markup tags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Content:</a:t>
            </a:r>
            <a:r>
              <a:rPr lang="en-US" b="1" dirty="0"/>
              <a:t> actual information being conveyed</a:t>
            </a:r>
          </a:p>
          <a:p>
            <a:pPr lvl="1"/>
            <a:r>
              <a:rPr lang="en-US" b="1" dirty="0"/>
              <a:t>The </a:t>
            </a:r>
            <a:r>
              <a:rPr lang="en-US" b="1" dirty="0">
                <a:solidFill>
                  <a:srgbClr val="C00000"/>
                </a:solidFill>
              </a:rPr>
              <a:t>markup tags </a:t>
            </a:r>
            <a:r>
              <a:rPr lang="en-US" b="1" dirty="0"/>
              <a:t>tell the Web browser how to display the page</a:t>
            </a:r>
          </a:p>
          <a:p>
            <a:pPr lvl="1"/>
            <a:r>
              <a:rPr lang="en-US" b="1" dirty="0"/>
              <a:t>An HTML file must have an </a:t>
            </a:r>
            <a:r>
              <a:rPr lang="en-US" b="1" dirty="0" err="1">
                <a:solidFill>
                  <a:srgbClr val="C00000"/>
                </a:solidFill>
              </a:rPr>
              <a:t>htm</a:t>
            </a:r>
            <a:r>
              <a:rPr lang="en-US" b="1" dirty="0"/>
              <a:t> or </a:t>
            </a:r>
            <a:r>
              <a:rPr lang="en-US" b="1" dirty="0">
                <a:solidFill>
                  <a:srgbClr val="C00000"/>
                </a:solidFill>
              </a:rPr>
              <a:t>html</a:t>
            </a:r>
            <a:r>
              <a:rPr lang="en-US" b="1" dirty="0"/>
              <a:t> file extension</a:t>
            </a:r>
          </a:p>
          <a:p>
            <a:pPr lvl="1"/>
            <a:r>
              <a:rPr lang="en-US" b="1" dirty="0"/>
              <a:t>An HTML file can be created using a </a:t>
            </a:r>
            <a:r>
              <a:rPr lang="en-US" b="1" dirty="0">
                <a:solidFill>
                  <a:srgbClr val="C00000"/>
                </a:solidFill>
              </a:rPr>
              <a:t>simple text editor</a:t>
            </a:r>
          </a:p>
          <a:p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199960"/>
      </p:ext>
    </p:extLst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r>
              <a:rPr lang="en-US" b="1" dirty="0"/>
              <a:t>HTML tags are used to mark-up HTML elements</a:t>
            </a:r>
          </a:p>
          <a:p>
            <a:pPr marL="0" indent="0">
              <a:buNone/>
            </a:pPr>
            <a:endParaRPr lang="en-US" b="1" dirty="0"/>
          </a:p>
          <a:p>
            <a:pPr lvl="1"/>
            <a:r>
              <a:rPr lang="en-US" b="1" dirty="0"/>
              <a:t>Surrounded by angle brackets</a:t>
            </a:r>
            <a:r>
              <a:rPr lang="en-US" b="1" dirty="0">
                <a:solidFill>
                  <a:srgbClr val="C00000"/>
                </a:solidFill>
              </a:rPr>
              <a:t> &lt; </a:t>
            </a:r>
            <a:r>
              <a:rPr lang="en-US" b="1" dirty="0"/>
              <a:t>and </a:t>
            </a:r>
            <a:r>
              <a:rPr lang="en-US" b="1" dirty="0">
                <a:solidFill>
                  <a:srgbClr val="C00000"/>
                </a:solidFill>
              </a:rPr>
              <a:t>&gt;</a:t>
            </a:r>
          </a:p>
          <a:p>
            <a:pPr lvl="1"/>
            <a:r>
              <a:rPr lang="en-US" b="1" dirty="0"/>
              <a:t>HTML tags normally come in pairs, like </a:t>
            </a:r>
            <a:r>
              <a:rPr lang="en-US" b="1" dirty="0">
                <a:solidFill>
                  <a:srgbClr val="C00000"/>
                </a:solidFill>
              </a:rPr>
              <a:t>&lt;</a:t>
            </a:r>
            <a:r>
              <a:rPr lang="en-US" b="1" dirty="0" err="1">
                <a:solidFill>
                  <a:srgbClr val="C00000"/>
                </a:solidFill>
              </a:rPr>
              <a:t>tagname</a:t>
            </a:r>
            <a:r>
              <a:rPr lang="en-US" b="1" dirty="0">
                <a:solidFill>
                  <a:srgbClr val="C00000"/>
                </a:solidFill>
              </a:rPr>
              <a:t>&gt; </a:t>
            </a:r>
            <a:r>
              <a:rPr lang="en-US" b="1" dirty="0"/>
              <a:t>(start tag) and </a:t>
            </a:r>
            <a:r>
              <a:rPr lang="en-US" b="1" dirty="0">
                <a:solidFill>
                  <a:srgbClr val="C00000"/>
                </a:solidFill>
              </a:rPr>
              <a:t>&lt;/</a:t>
            </a:r>
            <a:r>
              <a:rPr lang="en-US" b="1" dirty="0" err="1">
                <a:solidFill>
                  <a:srgbClr val="C00000"/>
                </a:solidFill>
              </a:rPr>
              <a:t>tagname</a:t>
            </a:r>
            <a:r>
              <a:rPr lang="en-US" b="1" dirty="0">
                <a:solidFill>
                  <a:srgbClr val="C00000"/>
                </a:solidFill>
              </a:rPr>
              <a:t>&gt; </a:t>
            </a:r>
            <a:r>
              <a:rPr lang="en-US" b="1" dirty="0"/>
              <a:t>(end tag)</a:t>
            </a:r>
          </a:p>
          <a:p>
            <a:pPr lvl="1"/>
            <a:r>
              <a:rPr lang="en-US" b="1" dirty="0"/>
              <a:t>The text between the start and end tags is the </a:t>
            </a:r>
            <a:r>
              <a:rPr lang="en-US" b="1" dirty="0">
                <a:solidFill>
                  <a:srgbClr val="C00000"/>
                </a:solidFill>
              </a:rPr>
              <a:t>element content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Not case-sensitive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526750"/>
      </p:ext>
    </p:extLst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Tags can have attributes that provide additional information to an HTML element</a:t>
            </a:r>
          </a:p>
          <a:p>
            <a:pPr lvl="1"/>
            <a:r>
              <a:rPr lang="en-US" b="1" dirty="0"/>
              <a:t>Attributes always come in name/value pairs like: </a:t>
            </a:r>
            <a:r>
              <a:rPr lang="en-US" b="1" dirty="0">
                <a:solidFill>
                  <a:srgbClr val="C00000"/>
                </a:solidFill>
              </a:rPr>
              <a:t>name=“value”</a:t>
            </a:r>
          </a:p>
          <a:p>
            <a:pPr lvl="1"/>
            <a:r>
              <a:rPr lang="en-US" b="1" dirty="0"/>
              <a:t>Attributes are always specified </a:t>
            </a:r>
            <a:r>
              <a:rPr lang="en-US" b="1" dirty="0">
                <a:solidFill>
                  <a:srgbClr val="C00000"/>
                </a:solidFill>
              </a:rPr>
              <a:t>in the start tag</a:t>
            </a:r>
          </a:p>
          <a:p>
            <a:pPr lvl="1"/>
            <a:r>
              <a:rPr lang="en-US" b="1" dirty="0"/>
              <a:t>Attribute values should always be </a:t>
            </a:r>
            <a:r>
              <a:rPr lang="en-US" b="1" dirty="0">
                <a:solidFill>
                  <a:srgbClr val="C00000"/>
                </a:solidFill>
              </a:rPr>
              <a:t>enclosed in quotes</a:t>
            </a:r>
            <a:r>
              <a:rPr lang="en-US" b="1" dirty="0"/>
              <a:t>. Double quotes are most common.</a:t>
            </a:r>
          </a:p>
          <a:p>
            <a:pPr lvl="1"/>
            <a:r>
              <a:rPr lang="en-US" b="1" dirty="0"/>
              <a:t>Also case-insensitive: however, lowercase is recommended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		</a:t>
            </a:r>
            <a:r>
              <a:rPr lang="en-US" b="1" dirty="0">
                <a:solidFill>
                  <a:srgbClr val="0070C0"/>
                </a:solidFill>
              </a:rPr>
              <a:t>&lt;</a:t>
            </a:r>
            <a:r>
              <a:rPr lang="en-US" b="1" dirty="0" err="1">
                <a:solidFill>
                  <a:srgbClr val="0070C0"/>
                </a:solidFill>
              </a:rPr>
              <a:t>tagname</a:t>
            </a:r>
            <a:r>
              <a:rPr lang="en-US" b="1" dirty="0">
                <a:solidFill>
                  <a:srgbClr val="0070C0"/>
                </a:solidFill>
              </a:rPr>
              <a:t> a1=“v1” a2=“v2”&gt;&lt;/</a:t>
            </a:r>
            <a:r>
              <a:rPr lang="en-US" b="1" dirty="0" err="1">
                <a:solidFill>
                  <a:srgbClr val="0070C0"/>
                </a:solidFill>
              </a:rPr>
              <a:t>tagname</a:t>
            </a:r>
            <a:r>
              <a:rPr lang="en-US" b="1" dirty="0">
                <a:solidFill>
                  <a:srgbClr val="0070C0"/>
                </a:solidFill>
              </a:rPr>
              <a:t>&gt;</a:t>
            </a:r>
          </a:p>
          <a:p>
            <a:pPr lvl="1"/>
            <a:r>
              <a:rPr lang="en-US" b="1" dirty="0"/>
              <a:t>For example, &lt;table border=“0”&gt; is a start tag that defines a table that has no borders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222833"/>
      </p:ext>
    </p:extLst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Document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Entire document enclosed within </a:t>
            </a:r>
            <a:r>
              <a:rPr lang="en-US" b="1" dirty="0">
                <a:solidFill>
                  <a:srgbClr val="C00000"/>
                </a:solidFill>
              </a:rPr>
              <a:t>&lt;html&gt; </a:t>
            </a:r>
            <a:r>
              <a:rPr lang="en-US" b="1" dirty="0"/>
              <a:t>and </a:t>
            </a:r>
            <a:r>
              <a:rPr lang="en-US" b="1" dirty="0">
                <a:solidFill>
                  <a:srgbClr val="C00000"/>
                </a:solidFill>
              </a:rPr>
              <a:t>&lt;/html&gt; </a:t>
            </a:r>
            <a:r>
              <a:rPr lang="en-US" b="1" dirty="0"/>
              <a:t>tags</a:t>
            </a:r>
          </a:p>
          <a:p>
            <a:r>
              <a:rPr lang="en-US" b="1" dirty="0"/>
              <a:t>Two subparts:</a:t>
            </a:r>
          </a:p>
          <a:p>
            <a:pPr lvl="1"/>
            <a:r>
              <a:rPr lang="en-US" b="1" dirty="0"/>
              <a:t>Head</a:t>
            </a:r>
          </a:p>
          <a:p>
            <a:pPr lvl="2"/>
            <a:r>
              <a:rPr lang="en-US" b="1" dirty="0"/>
              <a:t>Enclosed within </a:t>
            </a:r>
            <a:r>
              <a:rPr lang="en-US" b="1" dirty="0">
                <a:solidFill>
                  <a:srgbClr val="C00000"/>
                </a:solidFill>
              </a:rPr>
              <a:t>&lt;head&gt; </a:t>
            </a:r>
            <a:r>
              <a:rPr lang="en-US" b="1" dirty="0"/>
              <a:t>and </a:t>
            </a:r>
            <a:r>
              <a:rPr lang="en-US" b="1" dirty="0">
                <a:solidFill>
                  <a:srgbClr val="C00000"/>
                </a:solidFill>
              </a:rPr>
              <a:t>&lt;/head&gt;</a:t>
            </a:r>
          </a:p>
          <a:p>
            <a:pPr lvl="2"/>
            <a:r>
              <a:rPr lang="en-US" b="1" dirty="0"/>
              <a:t>Within the head, more tags can be used to specify title of the page, meta-information, etc.</a:t>
            </a:r>
          </a:p>
          <a:p>
            <a:pPr lvl="1"/>
            <a:r>
              <a:rPr lang="en-US" b="1" dirty="0"/>
              <a:t>Body</a:t>
            </a:r>
          </a:p>
          <a:p>
            <a:pPr lvl="2"/>
            <a:r>
              <a:rPr lang="en-US" b="1" dirty="0"/>
              <a:t>Enclosed within </a:t>
            </a:r>
            <a:r>
              <a:rPr lang="en-US" b="1" dirty="0">
                <a:solidFill>
                  <a:srgbClr val="C00000"/>
                </a:solidFill>
              </a:rPr>
              <a:t>&lt;body&gt; </a:t>
            </a:r>
            <a:r>
              <a:rPr lang="en-US" b="1" dirty="0"/>
              <a:t>and </a:t>
            </a:r>
            <a:r>
              <a:rPr lang="en-US" b="1" dirty="0">
                <a:solidFill>
                  <a:srgbClr val="C00000"/>
                </a:solidFill>
              </a:rPr>
              <a:t>&lt;/body&gt;</a:t>
            </a:r>
          </a:p>
          <a:p>
            <a:pPr lvl="2"/>
            <a:r>
              <a:rPr lang="en-US" b="1" dirty="0"/>
              <a:t>Within the body, content is to be displayed</a:t>
            </a:r>
          </a:p>
          <a:p>
            <a:pPr lvl="2"/>
            <a:r>
              <a:rPr lang="en-US" b="1" dirty="0"/>
              <a:t>Other tags can be embedded in the body</a:t>
            </a:r>
          </a:p>
          <a:p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3735008"/>
      </p:ext>
    </p:extLst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HTML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25"/>
            <a:ext cx="8579296" cy="410527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&lt;!DOCTYPE&gt;  </a:t>
            </a:r>
          </a:p>
          <a:p>
            <a:pPr marL="0" indent="0">
              <a:buNone/>
            </a:pPr>
            <a:r>
              <a:rPr lang="en-US" b="1" dirty="0"/>
              <a:t>&lt;html </a:t>
            </a:r>
            <a:r>
              <a:rPr lang="en-US" b="1" dirty="0" err="1"/>
              <a:t>lang</a:t>
            </a:r>
            <a:r>
              <a:rPr lang="en-US" b="1" dirty="0"/>
              <a:t>="en"&gt; </a:t>
            </a:r>
          </a:p>
          <a:p>
            <a:pPr marL="0" indent="0">
              <a:buNone/>
            </a:pPr>
            <a:r>
              <a:rPr lang="en-US" b="1" dirty="0"/>
              <a:t>    &lt;head&gt; </a:t>
            </a:r>
          </a:p>
          <a:p>
            <a:pPr marL="0" indent="0">
              <a:buNone/>
            </a:pPr>
            <a:r>
              <a:rPr lang="en-US" b="1" dirty="0"/>
              <a:t>       &lt;meta charset="UTF-8"&gt; </a:t>
            </a:r>
          </a:p>
          <a:p>
            <a:pPr marL="0" indent="0">
              <a:buNone/>
            </a:pPr>
            <a:r>
              <a:rPr lang="en-US" b="1" dirty="0"/>
              <a:t>       &lt;title&gt;Your Page TITLE goes here&lt;/title&gt;</a:t>
            </a:r>
          </a:p>
          <a:p>
            <a:pPr marL="0" indent="0">
              <a:buNone/>
            </a:pPr>
            <a:r>
              <a:rPr lang="en-US" b="1" dirty="0"/>
              <a:t>       &lt;meta name="viewport" content="width=device-width, initial-scale=1.0"&gt;            </a:t>
            </a:r>
          </a:p>
          <a:p>
            <a:pPr marL="0" indent="0">
              <a:buNone/>
            </a:pPr>
            <a:r>
              <a:rPr lang="en-US" b="1" dirty="0"/>
              <a:t>     &lt;/head&gt; </a:t>
            </a:r>
          </a:p>
          <a:p>
            <a:pPr marL="0" indent="0">
              <a:buNone/>
            </a:pPr>
            <a:r>
              <a:rPr lang="en-US" b="1" dirty="0"/>
              <a:t>     &lt;body&gt; </a:t>
            </a:r>
          </a:p>
          <a:p>
            <a:pPr marL="0" indent="0">
              <a:buNone/>
            </a:pPr>
            <a:r>
              <a:rPr lang="en-US" b="1" dirty="0"/>
              <a:t>         &lt;p&gt;Your Page CONTENT goes here. The p tag indicates that this is a  </a:t>
            </a:r>
          </a:p>
          <a:p>
            <a:pPr marL="0" indent="0">
              <a:buNone/>
            </a:pPr>
            <a:r>
              <a:rPr lang="en-US" b="1" dirty="0"/>
              <a:t>                paragraph&lt;/p&gt;   </a:t>
            </a:r>
          </a:p>
          <a:p>
            <a:pPr marL="0" indent="0">
              <a:buNone/>
            </a:pPr>
            <a:r>
              <a:rPr lang="en-US" b="1" dirty="0"/>
              <a:t>     &lt;/body&gt;  </a:t>
            </a:r>
          </a:p>
          <a:p>
            <a:pPr marL="0" indent="0">
              <a:buNone/>
            </a:pPr>
            <a:r>
              <a:rPr lang="en-US" b="1" dirty="0"/>
              <a:t>&lt;/html&gt;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213768"/>
      </p:ext>
    </p:extLst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HTML Page in Browser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18</a:t>
            </a:fld>
            <a:endParaRPr lang="en-IN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1" y="985292"/>
            <a:ext cx="5976664" cy="4029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9929985"/>
      </p:ext>
    </p:extLst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</a:t>
            </a:r>
            <a:r>
              <a:rPr lang="en-US" dirty="0" err="1"/>
              <a:t>Vs</a:t>
            </a:r>
            <a:r>
              <a:rPr lang="en-US" dirty="0"/>
              <a:t> XML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19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535656"/>
              </p:ext>
            </p:extLst>
          </p:nvPr>
        </p:nvGraphicFramePr>
        <p:xfrm>
          <a:off x="1619672" y="1417340"/>
          <a:ext cx="6576392" cy="2316751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3288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81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5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5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HTML is</a:t>
                      </a:r>
                      <a:r>
                        <a:rPr lang="en-US" baseline="0" dirty="0"/>
                        <a:t> a presentation language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XML is a data transportation</a:t>
                      </a:r>
                      <a:r>
                        <a:rPr lang="en-US" baseline="0" dirty="0"/>
                        <a:t> and storage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039">
                <a:tc>
                  <a:txBody>
                    <a:bodyPr/>
                    <a:lstStyle/>
                    <a:p>
                      <a:r>
                        <a:rPr lang="en-US" dirty="0"/>
                        <a:t>HTML uses fixed set of tags 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XML may have user defined tags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039">
                <a:tc>
                  <a:txBody>
                    <a:bodyPr/>
                    <a:lstStyle/>
                    <a:p>
                      <a:r>
                        <a:rPr lang="en-US" dirty="0"/>
                        <a:t>Browsers  tolerant  to  errors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XML must be well-formed (syntactically correct)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1224535"/>
      </p:ext>
    </p:extLst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XHTML is a stricter and cleaner version of HTML</a:t>
            </a:r>
          </a:p>
          <a:p>
            <a:pPr lvl="1"/>
            <a:r>
              <a:rPr lang="en-US" b="1" dirty="0" err="1"/>
              <a:t>e</a:t>
            </a:r>
            <a:r>
              <a:rPr lang="en-US" b="1" dirty="0" err="1">
                <a:solidFill>
                  <a:srgbClr val="C00000"/>
                </a:solidFill>
              </a:rPr>
              <a:t>Xt</a:t>
            </a:r>
            <a:r>
              <a:rPr lang="en-US" b="1" dirty="0" err="1"/>
              <a:t>ensible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C00000"/>
                </a:solidFill>
              </a:rPr>
              <a:t>H</a:t>
            </a:r>
            <a:r>
              <a:rPr lang="en-US" b="1" dirty="0" err="1"/>
              <a:t>yper</a:t>
            </a:r>
            <a:r>
              <a:rPr lang="en-US" b="1" dirty="0" err="1">
                <a:solidFill>
                  <a:srgbClr val="C00000"/>
                </a:solidFill>
              </a:rPr>
              <a:t>T</a:t>
            </a:r>
            <a:r>
              <a:rPr lang="en-US" b="1" dirty="0" err="1"/>
              <a:t>ext</a:t>
            </a:r>
            <a:r>
              <a:rPr lang="en-US" b="1" dirty="0"/>
              <a:t> </a:t>
            </a:r>
            <a:r>
              <a:rPr lang="en-US" b="1" dirty="0">
                <a:solidFill>
                  <a:srgbClr val="C00000"/>
                </a:solidFill>
              </a:rPr>
              <a:t>M</a:t>
            </a:r>
            <a:r>
              <a:rPr lang="en-US" b="1" dirty="0"/>
              <a:t>arkup </a:t>
            </a:r>
            <a:r>
              <a:rPr lang="en-US" b="1" dirty="0">
                <a:solidFill>
                  <a:srgbClr val="C00000"/>
                </a:solidFill>
              </a:rPr>
              <a:t>L</a:t>
            </a:r>
            <a:r>
              <a:rPr lang="en-US" b="1" dirty="0"/>
              <a:t>anguage</a:t>
            </a:r>
          </a:p>
          <a:p>
            <a:pPr lvl="1"/>
            <a:r>
              <a:rPr lang="en-US" b="1" dirty="0"/>
              <a:t>aimed to </a:t>
            </a:r>
            <a:r>
              <a:rPr lang="en-US" b="1" dirty="0">
                <a:solidFill>
                  <a:srgbClr val="C00000"/>
                </a:solidFill>
              </a:rPr>
              <a:t>replace HTML</a:t>
            </a:r>
          </a:p>
          <a:p>
            <a:pPr lvl="1"/>
            <a:r>
              <a:rPr lang="en-US" b="1" dirty="0"/>
              <a:t>identical to HTML 4.01</a:t>
            </a:r>
          </a:p>
          <a:p>
            <a:pPr lvl="1"/>
            <a:r>
              <a:rPr lang="en-US" b="1" dirty="0"/>
              <a:t>combination of </a:t>
            </a:r>
            <a:r>
              <a:rPr lang="en-US" b="1" dirty="0">
                <a:solidFill>
                  <a:srgbClr val="C00000"/>
                </a:solidFill>
              </a:rPr>
              <a:t>HTML and XML</a:t>
            </a:r>
            <a:endParaRPr lang="en-US" b="1" dirty="0"/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W3C</a:t>
            </a:r>
            <a:r>
              <a:rPr lang="en-US" b="1" dirty="0"/>
              <a:t> Recommendation</a:t>
            </a:r>
          </a:p>
          <a:p>
            <a:r>
              <a:rPr lang="en-US" b="1" dirty="0"/>
              <a:t>XHTML elements must be </a:t>
            </a:r>
            <a:r>
              <a:rPr lang="en-US" b="1" dirty="0">
                <a:solidFill>
                  <a:srgbClr val="C00000"/>
                </a:solidFill>
              </a:rPr>
              <a:t>properly nested</a:t>
            </a:r>
          </a:p>
          <a:p>
            <a:r>
              <a:rPr lang="en-US" b="1" dirty="0"/>
              <a:t>XHTML elements must </a:t>
            </a:r>
            <a:r>
              <a:rPr lang="en-US" b="1" dirty="0">
                <a:solidFill>
                  <a:srgbClr val="C00000"/>
                </a:solidFill>
              </a:rPr>
              <a:t>always be closed</a:t>
            </a:r>
          </a:p>
          <a:p>
            <a:r>
              <a:rPr lang="en-US" b="1" dirty="0"/>
              <a:t>XHTML elements must </a:t>
            </a:r>
            <a:r>
              <a:rPr lang="en-US" b="1" dirty="0">
                <a:solidFill>
                  <a:srgbClr val="C00000"/>
                </a:solidFill>
              </a:rPr>
              <a:t>be in lowercase</a:t>
            </a:r>
          </a:p>
          <a:p>
            <a:r>
              <a:rPr lang="en-US" b="1" dirty="0"/>
              <a:t>XHTML documents </a:t>
            </a:r>
            <a:r>
              <a:rPr lang="en-US" b="1" dirty="0">
                <a:solidFill>
                  <a:srgbClr val="C00000"/>
                </a:solidFill>
              </a:rPr>
              <a:t>must have one root element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986070"/>
      </p:ext>
    </p:extLst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 action="ppaction://hlinkfile"/>
              </a:rPr>
              <a:t>Sample HTML pages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877436"/>
      </p:ext>
    </p:extLst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Ahead?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Advanced HTML features</a:t>
            </a:r>
          </a:p>
          <a:p>
            <a:r>
              <a:rPr lang="en-US" altLang="zh-CN" dirty="0"/>
              <a:t>CSS</a:t>
            </a:r>
          </a:p>
          <a:p>
            <a:endParaRPr lang="en-US" altLang="zh-CN" dirty="0"/>
          </a:p>
          <a:p>
            <a:r>
              <a:rPr lang="en-US" altLang="zh-CN" dirty="0"/>
              <a:t>Client Side Scripting</a:t>
            </a:r>
          </a:p>
          <a:p>
            <a:r>
              <a:rPr lang="en-US" altLang="zh-CN" dirty="0"/>
              <a:t>Server Side Scripting</a:t>
            </a:r>
          </a:p>
          <a:p>
            <a:r>
              <a:rPr lang="en-US" altLang="zh-CN"/>
              <a:t>Web Frameworks 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9 September 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992073"/>
      </p:ext>
    </p:extLst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Office Theme">
  <a:themeElements>
    <a:clrScheme name="Cambridge">
      <a:dk1>
        <a:srgbClr val="000000"/>
      </a:dk1>
      <a:lt1>
        <a:srgbClr val="FFFFFF"/>
      </a:lt1>
      <a:dk2>
        <a:srgbClr val="003E72"/>
      </a:dk2>
      <a:lt2>
        <a:srgbClr val="FFFFFF"/>
      </a:lt2>
      <a:accent1>
        <a:srgbClr val="8E258D"/>
      </a:accent1>
      <a:accent2>
        <a:srgbClr val="205867"/>
      </a:accent2>
      <a:accent3>
        <a:srgbClr val="412D5D"/>
      </a:accent3>
      <a:accent4>
        <a:srgbClr val="8064A2"/>
      </a:accent4>
      <a:accent5>
        <a:srgbClr val="58A618"/>
      </a:accent5>
      <a:accent6>
        <a:srgbClr val="C84E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3037</TotalTime>
  <Words>676</Words>
  <Application>Microsoft Office PowerPoint</Application>
  <PresentationFormat>On-screen Show (16:10)</PresentationFormat>
  <Paragraphs>166</Paragraphs>
  <Slides>22</Slides>
  <Notes>1</Notes>
  <HiddenSlides>1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Verdana</vt:lpstr>
      <vt:lpstr>Office Theme</vt:lpstr>
      <vt:lpstr>Clip</vt:lpstr>
      <vt:lpstr>PowerPoint Presentation</vt:lpstr>
      <vt:lpstr>Web Essentials</vt:lpstr>
      <vt:lpstr>IP Address</vt:lpstr>
      <vt:lpstr>IP Address</vt:lpstr>
      <vt:lpstr>Web Server</vt:lpstr>
      <vt:lpstr>Web Client/Browsers</vt:lpstr>
      <vt:lpstr>Servers</vt:lpstr>
      <vt:lpstr>Web Servers</vt:lpstr>
      <vt:lpstr>Web Server Home Page</vt:lpstr>
      <vt:lpstr>Web Client and Server Communication</vt:lpstr>
      <vt:lpstr>Web Client and Server Programming</vt:lpstr>
      <vt:lpstr>Markup language</vt:lpstr>
      <vt:lpstr>HTML – Hyper Text Markup Language</vt:lpstr>
      <vt:lpstr>HTML Tags</vt:lpstr>
      <vt:lpstr>Tag attributes</vt:lpstr>
      <vt:lpstr>HTML Document Structure</vt:lpstr>
      <vt:lpstr>Sample HTML Page</vt:lpstr>
      <vt:lpstr>Sample HTML Page in Browser</vt:lpstr>
      <vt:lpstr>HTML Vs XML</vt:lpstr>
      <vt:lpstr>XHTML</vt:lpstr>
      <vt:lpstr>HTML</vt:lpstr>
      <vt:lpstr>What’s Ahead?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M.DEIVAMANI</dc:creator>
  <cp:lastModifiedBy>sheela j</cp:lastModifiedBy>
  <cp:revision>273</cp:revision>
  <dcterms:created xsi:type="dcterms:W3CDTF">2010-01-03T09:38:03Z</dcterms:created>
  <dcterms:modified xsi:type="dcterms:W3CDTF">2021-09-09T08:39:26Z</dcterms:modified>
</cp:coreProperties>
</file>