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71" r:id="rId2"/>
    <p:sldId id="300" r:id="rId3"/>
    <p:sldId id="301" r:id="rId4"/>
    <p:sldId id="302" r:id="rId5"/>
    <p:sldId id="303" r:id="rId6"/>
    <p:sldId id="304" r:id="rId7"/>
    <p:sldId id="305" r:id="rId8"/>
    <p:sldId id="316" r:id="rId9"/>
    <p:sldId id="306" r:id="rId10"/>
    <p:sldId id="307" r:id="rId11"/>
    <p:sldId id="322" r:id="rId12"/>
    <p:sldId id="319" r:id="rId13"/>
    <p:sldId id="323" r:id="rId14"/>
    <p:sldId id="320" r:id="rId15"/>
    <p:sldId id="308" r:id="rId16"/>
    <p:sldId id="317" r:id="rId17"/>
    <p:sldId id="318" r:id="rId18"/>
    <p:sldId id="309" r:id="rId19"/>
    <p:sldId id="310" r:id="rId20"/>
    <p:sldId id="311" r:id="rId21"/>
    <p:sldId id="312" r:id="rId22"/>
    <p:sldId id="313" r:id="rId23"/>
    <p:sldId id="314" r:id="rId24"/>
    <p:sldId id="315" r:id="rId25"/>
  </p:sldIdLst>
  <p:sldSz cx="9144000" cy="5715000" type="screen16x10"/>
  <p:notesSz cx="6645275" cy="91741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90">
          <p15:clr>
            <a:srgbClr val="A4A3A4"/>
          </p15:clr>
        </p15:guide>
        <p15:guide id="2" pos="209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F3FC"/>
    <a:srgbClr val="FFFFCC"/>
    <a:srgbClr val="FF0000"/>
    <a:srgbClr val="003399"/>
    <a:srgbClr val="C512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71" autoAdjust="0"/>
  </p:normalViewPr>
  <p:slideViewPr>
    <p:cSldViewPr>
      <p:cViewPr varScale="1">
        <p:scale>
          <a:sx n="83" d="100"/>
          <a:sy n="83" d="100"/>
        </p:scale>
        <p:origin x="996" y="54"/>
      </p:cViewPr>
      <p:guideLst>
        <p:guide orient="horz" pos="180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2598" y="-90"/>
      </p:cViewPr>
      <p:guideLst>
        <p:guide orient="horz" pos="2890"/>
        <p:guide pos="209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3073400" y="8688388"/>
            <a:ext cx="2879725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388" tIns="45194" rIns="90388" bIns="45194" numCol="1" anchor="b" anchorCtr="0" compatLnSpc="1">
            <a:prstTxWarp prst="textNoShape">
              <a:avLst/>
            </a:prstTxWarp>
          </a:bodyPr>
          <a:lstStyle>
            <a:lvl1pPr algn="r" defTabSz="835025">
              <a:defRPr sz="1000" b="1"/>
            </a:lvl1pPr>
          </a:lstStyle>
          <a:p>
            <a:pPr>
              <a:defRPr/>
            </a:pPr>
            <a:r>
              <a:rPr lang="en-IN"/>
              <a:t>DC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5953125" y="8688388"/>
            <a:ext cx="620713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388" tIns="45194" rIns="90388" bIns="45194" numCol="1" anchor="b" anchorCtr="0" compatLnSpc="1">
            <a:prstTxWarp prst="textNoShape">
              <a:avLst/>
            </a:prstTxWarp>
          </a:bodyPr>
          <a:lstStyle>
            <a:lvl1pPr defTabSz="835025">
              <a:defRPr sz="1000" b="1"/>
            </a:lvl1pPr>
          </a:lstStyle>
          <a:p>
            <a:pPr>
              <a:defRPr/>
            </a:pPr>
            <a:fld id="{73B4E500-E37F-4B0E-96AA-0E2483706BB5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cxnSp>
        <p:nvCxnSpPr>
          <p:cNvPr id="6" name="Straight Connector 5"/>
          <p:cNvCxnSpPr/>
          <p:nvPr/>
        </p:nvCxnSpPr>
        <p:spPr>
          <a:xfrm rot="5400000">
            <a:off x="6261894" y="10052844"/>
            <a:ext cx="200025" cy="158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989" name="Picture 2" descr="D:\Design Images\pic\search-bar-bg.jpg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4463"/>
            <a:ext cx="207963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158750"/>
            <a:ext cx="6645275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388" tIns="45194" rIns="90388" bIns="45194" numCol="1" anchor="t" anchorCtr="0" compatLnSpc="1">
            <a:prstTxWarp prst="textNoShape">
              <a:avLst/>
            </a:prstTxWarp>
          </a:bodyPr>
          <a:lstStyle>
            <a:lvl1pPr marL="176213" defTabSz="835025">
              <a:defRPr sz="1100" b="1"/>
            </a:lvl1pPr>
          </a:lstStyle>
          <a:p>
            <a:pPr>
              <a:defRPr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77493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87972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388" tIns="45194" rIns="90388" bIns="45194" numCol="1" anchor="t" anchorCtr="0" compatLnSpc="1">
            <a:prstTxWarp prst="textNoShape">
              <a:avLst/>
            </a:prstTxWarp>
          </a:bodyPr>
          <a:lstStyle>
            <a:lvl1pPr defTabSz="8350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763963" y="0"/>
            <a:ext cx="287972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388" tIns="45194" rIns="90388" bIns="45194" numCol="1" anchor="t" anchorCtr="0" compatLnSpc="1">
            <a:prstTxWarp prst="textNoShape">
              <a:avLst/>
            </a:prstTxWarp>
          </a:bodyPr>
          <a:lstStyle>
            <a:lvl1pPr algn="r" defTabSz="8350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F255D118-8232-4825-B18F-F0CD1BEB431D}" type="datetime1">
              <a:rPr lang="en-US"/>
              <a:pPr>
                <a:defRPr/>
              </a:pPr>
              <a:t>1/21/2026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8975"/>
            <a:ext cx="5502275" cy="3438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63575" y="4357688"/>
            <a:ext cx="5318125" cy="412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388" tIns="45194" rIns="90388" bIns="4519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713788"/>
            <a:ext cx="2879725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388" tIns="45194" rIns="90388" bIns="45194" numCol="1" anchor="b" anchorCtr="0" compatLnSpc="1">
            <a:prstTxWarp prst="textNoShape">
              <a:avLst/>
            </a:prstTxWarp>
          </a:bodyPr>
          <a:lstStyle>
            <a:lvl1pPr defTabSz="8350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IN"/>
              <a:t>DC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763963" y="8713788"/>
            <a:ext cx="2879725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388" tIns="45194" rIns="90388" bIns="45194" numCol="1" anchor="b" anchorCtr="0" compatLnSpc="1">
            <a:prstTxWarp prst="textNoShape">
              <a:avLst/>
            </a:prstTxWarp>
          </a:bodyPr>
          <a:lstStyle>
            <a:lvl1pPr algn="r" defTabSz="8350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36F143FB-66E5-4E47-8069-3C3B0CBB9B7D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98291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573088" y="688975"/>
            <a:ext cx="5499100" cy="343852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IN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3CD1C9B-69BB-40ED-88E4-C0F9C29B81B8}" type="slidenum">
              <a:rPr lang="en-IN" smtClean="0"/>
              <a:pPr/>
              <a:t>1</a:t>
            </a:fld>
            <a:endParaRPr lang="en-IN"/>
          </a:p>
        </p:txBody>
      </p:sp>
      <p:sp>
        <p:nvSpPr>
          <p:cNvPr id="39941" name="Footer Placeholder 4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IN"/>
              <a:t>DC Meeting</a:t>
            </a:r>
          </a:p>
        </p:txBody>
      </p:sp>
      <p:sp>
        <p:nvSpPr>
          <p:cNvPr id="39942" name="Header Placeholder 5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280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142875"/>
            <a:ext cx="9144000" cy="6429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28575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6" name="Rectangle 5"/>
          <p:cNvSpPr/>
          <p:nvPr userDrawn="1"/>
        </p:nvSpPr>
        <p:spPr>
          <a:xfrm>
            <a:off x="6858000" y="5286375"/>
            <a:ext cx="285750" cy="428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9" name="Rectangle 49"/>
          <p:cNvSpPr>
            <a:spLocks noChangeArrowheads="1"/>
          </p:cNvSpPr>
          <p:nvPr userDrawn="1"/>
        </p:nvSpPr>
        <p:spPr bwMode="auto">
          <a:xfrm>
            <a:off x="0" y="4189413"/>
            <a:ext cx="9144000" cy="36512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406" y="4786326"/>
            <a:ext cx="9072594" cy="468638"/>
          </a:xfrm>
        </p:spPr>
        <p:txBody>
          <a:bodyPr>
            <a:normAutofit/>
          </a:bodyPr>
          <a:lstStyle>
            <a:lvl1pPr algn="r">
              <a:defRPr sz="2400" b="1">
                <a:solidFill>
                  <a:srgbClr val="003399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406" y="5252831"/>
            <a:ext cx="9072594" cy="357190"/>
          </a:xfrm>
        </p:spPr>
        <p:txBody>
          <a:bodyPr>
            <a:noAutofit/>
          </a:bodyPr>
          <a:lstStyle>
            <a:lvl1pPr marL="0" indent="0" algn="r">
              <a:buNone/>
              <a:defRPr sz="19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23" y="142875"/>
            <a:ext cx="2386224" cy="73881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7" y="337220"/>
            <a:ext cx="1728191" cy="41715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864"/>
            <a:ext cx="8258204" cy="52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774709-785F-457C-9429-4E3DA889C601}" type="datetime3">
              <a:rPr lang="en-US"/>
              <a:pPr>
                <a:defRPr/>
              </a:pPr>
              <a:t>21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dirty="0"/>
              <a:t>CSE4004 WT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16FC18-A483-43BC-83D0-C7F7814867AE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5161756"/>
            <a:ext cx="1584176" cy="49048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5269912"/>
            <a:ext cx="1135873" cy="274176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28674"/>
            <a:ext cx="4038600" cy="421484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28674"/>
            <a:ext cx="4038600" cy="421484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2210CE-E9BF-439F-887E-E5FC4510379A}" type="datetime3">
              <a:rPr lang="en-US"/>
              <a:pPr>
                <a:defRPr/>
              </a:pPr>
              <a:t>21 January 2026</a:t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r>
              <a:rPr lang="en-IN" dirty="0"/>
              <a:t>CSE4004 WT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F8C114-B763-4CBF-B5DD-49D2D8823C44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5161756"/>
            <a:ext cx="1584176" cy="49048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5269912"/>
            <a:ext cx="1135873" cy="274176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522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28674"/>
            <a:ext cx="4040188" cy="533135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500178"/>
            <a:ext cx="4040188" cy="371477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928674"/>
            <a:ext cx="4041775" cy="533135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500178"/>
            <a:ext cx="4041775" cy="371477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6B9085-2344-4D33-ABA8-34A6022C206F}" type="datetime3">
              <a:rPr lang="en-US"/>
              <a:pPr>
                <a:defRPr/>
              </a:pPr>
              <a:t>21 January 2026</a:t>
            </a:fld>
            <a:endParaRPr lang="en-I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r>
              <a:rPr lang="en-IN" dirty="0"/>
              <a:t>CSE4004 WT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166475-10CE-487A-A234-748010D13EC0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5161756"/>
            <a:ext cx="1584176" cy="49048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5269912"/>
            <a:ext cx="1135873" cy="274176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15BE3B-6E56-4DBB-8503-D66D5865FAEA}" type="datetime3">
              <a:rPr lang="en-US"/>
              <a:pPr>
                <a:defRPr/>
              </a:pPr>
              <a:t>21 January 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dirty="0"/>
              <a:t>CSE4004 WT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E88A24-15B2-4014-B454-8406F43B342A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5161756"/>
            <a:ext cx="1584176" cy="49048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5269912"/>
            <a:ext cx="1135873" cy="274176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C778C-E472-459B-A199-6D1A098CE9FE}" type="datetime3">
              <a:rPr lang="en-US"/>
              <a:pPr>
                <a:defRPr/>
              </a:pPr>
              <a:t>21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r>
              <a:rPr lang="en-IN" dirty="0"/>
              <a:t>CSE4004 WT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BE58E4-4C09-4B68-AA89-9B519AD825DD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5161756"/>
            <a:ext cx="1584176" cy="49048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5269912"/>
            <a:ext cx="1135873" cy="274176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58175" cy="5222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000125"/>
            <a:ext cx="8229600" cy="410527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85099-9D73-4FF5-824F-18922298BE49}" type="datetime3">
              <a:rPr lang="en-US"/>
              <a:pPr>
                <a:defRPr/>
              </a:pPr>
              <a:t>21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dirty="0"/>
              <a:t>CSE4004 WT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975163-F4B9-4804-9087-CAD0DE4888DA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5161756"/>
            <a:ext cx="1584176" cy="49048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5269912"/>
            <a:ext cx="1135873" cy="274176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58175" cy="5222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000125"/>
            <a:ext cx="4038600" cy="4105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00125"/>
            <a:ext cx="4038600" cy="4105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03C916-84AC-49A4-BA95-C87AE8C788FC}" type="datetime3">
              <a:rPr lang="en-US"/>
              <a:pPr>
                <a:defRPr/>
              </a:pPr>
              <a:t>21 January 2026</a:t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r>
              <a:rPr lang="en-IN" dirty="0"/>
              <a:t>CSE4004 WT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436D7-947C-46F4-AAB0-A4F6E570EC14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5161756"/>
            <a:ext cx="1584176" cy="49048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5269912"/>
            <a:ext cx="1135873" cy="274176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142875"/>
            <a:ext cx="9144000" cy="6429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28575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6" name="Rectangle 5"/>
          <p:cNvSpPr/>
          <p:nvPr userDrawn="1"/>
        </p:nvSpPr>
        <p:spPr>
          <a:xfrm>
            <a:off x="6858000" y="5286375"/>
            <a:ext cx="285750" cy="428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9" name="Rectangle 49"/>
          <p:cNvSpPr>
            <a:spLocks noChangeArrowheads="1"/>
          </p:cNvSpPr>
          <p:nvPr userDrawn="1"/>
        </p:nvSpPr>
        <p:spPr bwMode="auto">
          <a:xfrm>
            <a:off x="0" y="4189413"/>
            <a:ext cx="9144000" cy="36512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406" y="5252831"/>
            <a:ext cx="9072594" cy="357190"/>
          </a:xfrm>
        </p:spPr>
        <p:txBody>
          <a:bodyPr>
            <a:noAutofit/>
          </a:bodyPr>
          <a:lstStyle>
            <a:lvl1pPr marL="0" indent="0" algn="r">
              <a:buNone/>
              <a:defRPr sz="19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23" y="142875"/>
            <a:ext cx="2386224" cy="73881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7" y="337220"/>
            <a:ext cx="1728191" cy="41715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8715375" y="238125"/>
            <a:ext cx="428625" cy="496888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000125"/>
            <a:ext cx="8229600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00875" y="5297488"/>
            <a:ext cx="1674813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5123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48B9D937-9D35-46BF-A1AD-A550A037BCB7}" type="datetime3">
              <a:rPr lang="en-US"/>
              <a:pPr>
                <a:defRPr/>
              </a:pPr>
              <a:t>21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05275" y="5297488"/>
            <a:ext cx="2895600" cy="3032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b="1">
                <a:solidFill>
                  <a:srgbClr val="003399"/>
                </a:solidFill>
              </a:defRPr>
            </a:lvl1pPr>
          </a:lstStyle>
          <a:p>
            <a:pPr>
              <a:defRPr/>
            </a:pPr>
            <a:r>
              <a:rPr lang="en-IN" dirty="0"/>
              <a:t>CSE4004 WT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15375" y="274638"/>
            <a:ext cx="428625" cy="4286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100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C63BC23E-C0FD-44A0-8393-5A086AC36B3D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sp>
        <p:nvSpPr>
          <p:cNvPr id="1031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28600"/>
            <a:ext cx="8258175" cy="5222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142875" cy="5724525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cxnSp>
        <p:nvCxnSpPr>
          <p:cNvPr id="13" name="Straight Connector 12"/>
          <p:cNvCxnSpPr/>
          <p:nvPr userDrawn="1"/>
        </p:nvCxnSpPr>
        <p:spPr>
          <a:xfrm rot="5400000">
            <a:off x="6910388" y="5456238"/>
            <a:ext cx="179387" cy="158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  <p:sldLayoutId id="2147483861" r:id="rId2"/>
    <p:sldLayoutId id="2147483862" r:id="rId3"/>
    <p:sldLayoutId id="2147483863" r:id="rId4"/>
    <p:sldLayoutId id="2147483864" r:id="rId5"/>
    <p:sldLayoutId id="2147483865" r:id="rId6"/>
    <p:sldLayoutId id="2147483866" r:id="rId7"/>
    <p:sldLayoutId id="2147483867" r:id="rId8"/>
    <p:sldLayoutId id="2147483869" r:id="rId9"/>
  </p:sldLayoutIdLst>
  <p:transition>
    <p:wipe dir="r"/>
  </p:transition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 kern="1200">
          <a:solidFill>
            <a:srgbClr val="003399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399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399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399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399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200" b="1">
          <a:solidFill>
            <a:schemeClr val="accent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200" b="1">
          <a:solidFill>
            <a:schemeClr val="accent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200" b="1">
          <a:solidFill>
            <a:schemeClr val="accent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200" b="1">
          <a:solidFill>
            <a:schemeClr val="accent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xample.org/" TargetMode="External"/><Relationship Id="rId2" Type="http://schemas.openxmlformats.org/officeDocument/2006/relationships/hyperlink" Target="ftp://ftp.rfc-editor.org/in-notes/std/std13.tx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icann.org/tlds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684213" y="1920875"/>
            <a:ext cx="7888287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hangingPunct="0"/>
            <a:r>
              <a:rPr lang="en-US" sz="2400" b="1" dirty="0">
                <a:solidFill>
                  <a:srgbClr val="003399"/>
                </a:solidFill>
                <a:ea typeface="Arial Unicode MS" pitchFamily="34" charset="-128"/>
                <a:cs typeface="Arial Unicode MS" pitchFamily="34" charset="-128"/>
              </a:rPr>
              <a:t>CSE4004 – Web Technologies</a:t>
            </a:r>
          </a:p>
          <a:p>
            <a:pPr hangingPunct="0"/>
            <a:r>
              <a:rPr lang="en-US" sz="2400" b="1" dirty="0"/>
              <a:t>					</a:t>
            </a:r>
          </a:p>
          <a:p>
            <a:r>
              <a:rPr lang="en-US" sz="2400" b="1" dirty="0"/>
              <a:t>	 </a:t>
            </a:r>
            <a:r>
              <a:rPr lang="en-US" sz="2400" dirty="0"/>
              <a:t>Web Essentials: </a:t>
            </a:r>
          </a:p>
          <a:p>
            <a:r>
              <a:rPr lang="en-US" sz="2400" dirty="0"/>
              <a:t>		Clients, Servers, and Communication</a:t>
            </a:r>
          </a:p>
          <a:p>
            <a:pPr hangingPunct="0"/>
            <a:endParaRPr lang="en-US" sz="2400" b="1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xmlns="" id="{544BF4FF-9194-4A62-B50A-A359FDE7C1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Essentials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Client</a:t>
            </a:r>
            <a:r>
              <a:rPr lang="en-US" dirty="0"/>
              <a:t>: web browsers, used to surf the Web</a:t>
            </a:r>
          </a:p>
          <a:p>
            <a:r>
              <a:rPr lang="en-US" dirty="0">
                <a:solidFill>
                  <a:srgbClr val="C00000"/>
                </a:solidFill>
              </a:rPr>
              <a:t>Server systems</a:t>
            </a:r>
            <a:r>
              <a:rPr lang="en-US" dirty="0"/>
              <a:t>: used to supply information to these browsers</a:t>
            </a:r>
          </a:p>
          <a:p>
            <a:r>
              <a:rPr lang="en-US" dirty="0">
                <a:solidFill>
                  <a:srgbClr val="C00000"/>
                </a:solidFill>
              </a:rPr>
              <a:t>Computer networks</a:t>
            </a:r>
            <a:r>
              <a:rPr lang="en-US" dirty="0"/>
              <a:t>: used to support the browser-server communication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21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2</a:t>
            </a:fld>
            <a:endParaRPr lang="en-IN"/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8777421"/>
              </p:ext>
            </p:extLst>
          </p:nvPr>
        </p:nvGraphicFramePr>
        <p:xfrm>
          <a:off x="1676400" y="2823467"/>
          <a:ext cx="120015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Clip" r:id="rId3" imgW="4755600" imgH="4827960" progId="MS_ClipArt_Gallery.2">
                  <p:embed/>
                </p:oleObj>
              </mc:Choice>
              <mc:Fallback>
                <p:oleObj name="Clip" r:id="rId3" imgW="4755600" imgH="482796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823467"/>
                        <a:ext cx="120015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5717078"/>
              </p:ext>
            </p:extLst>
          </p:nvPr>
        </p:nvGraphicFramePr>
        <p:xfrm>
          <a:off x="6248400" y="2569468"/>
          <a:ext cx="920750" cy="13467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Clip" r:id="rId5" imgW="1927080" imgH="3382560" progId="MS_ClipArt_Gallery.2">
                  <p:embed/>
                </p:oleObj>
              </mc:Choice>
              <mc:Fallback>
                <p:oleObj name="Clip" r:id="rId5" imgW="1927080" imgH="338256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2569468"/>
                        <a:ext cx="920750" cy="13467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676400" y="3839468"/>
            <a:ext cx="1219200" cy="4001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sz="2000">
                <a:latin typeface="Verdana" pitchFamily="34" charset="0"/>
              </a:rPr>
              <a:t>Client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6096000" y="3839468"/>
            <a:ext cx="1219200" cy="4001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sz="2000">
                <a:latin typeface="Verdana" pitchFamily="34" charset="0"/>
              </a:rPr>
              <a:t>Server</a:t>
            </a:r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auto">
          <a:xfrm>
            <a:off x="2895600" y="3140967"/>
            <a:ext cx="3429000" cy="0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 flipH="1">
            <a:off x="2895600" y="3394967"/>
            <a:ext cx="3429000" cy="0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3124200" y="2759968"/>
            <a:ext cx="2895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8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latin typeface="Verdana" pitchFamily="34" charset="0"/>
              </a:rPr>
              <a:t>Request “document A”</a:t>
            </a: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3657600" y="3406874"/>
            <a:ext cx="1828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8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latin typeface="Verdana" pitchFamily="34" charset="0"/>
              </a:rPr>
              <a:t>document A</a:t>
            </a:r>
          </a:p>
        </p:txBody>
      </p:sp>
    </p:spTree>
    <p:extLst>
      <p:ext uri="{BB962C8B-B14F-4D97-AF65-F5344CB8AC3E}">
        <p14:creationId xmlns:p14="http://schemas.microsoft.com/office/powerpoint/2010/main" val="262660016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autoUpdateAnimBg="0"/>
      <p:bldP spid="10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vs.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The Internet: </a:t>
            </a:r>
            <a:r>
              <a:rPr lang="en-US" dirty="0"/>
              <a:t>a inter-connected computer networks, linked by wires, cables, wireless connections, etc.</a:t>
            </a:r>
          </a:p>
          <a:p>
            <a:r>
              <a:rPr lang="en-US" dirty="0">
                <a:solidFill>
                  <a:srgbClr val="C00000"/>
                </a:solidFill>
              </a:rPr>
              <a:t>Web: </a:t>
            </a:r>
            <a:r>
              <a:rPr lang="en-US" dirty="0"/>
              <a:t>a collection of interconnected documents and other resources.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world wide web (WWW) </a:t>
            </a:r>
            <a:r>
              <a:rPr lang="en-US" dirty="0"/>
              <a:t>is accessible via the Internet, as are many other services including email, file sharing, etc.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21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4500550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the Internet 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Through communication protocols</a:t>
            </a:r>
          </a:p>
          <a:p>
            <a:r>
              <a:rPr lang="en-US" dirty="0"/>
              <a:t>A communication protocol is a specification of how communication between two computers will be carried out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IP (Internet Protocol): </a:t>
            </a:r>
            <a:r>
              <a:rPr lang="en-US" dirty="0"/>
              <a:t>defines the packets that carry blocks of data from one node to another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TCP (Transmission Control Protocol)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UDP (User Datagram Protocol): </a:t>
            </a:r>
            <a:r>
              <a:rPr lang="en-US" dirty="0"/>
              <a:t>the protocols by which one host sends data to another.</a:t>
            </a:r>
          </a:p>
          <a:p>
            <a:pPr lvl="1"/>
            <a:r>
              <a:rPr lang="en-US" dirty="0"/>
              <a:t>Other </a:t>
            </a:r>
            <a:r>
              <a:rPr lang="en-US" dirty="0">
                <a:solidFill>
                  <a:srgbClr val="C00000"/>
                </a:solidFill>
              </a:rPr>
              <a:t>application protocols</a:t>
            </a:r>
            <a:r>
              <a:rPr lang="en-US" dirty="0"/>
              <a:t>: DNS (Domain Name Service), SMTP (Simple Mail Transmission Protocol), and FTP (File Transmission Protocol)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21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774075"/>
      </p:ext>
    </p:extLst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Internet Protocol (IP)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key element of IP is IP address, a 32-bit number</a:t>
            </a:r>
          </a:p>
          <a:p>
            <a:r>
              <a:rPr lang="en-US" dirty="0"/>
              <a:t>The Internet authorities assign ranges of numbers to different organizations</a:t>
            </a:r>
          </a:p>
          <a:p>
            <a:r>
              <a:rPr lang="en-US" dirty="0"/>
              <a:t>IP is responsible for moving packet of data from node to node</a:t>
            </a:r>
          </a:p>
          <a:p>
            <a:r>
              <a:rPr lang="en-US" dirty="0"/>
              <a:t>A packet contains information such as the data to be transferred, the source and destination IP addresses, etc.</a:t>
            </a:r>
          </a:p>
          <a:p>
            <a:r>
              <a:rPr lang="en-US" dirty="0"/>
              <a:t>Packets are sent through different local network through gateways</a:t>
            </a:r>
          </a:p>
          <a:p>
            <a:r>
              <a:rPr lang="en-US" dirty="0"/>
              <a:t>A checksum is created to ensure the correctness of the data; corrupted packets are discarded</a:t>
            </a:r>
          </a:p>
          <a:p>
            <a:r>
              <a:rPr lang="en-US" dirty="0"/>
              <a:t>IP-based communication is unreliable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21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321784"/>
      </p:ext>
    </p:extLst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Transmission Control Protocol (TCP)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TCP is a higher-level protocol that extends IP to provide additional functionality: reliable communication</a:t>
            </a:r>
          </a:p>
          <a:p>
            <a:endParaRPr lang="en-US" dirty="0"/>
          </a:p>
          <a:p>
            <a:r>
              <a:rPr lang="en-US" dirty="0"/>
              <a:t>TCP adds support to detect errors or lost data and to trigger retransmission until the data is correctly and completely received</a:t>
            </a:r>
          </a:p>
          <a:p>
            <a:endParaRPr lang="en-US" dirty="0"/>
          </a:p>
          <a:p>
            <a:r>
              <a:rPr lang="en-US" dirty="0"/>
              <a:t>Connection</a:t>
            </a:r>
          </a:p>
          <a:p>
            <a:endParaRPr lang="en-US" dirty="0"/>
          </a:p>
          <a:p>
            <a:r>
              <a:rPr lang="en-US" dirty="0"/>
              <a:t>Acknowledgment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21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522204"/>
      </p:ext>
    </p:extLst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TCP/IP Protocol Suites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21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7</a:t>
            </a:fld>
            <a:endParaRPr lang="en-IN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1" y="985292"/>
            <a:ext cx="4752975" cy="393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8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6019800" y="1129308"/>
            <a:ext cx="31242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8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latin typeface="Verdana" pitchFamily="34" charset="0"/>
              </a:rPr>
              <a:t>HTTP, FTP, Telnet, DNS, SMTP, etc.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6019800" y="2093715"/>
            <a:ext cx="3124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8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latin typeface="Verdana" pitchFamily="34" charset="0"/>
              </a:rPr>
              <a:t>TCP, UDP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6019800" y="3236715"/>
            <a:ext cx="3124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8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latin typeface="Verdana" pitchFamily="34" charset="0"/>
              </a:rPr>
              <a:t>IP (IPv4, IPv6)</a:t>
            </a:r>
          </a:p>
        </p:txBody>
      </p:sp>
    </p:spTree>
    <p:extLst>
      <p:ext uri="{BB962C8B-B14F-4D97-AF65-F5344CB8AC3E}">
        <p14:creationId xmlns:p14="http://schemas.microsoft.com/office/powerpoint/2010/main" val="1071999936"/>
      </p:ext>
    </p:extLst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Name Service (</a:t>
            </a:r>
            <a:r>
              <a:rPr lang="en-US" dirty="0">
                <a:hlinkClick r:id="rId2"/>
              </a:rPr>
              <a:t>DNS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DNS is the “phone book” for the Internet</a:t>
            </a:r>
          </a:p>
          <a:p>
            <a:pPr lvl="1" eaLnBrk="1" hangingPunct="1"/>
            <a:r>
              <a:rPr lang="en-US" dirty="0"/>
              <a:t>Map between host names and IP addresses</a:t>
            </a:r>
          </a:p>
          <a:p>
            <a:pPr eaLnBrk="1" hangingPunct="1"/>
            <a:r>
              <a:rPr lang="en-US" dirty="0"/>
              <a:t>Host names</a:t>
            </a:r>
          </a:p>
          <a:p>
            <a:pPr lvl="1" eaLnBrk="1" hangingPunct="1"/>
            <a:r>
              <a:rPr lang="en-US" dirty="0">
                <a:solidFill>
                  <a:schemeClr val="hlink"/>
                </a:solidFill>
              </a:rPr>
              <a:t>Labels</a:t>
            </a:r>
            <a:r>
              <a:rPr lang="en-US" dirty="0"/>
              <a:t> separated by dots, e.g., </a:t>
            </a:r>
            <a:r>
              <a:rPr lang="en-US" dirty="0">
                <a:latin typeface="Lucida Sans Typewriter" pitchFamily="49" charset="0"/>
                <a:hlinkClick r:id="rId3"/>
              </a:rPr>
              <a:t>www.example.org</a:t>
            </a:r>
            <a:endParaRPr lang="en-US" dirty="0">
              <a:latin typeface="Lucida Sans Typewriter" pitchFamily="49" charset="0"/>
            </a:endParaRPr>
          </a:p>
          <a:p>
            <a:pPr lvl="1" eaLnBrk="1" hangingPunct="1"/>
            <a:r>
              <a:rPr lang="en-US" dirty="0"/>
              <a:t>Final label is </a:t>
            </a:r>
            <a:r>
              <a:rPr lang="en-US" i="1" dirty="0">
                <a:hlinkClick r:id="rId4"/>
              </a:rPr>
              <a:t>top-level domain</a:t>
            </a:r>
            <a:endParaRPr lang="en-US" i="1" dirty="0"/>
          </a:p>
          <a:p>
            <a:pPr lvl="2" eaLnBrk="1" hangingPunct="1"/>
            <a:r>
              <a:rPr lang="en-US" dirty="0"/>
              <a:t>Generic: .com, .org, etc.</a:t>
            </a:r>
          </a:p>
          <a:p>
            <a:pPr lvl="2" eaLnBrk="1" hangingPunct="1"/>
            <a:r>
              <a:rPr lang="en-US" dirty="0"/>
              <a:t>Country-code: .us, .</a:t>
            </a:r>
            <a:r>
              <a:rPr lang="en-US" dirty="0" err="1"/>
              <a:t>il</a:t>
            </a:r>
            <a:r>
              <a:rPr lang="en-US" dirty="0"/>
              <a:t>,.</a:t>
            </a:r>
            <a:r>
              <a:rPr lang="en-US" dirty="0" err="1"/>
              <a:t>sa</a:t>
            </a:r>
            <a:r>
              <a:rPr lang="en-US" dirty="0"/>
              <a:t>, etc.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21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850051"/>
      </p:ext>
    </p:extLst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World Wide Web (WWW)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WWW is a system of interlinked, hypertext documents that runs over the Internet</a:t>
            </a:r>
          </a:p>
          <a:p>
            <a:r>
              <a:rPr lang="en-US" dirty="0"/>
              <a:t>Two types of software:</a:t>
            </a:r>
          </a:p>
          <a:p>
            <a:pPr lvl="1"/>
            <a:r>
              <a:rPr lang="en-US" dirty="0"/>
              <a:t>Client: a system that wishes to access the information provided by servers must run client software (e.g., web browser)</a:t>
            </a:r>
          </a:p>
          <a:p>
            <a:pPr lvl="1"/>
            <a:r>
              <a:rPr lang="en-US" dirty="0"/>
              <a:t>Server: an internet-connected computer that wishes to provide information to others must run server software</a:t>
            </a:r>
          </a:p>
          <a:p>
            <a:pPr lvl="1"/>
            <a:r>
              <a:rPr lang="en-US" dirty="0"/>
              <a:t>Client and server applications communicate over the Internet by following a protocol built on top of TCP/IP – </a:t>
            </a:r>
            <a:r>
              <a:rPr lang="en-US" dirty="0" err="1"/>
              <a:t>HyperText</a:t>
            </a:r>
            <a:r>
              <a:rPr lang="en-US" dirty="0"/>
              <a:t> Transport Protocol (HTTP)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21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331114"/>
      </p:ext>
    </p:extLst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 of the WWW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Hypertext</a:t>
            </a:r>
          </a:p>
          <a:p>
            <a:r>
              <a:rPr lang="en-US" dirty="0"/>
              <a:t>Uniform Resource Locator (URL)</a:t>
            </a:r>
          </a:p>
          <a:p>
            <a:r>
              <a:rPr lang="en-US" dirty="0"/>
              <a:t>Markup language</a:t>
            </a:r>
          </a:p>
          <a:p>
            <a:r>
              <a:rPr lang="en-US" dirty="0"/>
              <a:t>Web Standards and the W3C Consortium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21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3062954"/>
      </p:ext>
    </p:extLst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format of information which allows one to move from one part of a document to another or from one document to another through hyperlinks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21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11</a:t>
            </a:fld>
            <a:endParaRPr lang="en-IN"/>
          </a:p>
        </p:txBody>
      </p:sp>
      <p:pic>
        <p:nvPicPr>
          <p:cNvPr id="7" name="Content Placeholder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27784" y="1993404"/>
            <a:ext cx="2438400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83541785"/>
      </p:ext>
    </p:extLst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 Resource Locator (URL)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unique identifiers used to locate a particular resource on the network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21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12</a:t>
            </a:fld>
            <a:endParaRPr lang="en-IN"/>
          </a:p>
        </p:txBody>
      </p:sp>
      <p:pic>
        <p:nvPicPr>
          <p:cNvPr id="7" name="Picture 4" descr="figure1_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256" y="1330350"/>
            <a:ext cx="510540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 descr="figure1_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202210"/>
            <a:ext cx="6858000" cy="188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4800467"/>
      </p:ext>
    </p:extLst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Markup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defines the structure and content of hypertext documents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21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13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1538833"/>
            <a:ext cx="3514725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595382"/>
      </p:ext>
    </p:extLst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Standards  and the W3C Consortium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C0000"/>
                </a:solidFill>
                <a:cs typeface="Times New Roman" pitchFamily="18" charset="0"/>
              </a:rPr>
              <a:t>W3C</a:t>
            </a:r>
            <a:r>
              <a:rPr lang="en-US" dirty="0"/>
              <a:t> – </a:t>
            </a:r>
            <a:r>
              <a:rPr lang="en-US" b="1" dirty="0">
                <a:solidFill>
                  <a:srgbClr val="CC0000"/>
                </a:solidFill>
                <a:cs typeface="Times New Roman" pitchFamily="18" charset="0"/>
              </a:rPr>
              <a:t>W</a:t>
            </a:r>
            <a:r>
              <a:rPr lang="en-US" dirty="0"/>
              <a:t>orld </a:t>
            </a:r>
            <a:r>
              <a:rPr lang="en-US" b="1" dirty="0">
                <a:solidFill>
                  <a:srgbClr val="CC0000"/>
                </a:solidFill>
                <a:cs typeface="Times New Roman" pitchFamily="18" charset="0"/>
              </a:rPr>
              <a:t>W</a:t>
            </a:r>
            <a:r>
              <a:rPr lang="en-US" dirty="0"/>
              <a:t>ide </a:t>
            </a:r>
            <a:r>
              <a:rPr lang="en-US" b="1" dirty="0">
                <a:solidFill>
                  <a:srgbClr val="CC0000"/>
                </a:solidFill>
                <a:cs typeface="Times New Roman" pitchFamily="18" charset="0"/>
              </a:rPr>
              <a:t>W</a:t>
            </a:r>
            <a:r>
              <a:rPr lang="en-US" dirty="0"/>
              <a:t>eb </a:t>
            </a:r>
            <a:r>
              <a:rPr lang="en-US" b="1" dirty="0">
                <a:solidFill>
                  <a:srgbClr val="CC0000"/>
                </a:solidFill>
                <a:cs typeface="Times New Roman" pitchFamily="18" charset="0"/>
              </a:rPr>
              <a:t>C</a:t>
            </a:r>
            <a:r>
              <a:rPr lang="en-US" dirty="0"/>
              <a:t>onsortium</a:t>
            </a:r>
          </a:p>
          <a:p>
            <a:pPr lvl="1"/>
            <a:r>
              <a:rPr lang="en-US" dirty="0">
                <a:cs typeface="Times New Roman" pitchFamily="18" charset="0"/>
              </a:rPr>
              <a:t>takes a proactive role in developing recommendations and prototype technologies related to the Web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cs typeface="Times New Roman" pitchFamily="18" charset="0"/>
              </a:rPr>
              <a:t> produces specifications, called Recommendations, in an effort to standardize web technologies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b="1" dirty="0">
                <a:solidFill>
                  <a:srgbClr val="CC0000"/>
                </a:solidFill>
                <a:cs typeface="Times New Roman" pitchFamily="18" charset="0"/>
              </a:rPr>
              <a:t>WAI – Web Accessibility Initiative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cs typeface="Times New Roman" pitchFamily="18" charset="0"/>
              </a:rPr>
              <a:t>Develops recommendations for 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cs typeface="Times New Roman" pitchFamily="18" charset="0"/>
              </a:rPr>
              <a:t>web content developers, 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cs typeface="Times New Roman" pitchFamily="18" charset="0"/>
              </a:rPr>
              <a:t>web authoring tool developers, 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cs typeface="Times New Roman" pitchFamily="18" charset="0"/>
              </a:rPr>
              <a:t>developers of web browsers, and 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cs typeface="Times New Roman" pitchFamily="18" charset="0"/>
              </a:rPr>
              <a:t>developers of other user agents to facilitate use of the web by those with special needs.</a:t>
            </a:r>
            <a:r>
              <a:rPr lang="en-US" sz="2000" dirty="0"/>
              <a:t> 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21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734353"/>
      </p:ext>
    </p:extLst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Client: Browser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Makes HTTP requests on behalf of the user</a:t>
            </a:r>
          </a:p>
          <a:p>
            <a:pPr lvl="1"/>
            <a:r>
              <a:rPr lang="en-US" dirty="0"/>
              <a:t>Reformat the URL entered as a valid HTTP request</a:t>
            </a:r>
          </a:p>
          <a:p>
            <a:pPr lvl="1"/>
            <a:r>
              <a:rPr lang="en-US" dirty="0"/>
              <a:t>Use DNS to convert server’s host name to appropriate IP address</a:t>
            </a:r>
          </a:p>
          <a:p>
            <a:pPr lvl="1"/>
            <a:r>
              <a:rPr lang="en-US" dirty="0"/>
              <a:t>Establish a TCP connection using the IP address</a:t>
            </a:r>
          </a:p>
          <a:p>
            <a:pPr lvl="1"/>
            <a:r>
              <a:rPr lang="en-US" dirty="0"/>
              <a:t>Send HTTP request over the connection and wait for server’s response</a:t>
            </a:r>
          </a:p>
          <a:p>
            <a:pPr lvl="1"/>
            <a:r>
              <a:rPr lang="en-US" dirty="0"/>
              <a:t>Display the document contained in the response</a:t>
            </a:r>
          </a:p>
          <a:p>
            <a:pPr lvl="2"/>
            <a:r>
              <a:rPr lang="en-US" dirty="0"/>
              <a:t>If the document is not a plain-text document but instead is written in HTML, this involves rendering the document (positioning text, graphics, creating table borders, using appropriate fonts, etc.)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21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231009"/>
      </p:ext>
    </p:extLst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Client: Browser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Many possible web clients:</a:t>
            </a:r>
          </a:p>
          <a:p>
            <a:pPr lvl="1" eaLnBrk="1" hangingPunct="1"/>
            <a:r>
              <a:rPr lang="en-US" dirty="0"/>
              <a:t>Text-only “browser”</a:t>
            </a:r>
          </a:p>
          <a:p>
            <a:pPr lvl="1" eaLnBrk="1" hangingPunct="1"/>
            <a:r>
              <a:rPr lang="en-US" dirty="0"/>
              <a:t>Mobile phones</a:t>
            </a:r>
          </a:p>
          <a:p>
            <a:pPr lvl="1" eaLnBrk="1" hangingPunct="1"/>
            <a:r>
              <a:rPr lang="en-US" dirty="0">
                <a:solidFill>
                  <a:schemeClr val="hlink"/>
                </a:solidFill>
              </a:rPr>
              <a:t>Robots</a:t>
            </a:r>
            <a:r>
              <a:rPr lang="en-US" dirty="0"/>
              <a:t> (software-only clients)</a:t>
            </a:r>
          </a:p>
          <a:p>
            <a:pPr lvl="1" eaLnBrk="1" hangingPunct="1"/>
            <a:r>
              <a:rPr lang="en-US" dirty="0"/>
              <a:t>etc.</a:t>
            </a:r>
          </a:p>
          <a:p>
            <a:pPr eaLnBrk="1" hangingPunct="1">
              <a:lnSpc>
                <a:spcPct val="80000"/>
              </a:lnSpc>
            </a:pPr>
            <a:r>
              <a:rPr lang="en-US" dirty="0"/>
              <a:t>Standard features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/>
              <a:t>Save web page to disk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/>
              <a:t>Fill forms automatically (passwords, CC numbers, …)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/>
              <a:t>Set preferences (language, character set, cache and HTTP parameters)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/>
              <a:t>Modify display style (e.g., increase font sizes)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/>
              <a:t>Choose browser themes (skins)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/>
              <a:t>View history of web addresses visited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/>
              <a:t>Bookmark favorite pages for easy return</a:t>
            </a:r>
          </a:p>
          <a:p>
            <a:pPr eaLnBrk="1" hangingPunct="1"/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21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409796"/>
      </p:ext>
    </p:extLst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Client: Browser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Additional functionality:</a:t>
            </a:r>
          </a:p>
          <a:p>
            <a:pPr lvl="1" eaLnBrk="1" hangingPunct="1"/>
            <a:r>
              <a:rPr lang="en-US" dirty="0"/>
              <a:t>Execution of </a:t>
            </a:r>
            <a:r>
              <a:rPr lang="en-US" dirty="0">
                <a:solidFill>
                  <a:schemeClr val="hlink"/>
                </a:solidFill>
              </a:rPr>
              <a:t>scripts</a:t>
            </a:r>
            <a:r>
              <a:rPr lang="en-US" dirty="0"/>
              <a:t> (e.g., drop-down menus)</a:t>
            </a:r>
          </a:p>
          <a:p>
            <a:pPr lvl="1" eaLnBrk="1" hangingPunct="1"/>
            <a:r>
              <a:rPr lang="en-US" dirty="0">
                <a:solidFill>
                  <a:schemeClr val="hlink"/>
                </a:solidFill>
              </a:rPr>
              <a:t>Event</a:t>
            </a:r>
            <a:r>
              <a:rPr lang="en-US" dirty="0"/>
              <a:t> handling (e.g., mouse clicks)</a:t>
            </a:r>
          </a:p>
          <a:p>
            <a:pPr lvl="1" eaLnBrk="1" hangingPunct="1"/>
            <a:r>
              <a:rPr lang="en-US" dirty="0"/>
              <a:t>GUI for </a:t>
            </a:r>
            <a:r>
              <a:rPr lang="en-US" dirty="0">
                <a:solidFill>
                  <a:schemeClr val="hlink"/>
                </a:solidFill>
              </a:rPr>
              <a:t>controls</a:t>
            </a:r>
            <a:r>
              <a:rPr lang="en-US" dirty="0"/>
              <a:t> (e.g., buttons)</a:t>
            </a:r>
          </a:p>
          <a:p>
            <a:pPr lvl="1" eaLnBrk="1" hangingPunct="1"/>
            <a:r>
              <a:rPr lang="en-US" dirty="0">
                <a:solidFill>
                  <a:schemeClr val="hlink"/>
                </a:solidFill>
              </a:rPr>
              <a:t>Secure communication</a:t>
            </a:r>
            <a:r>
              <a:rPr lang="en-US" dirty="0"/>
              <a:t> with servers</a:t>
            </a:r>
          </a:p>
          <a:p>
            <a:pPr lvl="1" eaLnBrk="1" hangingPunct="1"/>
            <a:r>
              <a:rPr lang="en-US" dirty="0"/>
              <a:t>Display of non-HTML documents (e.g., PDF) via </a:t>
            </a:r>
            <a:r>
              <a:rPr lang="en-US" dirty="0">
                <a:solidFill>
                  <a:schemeClr val="hlink"/>
                </a:solidFill>
              </a:rPr>
              <a:t>plug-ins</a:t>
            </a:r>
          </a:p>
          <a:p>
            <a:pPr eaLnBrk="1" hangingPunct="1"/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21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274784"/>
      </p:ext>
    </p:extLst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Servers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functionalities:</a:t>
            </a:r>
          </a:p>
          <a:p>
            <a:pPr lvl="1"/>
            <a:r>
              <a:rPr lang="en-US" dirty="0"/>
              <a:t>Server waits for connect requests</a:t>
            </a:r>
          </a:p>
          <a:p>
            <a:pPr lvl="1"/>
            <a:r>
              <a:rPr lang="en-US" dirty="0"/>
              <a:t>When a connection request is received, the server creates a new process to handle this connection</a:t>
            </a:r>
          </a:p>
          <a:p>
            <a:pPr lvl="1"/>
            <a:r>
              <a:rPr lang="en-US" dirty="0"/>
              <a:t>The new process establishes the TCP connection and waits for HTTP requests</a:t>
            </a:r>
          </a:p>
          <a:p>
            <a:pPr lvl="1"/>
            <a:r>
              <a:rPr lang="en-US" dirty="0"/>
              <a:t>The new process invokes software that maps the requested URL to a resource on the server</a:t>
            </a:r>
          </a:p>
          <a:p>
            <a:pPr lvl="1"/>
            <a:r>
              <a:rPr lang="en-US" dirty="0"/>
              <a:t>If the resource is a file, creates an HTTP response that contains the file in the body of the response message</a:t>
            </a:r>
          </a:p>
          <a:p>
            <a:pPr lvl="1"/>
            <a:r>
              <a:rPr lang="en-US" dirty="0"/>
              <a:t>If the resource is a program, runs the program, and returns the output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21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459419"/>
      </p:ext>
    </p:extLst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Web: HTML/XHTML,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 stands for </a:t>
            </a:r>
            <a:r>
              <a:rPr lang="en-US" dirty="0" err="1"/>
              <a:t>HyperText</a:t>
            </a:r>
            <a:r>
              <a:rPr lang="en-US" dirty="0"/>
              <a:t> Markup Language</a:t>
            </a:r>
          </a:p>
          <a:p>
            <a:pPr lvl="1"/>
            <a:r>
              <a:rPr lang="en-US" dirty="0"/>
              <a:t>It is a text file containing small markup tags that tell the Web browser how to display the page</a:t>
            </a:r>
          </a:p>
          <a:p>
            <a:pPr lvl="1"/>
            <a:endParaRPr lang="en-US" dirty="0"/>
          </a:p>
          <a:p>
            <a:r>
              <a:rPr lang="en-US" dirty="0"/>
              <a:t>XHTML stands for </a:t>
            </a:r>
            <a:r>
              <a:rPr lang="en-US" dirty="0" err="1"/>
              <a:t>eXtensible</a:t>
            </a:r>
            <a:r>
              <a:rPr lang="en-US" dirty="0"/>
              <a:t> </a:t>
            </a:r>
            <a:r>
              <a:rPr lang="en-US" dirty="0" err="1"/>
              <a:t>HyperText</a:t>
            </a:r>
            <a:r>
              <a:rPr lang="en-US" dirty="0"/>
              <a:t> Markup Language</a:t>
            </a:r>
          </a:p>
          <a:p>
            <a:pPr lvl="1"/>
            <a:r>
              <a:rPr lang="en-US" dirty="0"/>
              <a:t>It is identical to HTML 4.01</a:t>
            </a:r>
          </a:p>
          <a:p>
            <a:pPr lvl="1"/>
            <a:r>
              <a:rPr lang="en-US" dirty="0"/>
              <a:t>It is a stricter and cleaner version of HTML</a:t>
            </a:r>
          </a:p>
          <a:p>
            <a:pPr lvl="1"/>
            <a:endParaRPr lang="en-US" dirty="0"/>
          </a:p>
          <a:p>
            <a:r>
              <a:rPr lang="en-US" dirty="0"/>
              <a:t>CSS stands for Cascading Style Sheets</a:t>
            </a:r>
          </a:p>
          <a:p>
            <a:pPr lvl="1"/>
            <a:r>
              <a:rPr lang="en-US" dirty="0"/>
              <a:t>It defines how to display HTML elements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21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306903"/>
      </p:ext>
    </p:extLst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Programmability?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What’s the drawback to simple document model?</a:t>
            </a:r>
          </a:p>
          <a:p>
            <a:pPr lvl="1"/>
            <a:r>
              <a:rPr lang="en-US" dirty="0"/>
              <a:t>Static</a:t>
            </a:r>
          </a:p>
          <a:p>
            <a:pPr lvl="1"/>
            <a:r>
              <a:rPr lang="en-US" dirty="0"/>
              <a:t>Assume that documents are created before they are requested</a:t>
            </a:r>
          </a:p>
          <a:p>
            <a:endParaRPr lang="en-US" dirty="0"/>
          </a:p>
          <a:p>
            <a:r>
              <a:rPr lang="en-US" dirty="0"/>
              <a:t>What are examples of information that might be part of web documents that may not be known before they are requested?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21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590290"/>
      </p:ext>
    </p:extLst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Client-Side Programmability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Scripting language: a lightweight programming language</a:t>
            </a:r>
          </a:p>
          <a:p>
            <a:r>
              <a:rPr lang="en-US" dirty="0"/>
              <a:t>Browser scripting: JavaScript</a:t>
            </a:r>
          </a:p>
          <a:p>
            <a:pPr lvl="1"/>
            <a:r>
              <a:rPr lang="en-US" dirty="0"/>
              <a:t>Designed to add interactivity to HTML pages</a:t>
            </a:r>
          </a:p>
          <a:p>
            <a:pPr lvl="1"/>
            <a:r>
              <a:rPr lang="en-US" dirty="0"/>
              <a:t>Usually embedded into HTML pages</a:t>
            </a:r>
          </a:p>
          <a:p>
            <a:pPr lvl="1"/>
            <a:r>
              <a:rPr lang="en-US" dirty="0"/>
              <a:t>What can a JavaScript Do?</a:t>
            </a:r>
          </a:p>
          <a:p>
            <a:pPr lvl="2"/>
            <a:r>
              <a:rPr lang="en-US" dirty="0"/>
              <a:t>Put dynamic text into an HTML page</a:t>
            </a:r>
          </a:p>
          <a:p>
            <a:pPr lvl="2"/>
            <a:r>
              <a:rPr lang="en-US" dirty="0"/>
              <a:t>React to events</a:t>
            </a:r>
          </a:p>
          <a:p>
            <a:pPr lvl="2"/>
            <a:r>
              <a:rPr lang="en-US" dirty="0"/>
              <a:t>Read and write HTML elements</a:t>
            </a:r>
          </a:p>
          <a:p>
            <a:pPr lvl="2"/>
            <a:r>
              <a:rPr lang="en-US" dirty="0"/>
              <a:t>Validate data before it is submitted to a server</a:t>
            </a:r>
          </a:p>
          <a:p>
            <a:pPr lvl="2"/>
            <a:r>
              <a:rPr lang="en-US" dirty="0"/>
              <a:t>Create cookies</a:t>
            </a:r>
          </a:p>
          <a:p>
            <a:pPr lvl="2"/>
            <a:r>
              <a:rPr lang="en-US" dirty="0"/>
              <a:t>…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21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9849102"/>
      </p:ext>
    </p:extLst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Server-Side Programmability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requests cause the response to be generated</a:t>
            </a:r>
          </a:p>
          <a:p>
            <a:r>
              <a:rPr lang="en-US" dirty="0"/>
              <a:t>Server scripting:</a:t>
            </a:r>
          </a:p>
          <a:p>
            <a:pPr lvl="1"/>
            <a:r>
              <a:rPr lang="en-US" dirty="0"/>
              <a:t>CGI/Perl: Common Gate Way Interface (*.</a:t>
            </a:r>
            <a:r>
              <a:rPr lang="en-US" dirty="0" err="1"/>
              <a:t>pl</a:t>
            </a:r>
            <a:r>
              <a:rPr lang="en-US" dirty="0"/>
              <a:t>, *.</a:t>
            </a:r>
            <a:r>
              <a:rPr lang="en-US" dirty="0" err="1"/>
              <a:t>cgi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PHP: Open source, strong database support (*.</a:t>
            </a:r>
            <a:r>
              <a:rPr lang="en-US" dirty="0" err="1"/>
              <a:t>php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ASP: Microsoft product, uses </a:t>
            </a:r>
            <a:r>
              <a:rPr lang="en-US" dirty="0" err="1"/>
              <a:t>.Net</a:t>
            </a:r>
            <a:r>
              <a:rPr lang="en-US" dirty="0"/>
              <a:t> framework (*.asp)</a:t>
            </a:r>
          </a:p>
          <a:p>
            <a:pPr lvl="1"/>
            <a:r>
              <a:rPr lang="en-US" dirty="0"/>
              <a:t>Java via </a:t>
            </a:r>
            <a:r>
              <a:rPr lang="en-US" dirty="0" err="1"/>
              <a:t>JavaServer</a:t>
            </a:r>
            <a:r>
              <a:rPr lang="en-US" dirty="0"/>
              <a:t> Pages (*.</a:t>
            </a:r>
            <a:r>
              <a:rPr lang="en-US" dirty="0" err="1"/>
              <a:t>jsp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…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21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465219"/>
      </p:ext>
    </p:extLst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Gateway Interface:</a:t>
            </a:r>
          </a:p>
          <a:p>
            <a:pPr lvl="1"/>
            <a:r>
              <a:rPr lang="en-US" dirty="0"/>
              <a:t>CGI provides a way by which a web server can obtain data from (or send data to) database, and other programs, and present that data to viewers via the web.</a:t>
            </a:r>
          </a:p>
          <a:p>
            <a:pPr lvl="1"/>
            <a:r>
              <a:rPr lang="en-US" dirty="0"/>
              <a:t>A CGI program can be written in any programming language, but Perl is one of the most popular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21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611254"/>
      </p:ext>
    </p:extLst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Ahead?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HTML, XHTML</a:t>
            </a:r>
          </a:p>
          <a:p>
            <a:r>
              <a:rPr lang="en-US" dirty="0"/>
              <a:t>CSS</a:t>
            </a:r>
          </a:p>
          <a:p>
            <a:r>
              <a:rPr lang="en-US" dirty="0"/>
              <a:t>Simple client-side interactivity (JavaScript)</a:t>
            </a:r>
          </a:p>
          <a:p>
            <a:r>
              <a:rPr lang="en-US" altLang="zh-CN" dirty="0"/>
              <a:t>Simple server-side interactivity (CGI/Perl)</a:t>
            </a:r>
          </a:p>
          <a:p>
            <a:endParaRPr lang="en-US" altLang="zh-CN" dirty="0"/>
          </a:p>
          <a:p>
            <a:r>
              <a:rPr lang="en-US" altLang="zh-CN" dirty="0"/>
              <a:t>We will not “teach” these languages with all variants</a:t>
            </a:r>
          </a:p>
          <a:p>
            <a:r>
              <a:rPr lang="en-US" altLang="zh-CN" dirty="0"/>
              <a:t>We will provide an overview of the basics, and to help build a web page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21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992073"/>
      </p:ext>
    </p:extLst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Office Theme">
  <a:themeElements>
    <a:clrScheme name="Cambridge">
      <a:dk1>
        <a:srgbClr val="000000"/>
      </a:dk1>
      <a:lt1>
        <a:srgbClr val="FFFFFF"/>
      </a:lt1>
      <a:dk2>
        <a:srgbClr val="003E72"/>
      </a:dk2>
      <a:lt2>
        <a:srgbClr val="FFFFFF"/>
      </a:lt2>
      <a:accent1>
        <a:srgbClr val="8E258D"/>
      </a:accent1>
      <a:accent2>
        <a:srgbClr val="205867"/>
      </a:accent2>
      <a:accent3>
        <a:srgbClr val="412D5D"/>
      </a:accent3>
      <a:accent4>
        <a:srgbClr val="8064A2"/>
      </a:accent4>
      <a:accent5>
        <a:srgbClr val="58A618"/>
      </a:accent5>
      <a:accent6>
        <a:srgbClr val="C84E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2648</TotalTime>
  <Words>1391</Words>
  <Application>Microsoft Office PowerPoint</Application>
  <PresentationFormat>On-screen Show (16:10)</PresentationFormat>
  <Paragraphs>235</Paragraphs>
  <Slides>24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 Unicode MS</vt:lpstr>
      <vt:lpstr>宋体</vt:lpstr>
      <vt:lpstr>Arial</vt:lpstr>
      <vt:lpstr>Calibri</vt:lpstr>
      <vt:lpstr>Lucida Sans Typewriter</vt:lpstr>
      <vt:lpstr>Times New Roman</vt:lpstr>
      <vt:lpstr>Verdana</vt:lpstr>
      <vt:lpstr>Office Theme</vt:lpstr>
      <vt:lpstr>Clip</vt:lpstr>
      <vt:lpstr>PowerPoint Presentation</vt:lpstr>
      <vt:lpstr>Web Essentials</vt:lpstr>
      <vt:lpstr>Internet vs. Web</vt:lpstr>
      <vt:lpstr>How does the Internet Work?</vt:lpstr>
      <vt:lpstr>The Internet Protocol (IP)</vt:lpstr>
      <vt:lpstr>The Transmission Control Protocol (TCP)</vt:lpstr>
      <vt:lpstr>TCP/IP Protocol Suites</vt:lpstr>
      <vt:lpstr>Domain Name Service (DNS)</vt:lpstr>
      <vt:lpstr>The World Wide Web (WWW)</vt:lpstr>
      <vt:lpstr>Basics of the WWW</vt:lpstr>
      <vt:lpstr>Hypertext</vt:lpstr>
      <vt:lpstr>Uniform Resource Locator (URL)</vt:lpstr>
      <vt:lpstr>Markup language</vt:lpstr>
      <vt:lpstr>Web Standards  and the W3C Consortium</vt:lpstr>
      <vt:lpstr>Web Client: Browser</vt:lpstr>
      <vt:lpstr>Web Client: Browser</vt:lpstr>
      <vt:lpstr>Web Client: Browser</vt:lpstr>
      <vt:lpstr>Web Servers</vt:lpstr>
      <vt:lpstr>Static Web: HTML/XHTML, CSS</vt:lpstr>
      <vt:lpstr>Why Programmability?</vt:lpstr>
      <vt:lpstr>Client-Side Programmability</vt:lpstr>
      <vt:lpstr>Server-Side Programmability</vt:lpstr>
      <vt:lpstr>CGI</vt:lpstr>
      <vt:lpstr>What’s Ahead?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M.DEIVAMANI</dc:creator>
  <cp:lastModifiedBy>User</cp:lastModifiedBy>
  <cp:revision>254</cp:revision>
  <dcterms:created xsi:type="dcterms:W3CDTF">2010-01-03T09:38:03Z</dcterms:created>
  <dcterms:modified xsi:type="dcterms:W3CDTF">2026-01-21T07:11:34Z</dcterms:modified>
</cp:coreProperties>
</file>