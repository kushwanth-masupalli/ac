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5143500" cx="9144000"/>
  <p:notesSz cx="6858000" cy="9144000"/>
  <p:embeddedFontLst>
    <p:embeddedFont>
      <p:font typeface="Roboto Black"/>
      <p:bold r:id="rId26"/>
      <p:boldItalic r:id="rId27"/>
    </p:embeddedFont>
    <p:embeddedFont>
      <p:font typeface="Robo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37">
          <p15:clr>
            <a:srgbClr val="00FF00"/>
          </p15:clr>
        </p15:guide>
        <p15:guide id="6" orient="horz" pos="397">
          <p15:clr>
            <a:srgbClr val="00FF00"/>
          </p15:clr>
        </p15:guide>
      </p15:sldGuideLst>
    </p:ext>
    <p:ext uri="GoogleSlidesCustomDataVersion2">
      <go:slidesCustomData xmlns:go="http://customooxmlschemas.google.com/" r:id="rId32" roundtripDataSignature="AMtx7mjqgQSL7B/wL9rtsa9IOdl135r4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473E895-D2E0-4FAF-992B-EF62FB3A7DAB}">
  <a:tblStyle styleId="{9473E895-D2E0-4FAF-992B-EF62FB3A7DAB}"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755" orient="horz"/>
        <p:guide pos="907" orient="horz"/>
        <p:guide pos="5272"/>
        <p:guide pos="737" orient="horz"/>
        <p:guide pos="397"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RobotoBlack-bold.fntdata"/><Relationship Id="rId25" Type="http://schemas.openxmlformats.org/officeDocument/2006/relationships/slide" Target="slides/slide18.xml"/><Relationship Id="rId28" Type="http://schemas.openxmlformats.org/officeDocument/2006/relationships/font" Target="fonts/Roboto-regular.fntdata"/><Relationship Id="rId27" Type="http://schemas.openxmlformats.org/officeDocument/2006/relationships/font" Target="fonts/RobotoBlack-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oboto-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4.xml"/><Relationship Id="rId10" Type="http://schemas.openxmlformats.org/officeDocument/2006/relationships/slide" Target="slides/slide3.xml"/><Relationship Id="rId32" Type="http://customschemas.google.com/relationships/presentationmetadata" Target="meta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4337fc5d25_0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12" name="Google Shape;112;g14337fc5d25_0_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1fef00ada2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19" name="Google Shape;119;g31fef00ada2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208ef83a8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26" name="Google Shape;126;g3208ef83a8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208ef83a81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33" name="Google Shape;133;g3208ef83a81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208f49598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40" name="Google Shape;140;g3208f495986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208f495986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47" name="Google Shape;147;g3208f495986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1fe56d80bc_0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54" name="Google Shape;154;g31fe56d80bc_0_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1fdec52c72_0_3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0" name="Google Shape;160;g31fdec52c72_0_3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243a3cdda7_0_8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7" name="Google Shape;167;g3243a3cdda7_0_8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243a3cdda7_0_8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4" name="Google Shape;174;g3243a3cdda7_0_8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243a3cdda7_0_8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81" name="Google Shape;181;g3243a3cdda7_0_8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243a3cdda7_0_8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88" name="Google Shape;188;g3243a3cdda7_0_8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208f495986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95" name="Google Shape;195;g3208f495986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208f495986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02" name="Google Shape;202;g3208f495986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4: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p4: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g14337fc5d25_0_2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g14337fc5d25_0_2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g14337fc5d25_0_2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g14337fc5d25_0_2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g14337fc5d25_0_2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 name="Shape 22"/>
        <p:cNvGrpSpPr/>
        <p:nvPr/>
      </p:nvGrpSpPr>
      <p:grpSpPr>
        <a:xfrm>
          <a:off x="0" y="0"/>
          <a:ext cx="0" cy="0"/>
          <a:chOff x="0" y="0"/>
          <a:chExt cx="0" cy="0"/>
        </a:xfrm>
      </p:grpSpPr>
      <p:sp>
        <p:nvSpPr>
          <p:cNvPr id="23" name="Google Shape;23;g14337fc5d25_0_23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 name="Google Shape;24;g14337fc5d25_0_2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g14337fc5d25_0_2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7" name="Google Shape;27;g14337fc5d25_0_2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8" name="Google Shape;28;g14337fc5d25_0_2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 name="Google Shape;29;g14337fc5d25_0_2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0" name="Google Shape;30;g14337fc5d25_0_2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 name="Shape 31"/>
        <p:cNvGrpSpPr/>
        <p:nvPr/>
      </p:nvGrpSpPr>
      <p:grpSpPr>
        <a:xfrm>
          <a:off x="0" y="0"/>
          <a:ext cx="0" cy="0"/>
          <a:chOff x="0" y="0"/>
          <a:chExt cx="0" cy="0"/>
        </a:xfrm>
      </p:grpSpPr>
      <p:sp>
        <p:nvSpPr>
          <p:cNvPr id="32" name="Google Shape;32;g14337fc5d25_0_2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3" name="Google Shape;33;g14337fc5d25_0_2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 name="Shape 34"/>
        <p:cNvGrpSpPr/>
        <p:nvPr/>
      </p:nvGrpSpPr>
      <p:grpSpPr>
        <a:xfrm>
          <a:off x="0" y="0"/>
          <a:ext cx="0" cy="0"/>
          <a:chOff x="0" y="0"/>
          <a:chExt cx="0" cy="0"/>
        </a:xfrm>
      </p:grpSpPr>
      <p:sp>
        <p:nvSpPr>
          <p:cNvPr id="35" name="Google Shape;35;g14337fc5d25_0_2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6" name="Google Shape;36;g14337fc5d25_0_2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37" name="Google Shape;37;g14337fc5d25_0_2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38" name="Shape 38"/>
        <p:cNvGrpSpPr/>
        <p:nvPr/>
      </p:nvGrpSpPr>
      <p:grpSpPr>
        <a:xfrm>
          <a:off x="0" y="0"/>
          <a:ext cx="0" cy="0"/>
          <a:chOff x="0" y="0"/>
          <a:chExt cx="0" cy="0"/>
        </a:xfrm>
      </p:grpSpPr>
      <p:pic>
        <p:nvPicPr>
          <p:cNvPr descr="A close up of a logo&#10;&#10;Description generated with high confidence" id="39" name="Google Shape;39;g14337fc5d25_0_25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0" name="Google Shape;40;g14337fc5d25_0_25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1" name="Google Shape;41;g14337fc5d25_0_25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2" name="Google Shape;42;g14337fc5d25_0_25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3" name="Google Shape;43;g14337fc5d25_0_25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4" name="Shape 44"/>
        <p:cNvGrpSpPr/>
        <p:nvPr/>
      </p:nvGrpSpPr>
      <p:grpSpPr>
        <a:xfrm>
          <a:off x="0" y="0"/>
          <a:ext cx="0" cy="0"/>
          <a:chOff x="0" y="0"/>
          <a:chExt cx="0" cy="0"/>
        </a:xfrm>
      </p:grpSpPr>
      <p:sp>
        <p:nvSpPr>
          <p:cNvPr id="45" name="Google Shape;45;g31fef00ada2_0_12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6" name="Google Shape;46;g31fef00ada2_0_12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7" name="Google Shape;47;g31fef00ada2_0_12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8" name="Google Shape;48;g31fef00ada2_0_12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9" name="Google Shape;49;g31fef00ada2_0_12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5" name="Shape 55"/>
        <p:cNvGrpSpPr/>
        <p:nvPr/>
      </p:nvGrpSpPr>
      <p:grpSpPr>
        <a:xfrm>
          <a:off x="0" y="0"/>
          <a:ext cx="0" cy="0"/>
          <a:chOff x="0" y="0"/>
          <a:chExt cx="0" cy="0"/>
        </a:xfrm>
      </p:grpSpPr>
      <p:sp>
        <p:nvSpPr>
          <p:cNvPr id="56" name="Google Shape;56;g14337fc5d25_0_8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7" name="Google Shape;57;g14337fc5d25_0_8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8" name="Google Shape;58;g14337fc5d25_0_8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9" name="Google Shape;59;g14337fc5d25_0_8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2" name="Google Shape;62;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3" name="Google Shape;63;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64" name="Shape 64"/>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5" name="Shape 65"/>
        <p:cNvGrpSpPr/>
        <p:nvPr/>
      </p:nvGrpSpPr>
      <p:grpSpPr>
        <a:xfrm>
          <a:off x="0" y="0"/>
          <a:ext cx="0" cy="0"/>
          <a:chOff x="0" y="0"/>
          <a:chExt cx="0" cy="0"/>
        </a:xfrm>
      </p:grpSpPr>
      <p:sp>
        <p:nvSpPr>
          <p:cNvPr id="66" name="Google Shape;66;g14337fc5d25_0_84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7" name="Google Shape;67;g14337fc5d25_0_8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 name="Shape 68"/>
        <p:cNvGrpSpPr/>
        <p:nvPr/>
      </p:nvGrpSpPr>
      <p:grpSpPr>
        <a:xfrm>
          <a:off x="0" y="0"/>
          <a:ext cx="0" cy="0"/>
          <a:chOff x="0" y="0"/>
          <a:chExt cx="0" cy="0"/>
        </a:xfrm>
      </p:grpSpPr>
      <p:sp>
        <p:nvSpPr>
          <p:cNvPr id="69" name="Google Shape;69;g14337fc5d25_0_8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0" name="Google Shape;70;g14337fc5d25_0_8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1" name="Shape 71"/>
        <p:cNvGrpSpPr/>
        <p:nvPr/>
      </p:nvGrpSpPr>
      <p:grpSpPr>
        <a:xfrm>
          <a:off x="0" y="0"/>
          <a:ext cx="0" cy="0"/>
          <a:chOff x="0" y="0"/>
          <a:chExt cx="0" cy="0"/>
        </a:xfrm>
      </p:grpSpPr>
      <p:sp>
        <p:nvSpPr>
          <p:cNvPr id="72" name="Google Shape;72;g14337fc5d25_0_85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3" name="Google Shape;73;g14337fc5d25_0_85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4" name="Google Shape;74;g14337fc5d25_0_8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5" name="Shape 75"/>
        <p:cNvGrpSpPr/>
        <p:nvPr/>
      </p:nvGrpSpPr>
      <p:grpSpPr>
        <a:xfrm>
          <a:off x="0" y="0"/>
          <a:ext cx="0" cy="0"/>
          <a:chOff x="0" y="0"/>
          <a:chExt cx="0" cy="0"/>
        </a:xfrm>
      </p:grpSpPr>
      <p:sp>
        <p:nvSpPr>
          <p:cNvPr id="76" name="Google Shape;76;g14337fc5d25_0_86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7" name="Google Shape;77;g14337fc5d25_0_8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8" name="Shape 78"/>
        <p:cNvGrpSpPr/>
        <p:nvPr/>
      </p:nvGrpSpPr>
      <p:grpSpPr>
        <a:xfrm>
          <a:off x="0" y="0"/>
          <a:ext cx="0" cy="0"/>
          <a:chOff x="0" y="0"/>
          <a:chExt cx="0" cy="0"/>
        </a:xfrm>
      </p:grpSpPr>
      <p:sp>
        <p:nvSpPr>
          <p:cNvPr id="79" name="Google Shape;79;g14337fc5d25_0_86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80" name="Google Shape;80;g14337fc5d25_0_86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1" name="Google Shape;81;g14337fc5d25_0_86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2" name="Google Shape;82;g14337fc5d25_0_86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83" name="Google Shape;83;g14337fc5d25_0_8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4" name="Shape 84"/>
        <p:cNvGrpSpPr/>
        <p:nvPr/>
      </p:nvGrpSpPr>
      <p:grpSpPr>
        <a:xfrm>
          <a:off x="0" y="0"/>
          <a:ext cx="0" cy="0"/>
          <a:chOff x="0" y="0"/>
          <a:chExt cx="0" cy="0"/>
        </a:xfrm>
      </p:grpSpPr>
      <p:sp>
        <p:nvSpPr>
          <p:cNvPr id="85" name="Google Shape;85;g14337fc5d25_0_87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86" name="Google Shape;86;g14337fc5d25_0_8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7" name="Shape 87"/>
        <p:cNvGrpSpPr/>
        <p:nvPr/>
      </p:nvGrpSpPr>
      <p:grpSpPr>
        <a:xfrm>
          <a:off x="0" y="0"/>
          <a:ext cx="0" cy="0"/>
          <a:chOff x="0" y="0"/>
          <a:chExt cx="0" cy="0"/>
        </a:xfrm>
      </p:grpSpPr>
      <p:sp>
        <p:nvSpPr>
          <p:cNvPr id="88" name="Google Shape;88;g14337fc5d25_0_87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89" name="Google Shape;89;g14337fc5d25_0_87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90" name="Google Shape;90;g14337fc5d25_0_8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1" name="Shape 91"/>
        <p:cNvGrpSpPr/>
        <p:nvPr/>
      </p:nvGrpSpPr>
      <p:grpSpPr>
        <a:xfrm>
          <a:off x="0" y="0"/>
          <a:ext cx="0" cy="0"/>
          <a:chOff x="0" y="0"/>
          <a:chExt cx="0" cy="0"/>
        </a:xfrm>
      </p:grpSpPr>
      <p:sp>
        <p:nvSpPr>
          <p:cNvPr id="92" name="Google Shape;92;g14337fc5d25_0_8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0.xml"/><Relationship Id="rId10" Type="http://schemas.openxmlformats.org/officeDocument/2006/relationships/slideLayout" Target="../slideLayouts/slideLayout19.xml"/><Relationship Id="rId13" Type="http://schemas.openxmlformats.org/officeDocument/2006/relationships/theme" Target="../theme/theme2.xml"/><Relationship Id="rId12" Type="http://schemas.openxmlformats.org/officeDocument/2006/relationships/slideLayout" Target="../slideLayouts/slideLayout21.xml"/><Relationship Id="rId1" Type="http://schemas.openxmlformats.org/officeDocument/2006/relationships/image" Target="../media/image2.jpg"/><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14337fc5d25_0_2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14337fc5d25_0_2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14337fc5d25_0_2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g14337fc5d25_0_22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g14337fc5d25_0_8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g14337fc5d25_0_8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g14337fc5d25_0_8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54" name="Google Shape;54;g14337fc5d25_0_837"/>
          <p:cNvPicPr preferRelativeResize="0"/>
          <p:nvPr/>
        </p:nvPicPr>
        <p:blipFill rotWithShape="1">
          <a:blip r:embed="rId1">
            <a:alphaModFix/>
          </a:blip>
          <a:srcRect b="0" l="0" r="0" t="0"/>
          <a:stretch/>
        </p:blipFill>
        <p:spPr>
          <a:xfrm>
            <a:off x="-1" y="7219"/>
            <a:ext cx="9144003"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6.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hyperlink" Target="https://learn.codemithra.com/"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9.jpg"/><Relationship Id="rId4" Type="http://schemas.openxmlformats.org/officeDocument/2006/relationships/image" Target="../media/image11.png"/><Relationship Id="rId5" Type="http://schemas.openxmlformats.org/officeDocument/2006/relationships/image" Target="../media/image8.png"/><Relationship Id="rId6"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98" name="Google Shape;98;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99" name="Google Shape;99;p2"/>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100" name="Google Shape;100;p2"/>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101" name="Google Shape;101;p2"/>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07" name="Google Shape;107;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08" name="Google Shape;108;p3"/>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09" name="Google Shape;109;p3"/>
          <p:cNvSpPr txBox="1"/>
          <p:nvPr/>
        </p:nvSpPr>
        <p:spPr>
          <a:xfrm>
            <a:off x="140951" y="2260382"/>
            <a:ext cx="46908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200"/>
              <a:buFont typeface="Arial"/>
              <a:buNone/>
            </a:pPr>
            <a:r>
              <a:rPr b="1" i="0" lang="en-GB" sz="2400" u="none" cap="none" strike="noStrike">
                <a:solidFill>
                  <a:schemeClr val="lt1"/>
                </a:solidFill>
                <a:latin typeface="Consolas"/>
                <a:ea typeface="Consolas"/>
                <a:cs typeface="Consolas"/>
                <a:sym typeface="Consolas"/>
              </a:rPr>
              <a:t>STACK PERMUTATION</a:t>
            </a:r>
            <a:endParaRPr b="1" i="0" sz="2400" u="none" cap="none" strike="noStrike">
              <a:solidFill>
                <a:schemeClr val="lt1"/>
              </a:solidFill>
              <a:latin typeface="Consolas"/>
              <a:ea typeface="Consolas"/>
              <a:cs typeface="Consolas"/>
              <a:sym typeface="Consola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14337fc5d25_0_216"/>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STACK PERMUTATION</a:t>
            </a:r>
            <a:endParaRPr b="0" i="0" sz="1700" u="none" cap="none" strike="noStrike">
              <a:solidFill>
                <a:srgbClr val="6D9EEB"/>
              </a:solidFill>
              <a:latin typeface="Roboto Black"/>
              <a:ea typeface="Roboto Black"/>
              <a:cs typeface="Roboto Black"/>
              <a:sym typeface="Roboto Black"/>
            </a:endParaRPr>
          </a:p>
        </p:txBody>
      </p:sp>
      <p:sp>
        <p:nvSpPr>
          <p:cNvPr id="115" name="Google Shape;115;g14337fc5d25_0_216"/>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A stack can be used to generate permutations of a sequence.</a:t>
            </a:r>
            <a:endParaRPr b="0" i="0" sz="1600" u="none" cap="none" strike="noStrike">
              <a:solidFill>
                <a:schemeClr val="dk1"/>
              </a:solidFill>
              <a:latin typeface="Arial"/>
              <a:ea typeface="Arial"/>
              <a:cs typeface="Arial"/>
              <a:sym typeface="Arial"/>
            </a:endParaRPr>
          </a:p>
          <a:p>
            <a:pPr indent="-273050" lvl="1" marL="742950" marR="0" rtl="0" algn="just">
              <a:lnSpc>
                <a:spcPct val="150000"/>
              </a:lnSpc>
              <a:spcBef>
                <a:spcPts val="0"/>
              </a:spcBef>
              <a:spcAft>
                <a:spcPts val="0"/>
              </a:spcAft>
              <a:buClr>
                <a:schemeClr val="dk1"/>
              </a:buClr>
              <a:buSzPts val="1600"/>
              <a:buFont typeface="Noto Sans Symbols"/>
              <a:buChar char="⮚"/>
            </a:pPr>
            <a:r>
              <a:rPr b="0" i="0" lang="en-GB" sz="1600" u="none" cap="none" strike="noStrike">
                <a:solidFill>
                  <a:schemeClr val="dk1"/>
                </a:solidFill>
                <a:latin typeface="Consolas"/>
                <a:ea typeface="Consolas"/>
                <a:cs typeface="Consolas"/>
                <a:sym typeface="Consolas"/>
              </a:rPr>
              <a:t>Given a sequence and a target permutation, we can check if the target permutation is achievable using a stack by simulating the stack operations.</a:t>
            </a:r>
            <a:endParaRPr b="0" i="0" sz="1600" u="none" cap="none" strike="noStrike">
              <a:solidFill>
                <a:schemeClr val="dk1"/>
              </a:solidFill>
              <a:latin typeface="Arial"/>
              <a:ea typeface="Arial"/>
              <a:cs typeface="Arial"/>
              <a:sym typeface="Arial"/>
            </a:endParaRPr>
          </a:p>
          <a:p>
            <a:pPr indent="-273050" lvl="1" marL="742950" marR="0" rtl="0" algn="just">
              <a:lnSpc>
                <a:spcPct val="150000"/>
              </a:lnSpc>
              <a:spcBef>
                <a:spcPts val="0"/>
              </a:spcBef>
              <a:spcAft>
                <a:spcPts val="0"/>
              </a:spcAft>
              <a:buClr>
                <a:schemeClr val="dk1"/>
              </a:buClr>
              <a:buSzPts val="1600"/>
              <a:buFont typeface="Noto Sans Symbols"/>
              <a:buChar char="⮚"/>
            </a:pPr>
            <a:r>
              <a:rPr b="0" i="0" lang="en-GB" sz="1600" u="none" cap="none" strike="noStrike">
                <a:solidFill>
                  <a:schemeClr val="dk1"/>
                </a:solidFill>
                <a:latin typeface="Consolas"/>
                <a:ea typeface="Consolas"/>
                <a:cs typeface="Consolas"/>
                <a:sym typeface="Consolas"/>
              </a:rPr>
              <a:t>The idea is to start with an empty stack and sequentially push and pop elements from the original sequence until the stack matches the target permutation.</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p:txBody>
      </p:sp>
      <p:sp>
        <p:nvSpPr>
          <p:cNvPr id="116" name="Google Shape;116;g14337fc5d25_0_216"/>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1fef00ada2_0_6"/>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STACK PERMUTATION</a:t>
            </a:r>
            <a:endParaRPr b="0" i="0" sz="1700" u="none" cap="none" strike="noStrike">
              <a:solidFill>
                <a:srgbClr val="6D9EEB"/>
              </a:solidFill>
              <a:latin typeface="Roboto Black"/>
              <a:ea typeface="Roboto Black"/>
              <a:cs typeface="Roboto Black"/>
              <a:sym typeface="Roboto Black"/>
            </a:endParaRPr>
          </a:p>
        </p:txBody>
      </p:sp>
      <p:sp>
        <p:nvSpPr>
          <p:cNvPr id="122" name="Google Shape;122;g31fef00ada2_0_6"/>
          <p:cNvSpPr txBox="1"/>
          <p:nvPr/>
        </p:nvSpPr>
        <p:spPr>
          <a:xfrm>
            <a:off x="392700" y="1439875"/>
            <a:ext cx="8358600" cy="13305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Let array a[]: 1, 2, 3 and array b[]: 2, 1, 3</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Steps:</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push 1 from array a[ ] to stack</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push 2 from array a[] to stack</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pop 2 from stack to array b[]</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pop 1 from stack to array b[]</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push 3 from array a[ ] to stack</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pop 3 from stack to array b[]</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Therefore, Output : Yes</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t/>
            </a:r>
            <a:endParaRPr b="0" i="0" sz="18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a:t>
            </a:r>
            <a:endParaRPr b="0" i="0" sz="1600" u="none" cap="none" strike="noStrike">
              <a:solidFill>
                <a:schemeClr val="dk1"/>
              </a:solidFill>
              <a:latin typeface="Consolas"/>
              <a:ea typeface="Consolas"/>
              <a:cs typeface="Consolas"/>
              <a:sym typeface="Consolas"/>
            </a:endParaRPr>
          </a:p>
        </p:txBody>
      </p:sp>
      <p:sp>
        <p:nvSpPr>
          <p:cNvPr id="123" name="Google Shape;123;g31fef00ada2_0_6"/>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3208ef83a81_0_0"/>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STACK PERMUTATION</a:t>
            </a:r>
            <a:endParaRPr b="0" i="0" sz="1700" u="none" cap="none" strike="noStrike">
              <a:solidFill>
                <a:srgbClr val="6D9EEB"/>
              </a:solidFill>
              <a:latin typeface="Roboto Black"/>
              <a:ea typeface="Roboto Black"/>
              <a:cs typeface="Roboto Black"/>
              <a:sym typeface="Roboto Black"/>
            </a:endParaRPr>
          </a:p>
        </p:txBody>
      </p:sp>
      <p:sp>
        <p:nvSpPr>
          <p:cNvPr id="129" name="Google Shape;129;g3208ef83a81_0_0"/>
          <p:cNvSpPr txBox="1"/>
          <p:nvPr/>
        </p:nvSpPr>
        <p:spPr>
          <a:xfrm>
            <a:off x="392700" y="1278775"/>
            <a:ext cx="8358600" cy="1330500"/>
          </a:xfrm>
          <a:prstGeom prst="rect">
            <a:avLst/>
          </a:prstGeom>
          <a:noFill/>
          <a:ln>
            <a:noFill/>
          </a:ln>
        </p:spPr>
        <p:txBody>
          <a:bodyPr anchorCtr="0" anchor="t" bIns="45700" lIns="91425" spcFirstLastPara="1" rIns="91425" wrap="square" tIns="45700">
            <a:noAutofit/>
          </a:bodyPr>
          <a:lstStyle/>
          <a:p>
            <a:pPr indent="-273050" lvl="0" marL="285750" marR="0" rtl="0" algn="just">
              <a:lnSpc>
                <a:spcPct val="150000"/>
              </a:lnSpc>
              <a:spcBef>
                <a:spcPts val="0"/>
              </a:spcBef>
              <a:spcAft>
                <a:spcPts val="0"/>
              </a:spcAft>
              <a:buClr>
                <a:schemeClr val="dk1"/>
              </a:buClr>
              <a:buSzPts val="1600"/>
              <a:buFont typeface="Noto Sans Symbols"/>
              <a:buChar char="⮚"/>
            </a:pPr>
            <a:r>
              <a:rPr b="0" i="0" lang="en-GB" sz="1600" u="none" cap="none" strike="noStrike">
                <a:solidFill>
                  <a:schemeClr val="dk1"/>
                </a:solidFill>
                <a:latin typeface="Consolas"/>
                <a:ea typeface="Consolas"/>
                <a:cs typeface="Consolas"/>
                <a:sym typeface="Consolas"/>
              </a:rPr>
              <a:t>Create an empty stack to simulate the stack operations.</a:t>
            </a:r>
            <a:endParaRPr b="0" i="0" sz="1600" u="none" cap="none" strike="noStrike">
              <a:solidFill>
                <a:schemeClr val="dk1"/>
              </a:solidFill>
              <a:latin typeface="Arial"/>
              <a:ea typeface="Arial"/>
              <a:cs typeface="Arial"/>
              <a:sym typeface="Arial"/>
            </a:endParaRPr>
          </a:p>
          <a:p>
            <a:pPr indent="-273050" lvl="0" marL="285750" marR="0" rtl="0" algn="just">
              <a:lnSpc>
                <a:spcPct val="150000"/>
              </a:lnSpc>
              <a:spcBef>
                <a:spcPts val="0"/>
              </a:spcBef>
              <a:spcAft>
                <a:spcPts val="0"/>
              </a:spcAft>
              <a:buClr>
                <a:schemeClr val="dk1"/>
              </a:buClr>
              <a:buSzPts val="1600"/>
              <a:buFont typeface="Noto Sans Symbols"/>
              <a:buChar char="⮚"/>
            </a:pPr>
            <a:r>
              <a:rPr b="0" i="0" lang="en-GB" sz="1600" u="none" cap="none" strike="noStrike">
                <a:solidFill>
                  <a:schemeClr val="dk1"/>
                </a:solidFill>
                <a:latin typeface="Consolas"/>
                <a:ea typeface="Consolas"/>
                <a:cs typeface="Consolas"/>
                <a:sym typeface="Consolas"/>
              </a:rPr>
              <a:t>Iterate through the original sequence and perform the following steps:</a:t>
            </a:r>
            <a:endParaRPr b="0" i="0" sz="1600" u="none" cap="none" strike="noStrike">
              <a:solidFill>
                <a:schemeClr val="dk1"/>
              </a:solidFill>
              <a:latin typeface="Arial"/>
              <a:ea typeface="Arial"/>
              <a:cs typeface="Arial"/>
              <a:sym typeface="Arial"/>
            </a:endParaRPr>
          </a:p>
          <a:p>
            <a:pPr indent="-273050" lvl="1" marL="742950" marR="0" rtl="0" algn="just">
              <a:lnSpc>
                <a:spcPct val="150000"/>
              </a:lnSpc>
              <a:spcBef>
                <a:spcPts val="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Push the current element onto the stack.</a:t>
            </a:r>
            <a:endParaRPr b="0" i="0" sz="1600" u="none" cap="none" strike="noStrike">
              <a:solidFill>
                <a:schemeClr val="dk1"/>
              </a:solidFill>
              <a:latin typeface="Arial"/>
              <a:ea typeface="Arial"/>
              <a:cs typeface="Arial"/>
              <a:sym typeface="Arial"/>
            </a:endParaRPr>
          </a:p>
          <a:p>
            <a:pPr indent="-273050" lvl="1" marL="742950" marR="0" rtl="0" algn="just">
              <a:lnSpc>
                <a:spcPct val="150000"/>
              </a:lnSpc>
              <a:spcBef>
                <a:spcPts val="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Check if the top element of the stack matches the next element in the target permutation.</a:t>
            </a:r>
            <a:endParaRPr b="0" i="0" sz="1600" u="none" cap="none" strike="noStrike">
              <a:solidFill>
                <a:schemeClr val="dk1"/>
              </a:solidFill>
              <a:latin typeface="Arial"/>
              <a:ea typeface="Arial"/>
              <a:cs typeface="Arial"/>
              <a:sym typeface="Arial"/>
            </a:endParaRPr>
          </a:p>
          <a:p>
            <a:pPr indent="-273050" lvl="0" marL="285750" marR="0" rtl="0" algn="just">
              <a:lnSpc>
                <a:spcPct val="150000"/>
              </a:lnSpc>
              <a:spcBef>
                <a:spcPts val="0"/>
              </a:spcBef>
              <a:spcAft>
                <a:spcPts val="0"/>
              </a:spcAft>
              <a:buClr>
                <a:schemeClr val="dk1"/>
              </a:buClr>
              <a:buSzPts val="1600"/>
              <a:buFont typeface="Noto Sans Symbols"/>
              <a:buChar char="⮚"/>
            </a:pPr>
            <a:r>
              <a:rPr b="0" i="0" lang="en-GB" sz="1600" u="none" cap="none" strike="noStrike">
                <a:solidFill>
                  <a:schemeClr val="dk1"/>
                </a:solidFill>
                <a:latin typeface="Consolas"/>
                <a:ea typeface="Consolas"/>
                <a:cs typeface="Consolas"/>
                <a:sym typeface="Consolas"/>
              </a:rPr>
              <a:t>If they match, pop elements from the stack until they don't match or the stack is empty.</a:t>
            </a:r>
            <a:endParaRPr b="0" i="0" sz="1600" u="none" cap="none" strike="noStrike">
              <a:solidFill>
                <a:schemeClr val="dk1"/>
              </a:solidFill>
              <a:latin typeface="Arial"/>
              <a:ea typeface="Arial"/>
              <a:cs typeface="Arial"/>
              <a:sym typeface="Arial"/>
            </a:endParaRPr>
          </a:p>
          <a:p>
            <a:pPr indent="-273050" lvl="0" marL="285750" marR="0" rtl="0" algn="just">
              <a:lnSpc>
                <a:spcPct val="150000"/>
              </a:lnSpc>
              <a:spcBef>
                <a:spcPts val="0"/>
              </a:spcBef>
              <a:spcAft>
                <a:spcPts val="0"/>
              </a:spcAft>
              <a:buClr>
                <a:schemeClr val="dk1"/>
              </a:buClr>
              <a:buSzPts val="1600"/>
              <a:buFont typeface="Noto Sans Symbols"/>
              <a:buChar char="⮚"/>
            </a:pPr>
            <a:r>
              <a:rPr b="0" i="0" lang="en-GB" sz="1600" u="none" cap="none" strike="noStrike">
                <a:solidFill>
                  <a:schemeClr val="dk1"/>
                </a:solidFill>
                <a:latin typeface="Consolas"/>
                <a:ea typeface="Consolas"/>
                <a:cs typeface="Consolas"/>
                <a:sym typeface="Consolas"/>
              </a:rPr>
              <a:t>After processing all elements in the original sequence, if the stack is empty, it means the target permutation is achievable; otherwise, it's not</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chemeClr val="dk1"/>
              </a:buClr>
              <a:buSzPts val="1800"/>
              <a:buFont typeface="Arial"/>
              <a:buNone/>
            </a:pPr>
            <a:r>
              <a:t/>
            </a:r>
            <a:endParaRPr b="0" i="0" sz="18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a:t>
            </a:r>
            <a:endParaRPr b="0" i="0" sz="1600" u="none" cap="none" strike="noStrike">
              <a:solidFill>
                <a:schemeClr val="dk1"/>
              </a:solidFill>
              <a:latin typeface="Consolas"/>
              <a:ea typeface="Consolas"/>
              <a:cs typeface="Consolas"/>
              <a:sym typeface="Consolas"/>
            </a:endParaRPr>
          </a:p>
        </p:txBody>
      </p:sp>
      <p:sp>
        <p:nvSpPr>
          <p:cNvPr id="130" name="Google Shape;130;g3208ef83a81_0_0"/>
          <p:cNvSpPr txBox="1"/>
          <p:nvPr/>
        </p:nvSpPr>
        <p:spPr>
          <a:xfrm>
            <a:off x="108151" y="799591"/>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ALGORITHM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3208ef83a81_0_6"/>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STACK PERMUTATION</a:t>
            </a:r>
            <a:endParaRPr b="0" i="0" sz="1700" u="none" cap="none" strike="noStrike">
              <a:solidFill>
                <a:srgbClr val="6D9EEB"/>
              </a:solidFill>
              <a:latin typeface="Roboto Black"/>
              <a:ea typeface="Roboto Black"/>
              <a:cs typeface="Roboto Black"/>
              <a:sym typeface="Roboto Black"/>
            </a:endParaRPr>
          </a:p>
        </p:txBody>
      </p:sp>
      <p:sp>
        <p:nvSpPr>
          <p:cNvPr id="136" name="Google Shape;136;g3208ef83a81_0_6"/>
          <p:cNvSpPr txBox="1"/>
          <p:nvPr/>
        </p:nvSpPr>
        <p:spPr>
          <a:xfrm>
            <a:off x="392700" y="1324050"/>
            <a:ext cx="8358600" cy="13305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function isStackPermutation(original, target):</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stack = empty stack</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i = 0</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for element in original:</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stack.push(element)</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while (!stack.isEmpty() &amp;&amp; stack.peek() == target[i]):</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stack.pop()</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i++     </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return stack.isEmpty()</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8" marL="3657600" marR="0" rtl="0" algn="l">
              <a:lnSpc>
                <a:spcPct val="150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a:t>
            </a:r>
            <a:endParaRPr b="0" i="0" sz="1600" u="none" cap="none" strike="noStrike">
              <a:solidFill>
                <a:schemeClr val="dk1"/>
              </a:solidFill>
              <a:latin typeface="Consolas"/>
              <a:ea typeface="Consolas"/>
              <a:cs typeface="Consolas"/>
              <a:sym typeface="Consolas"/>
            </a:endParaRPr>
          </a:p>
        </p:txBody>
      </p:sp>
      <p:sp>
        <p:nvSpPr>
          <p:cNvPr id="137" name="Google Shape;137;g3208ef83a81_0_6"/>
          <p:cNvSpPr txBox="1"/>
          <p:nvPr/>
        </p:nvSpPr>
        <p:spPr>
          <a:xfrm>
            <a:off x="172451" y="8771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PSEUDOCODE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208f495986_0_0"/>
          <p:cNvSpPr txBox="1"/>
          <p:nvPr/>
        </p:nvSpPr>
        <p:spPr>
          <a:xfrm>
            <a:off x="720725" y="45325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STACK PERMUTATION</a:t>
            </a:r>
            <a:endParaRPr b="0" i="0" sz="1700" u="none" cap="none" strike="noStrike">
              <a:solidFill>
                <a:srgbClr val="6D9EEB"/>
              </a:solidFill>
              <a:latin typeface="Roboto Black"/>
              <a:ea typeface="Roboto Black"/>
              <a:cs typeface="Roboto Black"/>
              <a:sym typeface="Roboto Black"/>
            </a:endParaRPr>
          </a:p>
        </p:txBody>
      </p:sp>
      <p:sp>
        <p:nvSpPr>
          <p:cNvPr id="143" name="Google Shape;143;g3208f495986_0_0"/>
          <p:cNvSpPr txBox="1"/>
          <p:nvPr/>
        </p:nvSpPr>
        <p:spPr>
          <a:xfrm>
            <a:off x="392700" y="1439875"/>
            <a:ext cx="8358600" cy="13305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Input: </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Original sequence: [1, 2, 3]</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Target permutation: [2, 1, 3]</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Output:</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Is it a stack permutation? true</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chemeClr val="dk1"/>
              </a:buClr>
              <a:buSzPts val="1800"/>
              <a:buFont typeface="Arial"/>
              <a:buNone/>
            </a:pPr>
            <a:r>
              <a:t/>
            </a:r>
            <a:endParaRPr b="0" i="0" sz="18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a:t>
            </a:r>
            <a:endParaRPr b="0" i="0" sz="1600" u="none" cap="none" strike="noStrike">
              <a:solidFill>
                <a:schemeClr val="dk1"/>
              </a:solidFill>
              <a:latin typeface="Consolas"/>
              <a:ea typeface="Consolas"/>
              <a:cs typeface="Consolas"/>
              <a:sym typeface="Consolas"/>
            </a:endParaRPr>
          </a:p>
        </p:txBody>
      </p:sp>
      <p:sp>
        <p:nvSpPr>
          <p:cNvPr id="144" name="Google Shape;144;g3208f495986_0_0"/>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208f495986_0_6"/>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STACK PERMUTATION</a:t>
            </a:r>
            <a:endParaRPr b="0" i="0" sz="1700" u="none" cap="none" strike="noStrike">
              <a:solidFill>
                <a:srgbClr val="6D9EEB"/>
              </a:solidFill>
              <a:latin typeface="Roboto Black"/>
              <a:ea typeface="Roboto Black"/>
              <a:cs typeface="Roboto Black"/>
              <a:sym typeface="Roboto Black"/>
            </a:endParaRPr>
          </a:p>
        </p:txBody>
      </p:sp>
      <p:sp>
        <p:nvSpPr>
          <p:cNvPr id="150" name="Google Shape;150;g3208f495986_0_6"/>
          <p:cNvSpPr txBox="1"/>
          <p:nvPr/>
        </p:nvSpPr>
        <p:spPr>
          <a:xfrm>
            <a:off x="392700" y="1439875"/>
            <a:ext cx="8358600" cy="1330500"/>
          </a:xfrm>
          <a:prstGeom prst="rect">
            <a:avLst/>
          </a:prstGeom>
          <a:noFill/>
          <a:ln>
            <a:noFill/>
          </a:ln>
        </p:spPr>
        <p:txBody>
          <a:bodyPr anchorCtr="0" anchor="t" bIns="45700" lIns="91425" spcFirstLastPara="1" rIns="91425" wrap="square" tIns="45700">
            <a:noAutofit/>
          </a:bodyPr>
          <a:lstStyle/>
          <a:p>
            <a:pPr indent="-273050" lvl="0" marL="285750" marR="0" rtl="0" algn="just">
              <a:lnSpc>
                <a:spcPct val="150000"/>
              </a:lnSpc>
              <a:spcBef>
                <a:spcPts val="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The original sequence [1, 2, 3] can be transformed into the target permutation [2, 1, 3] using stack operations.</a:t>
            </a:r>
            <a:endParaRPr b="0" i="0" sz="1600" u="none" cap="none" strike="noStrike">
              <a:solidFill>
                <a:schemeClr val="dk1"/>
              </a:solidFill>
              <a:latin typeface="Arial"/>
              <a:ea typeface="Arial"/>
              <a:cs typeface="Arial"/>
              <a:sym typeface="Arial"/>
            </a:endParaRPr>
          </a:p>
          <a:p>
            <a:pPr indent="-273050" lvl="0" marL="285750" marR="0" rtl="0" algn="just">
              <a:lnSpc>
                <a:spcPct val="150000"/>
              </a:lnSpc>
              <a:spcBef>
                <a:spcPts val="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We push elements from the original sequence onto the stack and then check if they match the elements in the target permutation.</a:t>
            </a:r>
            <a:endParaRPr b="0" i="0" sz="1600" u="none" cap="none" strike="noStrike">
              <a:solidFill>
                <a:schemeClr val="dk1"/>
              </a:solidFill>
              <a:latin typeface="Arial"/>
              <a:ea typeface="Arial"/>
              <a:cs typeface="Arial"/>
              <a:sym typeface="Arial"/>
            </a:endParaRPr>
          </a:p>
          <a:p>
            <a:pPr indent="-273050" lvl="0" marL="285750" marR="0" rtl="0" algn="just">
              <a:lnSpc>
                <a:spcPct val="150000"/>
              </a:lnSpc>
              <a:spcBef>
                <a:spcPts val="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In this case, the stack operations can produce the target permutation, so the output is "true."</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chemeClr val="dk1"/>
              </a:buClr>
              <a:buSzPts val="1800"/>
              <a:buFont typeface="Arial"/>
              <a:buNone/>
            </a:pPr>
            <a:r>
              <a:t/>
            </a:r>
            <a:endParaRPr b="0" i="0" sz="18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a:t>
            </a:r>
            <a:endParaRPr b="0" i="0" sz="1600" u="none" cap="none" strike="noStrike">
              <a:solidFill>
                <a:schemeClr val="dk1"/>
              </a:solidFill>
              <a:latin typeface="Consolas"/>
              <a:ea typeface="Consolas"/>
              <a:cs typeface="Consolas"/>
              <a:sym typeface="Consolas"/>
            </a:endParaRPr>
          </a:p>
        </p:txBody>
      </p:sp>
      <p:sp>
        <p:nvSpPr>
          <p:cNvPr id="151" name="Google Shape;151;g3208f495986_0_6"/>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graphicFrame>
        <p:nvGraphicFramePr>
          <p:cNvPr id="156" name="Google Shape;156;g31fe56d80bc_0_106"/>
          <p:cNvGraphicFramePr/>
          <p:nvPr/>
        </p:nvGraphicFramePr>
        <p:xfrm>
          <a:off x="202600" y="723400"/>
          <a:ext cx="3000000" cy="3000000"/>
        </p:xfrm>
        <a:graphic>
          <a:graphicData uri="http://schemas.openxmlformats.org/drawingml/2006/table">
            <a:tbl>
              <a:tblPr>
                <a:noFill/>
                <a:tableStyleId>{9473E895-D2E0-4FAF-992B-EF62FB3A7DAB}</a:tableStyleId>
              </a:tblPr>
              <a:tblGrid>
                <a:gridCol w="4481650"/>
                <a:gridCol w="4257150"/>
              </a:tblGrid>
              <a:tr h="381000">
                <a:tc>
                  <a:txBody>
                    <a:bodyPr/>
                    <a:lstStyle/>
                    <a:p>
                      <a:pPr indent="0" lvl="0" marL="0" marR="0" rtl="0" algn="l">
                        <a:lnSpc>
                          <a:spcPct val="100000"/>
                        </a:lnSpc>
                        <a:spcBef>
                          <a:spcPts val="0"/>
                        </a:spcBef>
                        <a:spcAft>
                          <a:spcPts val="0"/>
                        </a:spcAft>
                        <a:buClr>
                          <a:schemeClr val="dk1"/>
                        </a:buClr>
                        <a:buSzPts val="1800"/>
                        <a:buFont typeface="Arial"/>
                        <a:buNone/>
                      </a:pPr>
                      <a:r>
                        <a:rPr lang="en-GB" sz="1500" u="none" cap="none" strike="noStrike">
                          <a:solidFill>
                            <a:schemeClr val="dk1"/>
                          </a:solidFill>
                          <a:latin typeface="Consolas"/>
                          <a:ea typeface="Consolas"/>
                          <a:cs typeface="Consolas"/>
                          <a:sym typeface="Consolas"/>
                        </a:rPr>
                        <a:t>import java.util.Stack;</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t/>
                      </a:r>
                      <a:endParaRPr sz="15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Arial"/>
                        <a:buNone/>
                      </a:pPr>
                      <a:r>
                        <a:rPr lang="en-GB" sz="1500" u="none" cap="none" strike="noStrike">
                          <a:solidFill>
                            <a:schemeClr val="dk1"/>
                          </a:solidFill>
                          <a:latin typeface="Consolas"/>
                          <a:ea typeface="Consolas"/>
                          <a:cs typeface="Consolas"/>
                          <a:sym typeface="Consolas"/>
                        </a:rPr>
                        <a:t>public class Main {</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lang="en-GB" sz="1500" u="none" cap="none" strike="noStrike">
                          <a:solidFill>
                            <a:schemeClr val="dk1"/>
                          </a:solidFill>
                          <a:latin typeface="Consolas"/>
                          <a:ea typeface="Consolas"/>
                          <a:cs typeface="Consolas"/>
                          <a:sym typeface="Consolas"/>
                        </a:rPr>
                        <a:t>    public static boolean isStackPermutation(int[] original, int[] target) {</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lang="en-GB" sz="1500" u="none" cap="none" strike="noStrike">
                          <a:solidFill>
                            <a:schemeClr val="dk1"/>
                          </a:solidFill>
                          <a:latin typeface="Consolas"/>
                          <a:ea typeface="Consolas"/>
                          <a:cs typeface="Consolas"/>
                          <a:sym typeface="Consolas"/>
                        </a:rPr>
                        <a:t>        Stack&lt;Integer&gt; stack = new Stack&lt;&gt;();</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lang="en-GB" sz="1500" u="none" cap="none" strike="noStrike">
                          <a:solidFill>
                            <a:schemeClr val="dk1"/>
                          </a:solidFill>
                          <a:latin typeface="Consolas"/>
                          <a:ea typeface="Consolas"/>
                          <a:cs typeface="Consolas"/>
                          <a:sym typeface="Consolas"/>
                        </a:rPr>
                        <a:t>        int i = 0;</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t/>
                      </a:r>
                      <a:endParaRPr sz="15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Arial"/>
                        <a:buNone/>
                      </a:pPr>
                      <a:r>
                        <a:rPr lang="en-GB" sz="1500" u="none" cap="none" strike="noStrike">
                          <a:solidFill>
                            <a:schemeClr val="dk1"/>
                          </a:solidFill>
                          <a:latin typeface="Consolas"/>
                          <a:ea typeface="Consolas"/>
                          <a:cs typeface="Consolas"/>
                          <a:sym typeface="Consolas"/>
                        </a:rPr>
                        <a:t>        for (int element : original) {</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lang="en-GB" sz="1500" u="none" cap="none" strike="noStrike">
                          <a:solidFill>
                            <a:schemeClr val="dk1"/>
                          </a:solidFill>
                          <a:latin typeface="Consolas"/>
                          <a:ea typeface="Consolas"/>
                          <a:cs typeface="Consolas"/>
                          <a:sym typeface="Consolas"/>
                        </a:rPr>
                        <a:t>            stack.push(element);</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lang="en-GB" sz="1500" u="none" cap="none" strike="noStrike">
                          <a:solidFill>
                            <a:schemeClr val="dk1"/>
                          </a:solidFill>
                          <a:latin typeface="Consolas"/>
                          <a:ea typeface="Consolas"/>
                          <a:cs typeface="Consolas"/>
                          <a:sym typeface="Consolas"/>
                        </a:rPr>
                        <a:t>            while (!stack.isEmpty() &amp;&amp; stack.peek() == target[i]) {</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lang="en-GB" sz="1500" u="none" cap="none" strike="noStrike">
                          <a:solidFill>
                            <a:schemeClr val="dk1"/>
                          </a:solidFill>
                          <a:latin typeface="Consolas"/>
                          <a:ea typeface="Consolas"/>
                          <a:cs typeface="Consolas"/>
                          <a:sym typeface="Consolas"/>
                        </a:rPr>
                        <a:t>                stack.pop();</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lang="en-GB" sz="1500" u="none" cap="none" strike="noStrike">
                          <a:solidFill>
                            <a:schemeClr val="dk1"/>
                          </a:solidFill>
                          <a:latin typeface="Consolas"/>
                          <a:ea typeface="Consolas"/>
                          <a:cs typeface="Consolas"/>
                          <a:sym typeface="Consolas"/>
                        </a:rPr>
                        <a:t>                i++;</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lang="en-GB" sz="1500" u="none" cap="none" strike="noStrike">
                          <a:solidFill>
                            <a:schemeClr val="dk1"/>
                          </a:solidFill>
                          <a:latin typeface="Consolas"/>
                          <a:ea typeface="Consolas"/>
                          <a:cs typeface="Consolas"/>
                          <a:sym typeface="Consolas"/>
                        </a:rPr>
                        <a:t>            }</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lang="en-GB" sz="1500" u="none" cap="none" strike="noStrike">
                          <a:solidFill>
                            <a:schemeClr val="dk1"/>
                          </a:solidFill>
                          <a:latin typeface="Consolas"/>
                          <a:ea typeface="Consolas"/>
                          <a:cs typeface="Consolas"/>
                          <a:sym typeface="Consolas"/>
                        </a:rPr>
                        <a:t>        }</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400"/>
                        <a:buFont typeface="Arial"/>
                        <a:buNone/>
                      </a:pPr>
                      <a:r>
                        <a:t/>
                      </a:r>
                      <a:endParaRPr sz="1400" u="none" cap="none" strike="noStrike">
                        <a:solidFill>
                          <a:schemeClr val="dk1"/>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Arial"/>
                        <a:buNone/>
                      </a:pPr>
                      <a:r>
                        <a:rPr lang="en-GB" sz="1500" u="none" cap="none" strike="noStrike">
                          <a:solidFill>
                            <a:schemeClr val="dk1"/>
                          </a:solidFill>
                          <a:latin typeface="Consolas"/>
                          <a:ea typeface="Consolas"/>
                          <a:cs typeface="Consolas"/>
                          <a:sym typeface="Consolas"/>
                        </a:rPr>
                        <a:t>return stack.isEmpty();</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lang="en-GB" sz="1500" u="none" cap="none" strike="noStrike">
                          <a:solidFill>
                            <a:schemeClr val="dk1"/>
                          </a:solidFill>
                          <a:latin typeface="Consolas"/>
                          <a:ea typeface="Consolas"/>
                          <a:cs typeface="Consolas"/>
                          <a:sym typeface="Consolas"/>
                        </a:rPr>
                        <a:t>    }</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t/>
                      </a:r>
                      <a:endParaRPr sz="15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Arial"/>
                        <a:buNone/>
                      </a:pPr>
                      <a:r>
                        <a:rPr lang="en-GB" sz="1500" u="none" cap="none" strike="noStrike">
                          <a:solidFill>
                            <a:schemeClr val="dk1"/>
                          </a:solidFill>
                          <a:latin typeface="Consolas"/>
                          <a:ea typeface="Consolas"/>
                          <a:cs typeface="Consolas"/>
                          <a:sym typeface="Consolas"/>
                        </a:rPr>
                        <a:t>    public static void main(String[] args) {</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lang="en-GB" sz="1500" u="none" cap="none" strike="noStrike">
                          <a:solidFill>
                            <a:schemeClr val="dk1"/>
                          </a:solidFill>
                          <a:latin typeface="Consolas"/>
                          <a:ea typeface="Consolas"/>
                          <a:cs typeface="Consolas"/>
                          <a:sym typeface="Consolas"/>
                        </a:rPr>
                        <a:t>        int[] original = {1, 2, 3};</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lang="en-GB" sz="1500" u="none" cap="none" strike="noStrike">
                          <a:solidFill>
                            <a:schemeClr val="dk1"/>
                          </a:solidFill>
                          <a:latin typeface="Consolas"/>
                          <a:ea typeface="Consolas"/>
                          <a:cs typeface="Consolas"/>
                          <a:sym typeface="Consolas"/>
                        </a:rPr>
                        <a:t>        int[] target = {2, 1, 3};</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t/>
                      </a:r>
                      <a:endParaRPr sz="15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Arial"/>
                        <a:buNone/>
                      </a:pPr>
                      <a:r>
                        <a:rPr lang="en-GB" sz="1500" u="none" cap="none" strike="noStrike">
                          <a:solidFill>
                            <a:schemeClr val="dk1"/>
                          </a:solidFill>
                          <a:latin typeface="Consolas"/>
                          <a:ea typeface="Consolas"/>
                          <a:cs typeface="Consolas"/>
                          <a:sym typeface="Consolas"/>
                        </a:rPr>
                        <a:t>        boolean result = isStackPermutation(original, target);</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lang="en-GB" sz="1500" u="none" cap="none" strike="noStrike">
                          <a:solidFill>
                            <a:schemeClr val="dk1"/>
                          </a:solidFill>
                          <a:latin typeface="Consolas"/>
                          <a:ea typeface="Consolas"/>
                          <a:cs typeface="Consolas"/>
                          <a:sym typeface="Consolas"/>
                        </a:rPr>
                        <a:t>        System.out.println("Is it a stack permutation? " + result);</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lang="en-GB" sz="1500" u="none" cap="none" strike="noStrike">
                          <a:solidFill>
                            <a:schemeClr val="dk1"/>
                          </a:solidFill>
                          <a:latin typeface="Consolas"/>
                          <a:ea typeface="Consolas"/>
                          <a:cs typeface="Consolas"/>
                          <a:sym typeface="Consolas"/>
                        </a:rPr>
                        <a:t>    }</a:t>
                      </a:r>
                      <a:endParaRPr b="1" sz="1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Arial"/>
                        <a:buNone/>
                      </a:pPr>
                      <a:r>
                        <a:rPr lang="en-GB" sz="1500" u="none" cap="none" strike="noStrike">
                          <a:solidFill>
                            <a:schemeClr val="dk1"/>
                          </a:solidFill>
                          <a:latin typeface="Consolas"/>
                          <a:ea typeface="Consolas"/>
                          <a:cs typeface="Consolas"/>
                          <a:sym typeface="Consolas"/>
                        </a:rPr>
                        <a:t>}</a:t>
                      </a:r>
                      <a:endParaRPr sz="15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Arial"/>
                        <a:buNone/>
                      </a:pPr>
                      <a:r>
                        <a:t/>
                      </a:r>
                      <a:endParaRPr sz="15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Arial"/>
                        <a:buNone/>
                      </a:pPr>
                      <a:r>
                        <a:t/>
                      </a:r>
                      <a:endParaRPr sz="15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t/>
                      </a:r>
                      <a:endParaRPr sz="1400" u="none" cap="none" strike="noStrike">
                        <a:solidFill>
                          <a:schemeClr val="dk1"/>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id="157" name="Google Shape;157;g31fe56d80bc_0_106"/>
          <p:cNvSpPr txBox="1"/>
          <p:nvPr/>
        </p:nvSpPr>
        <p:spPr>
          <a:xfrm>
            <a:off x="720725" y="27625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STACK PERMUTATION</a:t>
            </a:r>
            <a:endParaRPr b="0" i="0" sz="1700" u="none" cap="none" strike="noStrike">
              <a:solidFill>
                <a:srgbClr val="6D9EEB"/>
              </a:solidFill>
              <a:latin typeface="Roboto Black"/>
              <a:ea typeface="Roboto Black"/>
              <a:cs typeface="Roboto Black"/>
              <a:sym typeface="Roboto Black"/>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1fdec52c72_0_308"/>
          <p:cNvSpPr txBox="1"/>
          <p:nvPr/>
        </p:nvSpPr>
        <p:spPr>
          <a:xfrm>
            <a:off x="3315000" y="445600"/>
            <a:ext cx="32523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chemeClr val="dk1"/>
              </a:buClr>
              <a:buSzPts val="3500"/>
              <a:buFont typeface="Arial"/>
              <a:buNone/>
            </a:pPr>
            <a:r>
              <a:rPr b="0" i="0" lang="en-GB" sz="1700" u="none" cap="none" strike="noStrike">
                <a:solidFill>
                  <a:srgbClr val="8182EF"/>
                </a:solidFill>
                <a:latin typeface="Roboto Black"/>
                <a:ea typeface="Roboto Black"/>
                <a:cs typeface="Roboto Black"/>
                <a:sym typeface="Roboto Black"/>
              </a:rPr>
              <a:t>STACK PERMUTATION</a:t>
            </a:r>
            <a:endParaRPr b="0" i="0" sz="1800" u="none" cap="none" strike="noStrike">
              <a:solidFill>
                <a:srgbClr val="6D9EEB"/>
              </a:solidFill>
              <a:latin typeface="Roboto Black"/>
              <a:ea typeface="Roboto Black"/>
              <a:cs typeface="Roboto Black"/>
              <a:sym typeface="Roboto Black"/>
            </a:endParaRPr>
          </a:p>
        </p:txBody>
      </p:sp>
      <p:sp>
        <p:nvSpPr>
          <p:cNvPr id="163" name="Google Shape;163;g31fdec52c72_0_308"/>
          <p:cNvSpPr txBox="1"/>
          <p:nvPr/>
        </p:nvSpPr>
        <p:spPr>
          <a:xfrm>
            <a:off x="1" y="1170007"/>
            <a:ext cx="105156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TIME AND SPACE COMPLEXITY :</a:t>
            </a:r>
            <a:endParaRPr b="0" i="0" sz="1600" u="none" cap="none" strike="noStrike">
              <a:solidFill>
                <a:srgbClr val="000000"/>
              </a:solidFill>
              <a:latin typeface="Calibri"/>
              <a:ea typeface="Calibri"/>
              <a:cs typeface="Calibri"/>
              <a:sym typeface="Calibri"/>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164" name="Google Shape;164;g31fdec52c72_0_308"/>
          <p:cNvSpPr txBox="1"/>
          <p:nvPr/>
        </p:nvSpPr>
        <p:spPr>
          <a:xfrm>
            <a:off x="436323" y="1779900"/>
            <a:ext cx="7492200" cy="26781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Time Complexity: O(n), where n is the length of the original sequence.</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Space Complexity: O(n), as the stack can store up to n elements in the worst case.</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20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243a3cdda7_0_819"/>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170" name="Google Shape;170;g3243a3cdda7_0_819"/>
          <p:cNvSpPr txBox="1"/>
          <p:nvPr/>
        </p:nvSpPr>
        <p:spPr>
          <a:xfrm>
            <a:off x="0" y="1170000"/>
            <a:ext cx="80868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1. What is a stack permutation in the context of data structures?</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171" name="Google Shape;171;g3243a3cdda7_0_819"/>
          <p:cNvSpPr txBox="1"/>
          <p:nvPr/>
        </p:nvSpPr>
        <p:spPr>
          <a:xfrm>
            <a:off x="418725" y="1893900"/>
            <a:ext cx="8086800" cy="11391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Answer:A stack permutation is a permutation of a sequence that can be obtained using stack operations such as push and pop.</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None/>
            </a:pPr>
            <a:r>
              <a:t/>
            </a:r>
            <a:endParaRPr b="0" i="0" sz="2000" u="none" cap="none" strike="noStrike">
              <a:solidFill>
                <a:schemeClr val="dk1"/>
              </a:solidFill>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243a3cdda7_0_825"/>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177" name="Google Shape;177;g3243a3cdda7_0_825"/>
          <p:cNvSpPr txBox="1"/>
          <p:nvPr/>
        </p:nvSpPr>
        <p:spPr>
          <a:xfrm>
            <a:off x="0" y="1170000"/>
            <a:ext cx="82632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2. How do you determine if a given permutation is a stack permutation?</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178" name="Google Shape;178;g3243a3cdda7_0_825"/>
          <p:cNvSpPr txBox="1"/>
          <p:nvPr/>
        </p:nvSpPr>
        <p:spPr>
          <a:xfrm>
            <a:off x="385498" y="2135000"/>
            <a:ext cx="7492200" cy="18162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Answer:To check if a permutation is a stack permutation, we simulate the stack operations on the original sequence and see if it matches the target permutation.</a:t>
            </a:r>
            <a:endParaRPr b="0" i="0" sz="1600" u="none" cap="none" strike="noStrik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20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243a3cdda7_0_831"/>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184" name="Google Shape;184;g3243a3cdda7_0_831"/>
          <p:cNvSpPr txBox="1"/>
          <p:nvPr/>
        </p:nvSpPr>
        <p:spPr>
          <a:xfrm>
            <a:off x="1" y="1170007"/>
            <a:ext cx="105156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3. What is the key algorithmic idea behind identifying a stack permutation?</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1000"/>
              </a:spcBef>
              <a:spcAft>
                <a:spcPts val="0"/>
              </a:spcAft>
              <a:buClr>
                <a:srgbClr val="FF0000"/>
              </a:buClr>
              <a:buSzPts val="2000"/>
              <a:buFont typeface="Arial"/>
              <a:buNone/>
            </a:pPr>
            <a:r>
              <a:rPr b="0" i="1" lang="en-GB" sz="2000" u="none" cap="none" strike="noStrike">
                <a:solidFill>
                  <a:srgbClr val="FF0000"/>
                </a:solidFill>
                <a:latin typeface="Consolas"/>
                <a:ea typeface="Consolas"/>
                <a:cs typeface="Consolas"/>
                <a:sym typeface="Consolas"/>
              </a:rPr>
              <a:t>  </a:t>
            </a:r>
            <a:endParaRPr b="0" i="0" sz="28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F0000"/>
              </a:buClr>
              <a:buSzPts val="2000"/>
              <a:buFont typeface="Arial"/>
              <a:buNone/>
            </a:pPr>
            <a:r>
              <a:t/>
            </a:r>
            <a:endParaRPr b="0" i="1" sz="20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FF0000"/>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185" name="Google Shape;185;g3243a3cdda7_0_831"/>
          <p:cNvSpPr txBox="1"/>
          <p:nvPr/>
        </p:nvSpPr>
        <p:spPr>
          <a:xfrm>
            <a:off x="720723" y="1972375"/>
            <a:ext cx="7492200" cy="24012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Answer:The key idea is to start with an empty stack, push elements from the original sequence onto it, and pop elements if they match the next element in the target permutation.</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20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243a3cdda7_0_837"/>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191" name="Google Shape;191;g3243a3cdda7_0_837"/>
          <p:cNvSpPr txBox="1"/>
          <p:nvPr/>
        </p:nvSpPr>
        <p:spPr>
          <a:xfrm>
            <a:off x="0" y="1170000"/>
            <a:ext cx="84702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4. What is the time complexity of checking a stack permutation?</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F0000"/>
              </a:buClr>
              <a:buSzPts val="2000"/>
              <a:buFont typeface="Arial"/>
              <a:buNone/>
            </a:pPr>
            <a:r>
              <a:t/>
            </a:r>
            <a:endParaRPr b="0" i="1" sz="20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5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5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192" name="Google Shape;192;g3243a3cdda7_0_837"/>
          <p:cNvSpPr txBox="1"/>
          <p:nvPr/>
        </p:nvSpPr>
        <p:spPr>
          <a:xfrm>
            <a:off x="488998" y="1892425"/>
            <a:ext cx="7492200" cy="1539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Answer:The time complexity is O(n), where n is the length of the original sequence.</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000"/>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208f495986_0_12"/>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198" name="Google Shape;198;g3208f495986_0_12"/>
          <p:cNvSpPr txBox="1"/>
          <p:nvPr/>
        </p:nvSpPr>
        <p:spPr>
          <a:xfrm>
            <a:off x="0" y="1170000"/>
            <a:ext cx="84702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5. What is the space complexity of checking a stack permutation?</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F0000"/>
              </a:buClr>
              <a:buSzPts val="2000"/>
              <a:buFont typeface="Arial"/>
              <a:buNone/>
            </a:pPr>
            <a:r>
              <a:t/>
            </a:r>
            <a:endParaRPr b="0" i="1" sz="20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5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5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199" name="Google Shape;199;g3208f495986_0_12"/>
          <p:cNvSpPr txBox="1"/>
          <p:nvPr/>
        </p:nvSpPr>
        <p:spPr>
          <a:xfrm>
            <a:off x="488998" y="1844200"/>
            <a:ext cx="7492200" cy="20010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Answer:The space complexity is O(n) because the stack can store up to n elements.</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000"/>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208f495986_0_18"/>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05" name="Google Shape;205;g3208f495986_0_18"/>
          <p:cNvSpPr txBox="1"/>
          <p:nvPr/>
        </p:nvSpPr>
        <p:spPr>
          <a:xfrm>
            <a:off x="0" y="1170000"/>
            <a:ext cx="84702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0" lang="en-GB" sz="1600" u="none" cap="none" strike="noStrike">
                <a:solidFill>
                  <a:srgbClr val="FF0000"/>
                </a:solidFill>
                <a:latin typeface="Consolas"/>
                <a:ea typeface="Consolas"/>
                <a:cs typeface="Consolas"/>
                <a:sym typeface="Consolas"/>
              </a:rPr>
              <a:t>6. Can you give an example of a valid stack permutation?</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F0000"/>
              </a:buClr>
              <a:buSzPts val="2000"/>
              <a:buFont typeface="Arial"/>
              <a:buNone/>
            </a:pPr>
            <a:r>
              <a:t/>
            </a:r>
            <a:endParaRPr b="0" i="1" sz="20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FF0000"/>
              </a:buClr>
              <a:buSzPts val="2000"/>
              <a:buFont typeface="Arial"/>
              <a:buNone/>
            </a:pPr>
            <a:r>
              <a:t/>
            </a:r>
            <a:endParaRPr b="0" i="1" sz="20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5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5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06" name="Google Shape;206;g3208f495986_0_18"/>
          <p:cNvSpPr txBox="1"/>
          <p:nvPr/>
        </p:nvSpPr>
        <p:spPr>
          <a:xfrm>
            <a:off x="392548" y="1779900"/>
            <a:ext cx="7492200" cy="27399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Answer:For example, the target permutation [3, 1, 2] can be achieved from the original sequence [1, 2, 3] using stack operations.</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4"/>
          <p:cNvSpPr/>
          <p:nvPr/>
        </p:nvSpPr>
        <p:spPr>
          <a:xfrm>
            <a:off x="532420" y="1439990"/>
            <a:ext cx="7545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212" name="Google Shape;212;p4"/>
          <p:cNvPicPr preferRelativeResize="0"/>
          <p:nvPr/>
        </p:nvPicPr>
        <p:blipFill rotWithShape="1">
          <a:blip r:embed="rId3">
            <a:alphaModFix/>
          </a:blip>
          <a:srcRect b="0" l="0" r="0" t="0"/>
          <a:stretch/>
        </p:blipFill>
        <p:spPr>
          <a:xfrm>
            <a:off x="2739687" y="1038566"/>
            <a:ext cx="2855119" cy="2888456"/>
          </a:xfrm>
          <a:prstGeom prst="rect">
            <a:avLst/>
          </a:prstGeom>
          <a:noFill/>
          <a:ln>
            <a:noFill/>
          </a:ln>
        </p:spPr>
      </p:pic>
      <p:sp>
        <p:nvSpPr>
          <p:cNvPr id="213" name="Google Shape;213;p4"/>
          <p:cNvSpPr/>
          <p:nvPr/>
        </p:nvSpPr>
        <p:spPr>
          <a:xfrm>
            <a:off x="1634729" y="4055269"/>
            <a:ext cx="5184000" cy="28470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219" name="Google Shape;219;p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220" name="Google Shape;220;p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221" name="Google Shape;221;p5"/>
          <p:cNvSpPr txBox="1"/>
          <p:nvPr/>
        </p:nvSpPr>
        <p:spPr>
          <a:xfrm>
            <a:off x="3141000" y="2194650"/>
            <a:ext cx="2862000" cy="753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222" name="Google Shape;222;p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223" name="Google Shape;223;p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224" name="Google Shape;224;p5"/>
          <p:cNvSpPr txBox="1"/>
          <p:nvPr/>
        </p:nvSpPr>
        <p:spPr>
          <a:xfrm>
            <a:off x="1980750" y="4590801"/>
            <a:ext cx="11871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225" name="Google Shape;225;p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226" name="Google Shape;226;p5"/>
          <p:cNvSpPr txBox="1"/>
          <p:nvPr/>
        </p:nvSpPr>
        <p:spPr>
          <a:xfrm>
            <a:off x="3519050"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227" name="Google Shape;227;p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228" name="Google Shape;228;p5"/>
          <p:cNvSpPr txBox="1"/>
          <p:nvPr/>
        </p:nvSpPr>
        <p:spPr>
          <a:xfrm>
            <a:off x="5457275"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229" name="Google Shape;229;p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