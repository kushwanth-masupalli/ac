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y="5143500" cx="9144000"/>
  <p:notesSz cx="6858000" cy="9144000"/>
  <p:embeddedFontLst>
    <p:embeddedFont>
      <p:font typeface="Roboto Black"/>
      <p:bold r:id="rId38"/>
      <p:boldItalic r:id="rId39"/>
    </p:embeddedFont>
    <p:embeddedFont>
      <p:font typeface="Robo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2755">
          <p15:clr>
            <a:srgbClr val="FF0000"/>
          </p15:clr>
        </p15:guide>
        <p15:guide id="3" orient="horz" pos="907">
          <p15:clr>
            <a:srgbClr val="FF0000"/>
          </p15:clr>
        </p15:guide>
        <p15:guide id="4" pos="5272">
          <p15:clr>
            <a:srgbClr val="FF00FF"/>
          </p15:clr>
        </p15:guide>
        <p15:guide id="5" orient="horz" pos="737">
          <p15:clr>
            <a:srgbClr val="00FF00"/>
          </p15:clr>
        </p15:guide>
        <p15:guide id="6" orient="horz" pos="397">
          <p15:clr>
            <a:srgbClr val="00FF00"/>
          </p15:clr>
        </p15:guide>
      </p15:sldGuideLst>
    </p:ext>
    <p:ext uri="GoogleSlidesCustomDataVersion2">
      <go:slidesCustomData xmlns:go="http://customooxmlschemas.google.com/" r:id="rId44" roundtripDataSignature="AMtx7mg/giIRO0FRpHMUozdkr6IpJcZM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14A9F22-26DB-4B4E-9DD3-1F002591782C}">
  <a:tblStyle styleId="{A14A9F22-26DB-4B4E-9DD3-1F002591782C}"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b="off" i="off"/>
    </a:seCell>
    <a:swCell>
      <a:tcTxStyle b="off" i="off"/>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2755" orient="horz"/>
        <p:guide pos="907" orient="horz"/>
        <p:guide pos="5272"/>
        <p:guide pos="737" orient="horz"/>
        <p:guide pos="397"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13.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15.xml"/><Relationship Id="rId44" Type="http://customschemas.google.com/relationships/presentationmetadata" Target="metadata"/><Relationship Id="rId21" Type="http://schemas.openxmlformats.org/officeDocument/2006/relationships/slide" Target="slides/slide14.xml"/><Relationship Id="rId43" Type="http://schemas.openxmlformats.org/officeDocument/2006/relationships/font" Target="fonts/Roboto-boldItalic.fntdata"/><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RobotoBlack-boldItalic.fntdata"/><Relationship Id="rId16" Type="http://schemas.openxmlformats.org/officeDocument/2006/relationships/slide" Target="slides/slide9.xml"/><Relationship Id="rId38" Type="http://schemas.openxmlformats.org/officeDocument/2006/relationships/font" Target="fonts/RobotoBlack-bold.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56d04b97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56d04b97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14337fc5d25_0_2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0" name="Google Shape;110;g14337fc5d25_0_2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243ccbddf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18" name="Google Shape;118;g3243ccbddf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243ccbddfa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25" name="Google Shape;125;g3243ccbddfa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209462d02d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33" name="Google Shape;133;g3209462d02d_1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209462d02d_1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1" name="Google Shape;141;g3209462d02d_1_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09462d02d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49" name="Google Shape;149;g3209462d02d_1_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243ccbddfa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57" name="Google Shape;157;g3243ccbddfa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09462d02d_1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64" name="Google Shape;164;g3209462d02d_1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209462d02d_1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1" name="Google Shape;171;g3209462d02d_1_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209462d02d_1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78" name="Google Shape;178;g3209462d02d_1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209462d02d_1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85" name="Google Shape;185;g3209462d02d_1_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209462d02d_1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2" name="Google Shape;192;g3209462d02d_1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209462d02d_1_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198" name="Google Shape;198;g3209462d02d_1_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3209462d02d_1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04" name="Google Shape;204;g3209462d02d_1_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209462d02d_1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1" name="Google Shape;211;g3209462d02d_1_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209462d02d_1_1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18" name="Google Shape;218;g3209462d02d_1_1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09462d02d_1_1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24" name="Google Shape;224;g3209462d02d_1_1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09462d02d_1_1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0" name="Google Shape;230;g3209462d02d_1_1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43ccbddfa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37" name="Google Shape;237;g3243ccbddfa_0_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243ccbddfa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3" name="Google Shape;243;g3243ccbddfa_0_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1fe56d80bc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49" name="Google Shape;249;g31fe56d80bc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243ccbddfa_0_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56" name="Google Shape;256;g3243ccbddfa_0_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243ccbddfa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63" name="Google Shape;263;g3243ccbddfa_0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1fdec52c72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70" name="Google Shape;270;g31fdec52c72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243a3cdda7_0_8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800"/>
              </a:spcBef>
              <a:spcAft>
                <a:spcPts val="0"/>
              </a:spcAft>
              <a:buSzPts val="1100"/>
              <a:buNone/>
            </a:pPr>
            <a:r>
              <a:t/>
            </a:r>
            <a:endParaRPr>
              <a:latin typeface="Roboto"/>
              <a:ea typeface="Roboto"/>
              <a:cs typeface="Roboto"/>
              <a:sym typeface="Roboto"/>
            </a:endParaRPr>
          </a:p>
        </p:txBody>
      </p:sp>
      <p:sp>
        <p:nvSpPr>
          <p:cNvPr id="277" name="Google Shape;277;g3243a3cdda7_0_8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4:notes"/>
          <p:cNvSpPr/>
          <p:nvPr>
            <p:ph idx="2" type="sldImg"/>
          </p:nvPr>
        </p:nvSpPr>
        <p:spPr>
          <a:xfrm>
            <a:off x="685800" y="1143000"/>
            <a:ext cx="54849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p4:notes"/>
          <p:cNvSpPr txBox="1"/>
          <p:nvPr>
            <p:ph idx="1" type="body"/>
          </p:nvPr>
        </p:nvSpPr>
        <p:spPr>
          <a:xfrm>
            <a:off x="685800" y="4400640"/>
            <a:ext cx="5486100" cy="36003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100"/>
              <a:buNone/>
            </a:pPr>
            <a:r>
              <a:t/>
            </a:r>
            <a:endParaRPr b="0" sz="1200" strike="noStrike">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g14337fc5d25_0_2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14337fc5d25_0_2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7" name="Google Shape;17;g14337fc5d25_0_2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18" name="Shape 18"/>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 name="Shape 19"/>
        <p:cNvGrpSpPr/>
        <p:nvPr/>
      </p:nvGrpSpPr>
      <p:grpSpPr>
        <a:xfrm>
          <a:off x="0" y="0"/>
          <a:ext cx="0" cy="0"/>
          <a:chOff x="0" y="0"/>
          <a:chExt cx="0" cy="0"/>
        </a:xfrm>
      </p:grpSpPr>
      <p:sp>
        <p:nvSpPr>
          <p:cNvPr id="20" name="Google Shape;20;g14337fc5d25_0_2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337fc5d25_0_2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 name="Shape 22"/>
        <p:cNvGrpSpPr/>
        <p:nvPr/>
      </p:nvGrpSpPr>
      <p:grpSpPr>
        <a:xfrm>
          <a:off x="0" y="0"/>
          <a:ext cx="0" cy="0"/>
          <a:chOff x="0" y="0"/>
          <a:chExt cx="0" cy="0"/>
        </a:xfrm>
      </p:grpSpPr>
      <p:sp>
        <p:nvSpPr>
          <p:cNvPr id="23" name="Google Shape;23;g14337fc5d25_0_236"/>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24" name="Google Shape;24;g14337fc5d25_0_2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 name="Shape 25"/>
        <p:cNvGrpSpPr/>
        <p:nvPr/>
      </p:nvGrpSpPr>
      <p:grpSpPr>
        <a:xfrm>
          <a:off x="0" y="0"/>
          <a:ext cx="0" cy="0"/>
          <a:chOff x="0" y="0"/>
          <a:chExt cx="0" cy="0"/>
        </a:xfrm>
      </p:grpSpPr>
      <p:sp>
        <p:nvSpPr>
          <p:cNvPr id="26" name="Google Shape;26;g14337fc5d25_0_2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7" name="Google Shape;27;g14337fc5d25_0_2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28" name="Google Shape;28;g14337fc5d25_0_2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29" name="Google Shape;29;g14337fc5d25_0_2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30" name="Google Shape;30;g14337fc5d25_0_2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1" name="Shape 31"/>
        <p:cNvGrpSpPr/>
        <p:nvPr/>
      </p:nvGrpSpPr>
      <p:grpSpPr>
        <a:xfrm>
          <a:off x="0" y="0"/>
          <a:ext cx="0" cy="0"/>
          <a:chOff x="0" y="0"/>
          <a:chExt cx="0" cy="0"/>
        </a:xfrm>
      </p:grpSpPr>
      <p:sp>
        <p:nvSpPr>
          <p:cNvPr id="32" name="Google Shape;32;g14337fc5d25_0_2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33" name="Google Shape;33;g14337fc5d25_0_2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4" name="Shape 34"/>
        <p:cNvGrpSpPr/>
        <p:nvPr/>
      </p:nvGrpSpPr>
      <p:grpSpPr>
        <a:xfrm>
          <a:off x="0" y="0"/>
          <a:ext cx="0" cy="0"/>
          <a:chOff x="0" y="0"/>
          <a:chExt cx="0" cy="0"/>
        </a:xfrm>
      </p:grpSpPr>
      <p:sp>
        <p:nvSpPr>
          <p:cNvPr id="35" name="Google Shape;35;g14337fc5d25_0_24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36" name="Google Shape;36;g14337fc5d25_0_24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37" name="Google Shape;37;g14337fc5d25_0_2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
  <p:cSld name="4">
    <p:spTree>
      <p:nvGrpSpPr>
        <p:cNvPr id="38" name="Shape 38"/>
        <p:cNvGrpSpPr/>
        <p:nvPr/>
      </p:nvGrpSpPr>
      <p:grpSpPr>
        <a:xfrm>
          <a:off x="0" y="0"/>
          <a:ext cx="0" cy="0"/>
          <a:chOff x="0" y="0"/>
          <a:chExt cx="0" cy="0"/>
        </a:xfrm>
      </p:grpSpPr>
      <p:pic>
        <p:nvPicPr>
          <p:cNvPr descr="A close up of a logo&#10;&#10;Description generated with high confidence" id="39" name="Google Shape;39;g14337fc5d25_0_252"/>
          <p:cNvPicPr preferRelativeResize="0"/>
          <p:nvPr/>
        </p:nvPicPr>
        <p:blipFill rotWithShape="1">
          <a:blip r:embed="rId2">
            <a:alphaModFix/>
          </a:blip>
          <a:srcRect b="0" l="0" r="0" t="0"/>
          <a:stretch/>
        </p:blipFill>
        <p:spPr>
          <a:xfrm>
            <a:off x="7876800" y="183600"/>
            <a:ext cx="1022401" cy="766801"/>
          </a:xfrm>
          <a:prstGeom prst="rect">
            <a:avLst/>
          </a:prstGeom>
          <a:noFill/>
          <a:ln>
            <a:noFill/>
          </a:ln>
        </p:spPr>
      </p:pic>
      <p:sp>
        <p:nvSpPr>
          <p:cNvPr id="40" name="Google Shape;40;g14337fc5d25_0_252"/>
          <p:cNvSpPr/>
          <p:nvPr/>
        </p:nvSpPr>
        <p:spPr>
          <a:xfrm>
            <a:off x="894683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1" name="Google Shape;41;g14337fc5d25_0_252"/>
          <p:cNvSpPr/>
          <p:nvPr/>
        </p:nvSpPr>
        <p:spPr>
          <a:xfrm>
            <a:off x="887040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2" name="Google Shape;42;g14337fc5d25_0_252"/>
          <p:cNvSpPr/>
          <p:nvPr/>
        </p:nvSpPr>
        <p:spPr>
          <a:xfrm>
            <a:off x="879397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
        <p:nvSpPr>
          <p:cNvPr id="43" name="Google Shape;43;g14337fc5d25_0_252"/>
          <p:cNvSpPr/>
          <p:nvPr/>
        </p:nvSpPr>
        <p:spPr>
          <a:xfrm>
            <a:off x="8717540" y="4943496"/>
            <a:ext cx="57600" cy="4320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050"/>
              <a:buFont typeface="Arial"/>
              <a:buNone/>
            </a:pPr>
            <a:r>
              <a:t/>
            </a:r>
            <a:endParaRPr b="0" i="0" sz="105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9" name="Shape 49"/>
        <p:cNvGrpSpPr/>
        <p:nvPr/>
      </p:nvGrpSpPr>
      <p:grpSpPr>
        <a:xfrm>
          <a:off x="0" y="0"/>
          <a:ext cx="0" cy="0"/>
          <a:chOff x="0" y="0"/>
          <a:chExt cx="0" cy="0"/>
        </a:xfrm>
      </p:grpSpPr>
      <p:sp>
        <p:nvSpPr>
          <p:cNvPr id="50" name="Google Shape;50;g14337fc5d25_0_8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1" name="Google Shape;51;g14337fc5d25_0_8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2" name="Google Shape;52;g14337fc5d25_0_8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53" name="Google Shape;53;g14337fc5d25_0_8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7"/>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6" name="Google Shape;56;p7"/>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58" name="Shape 5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9" name="Shape 59"/>
        <p:cNvGrpSpPr/>
        <p:nvPr/>
      </p:nvGrpSpPr>
      <p:grpSpPr>
        <a:xfrm>
          <a:off x="0" y="0"/>
          <a:ext cx="0" cy="0"/>
          <a:chOff x="0" y="0"/>
          <a:chExt cx="0" cy="0"/>
        </a:xfrm>
      </p:grpSpPr>
      <p:sp>
        <p:nvSpPr>
          <p:cNvPr id="60" name="Google Shape;60;g14337fc5d25_0_84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1" name="Google Shape;61;g14337fc5d25_0_8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g14337fc5d25_0_8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4" name="Google Shape;64;g14337fc5d25_0_8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g14337fc5d25_0_85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67" name="Google Shape;67;g14337fc5d25_0_85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68" name="Google Shape;68;g14337fc5d25_0_8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9" name="Shape 69"/>
        <p:cNvGrpSpPr/>
        <p:nvPr/>
      </p:nvGrpSpPr>
      <p:grpSpPr>
        <a:xfrm>
          <a:off x="0" y="0"/>
          <a:ext cx="0" cy="0"/>
          <a:chOff x="0" y="0"/>
          <a:chExt cx="0" cy="0"/>
        </a:xfrm>
      </p:grpSpPr>
      <p:sp>
        <p:nvSpPr>
          <p:cNvPr id="70" name="Google Shape;70;g14337fc5d25_0_86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71" name="Google Shape;71;g14337fc5d25_0_8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2" name="Shape 72"/>
        <p:cNvGrpSpPr/>
        <p:nvPr/>
      </p:nvGrpSpPr>
      <p:grpSpPr>
        <a:xfrm>
          <a:off x="0" y="0"/>
          <a:ext cx="0" cy="0"/>
          <a:chOff x="0" y="0"/>
          <a:chExt cx="0" cy="0"/>
        </a:xfrm>
      </p:grpSpPr>
      <p:sp>
        <p:nvSpPr>
          <p:cNvPr id="73" name="Google Shape;73;g14337fc5d25_0_86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74" name="Google Shape;74;g14337fc5d25_0_86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75" name="Google Shape;75;g14337fc5d25_0_86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76" name="Google Shape;76;g14337fc5d25_0_86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77" name="Google Shape;77;g14337fc5d25_0_8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8" name="Shape 78"/>
        <p:cNvGrpSpPr/>
        <p:nvPr/>
      </p:nvGrpSpPr>
      <p:grpSpPr>
        <a:xfrm>
          <a:off x="0" y="0"/>
          <a:ext cx="0" cy="0"/>
          <a:chOff x="0" y="0"/>
          <a:chExt cx="0" cy="0"/>
        </a:xfrm>
      </p:grpSpPr>
      <p:sp>
        <p:nvSpPr>
          <p:cNvPr id="79" name="Google Shape;79;g14337fc5d25_0_87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80" name="Google Shape;80;g14337fc5d25_0_8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1" name="Shape 81"/>
        <p:cNvGrpSpPr/>
        <p:nvPr/>
      </p:nvGrpSpPr>
      <p:grpSpPr>
        <a:xfrm>
          <a:off x="0" y="0"/>
          <a:ext cx="0" cy="0"/>
          <a:chOff x="0" y="0"/>
          <a:chExt cx="0" cy="0"/>
        </a:xfrm>
      </p:grpSpPr>
      <p:sp>
        <p:nvSpPr>
          <p:cNvPr id="82" name="Google Shape;82;g14337fc5d25_0_87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83" name="Google Shape;83;g14337fc5d25_0_87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84" name="Google Shape;84;g14337fc5d25_0_8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5" name="Shape 85"/>
        <p:cNvGrpSpPr/>
        <p:nvPr/>
      </p:nvGrpSpPr>
      <p:grpSpPr>
        <a:xfrm>
          <a:off x="0" y="0"/>
          <a:ext cx="0" cy="0"/>
          <a:chOff x="0" y="0"/>
          <a:chExt cx="0" cy="0"/>
        </a:xfrm>
      </p:grpSpPr>
      <p:sp>
        <p:nvSpPr>
          <p:cNvPr id="86" name="Google Shape;86;g14337fc5d25_0_8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11" Type="http://schemas.openxmlformats.org/officeDocument/2006/relationships/theme" Target="../theme/theme1.xml"/><Relationship Id="rId10" Type="http://schemas.openxmlformats.org/officeDocument/2006/relationships/slideLayout" Target="../slideLayouts/slideLayout9.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2.xml"/><Relationship Id="rId12" Type="http://schemas.openxmlformats.org/officeDocument/2006/relationships/slideLayout" Target="../slideLayouts/slideLayout20.xml"/><Relationship Id="rId1" Type="http://schemas.openxmlformats.org/officeDocument/2006/relationships/image" Target="../media/image2.jpg"/><Relationship Id="rId2" Type="http://schemas.openxmlformats.org/officeDocument/2006/relationships/slideLayout" Target="../slideLayouts/slideLayout10.xml"/><Relationship Id="rId3" Type="http://schemas.openxmlformats.org/officeDocument/2006/relationships/slideLayout" Target="../slideLayouts/slideLayout11.xml"/><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g14337fc5d25_0_2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g14337fc5d25_0_22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g14337fc5d25_0_2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g14337fc5d25_0_224"/>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4" name="Shape 44"/>
        <p:cNvGrpSpPr/>
        <p:nvPr/>
      </p:nvGrpSpPr>
      <p:grpSpPr>
        <a:xfrm>
          <a:off x="0" y="0"/>
          <a:ext cx="0" cy="0"/>
          <a:chOff x="0" y="0"/>
          <a:chExt cx="0" cy="0"/>
        </a:xfrm>
      </p:grpSpPr>
      <p:sp>
        <p:nvSpPr>
          <p:cNvPr id="45" name="Google Shape;45;g14337fc5d25_0_83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46" name="Google Shape;46;g14337fc5d25_0_83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47" name="Google Shape;47;g14337fc5d25_0_8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g14337fc5d25_0_837"/>
          <p:cNvPicPr preferRelativeResize="0"/>
          <p:nvPr/>
        </p:nvPicPr>
        <p:blipFill rotWithShape="1">
          <a:blip r:embed="rId1">
            <a:alphaModFix/>
          </a:blip>
          <a:srcRect b="0" l="0" r="0" t="0"/>
          <a:stretch/>
        </p:blipFill>
        <p:spPr>
          <a:xfrm>
            <a:off x="-1" y="7219"/>
            <a:ext cx="9144003"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 Id="rId4" Type="http://schemas.openxmlformats.org/officeDocument/2006/relationships/image" Target="../media/image4.png"/><Relationship Id="rId5"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hyperlink" Target="https://learn.codemithra.com/"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image" Target="../media/image11.jpg"/><Relationship Id="rId4" Type="http://schemas.openxmlformats.org/officeDocument/2006/relationships/image" Target="../media/image8.png"/><Relationship Id="rId5" Type="http://schemas.openxmlformats.org/officeDocument/2006/relationships/image" Target="../media/image12.png"/><Relationship Id="rId6"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92" name="Google Shape;92;p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93" name="Google Shape;93;p2"/>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94" name="Google Shape;94;p2"/>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95" name="Google Shape;95;p2"/>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1" name="Google Shape;10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1200"/>
              </a:spcAft>
              <a:buSzPts val="1800"/>
              <a:buNone/>
            </a:pPr>
            <a:r>
              <a:t/>
            </a:r>
            <a:endParaRPr/>
          </a:p>
        </p:txBody>
      </p:sp>
      <p:pic>
        <p:nvPicPr>
          <p:cNvPr id="102" name="Google Shape;102;p3"/>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103" name="Google Shape;103;p3"/>
          <p:cNvSpPr txBox="1"/>
          <p:nvPr/>
        </p:nvSpPr>
        <p:spPr>
          <a:xfrm>
            <a:off x="140951" y="2260382"/>
            <a:ext cx="4690800" cy="754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chemeClr val="dk1"/>
              </a:buClr>
              <a:buSzPts val="6000"/>
              <a:buFont typeface="Arial"/>
              <a:buNone/>
            </a:pPr>
            <a:r>
              <a:rPr b="1" i="0" lang="en-GB" sz="3700" u="none" cap="none" strike="noStrike">
                <a:solidFill>
                  <a:schemeClr val="lt1"/>
                </a:solidFill>
                <a:latin typeface="Roboto"/>
                <a:ea typeface="Roboto"/>
                <a:cs typeface="Roboto"/>
                <a:sym typeface="Roboto"/>
              </a:rPr>
              <a:t>MINIMUM STACK</a:t>
            </a:r>
            <a:endParaRPr b="1" i="0" sz="37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14337fc5d25_0_216"/>
          <p:cNvSpPr txBox="1"/>
          <p:nvPr/>
        </p:nvSpPr>
        <p:spPr>
          <a:xfrm>
            <a:off x="720725" y="445600"/>
            <a:ext cx="6956700" cy="3693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p:txBody>
      </p:sp>
      <p:sp>
        <p:nvSpPr>
          <p:cNvPr id="113" name="Google Shape;113;g14337fc5d25_0_216"/>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14" name="Google Shape;114;g14337fc5d25_0_21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EXPLANATION</a:t>
            </a:r>
            <a:endParaRPr b="0" i="0" sz="1400" u="none" cap="none" strike="noStrike">
              <a:solidFill>
                <a:srgbClr val="000000"/>
              </a:solidFill>
              <a:latin typeface="Arial"/>
              <a:ea typeface="Arial"/>
              <a:cs typeface="Arial"/>
              <a:sym typeface="Arial"/>
            </a:endParaRPr>
          </a:p>
        </p:txBody>
      </p:sp>
      <p:sp>
        <p:nvSpPr>
          <p:cNvPr id="115" name="Google Shape;115;g14337fc5d25_0_216"/>
          <p:cNvSpPr txBox="1"/>
          <p:nvPr/>
        </p:nvSpPr>
        <p:spPr>
          <a:xfrm>
            <a:off x="172450" y="1958925"/>
            <a:ext cx="8426100" cy="1248900"/>
          </a:xfrm>
          <a:prstGeom prst="rect">
            <a:avLst/>
          </a:prstGeom>
          <a:noFill/>
          <a:ln>
            <a:noFill/>
          </a:ln>
        </p:spPr>
        <p:txBody>
          <a:bodyPr anchorCtr="0" anchor="t" bIns="45700" lIns="91425" spcFirstLastPara="1" rIns="91425" wrap="square" tIns="45700">
            <a:noAutofit/>
          </a:bodyPr>
          <a:lstStyle/>
          <a:p>
            <a:pPr indent="-215900" lvl="0" marL="228600" marR="0" rtl="0" algn="l">
              <a:lnSpc>
                <a:spcPct val="150000"/>
              </a:lnSpc>
              <a:spcBef>
                <a:spcPts val="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A stack is a type of data structure where items are added and removed from the top of the stack according to the Last-In-First-Out (LIFO) principle.</a:t>
            </a:r>
            <a:endParaRPr b="0" i="0" sz="1600" u="none" cap="none" strike="noStrike">
              <a:solidFill>
                <a:schemeClr val="dk1"/>
              </a:solidFill>
              <a:latin typeface="Arial"/>
              <a:ea typeface="Arial"/>
              <a:cs typeface="Arial"/>
              <a:sym typeface="Arial"/>
            </a:endParaRPr>
          </a:p>
          <a:p>
            <a:pPr indent="-215900" lvl="0" marL="228600" marR="0" rtl="0" algn="l">
              <a:lnSpc>
                <a:spcPct val="150000"/>
              </a:lnSpc>
              <a:spcBef>
                <a:spcPts val="1000"/>
              </a:spcBef>
              <a:spcAft>
                <a:spcPts val="0"/>
              </a:spcAft>
              <a:buClr>
                <a:schemeClr val="dk1"/>
              </a:buClr>
              <a:buSzPts val="1600"/>
              <a:buFont typeface="Arial"/>
              <a:buChar char="•"/>
            </a:pPr>
            <a:r>
              <a:rPr b="0" i="0" lang="en-GB" sz="1600" u="none" cap="none" strike="noStrike">
                <a:solidFill>
                  <a:schemeClr val="dk1"/>
                </a:solidFill>
                <a:latin typeface="Consolas"/>
                <a:ea typeface="Consolas"/>
                <a:cs typeface="Consolas"/>
                <a:sym typeface="Consolas"/>
              </a:rPr>
              <a:t>Finding the smallest element poses challenges as the stack does not naturally allow direct access to it, but gaining access to and deleting elements from the top of the stack is simple.</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000000"/>
              </a:solidFill>
              <a:latin typeface="Consolas"/>
              <a:ea typeface="Consolas"/>
              <a:cs typeface="Consolas"/>
              <a:sym typeface="Consola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243ccbddfa_0_0"/>
          <p:cNvSpPr txBox="1"/>
          <p:nvPr/>
        </p:nvSpPr>
        <p:spPr>
          <a:xfrm>
            <a:off x="720725" y="445600"/>
            <a:ext cx="69567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121" name="Google Shape;121;g3243ccbddfa_0_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dk1"/>
              </a:buClr>
              <a:buSzPts val="1600"/>
              <a:buFont typeface="Consolas"/>
              <a:buAutoNum type="arabicPeriod"/>
            </a:pPr>
            <a:r>
              <a:rPr b="0" i="0" lang="en-GB" sz="1600" u="none" cap="none" strike="noStrike">
                <a:solidFill>
                  <a:schemeClr val="dk1"/>
                </a:solidFill>
                <a:latin typeface="Consolas"/>
                <a:ea typeface="Consolas"/>
                <a:cs typeface="Consolas"/>
                <a:sym typeface="Consolas"/>
              </a:rPr>
              <a:t>Push</a:t>
            </a:r>
            <a:endParaRPr b="0" i="0" sz="1600" u="none" cap="none" strike="noStrike">
              <a:solidFill>
                <a:schemeClr val="dk1"/>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600"/>
              <a:buFont typeface="Consolas"/>
              <a:buAutoNum type="arabicPeriod"/>
            </a:pPr>
            <a:r>
              <a:rPr b="0" i="0" lang="en-GB" sz="1600" u="none" cap="none" strike="noStrike">
                <a:solidFill>
                  <a:schemeClr val="dk1"/>
                </a:solidFill>
                <a:latin typeface="Consolas"/>
                <a:ea typeface="Consolas"/>
                <a:cs typeface="Consolas"/>
                <a:sym typeface="Consolas"/>
              </a:rPr>
              <a:t>Pop</a:t>
            </a:r>
            <a:endParaRPr b="0" i="0" sz="1600" u="none" cap="none" strike="noStrike">
              <a:solidFill>
                <a:schemeClr val="dk1"/>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600"/>
              <a:buFont typeface="Consolas"/>
              <a:buAutoNum type="arabicPeriod"/>
            </a:pPr>
            <a:r>
              <a:rPr b="0" i="0" lang="en-GB" sz="1600" u="none" cap="none" strike="noStrike">
                <a:solidFill>
                  <a:schemeClr val="dk1"/>
                </a:solidFill>
                <a:latin typeface="Consolas"/>
                <a:ea typeface="Consolas"/>
                <a:cs typeface="Consolas"/>
                <a:sym typeface="Consolas"/>
              </a:rPr>
              <a:t>Top</a:t>
            </a:r>
            <a:endParaRPr b="0" i="0" sz="1600" u="none" cap="none" strike="noStrike">
              <a:solidFill>
                <a:schemeClr val="dk1"/>
              </a:solidFill>
              <a:latin typeface="Arial"/>
              <a:ea typeface="Arial"/>
              <a:cs typeface="Arial"/>
              <a:sym typeface="Arial"/>
            </a:endParaRPr>
          </a:p>
          <a:p>
            <a:pPr indent="-342900" lvl="0" marL="342900" marR="0" rtl="0" algn="l">
              <a:lnSpc>
                <a:spcPct val="150000"/>
              </a:lnSpc>
              <a:spcBef>
                <a:spcPts val="0"/>
              </a:spcBef>
              <a:spcAft>
                <a:spcPts val="0"/>
              </a:spcAft>
              <a:buClr>
                <a:schemeClr val="dk1"/>
              </a:buClr>
              <a:buSzPts val="1600"/>
              <a:buFont typeface="Consolas"/>
              <a:buAutoNum type="arabicPeriod"/>
            </a:pPr>
            <a:r>
              <a:rPr b="0" i="0" lang="en-GB" sz="1600" u="none" cap="none" strike="noStrike">
                <a:solidFill>
                  <a:schemeClr val="dk1"/>
                </a:solidFill>
                <a:latin typeface="Consolas"/>
                <a:ea typeface="Consolas"/>
                <a:cs typeface="Consolas"/>
                <a:sym typeface="Consolas"/>
              </a:rPr>
              <a:t>Getmin</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chemeClr val="dk1"/>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22" name="Google Shape;122;g3243ccbddfa_0_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OPERATIONS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g3243ccbddfa_0_8"/>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128" name="Google Shape;128;g3243ccbddfa_0_8"/>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GB" sz="1600" u="none" cap="none" strike="noStrike">
                <a:solidFill>
                  <a:srgbClr val="252525"/>
                </a:solidFill>
                <a:latin typeface="Consolas"/>
                <a:ea typeface="Consolas"/>
                <a:cs typeface="Consolas"/>
                <a:sym typeface="Consolas"/>
              </a:rPr>
              <a:t>Push an element </a:t>
            </a:r>
            <a:r>
              <a:rPr b="0" i="0" lang="en-GB" sz="1600" u="none" cap="none" strike="noStrike">
                <a:solidFill>
                  <a:srgbClr val="E36B00"/>
                </a:solidFill>
                <a:latin typeface="Consolas"/>
                <a:ea typeface="Consolas"/>
                <a:cs typeface="Consolas"/>
                <a:sym typeface="Consolas"/>
              </a:rPr>
              <a:t>into </a:t>
            </a:r>
            <a:r>
              <a:rPr b="0" i="0" lang="en-GB" sz="1600" u="none" cap="none" strike="noStrike">
                <a:solidFill>
                  <a:srgbClr val="252525"/>
                </a:solidFill>
                <a:latin typeface="Consolas"/>
                <a:ea typeface="Consolas"/>
                <a:cs typeface="Consolas"/>
                <a:sym typeface="Consolas"/>
              </a:rPr>
              <a:t>the stack </a:t>
            </a:r>
            <a:r>
              <a:rPr b="0" i="0" lang="en-GB" sz="1600" u="none" cap="none" strike="noStrike">
                <a:solidFill>
                  <a:srgbClr val="E36B00"/>
                </a:solidFill>
                <a:latin typeface="Consolas"/>
                <a:ea typeface="Consolas"/>
                <a:cs typeface="Consolas"/>
                <a:sym typeface="Consolas"/>
              </a:rPr>
              <a:t>by performing this action.</a:t>
            </a:r>
            <a:r>
              <a:rPr b="0" i="0" lang="en-GB" sz="1600" u="none" cap="none" strike="noStrike">
                <a:solidFill>
                  <a:srgbClr val="252525"/>
                </a:solidFill>
                <a:latin typeface="Consolas"/>
                <a:ea typeface="Consolas"/>
                <a:cs typeface="Consolas"/>
                <a:sym typeface="Consolas"/>
              </a:rPr>
              <a:t> The element is </a:t>
            </a:r>
            <a:r>
              <a:rPr b="0" i="0" lang="en-GB" sz="1600" u="none" cap="none" strike="noStrike">
                <a:solidFill>
                  <a:srgbClr val="E36B00"/>
                </a:solidFill>
                <a:latin typeface="Consolas"/>
                <a:ea typeface="Consolas"/>
                <a:cs typeface="Consolas"/>
                <a:sym typeface="Consolas"/>
              </a:rPr>
              <a:t>added, </a:t>
            </a:r>
            <a:r>
              <a:rPr b="0" i="0" lang="en-GB" sz="1600" u="none" cap="none" strike="noStrike">
                <a:solidFill>
                  <a:srgbClr val="252525"/>
                </a:solidFill>
                <a:latin typeface="Consolas"/>
                <a:ea typeface="Consolas"/>
                <a:cs typeface="Consolas"/>
                <a:sym typeface="Consolas"/>
              </a:rPr>
              <a:t>or "pushed," to the top of the stack, </a:t>
            </a:r>
            <a:r>
              <a:rPr b="0" i="0" lang="en-GB" sz="1600" u="none" cap="none" strike="noStrike">
                <a:solidFill>
                  <a:srgbClr val="006ACC"/>
                </a:solidFill>
                <a:latin typeface="Consolas"/>
                <a:ea typeface="Consolas"/>
                <a:cs typeface="Consolas"/>
                <a:sym typeface="Consolas"/>
              </a:rPr>
              <a:t>and the sizeof the stack is </a:t>
            </a:r>
            <a:r>
              <a:rPr b="0" i="0" lang="en-GB" sz="1600" u="none" cap="none" strike="noStrike">
                <a:solidFill>
                  <a:srgbClr val="E36B00"/>
                </a:solidFill>
                <a:latin typeface="Consolas"/>
                <a:ea typeface="Consolas"/>
                <a:cs typeface="Consolas"/>
                <a:sym typeface="Consolas"/>
              </a:rPr>
              <a:t>increased </a:t>
            </a:r>
            <a:r>
              <a:rPr b="0" i="0" lang="en-GB" sz="1600" u="none" cap="none" strike="noStrike">
                <a:solidFill>
                  <a:srgbClr val="252525"/>
                </a:solidFill>
                <a:latin typeface="Consolas"/>
                <a:ea typeface="Consolas"/>
                <a:cs typeface="Consolas"/>
                <a:sym typeface="Consolas"/>
              </a:rPr>
              <a:t>by one </a:t>
            </a:r>
            <a:r>
              <a:rPr b="0" i="0" lang="en-GB" sz="1600" u="none" cap="none" strike="noStrike">
                <a:solidFill>
                  <a:srgbClr val="E36B00"/>
                </a:solidFill>
                <a:latin typeface="Consolas"/>
                <a:ea typeface="Consolas"/>
                <a:cs typeface="Consolas"/>
                <a:sym typeface="Consolas"/>
              </a:rPr>
              <a:t>as </a:t>
            </a:r>
            <a:r>
              <a:rPr b="0" i="0" lang="en-GB" sz="1600" u="none" cap="none" strike="noStrike">
                <a:solidFill>
                  <a:srgbClr val="252525"/>
                </a:solidFill>
                <a:latin typeface="Consolas"/>
                <a:ea typeface="Consolas"/>
                <a:cs typeface="Consolas"/>
                <a:sym typeface="Consolas"/>
              </a:rPr>
              <a:t>a </a:t>
            </a:r>
            <a:r>
              <a:rPr b="0" i="0" lang="en-GB" sz="1600" u="none" cap="none" strike="noStrike">
                <a:solidFill>
                  <a:srgbClr val="E36B00"/>
                </a:solidFill>
                <a:latin typeface="Consolas"/>
                <a:ea typeface="Consolas"/>
                <a:cs typeface="Consolas"/>
                <a:sym typeface="Consolas"/>
              </a:rPr>
              <a:t>result.</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29" name="Google Shape;129;g3243ccbddfa_0_8"/>
          <p:cNvSpPr txBox="1"/>
          <p:nvPr/>
        </p:nvSpPr>
        <p:spPr>
          <a:xfrm>
            <a:off x="172451" y="1053966"/>
            <a:ext cx="2827200" cy="861900"/>
          </a:xfrm>
          <a:prstGeom prst="rect">
            <a:avLst/>
          </a:prstGeom>
          <a:noFill/>
          <a:ln>
            <a:noFill/>
          </a:ln>
        </p:spPr>
        <p:txBody>
          <a:bodyPr anchorCtr="0" anchor="t" bIns="45700" lIns="91425" spcFirstLastPara="1" rIns="91425" wrap="square" tIns="45700">
            <a:spAutoFit/>
          </a:bodyPr>
          <a:lstStyle/>
          <a:p>
            <a:pPr indent="0" lvl="0" marL="0" marR="0" rtl="0" algn="l">
              <a:lnSpc>
                <a:spcPct val="20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1.PUSH</a:t>
            </a:r>
            <a:endParaRPr b="0" i="0" sz="14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pic>
        <p:nvPicPr>
          <p:cNvPr id="130" name="Google Shape;130;g3243ccbddfa_0_8"/>
          <p:cNvPicPr preferRelativeResize="0"/>
          <p:nvPr/>
        </p:nvPicPr>
        <p:blipFill rotWithShape="1">
          <a:blip r:embed="rId3">
            <a:alphaModFix/>
          </a:blip>
          <a:srcRect b="0" l="0" r="0" t="0"/>
          <a:stretch/>
        </p:blipFill>
        <p:spPr>
          <a:xfrm>
            <a:off x="4977175" y="2766625"/>
            <a:ext cx="4022375" cy="19946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209462d02d_1_3"/>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136" name="Google Shape;136;g3209462d02d_1_3"/>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Stack operation performed to remove an element from the stack. The element is removed, or popped from the top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252525"/>
              </a:solidFill>
              <a:latin typeface="Consolas"/>
              <a:ea typeface="Consolas"/>
              <a:cs typeface="Consolas"/>
              <a:sym typeface="Consolas"/>
            </a:endParaRPr>
          </a:p>
        </p:txBody>
      </p:sp>
      <p:sp>
        <p:nvSpPr>
          <p:cNvPr id="137" name="Google Shape;137;g3209462d02d_1_3"/>
          <p:cNvSpPr txBox="1"/>
          <p:nvPr/>
        </p:nvSpPr>
        <p:spPr>
          <a:xfrm>
            <a:off x="172451" y="1053966"/>
            <a:ext cx="28272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2.POP</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pic>
        <p:nvPicPr>
          <p:cNvPr id="138" name="Google Shape;138;g3209462d02d_1_3"/>
          <p:cNvPicPr preferRelativeResize="0"/>
          <p:nvPr/>
        </p:nvPicPr>
        <p:blipFill rotWithShape="1">
          <a:blip r:embed="rId3">
            <a:alphaModFix/>
          </a:blip>
          <a:srcRect b="0" l="0" r="0" t="0"/>
          <a:stretch/>
        </p:blipFill>
        <p:spPr>
          <a:xfrm>
            <a:off x="4349625" y="2966225"/>
            <a:ext cx="4513743" cy="1861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209462d02d_1_12"/>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144" name="Google Shape;144;g3209462d02d_1_12"/>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GB" sz="1600" u="none" cap="none" strike="noStrike">
                <a:solidFill>
                  <a:srgbClr val="252525"/>
                </a:solidFill>
                <a:latin typeface="Consolas"/>
                <a:ea typeface="Consolas"/>
                <a:cs typeface="Consolas"/>
                <a:sym typeface="Consolas"/>
              </a:rPr>
              <a:t>Stack operation to get the element stored at the top of the stack. The element is not removed using this stack operation.</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
        <p:nvSpPr>
          <p:cNvPr id="145" name="Google Shape;145;g3209462d02d_1_12"/>
          <p:cNvSpPr txBox="1"/>
          <p:nvPr/>
        </p:nvSpPr>
        <p:spPr>
          <a:xfrm>
            <a:off x="172451" y="1053966"/>
            <a:ext cx="28272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3.TOP</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pic>
        <p:nvPicPr>
          <p:cNvPr id="146" name="Google Shape;146;g3209462d02d_1_12"/>
          <p:cNvPicPr preferRelativeResize="0"/>
          <p:nvPr/>
        </p:nvPicPr>
        <p:blipFill rotWithShape="1">
          <a:blip r:embed="rId3">
            <a:alphaModFix/>
          </a:blip>
          <a:srcRect b="862" l="18516" r="68139" t="0"/>
          <a:stretch/>
        </p:blipFill>
        <p:spPr>
          <a:xfrm>
            <a:off x="6302075" y="2194153"/>
            <a:ext cx="1707500" cy="2472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209462d02d_1_20"/>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152" name="Google Shape;152;g3209462d02d_1_20"/>
          <p:cNvSpPr txBox="1"/>
          <p:nvPr/>
        </p:nvSpPr>
        <p:spPr>
          <a:xfrm>
            <a:off x="3908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rgbClr val="282828"/>
                </a:solidFill>
                <a:latin typeface="Consolas"/>
                <a:ea typeface="Consolas"/>
                <a:cs typeface="Consolas"/>
                <a:sym typeface="Consolas"/>
              </a:rPr>
              <a:t>Retrieve the minimum element in the stack.</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rgbClr val="252525"/>
              </a:solidFill>
              <a:latin typeface="Consolas"/>
              <a:ea typeface="Consolas"/>
              <a:cs typeface="Consolas"/>
              <a:sym typeface="Consolas"/>
            </a:endParaRPr>
          </a:p>
        </p:txBody>
      </p:sp>
      <p:sp>
        <p:nvSpPr>
          <p:cNvPr id="153" name="Google Shape;153;g3209462d02d_1_20"/>
          <p:cNvSpPr txBox="1"/>
          <p:nvPr/>
        </p:nvSpPr>
        <p:spPr>
          <a:xfrm>
            <a:off x="172451" y="1053966"/>
            <a:ext cx="28272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4.GETMIN()</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800"/>
              <a:buFont typeface="Arial"/>
              <a:buNone/>
            </a:pPr>
            <a:r>
              <a:t/>
            </a:r>
            <a:endParaRPr b="1" i="0" sz="1800" u="none" cap="none" strike="noStrike">
              <a:solidFill>
                <a:srgbClr val="002060"/>
              </a:solidFill>
              <a:latin typeface="Consolas"/>
              <a:ea typeface="Consolas"/>
              <a:cs typeface="Consolas"/>
              <a:sym typeface="Consolas"/>
            </a:endParaRPr>
          </a:p>
        </p:txBody>
      </p:sp>
      <p:pic>
        <p:nvPicPr>
          <p:cNvPr id="154" name="Google Shape;154;g3209462d02d_1_20"/>
          <p:cNvPicPr preferRelativeResize="0"/>
          <p:nvPr/>
        </p:nvPicPr>
        <p:blipFill rotWithShape="1">
          <a:blip r:embed="rId3">
            <a:alphaModFix/>
          </a:blip>
          <a:srcRect b="0" l="0" r="0" t="0"/>
          <a:stretch/>
        </p:blipFill>
        <p:spPr>
          <a:xfrm>
            <a:off x="6026151" y="2432515"/>
            <a:ext cx="2184928" cy="24295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243ccbddfa_0_16"/>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160" name="Google Shape;160;g3243ccbddfa_0_16"/>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
        <p:nvSpPr>
          <p:cNvPr id="161" name="Google Shape;161;g3243ccbddfa_0_16"/>
          <p:cNvSpPr txBox="1"/>
          <p:nvPr/>
        </p:nvSpPr>
        <p:spPr>
          <a:xfrm>
            <a:off x="332050" y="1439875"/>
            <a:ext cx="8037300" cy="36213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chemeClr val="dk1"/>
              </a:buClr>
              <a:buSzPts val="1600"/>
              <a:buFont typeface="Consolas"/>
              <a:buAutoNum type="arabicPeriod"/>
            </a:pPr>
            <a:r>
              <a:rPr b="0" i="0" lang="en-GB" sz="1600" u="none" cap="none" strike="noStrike">
                <a:solidFill>
                  <a:schemeClr val="dk1"/>
                </a:solidFill>
                <a:latin typeface="Consolas"/>
                <a:ea typeface="Consolas"/>
                <a:cs typeface="Consolas"/>
                <a:sym typeface="Consolas"/>
              </a:rPr>
              <a:t>Initialize two stacks: a main stack to store elements and a minimum stack to track the minimum elements.</a:t>
            </a:r>
            <a:endParaRPr b="0" i="0" sz="1600" u="none" cap="none" strike="noStrike">
              <a:solidFill>
                <a:schemeClr val="dk1"/>
              </a:solidFill>
              <a:latin typeface="Arial"/>
              <a:ea typeface="Arial"/>
              <a:cs typeface="Arial"/>
              <a:sym typeface="Arial"/>
            </a:endParaRPr>
          </a:p>
          <a:p>
            <a:pPr indent="-330200" lvl="0" marL="457200" marR="0" rtl="0" algn="l">
              <a:lnSpc>
                <a:spcPct val="115000"/>
              </a:lnSpc>
              <a:spcBef>
                <a:spcPts val="0"/>
              </a:spcBef>
              <a:spcAft>
                <a:spcPts val="0"/>
              </a:spcAft>
              <a:buClr>
                <a:schemeClr val="dk1"/>
              </a:buClr>
              <a:buSzPts val="1600"/>
              <a:buFont typeface="Consolas"/>
              <a:buAutoNum type="arabicPeriod"/>
            </a:pPr>
            <a:r>
              <a:rPr b="0" i="0" lang="en-GB" sz="1600" u="none" cap="none" strike="noStrike">
                <a:solidFill>
                  <a:schemeClr val="dk1"/>
                </a:solidFill>
                <a:latin typeface="Consolas"/>
                <a:ea typeface="Consolas"/>
                <a:cs typeface="Consolas"/>
                <a:sym typeface="Consolas"/>
              </a:rPr>
              <a:t>During the push operation:</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600"/>
              <a:buFont typeface="Arial"/>
              <a:buNone/>
            </a:pPr>
            <a:r>
              <a:rPr b="0" i="0" lang="en-GB" sz="1600" u="none" cap="none" strike="noStrike">
                <a:solidFill>
                  <a:schemeClr val="dk1"/>
                </a:solidFill>
                <a:latin typeface="Consolas"/>
                <a:ea typeface="Consolas"/>
                <a:cs typeface="Consolas"/>
                <a:sym typeface="Consolas"/>
              </a:rPr>
              <a:t>Push the new element onto the main stack.</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1000"/>
              </a:spcBef>
              <a:spcAft>
                <a:spcPts val="0"/>
              </a:spcAft>
              <a:buClr>
                <a:schemeClr val="dk1"/>
              </a:buClr>
              <a:buSzPts val="1600"/>
              <a:buFont typeface="Calibri"/>
              <a:buAutoNum type="arabicPeriod" startAt="3"/>
            </a:pPr>
            <a:r>
              <a:rPr b="0" i="0" lang="en-GB" sz="1600" u="none" cap="none" strike="noStrike">
                <a:solidFill>
                  <a:schemeClr val="dk1"/>
                </a:solidFill>
                <a:latin typeface="Consolas"/>
                <a:ea typeface="Consolas"/>
                <a:cs typeface="Consolas"/>
                <a:sym typeface="Consolas"/>
              </a:rPr>
              <a:t>Compare the new element with the top element of the minimum stack:</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1000"/>
              </a:spcBef>
              <a:spcAft>
                <a:spcPts val="0"/>
              </a:spcAft>
              <a:buClr>
                <a:schemeClr val="dk1"/>
              </a:buClr>
              <a:buSzPts val="1600"/>
              <a:buFont typeface="Calibri"/>
              <a:buAutoNum type="arabicPeriod" startAt="3"/>
            </a:pPr>
            <a:r>
              <a:rPr b="0" i="0" lang="en-GB" sz="1600" u="none" cap="none" strike="noStrike">
                <a:solidFill>
                  <a:schemeClr val="dk1"/>
                </a:solidFill>
                <a:latin typeface="Consolas"/>
                <a:ea typeface="Consolas"/>
                <a:cs typeface="Consolas"/>
                <a:sym typeface="Consolas"/>
              </a:rPr>
              <a:t>If the new element is smaller or equal, push it onto the minimum stack.</a:t>
            </a:r>
            <a:endParaRPr b="0" i="0" sz="1600" u="none" cap="none" strike="noStrike">
              <a:solidFill>
                <a:schemeClr val="dk1"/>
              </a:solidFill>
              <a:latin typeface="Arial"/>
              <a:ea typeface="Arial"/>
              <a:cs typeface="Arial"/>
              <a:sym typeface="Arial"/>
            </a:endParaRPr>
          </a:p>
          <a:p>
            <a:pPr indent="-342900" lvl="0" marL="342900" marR="0" rtl="0" algn="l">
              <a:lnSpc>
                <a:spcPct val="115000"/>
              </a:lnSpc>
              <a:spcBef>
                <a:spcPts val="1000"/>
              </a:spcBef>
              <a:spcAft>
                <a:spcPts val="0"/>
              </a:spcAft>
              <a:buClr>
                <a:schemeClr val="dk1"/>
              </a:buClr>
              <a:buSzPts val="1600"/>
              <a:buFont typeface="Calibri"/>
              <a:buAutoNum type="arabicPeriod" startAt="3"/>
            </a:pPr>
            <a:r>
              <a:rPr b="0" i="0" lang="en-GB" sz="1600" u="none" cap="none" strike="noStrike">
                <a:solidFill>
                  <a:schemeClr val="dk1"/>
                </a:solidFill>
                <a:latin typeface="Consolas"/>
                <a:ea typeface="Consolas"/>
                <a:cs typeface="Consolas"/>
                <a:sym typeface="Consolas"/>
              </a:rPr>
              <a:t>Otherwise, push the current top element of the minimum stack onto itself.</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3209462d02d_1_28"/>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167" name="Google Shape;167;g3209462d02d_1_28"/>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ALGORITHM</a:t>
            </a:r>
            <a:endParaRPr b="0" i="0" sz="1400" u="none" cap="none" strike="noStrike">
              <a:solidFill>
                <a:srgbClr val="000000"/>
              </a:solidFill>
              <a:latin typeface="Arial"/>
              <a:ea typeface="Arial"/>
              <a:cs typeface="Arial"/>
              <a:sym typeface="Arial"/>
            </a:endParaRPr>
          </a:p>
        </p:txBody>
      </p:sp>
      <p:sp>
        <p:nvSpPr>
          <p:cNvPr id="168" name="Google Shape;168;g3209462d02d_1_28"/>
          <p:cNvSpPr txBox="1"/>
          <p:nvPr/>
        </p:nvSpPr>
        <p:spPr>
          <a:xfrm>
            <a:off x="332050" y="1439875"/>
            <a:ext cx="8037300" cy="3406800"/>
          </a:xfrm>
          <a:prstGeom prst="rect">
            <a:avLst/>
          </a:prstGeom>
          <a:noFill/>
          <a:ln>
            <a:noFill/>
          </a:ln>
        </p:spPr>
        <p:txBody>
          <a:bodyPr anchorCtr="0" anchor="t" bIns="91425" lIns="91425" spcFirstLastPara="1" rIns="91425" wrap="square" tIns="91425">
            <a:spAutoFit/>
          </a:bodyPr>
          <a:lstStyle/>
          <a:p>
            <a:pPr indent="-342900" lvl="0" marL="342900" marR="0" rtl="0" algn="l">
              <a:lnSpc>
                <a:spcPct val="200000"/>
              </a:lnSpc>
              <a:spcBef>
                <a:spcPts val="0"/>
              </a:spcBef>
              <a:spcAft>
                <a:spcPts val="0"/>
              </a:spcAft>
              <a:buClr>
                <a:schemeClr val="dk1"/>
              </a:buClr>
              <a:buSzPts val="1600"/>
              <a:buFont typeface="Calibri"/>
              <a:buAutoNum type="arabicPeriod" startAt="5"/>
            </a:pPr>
            <a:r>
              <a:rPr b="0" i="0" lang="en-GB" sz="1600" u="none" cap="none" strike="noStrike">
                <a:solidFill>
                  <a:schemeClr val="dk1"/>
                </a:solidFill>
                <a:latin typeface="Consolas"/>
                <a:ea typeface="Consolas"/>
                <a:cs typeface="Consolas"/>
                <a:sym typeface="Consolas"/>
              </a:rPr>
              <a:t>During the pop operation:</a:t>
            </a:r>
            <a:endParaRPr b="0" i="0" sz="1400" u="none" cap="none" strike="noStrike">
              <a:solidFill>
                <a:schemeClr val="dk1"/>
              </a:solidFill>
              <a:latin typeface="Arial"/>
              <a:ea typeface="Arial"/>
              <a:cs typeface="Arial"/>
              <a:sym typeface="Arial"/>
            </a:endParaRPr>
          </a:p>
          <a:p>
            <a:pPr indent="0" lvl="0" marL="0" marR="0" rtl="0" algn="l">
              <a:lnSpc>
                <a:spcPct val="20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Pop the top element from both the main stack and the minimum stack.</a:t>
            </a:r>
            <a:endParaRPr b="0" i="0" sz="1400" u="none" cap="none" strike="noStrike">
              <a:solidFill>
                <a:schemeClr val="dk1"/>
              </a:solidFill>
              <a:latin typeface="Arial"/>
              <a:ea typeface="Arial"/>
              <a:cs typeface="Arial"/>
              <a:sym typeface="Arial"/>
            </a:endParaRPr>
          </a:p>
          <a:p>
            <a:pPr indent="0" lvl="0" marL="0" marR="0" rtl="0" algn="l">
              <a:lnSpc>
                <a:spcPct val="20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6. To retrieve the minimum element, simply peek at the top of the minimum stack.</a:t>
            </a:r>
            <a:endParaRPr b="0" i="0" sz="1400" u="none" cap="none" strike="noStrike">
              <a:solidFill>
                <a:schemeClr val="dk1"/>
              </a:solidFill>
              <a:latin typeface="Arial"/>
              <a:ea typeface="Arial"/>
              <a:cs typeface="Arial"/>
              <a:sym typeface="Arial"/>
            </a:endParaRPr>
          </a:p>
          <a:p>
            <a:pPr indent="0" lvl="0" marL="0" marR="0" rtl="0" algn="l">
              <a:lnSpc>
                <a:spcPct val="200000"/>
              </a:lnSpc>
              <a:spcBef>
                <a:spcPts val="1000"/>
              </a:spcBef>
              <a:spcAft>
                <a:spcPts val="0"/>
              </a:spcAft>
              <a:buClr>
                <a:schemeClr val="dk1"/>
              </a:buClr>
              <a:buSzPts val="16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g3209462d02d_1_34"/>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174" name="Google Shape;174;g3209462d02d_1_34"/>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PSEUDOCODE</a:t>
            </a:r>
            <a:endParaRPr b="0" i="0" sz="1400" u="none" cap="none" strike="noStrike">
              <a:solidFill>
                <a:srgbClr val="000000"/>
              </a:solidFill>
              <a:latin typeface="Arial"/>
              <a:ea typeface="Arial"/>
              <a:cs typeface="Arial"/>
              <a:sym typeface="Arial"/>
            </a:endParaRPr>
          </a:p>
        </p:txBody>
      </p:sp>
      <p:sp>
        <p:nvSpPr>
          <p:cNvPr id="175" name="Google Shape;175;g3209462d02d_1_34"/>
          <p:cNvSpPr txBox="1"/>
          <p:nvPr/>
        </p:nvSpPr>
        <p:spPr>
          <a:xfrm>
            <a:off x="332050" y="1439875"/>
            <a:ext cx="8037300" cy="3674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Initialize mainStack and minStack</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Push(element):</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Push element onto mainStack</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If minStack is empty OR element &lt;= top(minStack):</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Push element onto minStack</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Pop():</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If top(mainStack) == top(minStack):</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Pop from minStack</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Pop from mainStack</a:t>
            </a:r>
            <a:endParaRPr b="0" i="0" sz="16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GetMin():</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Return top(minStack)</a:t>
            </a:r>
            <a:endParaRPr b="0" i="0" sz="1600" u="none" cap="none" strike="noStrike">
              <a:solidFill>
                <a:schemeClr val="dk1"/>
              </a:solidFill>
              <a:latin typeface="Arial"/>
              <a:ea typeface="Arial"/>
              <a:cs typeface="Arial"/>
              <a:sym typeface="Arial"/>
            </a:endParaRPr>
          </a:p>
          <a:p>
            <a:pPr indent="0" lvl="0" marL="0" marR="0" rtl="0" algn="l">
              <a:lnSpc>
                <a:spcPct val="115000"/>
              </a:lnSpc>
              <a:spcBef>
                <a:spcPts val="100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209462d02d_1_62"/>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181" name="Google Shape;181;g3209462d02d_1_62"/>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GB" sz="1800" u="none" cap="none" strike="noStrike">
                <a:solidFill>
                  <a:srgbClr val="002060"/>
                </a:solidFill>
                <a:latin typeface="Consolas"/>
                <a:ea typeface="Consolas"/>
                <a:cs typeface="Consolas"/>
                <a:sym typeface="Consolas"/>
              </a:rPr>
              <a:t>SAMPLE PROGRAM 1</a:t>
            </a:r>
            <a:endParaRPr b="0" i="0" sz="1400" u="none" cap="none" strike="noStrike">
              <a:solidFill>
                <a:schemeClr val="dk1"/>
              </a:solidFill>
              <a:latin typeface="Arial"/>
              <a:ea typeface="Arial"/>
              <a:cs typeface="Arial"/>
              <a:sym typeface="Arial"/>
            </a:endParaRPr>
          </a:p>
        </p:txBody>
      </p:sp>
      <p:sp>
        <p:nvSpPr>
          <p:cNvPr id="182" name="Google Shape;182;g3209462d02d_1_62"/>
          <p:cNvSpPr txBox="1"/>
          <p:nvPr/>
        </p:nvSpPr>
        <p:spPr>
          <a:xfrm>
            <a:off x="332050" y="1439875"/>
            <a:ext cx="8037300" cy="3681900"/>
          </a:xfrm>
          <a:prstGeom prst="rect">
            <a:avLst/>
          </a:prstGeom>
          <a:noFill/>
          <a:ln>
            <a:noFill/>
          </a:ln>
        </p:spPr>
        <p:txBody>
          <a:bodyPr anchorCtr="0" anchor="t" bIns="91425" lIns="91425" spcFirstLastPara="1" rIns="91425" wrap="square" tIns="91425">
            <a:spAutoFit/>
          </a:bodyPr>
          <a:lstStyle/>
          <a:p>
            <a:pPr indent="0" lvl="0" marL="0" marR="0" rtl="0" algn="l">
              <a:lnSpc>
                <a:spcPct val="12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INPUT</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stack.push(5);</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stack.push(2);</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stack.push(7);</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stack.push(1);</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int minElement = stack.getMin();</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stack.pop();</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int topElement = stack.top();</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int newMinElement = stack.getMin();</a:t>
            </a:r>
            <a:endParaRPr b="0" i="0" sz="1600" u="none" cap="none" strike="noStrike">
              <a:solidFill>
                <a:schemeClr val="dk1"/>
              </a:solidFill>
              <a:latin typeface="Arial"/>
              <a:ea typeface="Arial"/>
              <a:cs typeface="Arial"/>
              <a:sym typeface="Arial"/>
            </a:endParaRPr>
          </a:p>
          <a:p>
            <a:pPr indent="0" lvl="0" marL="0" marR="0" rtl="0" algn="l">
              <a:lnSpc>
                <a:spcPct val="12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2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2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g3209462d02d_1_74"/>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188" name="Google Shape;188;g3209462d02d_1_74"/>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SAMPLE PROGRAM 1</a:t>
            </a:r>
            <a:endParaRPr b="0" i="0" sz="1400" u="none" cap="none" strike="noStrike">
              <a:solidFill>
                <a:srgbClr val="000000"/>
              </a:solidFill>
              <a:latin typeface="Arial"/>
              <a:ea typeface="Arial"/>
              <a:cs typeface="Arial"/>
              <a:sym typeface="Arial"/>
            </a:endParaRPr>
          </a:p>
        </p:txBody>
      </p:sp>
      <p:sp>
        <p:nvSpPr>
          <p:cNvPr id="189" name="Google Shape;189;g3209462d02d_1_74"/>
          <p:cNvSpPr txBox="1"/>
          <p:nvPr/>
        </p:nvSpPr>
        <p:spPr>
          <a:xfrm>
            <a:off x="332050" y="1439875"/>
            <a:ext cx="8037300" cy="1539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OUTPUT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Minimum Element: 1</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Top Element: 7</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After Pop New Minimum Element: 2</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g3209462d02d_1_80"/>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graphicFrame>
        <p:nvGraphicFramePr>
          <p:cNvPr id="195" name="Google Shape;195;g3209462d02d_1_80"/>
          <p:cNvGraphicFramePr/>
          <p:nvPr/>
        </p:nvGraphicFramePr>
        <p:xfrm>
          <a:off x="154610" y="896938"/>
          <a:ext cx="3000000" cy="3000000"/>
        </p:xfrm>
        <a:graphic>
          <a:graphicData uri="http://schemas.openxmlformats.org/drawingml/2006/table">
            <a:tbl>
              <a:tblPr bandRow="1" firstRow="1">
                <a:noFill/>
                <a:tableStyleId>{A14A9F22-26DB-4B4E-9DD3-1F002591782C}</a:tableStyleId>
              </a:tblPr>
              <a:tblGrid>
                <a:gridCol w="4265000"/>
                <a:gridCol w="4265000"/>
              </a:tblGrid>
              <a:tr h="3813800">
                <a:tc>
                  <a:txBody>
                    <a:bodyPr/>
                    <a:lstStyle/>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import java.util.Stack;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class MinStack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Stack&lt;Integer&gt; stack; // Stack to store elements</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Stack&lt;Integer&gt; minStack; // Stack to track minimum elements</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public MinStack()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 = new Stack&lt;&gt;();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 = new Stack&lt;&gt;();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public void push(int element)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stack.push(element); // Push the element onto the main 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 Update the minimum 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if (minStack.isEmpty() || element &lt;= minStack.peek())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minStack.push(element); // Push the element onto the minimum 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import java.util.Stack;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class MinStack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Stack&lt;Integer&gt; stack; // Stack to store elements</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Stack&lt;Integer&gt; minStack; // Stack to track minimum elements</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public MinStack()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 = new Stack&lt;&gt;();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 = new Stack&lt;&gt;();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public void push(int element)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stack.push(element); // Push the element onto the main 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 Update the minimum 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if (minStack.isEmpty() || element &lt;= minStack.peek())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minStack.push(element); // Push the element onto the minimum 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rgbClr val="000000"/>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g3209462d02d_1_85"/>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graphicFrame>
        <p:nvGraphicFramePr>
          <p:cNvPr id="201" name="Google Shape;201;g3209462d02d_1_85"/>
          <p:cNvGraphicFramePr/>
          <p:nvPr/>
        </p:nvGraphicFramePr>
        <p:xfrm>
          <a:off x="154610" y="896938"/>
          <a:ext cx="3000000" cy="3000000"/>
        </p:xfrm>
        <a:graphic>
          <a:graphicData uri="http://schemas.openxmlformats.org/drawingml/2006/table">
            <a:tbl>
              <a:tblPr bandRow="1" firstRow="1">
                <a:noFill/>
                <a:tableStyleId>{A14A9F22-26DB-4B4E-9DD3-1F002591782C}</a:tableStyleId>
              </a:tblPr>
              <a:tblGrid>
                <a:gridCol w="4265000"/>
                <a:gridCol w="4265000"/>
              </a:tblGrid>
              <a:tr h="3813800">
                <a:tc>
                  <a:txBody>
                    <a:bodyPr/>
                    <a:lstStyle/>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public int getMin()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if (!minStack.isEmpty())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return minStack.peek(); // Return the minimum element from the minimum 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 Stack is empty, return -1 or throw an exception as desired</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return -1;</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public static void main(String[] args)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 stack = new MinStack();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 Push some elements onto the 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stack.push(5);</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stack.push(2);</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stack.push(7);</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stack.push(1);</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Retrieve and print the minimum element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int minElement = stack.getMin();</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System.out.println("Minimum Element: " + minElement); // Output: Minimum Element: 1</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 Pop an element from the 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stack.pop();</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 Retrieve and print the top element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int topElement = stack.top();</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System.out.println("Top Element: " + topElement); // Output: Top Element: 7</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 After pop</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int newMinElement = stack.getMin();</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System.out.println("After Pop New Minimum Element: " + newMinElement);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t/>
                      </a:r>
                      <a:endParaRPr b="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3209462d02d_1_90"/>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207" name="Google Shape;207;g3209462d02d_1_90"/>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SAMPLE PROGRAM 1</a:t>
            </a:r>
            <a:endParaRPr b="0" i="0" sz="1400" u="none" cap="none" strike="noStrike">
              <a:solidFill>
                <a:srgbClr val="000000"/>
              </a:solidFill>
              <a:latin typeface="Arial"/>
              <a:ea typeface="Arial"/>
              <a:cs typeface="Arial"/>
              <a:sym typeface="Arial"/>
            </a:endParaRPr>
          </a:p>
        </p:txBody>
      </p:sp>
      <p:sp>
        <p:nvSpPr>
          <p:cNvPr id="208" name="Google Shape;208;g3209462d02d_1_90"/>
          <p:cNvSpPr txBox="1"/>
          <p:nvPr/>
        </p:nvSpPr>
        <p:spPr>
          <a:xfrm>
            <a:off x="332050" y="1439875"/>
            <a:ext cx="80373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Arial"/>
              <a:buNone/>
            </a:pPr>
            <a:r>
              <a:rPr b="0" i="0" lang="en-GB" sz="1600" u="sng" cap="none" strike="noStrike">
                <a:solidFill>
                  <a:schemeClr val="dk1"/>
                </a:solidFill>
                <a:latin typeface="Consolas"/>
                <a:ea typeface="Consolas"/>
                <a:cs typeface="Consolas"/>
                <a:sym typeface="Consolas"/>
              </a:rPr>
              <a:t>Input</a:t>
            </a:r>
            <a:endParaRPr b="0" i="0" sz="16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["push","push","pop","push","push“,”peek”,"push","getMin","pop","getMin"]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 [2 ], [3], [ ], [4], [ -1], [ ], [6], [ ], [ ], [ ] ]</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b="0" i="0" lang="en-GB" sz="1600" u="sng" cap="none" strike="noStrike">
                <a:solidFill>
                  <a:schemeClr val="dk1"/>
                </a:solidFill>
                <a:latin typeface="Consolas"/>
                <a:ea typeface="Consolas"/>
                <a:cs typeface="Consolas"/>
                <a:sym typeface="Consolas"/>
              </a:rPr>
              <a:t>Output</a:t>
            </a:r>
            <a:endParaRPr b="0" i="0" sz="16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[-1]</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t/>
            </a:r>
            <a:endParaRPr b="0" i="0" sz="16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3209462d02d_1_102"/>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214" name="Google Shape;214;g3209462d02d_1_102"/>
          <p:cNvSpPr txBox="1"/>
          <p:nvPr/>
        </p:nvSpPr>
        <p:spPr>
          <a:xfrm>
            <a:off x="172451" y="1053966"/>
            <a:ext cx="28272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SAMPLE PROGRAM 1</a:t>
            </a:r>
            <a:endParaRPr b="0" i="0" sz="1400" u="none" cap="none" strike="noStrike">
              <a:solidFill>
                <a:srgbClr val="000000"/>
              </a:solidFill>
              <a:latin typeface="Arial"/>
              <a:ea typeface="Arial"/>
              <a:cs typeface="Arial"/>
              <a:sym typeface="Arial"/>
            </a:endParaRPr>
          </a:p>
        </p:txBody>
      </p:sp>
      <p:sp>
        <p:nvSpPr>
          <p:cNvPr id="215" name="Google Shape;215;g3209462d02d_1_102"/>
          <p:cNvSpPr txBox="1"/>
          <p:nvPr/>
        </p:nvSpPr>
        <p:spPr>
          <a:xfrm>
            <a:off x="332050" y="1439875"/>
            <a:ext cx="8037300" cy="3140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chemeClr val="dk1"/>
              </a:buClr>
              <a:buSzPts val="1800"/>
              <a:buFont typeface="Arial"/>
              <a:buNone/>
            </a:pPr>
            <a:r>
              <a:rPr b="0" i="0" lang="en-GB" sz="1600" u="sng" cap="none" strike="noStrike">
                <a:solidFill>
                  <a:schemeClr val="dk1"/>
                </a:solidFill>
                <a:latin typeface="Consolas"/>
                <a:ea typeface="Consolas"/>
                <a:cs typeface="Consolas"/>
                <a:sym typeface="Consolas"/>
              </a:rPr>
              <a:t>Explanation</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 minStack = new MinStack();</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minStack.push(2);</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minStack.push(3);</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minStack.pop();</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minStack.push(4);</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minStack.push(-1);</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minStack.peek();</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minStack.push(6);</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minStack.getMin(); // return -1</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minStack.pop();</a:t>
            </a:r>
            <a:endParaRPr b="0"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GB" sz="1600" u="none" cap="none" strike="noStrike">
                <a:solidFill>
                  <a:schemeClr val="dk1"/>
                </a:solidFill>
                <a:latin typeface="Consolas"/>
                <a:ea typeface="Consolas"/>
                <a:cs typeface="Consolas"/>
                <a:sym typeface="Consolas"/>
              </a:rPr>
              <a:t>minStack.getMin(); // return -1</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209462d02d_1_120"/>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graphicFrame>
        <p:nvGraphicFramePr>
          <p:cNvPr id="221" name="Google Shape;221;g3209462d02d_1_120"/>
          <p:cNvGraphicFramePr/>
          <p:nvPr/>
        </p:nvGraphicFramePr>
        <p:xfrm>
          <a:off x="154610" y="896938"/>
          <a:ext cx="3000000" cy="3000000"/>
        </p:xfrm>
        <a:graphic>
          <a:graphicData uri="http://schemas.openxmlformats.org/drawingml/2006/table">
            <a:tbl>
              <a:tblPr bandRow="1" firstRow="1">
                <a:noFill/>
                <a:tableStyleId>{A14A9F22-26DB-4B4E-9DD3-1F002591782C}</a:tableStyleId>
              </a:tblPr>
              <a:tblGrid>
                <a:gridCol w="4265000"/>
                <a:gridCol w="4265000"/>
              </a:tblGrid>
              <a:tr h="3813800">
                <a:tc>
                  <a:txBody>
                    <a:bodyPr/>
                    <a:lstStyle/>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import java.util.Stack;</a:t>
                      </a:r>
                      <a:endParaRPr b="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//class</a:t>
                      </a:r>
                      <a:endParaRPr b="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class MinStack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private Stack&lt;Integer&gt; 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private Stack&lt;Integer&gt; minStack;</a:t>
                      </a:r>
                      <a:endParaRPr b="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//constructor –memory creation</a:t>
                      </a:r>
                      <a:endParaRPr b="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public MinStack()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stack = new Stack&lt;&gt;();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minStack = new Stack&lt;&gt;();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public void push(int val)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stack.push(val);</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if (minStack.isEmpty() || val &lt;= minStack.peek())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//or opreration for check any one is true</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minStack.push(val);</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a:t>
                      </a:r>
                      <a:endParaRPr sz="1200" u="none" cap="none" strike="noStrike">
                        <a:solidFill>
                          <a:schemeClr val="lt1"/>
                        </a:solidFill>
                      </a:endParaRPr>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public void pop()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if (!stack.isEmpty())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if (stack.peek().equals(minStack.peek()))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minStack.pop();</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stack.pop();</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public int top()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return stack.peek();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public int getMin()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return minStack.peek();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t/>
                      </a:r>
                      <a:endParaRPr b="0" sz="1200" u="none" cap="none" strike="noStrik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chemeClr val="dk1"/>
                        </a:solidFill>
                        <a:latin typeface="Consolas"/>
                        <a:ea typeface="Consolas"/>
                        <a:cs typeface="Consolas"/>
                        <a:sym typeface="Consolas"/>
                      </a:endParaRPr>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209462d02d_1_151"/>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lang="en-GB" sz="1700">
                <a:solidFill>
                  <a:srgbClr val="8182EF"/>
                </a:solidFill>
                <a:latin typeface="Roboto Black"/>
                <a:ea typeface="Roboto Black"/>
                <a:cs typeface="Roboto Black"/>
                <a:sym typeface="Roboto Black"/>
              </a:rPr>
              <a:t>MINIMUM STACK</a:t>
            </a:r>
            <a:endParaRPr b="0" i="0" sz="1700" u="none" cap="none" strike="noStrike">
              <a:solidFill>
                <a:srgbClr val="6D9EEB"/>
              </a:solidFill>
              <a:latin typeface="Roboto Black"/>
              <a:ea typeface="Roboto Black"/>
              <a:cs typeface="Roboto Black"/>
              <a:sym typeface="Roboto Black"/>
            </a:endParaRPr>
          </a:p>
        </p:txBody>
      </p:sp>
      <p:graphicFrame>
        <p:nvGraphicFramePr>
          <p:cNvPr id="227" name="Google Shape;227;g3209462d02d_1_151"/>
          <p:cNvGraphicFramePr/>
          <p:nvPr/>
        </p:nvGraphicFramePr>
        <p:xfrm>
          <a:off x="253870" y="990288"/>
          <a:ext cx="3000000" cy="3000000"/>
        </p:xfrm>
        <a:graphic>
          <a:graphicData uri="http://schemas.openxmlformats.org/drawingml/2006/table">
            <a:tbl>
              <a:tblPr bandRow="1" firstRow="1">
                <a:noFill/>
                <a:tableStyleId>{A14A9F22-26DB-4B4E-9DD3-1F002591782C}</a:tableStyleId>
              </a:tblPr>
              <a:tblGrid>
                <a:gridCol w="8425650"/>
              </a:tblGrid>
              <a:tr h="3726175">
                <a:tc>
                  <a:txBody>
                    <a:bodyPr/>
                    <a:lstStyle/>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public class Main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public static void main(String[] args)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 minStack = new MinStack();</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minStack.push(2);</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minStack.push(3);</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minStack.pop();</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minStack.push(4);</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minStack.push(-1);</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minStack.top();</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minStack.push(6);</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minStack.getMin();</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minStack.pop();</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minStack.getMin();</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System.out.println("Current Min: " + minStack.getMin());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    }</a:t>
                      </a:r>
                      <a:endParaRPr sz="1200" u="none" cap="none" strike="noStrike">
                        <a:solidFill>
                          <a:schemeClr val="lt1"/>
                        </a:solidFill>
                      </a:endParaRPr>
                    </a:p>
                    <a:p>
                      <a:pPr indent="0" lvl="0" marL="0" marR="0" rtl="0" algn="l">
                        <a:lnSpc>
                          <a:spcPct val="100000"/>
                        </a:lnSpc>
                        <a:spcBef>
                          <a:spcPts val="0"/>
                        </a:spcBef>
                        <a:spcAft>
                          <a:spcPts val="0"/>
                        </a:spcAft>
                        <a:buClr>
                          <a:schemeClr val="dk1"/>
                        </a:buClr>
                        <a:buSzPts val="1800"/>
                        <a:buFont typeface="Arial"/>
                        <a:buNone/>
                      </a:pPr>
                      <a:r>
                        <a:rPr b="0" lang="en-GB" sz="1200" u="none" cap="none" strike="noStrike">
                          <a:solidFill>
                            <a:schemeClr val="dk1"/>
                          </a:solidFill>
                          <a:latin typeface="Consolas"/>
                          <a:ea typeface="Consolas"/>
                          <a:cs typeface="Consolas"/>
                          <a:sym typeface="Consolas"/>
                        </a:rPr>
                        <a:t>}</a:t>
                      </a:r>
                      <a:endParaRPr sz="1200" u="none" cap="none" strike="noStrike">
                        <a:solidFill>
                          <a:schemeClr val="lt1"/>
                        </a:solidFill>
                      </a:endParaRPr>
                    </a:p>
                    <a:p>
                      <a:pPr indent="0" lvl="0" marL="0" marR="0" rtl="0" algn="l">
                        <a:lnSpc>
                          <a:spcPct val="100000"/>
                        </a:lnSpc>
                        <a:spcBef>
                          <a:spcPts val="0"/>
                        </a:spcBef>
                        <a:spcAft>
                          <a:spcPts val="0"/>
                        </a:spcAft>
                        <a:buClr>
                          <a:srgbClr val="000000"/>
                        </a:buClr>
                        <a:buSzPts val="1800"/>
                        <a:buFont typeface="Arial"/>
                        <a:buNone/>
                      </a:pPr>
                      <a:r>
                        <a:t/>
                      </a:r>
                      <a:endParaRPr sz="12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g3209462d02d_1_145"/>
          <p:cNvSpPr txBox="1"/>
          <p:nvPr/>
        </p:nvSpPr>
        <p:spPr>
          <a:xfrm>
            <a:off x="720725" y="445600"/>
            <a:ext cx="6956700" cy="965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400"/>
              <a:buFont typeface="Arial"/>
              <a:buNone/>
            </a:pPr>
            <a:r>
              <a:rPr b="1" i="0" lang="en-GB" sz="1800" u="none" cap="none" strike="noStrike">
                <a:solidFill>
                  <a:srgbClr val="002060"/>
                </a:solidFill>
                <a:latin typeface="Consolas"/>
                <a:ea typeface="Consolas"/>
                <a:cs typeface="Consolas"/>
                <a:sym typeface="Consolas"/>
              </a:rPr>
              <a:t>MINIMUM STACK</a:t>
            </a:r>
            <a:endParaRPr b="0" i="0" sz="1800" u="none" cap="none" strike="noStrike">
              <a:solidFill>
                <a:srgbClr val="002060"/>
              </a:solidFill>
              <a:latin typeface="Roboto Black"/>
              <a:ea typeface="Roboto Black"/>
              <a:cs typeface="Roboto Black"/>
              <a:sym typeface="Roboto Black"/>
            </a:endParaRPr>
          </a:p>
          <a:p>
            <a:pPr indent="0" lvl="0" marL="0" marR="0" rtl="0" algn="ctr">
              <a:lnSpc>
                <a:spcPct val="115000"/>
              </a:lnSpc>
              <a:spcBef>
                <a:spcPts val="0"/>
              </a:spcBef>
              <a:spcAft>
                <a:spcPts val="0"/>
              </a:spcAft>
              <a:buClr>
                <a:schemeClr val="dk1"/>
              </a:buClr>
              <a:buSzPts val="3500"/>
              <a:buFont typeface="Arial"/>
              <a:buNone/>
            </a:pPr>
            <a:r>
              <a:t/>
            </a:r>
            <a:endParaRPr b="1" i="0" sz="1800" u="none" cap="none" strike="noStrike">
              <a:solidFill>
                <a:srgbClr val="002060"/>
              </a:solidFill>
              <a:latin typeface="Consolas"/>
              <a:ea typeface="Consolas"/>
              <a:cs typeface="Consolas"/>
              <a:sym typeface="Consolas"/>
            </a:endParaRPr>
          </a:p>
          <a:p>
            <a:pPr indent="0" lvl="0" marL="0" marR="0" rtl="0" algn="ctr">
              <a:lnSpc>
                <a:spcPct val="115000"/>
              </a:lnSpc>
              <a:spcBef>
                <a:spcPts val="0"/>
              </a:spcBef>
              <a:spcAft>
                <a:spcPts val="0"/>
              </a:spcAft>
              <a:buClr>
                <a:srgbClr val="000000"/>
              </a:buClr>
              <a:buSzPts val="3500"/>
              <a:buFont typeface="Arial"/>
              <a:buNone/>
            </a:pPr>
            <a:r>
              <a:t/>
            </a:r>
            <a:endParaRPr b="1" i="0" sz="1800" u="none" cap="none" strike="noStrike">
              <a:solidFill>
                <a:srgbClr val="002060"/>
              </a:solidFill>
              <a:latin typeface="Consolas"/>
              <a:ea typeface="Consolas"/>
              <a:cs typeface="Consolas"/>
              <a:sym typeface="Consolas"/>
            </a:endParaRPr>
          </a:p>
        </p:txBody>
      </p:sp>
      <p:sp>
        <p:nvSpPr>
          <p:cNvPr id="233" name="Google Shape;233;g3209462d02d_1_145"/>
          <p:cNvSpPr txBox="1"/>
          <p:nvPr/>
        </p:nvSpPr>
        <p:spPr>
          <a:xfrm>
            <a:off x="172449" y="1053975"/>
            <a:ext cx="56694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n-GB" sz="1800" u="none" cap="none" strike="noStrike">
                <a:solidFill>
                  <a:srgbClr val="002060"/>
                </a:solidFill>
                <a:latin typeface="Consolas"/>
                <a:ea typeface="Consolas"/>
                <a:cs typeface="Consolas"/>
                <a:sym typeface="Consolas"/>
              </a:rPr>
              <a:t>TIME COMPLEXITY AND </a:t>
            </a:r>
            <a:r>
              <a:rPr b="1" lang="en-GB" sz="1800">
                <a:solidFill>
                  <a:srgbClr val="002060"/>
                </a:solidFill>
                <a:latin typeface="Consolas"/>
                <a:ea typeface="Consolas"/>
                <a:cs typeface="Consolas"/>
                <a:sym typeface="Consolas"/>
              </a:rPr>
              <a:t>SPACE</a:t>
            </a:r>
            <a:r>
              <a:rPr b="1" i="0" lang="en-GB" sz="1800" u="none" cap="none" strike="noStrike">
                <a:solidFill>
                  <a:srgbClr val="002060"/>
                </a:solidFill>
                <a:latin typeface="Consolas"/>
                <a:ea typeface="Consolas"/>
                <a:cs typeface="Consolas"/>
                <a:sym typeface="Consolas"/>
              </a:rPr>
              <a:t> COMPLEXITY</a:t>
            </a:r>
            <a:endParaRPr b="0" i="0" sz="1400" u="none" cap="none" strike="noStrike">
              <a:solidFill>
                <a:srgbClr val="000000"/>
              </a:solidFill>
              <a:latin typeface="Arial"/>
              <a:ea typeface="Arial"/>
              <a:cs typeface="Arial"/>
              <a:sym typeface="Arial"/>
            </a:endParaRPr>
          </a:p>
        </p:txBody>
      </p:sp>
      <p:sp>
        <p:nvSpPr>
          <p:cNvPr id="234" name="Google Shape;234;g3209462d02d_1_145"/>
          <p:cNvSpPr txBox="1"/>
          <p:nvPr/>
        </p:nvSpPr>
        <p:spPr>
          <a:xfrm>
            <a:off x="332050" y="1439875"/>
            <a:ext cx="8037300" cy="2401200"/>
          </a:xfrm>
          <a:prstGeom prst="rect">
            <a:avLst/>
          </a:prstGeom>
          <a:noFill/>
          <a:ln>
            <a:noFill/>
          </a:ln>
        </p:spPr>
        <p:txBody>
          <a:bodyPr anchorCtr="0" anchor="t" bIns="91425" lIns="91425" spcFirstLastPara="1" rIns="91425" wrap="square" tIns="91425">
            <a:spAutoFit/>
          </a:bodyPr>
          <a:lstStyle/>
          <a:p>
            <a:pPr indent="0" lvl="0" marL="0" marR="0" rtl="0" algn="l">
              <a:lnSpc>
                <a:spcPct val="200000"/>
              </a:lnSpc>
              <a:spcBef>
                <a:spcPts val="0"/>
              </a:spcBef>
              <a:spcAft>
                <a:spcPts val="0"/>
              </a:spcAft>
              <a:buClr>
                <a:srgbClr val="7030A0"/>
              </a:buClr>
              <a:buSzPts val="2000"/>
              <a:buFont typeface="Arial"/>
              <a:buNone/>
            </a:pPr>
            <a:r>
              <a:rPr b="0" i="0" lang="en-GB" sz="1600" u="none" cap="none" strike="noStrike">
                <a:solidFill>
                  <a:schemeClr val="dk1"/>
                </a:solidFill>
                <a:latin typeface="Consolas"/>
                <a:ea typeface="Consolas"/>
                <a:cs typeface="Consolas"/>
                <a:sym typeface="Consolas"/>
              </a:rPr>
              <a:t>The time and space complexity of this code is O(1) for each of the push, pop, top, and getMin operations because the code's execution time and memory usage do not depend on the number of elements in the stack.</a:t>
            </a:r>
            <a:endParaRPr b="1" i="0" sz="1600" u="none" cap="none" strike="noStrike">
              <a:solidFill>
                <a:srgbClr val="7030A0"/>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16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243ccbddfa_0_51"/>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lang="en-GB" sz="1700">
                <a:solidFill>
                  <a:srgbClr val="8182EF"/>
                </a:solidFill>
                <a:latin typeface="Roboto Black"/>
                <a:ea typeface="Roboto Black"/>
                <a:cs typeface="Roboto Black"/>
                <a:sym typeface="Roboto Black"/>
              </a:rPr>
              <a:t>MINIMUM STACK</a:t>
            </a:r>
            <a:endParaRPr b="0" i="0" sz="1700" u="none" cap="none" strike="noStrike">
              <a:solidFill>
                <a:srgbClr val="6D9EEB"/>
              </a:solidFill>
              <a:latin typeface="Roboto Black"/>
              <a:ea typeface="Roboto Black"/>
              <a:cs typeface="Roboto Black"/>
              <a:sym typeface="Roboto Black"/>
            </a:endParaRPr>
          </a:p>
        </p:txBody>
      </p:sp>
      <p:graphicFrame>
        <p:nvGraphicFramePr>
          <p:cNvPr id="240" name="Google Shape;240;g3243ccbddfa_0_51"/>
          <p:cNvGraphicFramePr/>
          <p:nvPr/>
        </p:nvGraphicFramePr>
        <p:xfrm>
          <a:off x="253870" y="990288"/>
          <a:ext cx="3000000" cy="3000000"/>
        </p:xfrm>
        <a:graphic>
          <a:graphicData uri="http://schemas.openxmlformats.org/drawingml/2006/table">
            <a:tbl>
              <a:tblPr bandRow="1" firstRow="1">
                <a:noFill/>
                <a:tableStyleId>{A14A9F22-26DB-4B4E-9DD3-1F002591782C}</a:tableStyleId>
              </a:tblPr>
              <a:tblGrid>
                <a:gridCol w="8425650"/>
              </a:tblGrid>
              <a:tr h="3726175">
                <a:tc>
                  <a:txBody>
                    <a:bodyPr/>
                    <a:lstStyle/>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public class Main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public static void main(String[] args)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LinkedList list = new LinkedList();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list.append(1);</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list.append(2);</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list.append(3);</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list.append(4);</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list.append(5);</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System.out.println("Original list:");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list.printList();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list.segregateEvenOdd();</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t/>
                      </a:r>
                      <a:endParaRPr b="0" sz="1200" u="none" cap="none" strike="noStrike">
                        <a:solidFill>
                          <a:srgbClr val="00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System.out.println("Segregated list (even before odd):");</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list.printList();</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    }</a:t>
                      </a:r>
                      <a:endParaRPr sz="1200" u="none" cap="none" strike="noStrike"/>
                    </a:p>
                    <a:p>
                      <a:pPr indent="0" lvl="0" marL="0" marR="0" rtl="0" algn="l">
                        <a:lnSpc>
                          <a:spcPct val="100000"/>
                        </a:lnSpc>
                        <a:spcBef>
                          <a:spcPts val="0"/>
                        </a:spcBef>
                        <a:spcAft>
                          <a:spcPts val="0"/>
                        </a:spcAft>
                        <a:buClr>
                          <a:srgbClr val="000000"/>
                        </a:buClr>
                        <a:buSzPts val="1800"/>
                        <a:buFont typeface="Arial"/>
                        <a:buNone/>
                      </a:pPr>
                      <a:r>
                        <a:rPr b="0" lang="en-GB" sz="1200" u="none" cap="none" strike="noStrike">
                          <a:solidFill>
                            <a:srgbClr val="000000"/>
                          </a:solidFill>
                          <a:latin typeface="Consolas"/>
                          <a:ea typeface="Consolas"/>
                          <a:cs typeface="Consolas"/>
                          <a:sym typeface="Consolas"/>
                        </a:rPr>
                        <a:t>}</a:t>
                      </a:r>
                      <a:endParaRPr sz="1200" u="none" cap="none" strike="noStrike"/>
                    </a:p>
                  </a:txBody>
                  <a:tcPr marT="45725" marB="45725" marR="91450" marL="914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g3243ccbddfa_0_66"/>
          <p:cNvSpPr txBox="1"/>
          <p:nvPr/>
        </p:nvSpPr>
        <p:spPr>
          <a:xfrm>
            <a:off x="720725" y="445600"/>
            <a:ext cx="6956700" cy="354000"/>
          </a:xfrm>
          <a:prstGeom prst="rect">
            <a:avLst/>
          </a:prstGeom>
          <a:noFill/>
          <a:ln>
            <a:noFill/>
          </a:ln>
        </p:spPr>
        <p:txBody>
          <a:bodyPr anchorCtr="0" anchor="t" bIns="45700" lIns="91425" spcFirstLastPara="1" rIns="91425" wrap="square" tIns="45700">
            <a:spAutoFit/>
          </a:bodyPr>
          <a:lstStyle/>
          <a:p>
            <a:pPr indent="0" lvl="0" marL="0" marR="0" rtl="0" algn="ctr">
              <a:lnSpc>
                <a:spcPct val="115000"/>
              </a:lnSpc>
              <a:spcBef>
                <a:spcPts val="0"/>
              </a:spcBef>
              <a:spcAft>
                <a:spcPts val="0"/>
              </a:spcAft>
              <a:buClr>
                <a:srgbClr val="000000"/>
              </a:buClr>
              <a:buSzPts val="3500"/>
              <a:buFont typeface="Arial"/>
              <a:buNone/>
            </a:pPr>
            <a:r>
              <a:rPr lang="en-GB" sz="1700">
                <a:solidFill>
                  <a:srgbClr val="8182EF"/>
                </a:solidFill>
                <a:latin typeface="Roboto Black"/>
                <a:ea typeface="Roboto Black"/>
                <a:cs typeface="Roboto Black"/>
                <a:sym typeface="Roboto Black"/>
              </a:rPr>
              <a:t>MINIMUM STACK</a:t>
            </a:r>
            <a:endParaRPr b="0" i="0" sz="1700" u="none" cap="none" strike="noStrike">
              <a:solidFill>
                <a:srgbClr val="6D9EEB"/>
              </a:solidFill>
              <a:latin typeface="Roboto Black"/>
              <a:ea typeface="Roboto Black"/>
              <a:cs typeface="Roboto Black"/>
              <a:sym typeface="Roboto Black"/>
            </a:endParaRPr>
          </a:p>
        </p:txBody>
      </p:sp>
      <p:sp>
        <p:nvSpPr>
          <p:cNvPr id="246" name="Google Shape;246;g3243ccbddfa_0_66"/>
          <p:cNvSpPr txBox="1"/>
          <p:nvPr/>
        </p:nvSpPr>
        <p:spPr>
          <a:xfrm>
            <a:off x="314626" y="1471675"/>
            <a:ext cx="83586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Time complexity and space complexity</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Time complexity: O(N), where N is the number of nodes in the linked list.</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1000"/>
              </a:spcBef>
              <a:spcAft>
                <a:spcPts val="0"/>
              </a:spcAft>
              <a:buClr>
                <a:schemeClr val="dk1"/>
              </a:buClr>
              <a:buSzPts val="1600"/>
              <a:buFont typeface="Arial"/>
              <a:buNone/>
            </a:pPr>
            <a:r>
              <a:rPr b="0" i="0" lang="en-GB" sz="1600" u="none" cap="none" strike="noStrike">
                <a:solidFill>
                  <a:schemeClr val="dk1"/>
                </a:solidFill>
                <a:latin typeface="Consolas"/>
                <a:ea typeface="Consolas"/>
                <a:cs typeface="Consolas"/>
                <a:sym typeface="Consolas"/>
              </a:rPr>
              <a:t>Space complexity: O(1), constant space is used for the pointers and temporary variables.</a:t>
            </a:r>
            <a:endParaRPr b="0" i="0" sz="16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rgbClr val="000000"/>
              </a:buClr>
              <a:buSzPts val="1600"/>
              <a:buFont typeface="Arial"/>
              <a:buNone/>
            </a:pPr>
            <a:r>
              <a:t/>
            </a:r>
            <a:endParaRPr b="1" i="0" sz="1600" u="none" cap="none" strike="noStrike">
              <a:solidFill>
                <a:srgbClr val="002060"/>
              </a:solidFill>
              <a:latin typeface="Consolas"/>
              <a:ea typeface="Consolas"/>
              <a:cs typeface="Consolas"/>
              <a:sym typeface="Consola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31fe56d80bc_0_106"/>
          <p:cNvSpPr txBox="1"/>
          <p:nvPr/>
        </p:nvSpPr>
        <p:spPr>
          <a:xfrm>
            <a:off x="720725" y="369400"/>
            <a:ext cx="6956700" cy="672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3500"/>
              <a:buFont typeface="Arial"/>
              <a:buNone/>
            </a:pPr>
            <a:r>
              <a:rPr b="0" i="0" lang="en-GB" sz="1800" u="none" cap="none" strike="noStrike">
                <a:solidFill>
                  <a:srgbClr val="8182EF"/>
                </a:solidFill>
                <a:latin typeface="Roboto Black"/>
                <a:ea typeface="Roboto Black"/>
                <a:cs typeface="Roboto Black"/>
                <a:sym typeface="Roboto Black"/>
              </a:rPr>
              <a:t>                                   INTERVIEW QUESTIONS</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6D9EEB"/>
              </a:solidFill>
              <a:latin typeface="Roboto Black"/>
              <a:ea typeface="Roboto Black"/>
              <a:cs typeface="Roboto Black"/>
              <a:sym typeface="Roboto Black"/>
            </a:endParaRPr>
          </a:p>
        </p:txBody>
      </p:sp>
      <p:sp>
        <p:nvSpPr>
          <p:cNvPr id="252" name="Google Shape;252;g31fe56d80bc_0_106"/>
          <p:cNvSpPr txBox="1"/>
          <p:nvPr/>
        </p:nvSpPr>
        <p:spPr>
          <a:xfrm>
            <a:off x="194775" y="992650"/>
            <a:ext cx="7884300" cy="537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1. Why is it necessary to use an additional stack for retrieving the minimum element?</a:t>
            </a:r>
            <a:endParaRPr b="0" i="0" sz="28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1" i="1" sz="1600" u="none" cap="none" strike="noStrike">
              <a:solidFill>
                <a:srgbClr val="FF0000"/>
              </a:solidFill>
              <a:latin typeface="Consolas"/>
              <a:ea typeface="Consolas"/>
              <a:cs typeface="Consolas"/>
              <a:sym typeface="Consolas"/>
            </a:endParaRPr>
          </a:p>
        </p:txBody>
      </p:sp>
      <p:sp>
        <p:nvSpPr>
          <p:cNvPr id="253" name="Google Shape;253;g31fe56d80bc_0_106"/>
          <p:cNvSpPr txBox="1"/>
          <p:nvPr/>
        </p:nvSpPr>
        <p:spPr>
          <a:xfrm>
            <a:off x="229175" y="2142850"/>
            <a:ext cx="7939800" cy="34941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Answer: The additional stack, known as the min stack, is used to keep track of the minimum element at each point in the main stack. It ensures constant-time retrieval of the minimum element without having to traverse the entire stack every time. This approach improves efficiency and maintains the LIFO property of the stack. </a:t>
            </a:r>
            <a:endParaRPr b="1" i="0" sz="20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200000"/>
              </a:lnSpc>
              <a:spcBef>
                <a:spcPts val="0"/>
              </a:spcBef>
              <a:spcAft>
                <a:spcPts val="0"/>
              </a:spcAft>
              <a:buClr>
                <a:srgbClr val="000000"/>
              </a:buClr>
              <a:buSzPts val="2000"/>
              <a:buFont typeface="Arial"/>
              <a:buNone/>
            </a:pPr>
            <a:r>
              <a:t/>
            </a:r>
            <a:endParaRPr b="0" i="0" sz="2000" u="none" cap="none" strike="noStrike">
              <a:solidFill>
                <a:srgbClr val="000000"/>
              </a:solidFill>
              <a:latin typeface="Consolas"/>
              <a:ea typeface="Consolas"/>
              <a:cs typeface="Consolas"/>
              <a:sym typeface="Consolas"/>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g3243ccbddfa_0_73"/>
          <p:cNvSpPr txBox="1"/>
          <p:nvPr/>
        </p:nvSpPr>
        <p:spPr>
          <a:xfrm>
            <a:off x="720725" y="369400"/>
            <a:ext cx="6956700" cy="6726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3500"/>
              <a:buFont typeface="Arial"/>
              <a:buNone/>
            </a:pPr>
            <a:r>
              <a:rPr b="0" i="0" lang="en-GB" sz="1800" u="none" cap="none" strike="noStrike">
                <a:solidFill>
                  <a:srgbClr val="8182EF"/>
                </a:solidFill>
                <a:latin typeface="Roboto Black"/>
                <a:ea typeface="Roboto Black"/>
                <a:cs typeface="Roboto Black"/>
                <a:sym typeface="Roboto Black"/>
              </a:rPr>
              <a:t>                                    INTERVIEW QUESTIONS</a:t>
            </a:r>
            <a:endParaRPr b="0" i="0" sz="1700" u="none" cap="none" strike="noStrike">
              <a:solidFill>
                <a:srgbClr val="6D9EEB"/>
              </a:solidFill>
              <a:latin typeface="Roboto Black"/>
              <a:ea typeface="Roboto Black"/>
              <a:cs typeface="Roboto Black"/>
              <a:sym typeface="Roboto Black"/>
            </a:endParaRPr>
          </a:p>
          <a:p>
            <a:pPr indent="0" lvl="0" marL="0" marR="0" rtl="0" algn="ctr">
              <a:lnSpc>
                <a:spcPct val="115000"/>
              </a:lnSpc>
              <a:spcBef>
                <a:spcPts val="0"/>
              </a:spcBef>
              <a:spcAft>
                <a:spcPts val="0"/>
              </a:spcAft>
              <a:buClr>
                <a:srgbClr val="000000"/>
              </a:buClr>
              <a:buSzPts val="3500"/>
              <a:buFont typeface="Arial"/>
              <a:buNone/>
            </a:pPr>
            <a:r>
              <a:t/>
            </a:r>
            <a:endParaRPr b="0" i="0" sz="1700" u="none" cap="none" strike="noStrike">
              <a:solidFill>
                <a:srgbClr val="8182EF"/>
              </a:solidFill>
              <a:latin typeface="Roboto Black"/>
              <a:ea typeface="Roboto Black"/>
              <a:cs typeface="Roboto Black"/>
              <a:sym typeface="Roboto Black"/>
            </a:endParaRPr>
          </a:p>
        </p:txBody>
      </p:sp>
      <p:sp>
        <p:nvSpPr>
          <p:cNvPr id="259" name="Google Shape;259;g3243ccbddfa_0_73"/>
          <p:cNvSpPr txBox="1"/>
          <p:nvPr/>
        </p:nvSpPr>
        <p:spPr>
          <a:xfrm>
            <a:off x="294425" y="989300"/>
            <a:ext cx="78093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2. What is the time complexity of retrieving the minimum element from the stack using the Min Stack approach?</a:t>
            </a:r>
            <a:endParaRPr b="0" i="0" sz="2800" u="none" cap="none" strike="noStrike">
              <a:solidFill>
                <a:schemeClr val="dk1"/>
              </a:solidFill>
              <a:latin typeface="Calibri"/>
              <a:ea typeface="Calibri"/>
              <a:cs typeface="Calibri"/>
              <a:sym typeface="Calibri"/>
            </a:endParaRPr>
          </a:p>
          <a:p>
            <a:pPr indent="0" lvl="0" marL="0" marR="0" rtl="0" algn="l">
              <a:lnSpc>
                <a:spcPct val="115000"/>
              </a:lnSpc>
              <a:spcBef>
                <a:spcPts val="1000"/>
              </a:spcBef>
              <a:spcAft>
                <a:spcPts val="0"/>
              </a:spcAft>
              <a:buClr>
                <a:schemeClr val="dk1"/>
              </a:buClr>
              <a:buSzPts val="2000"/>
              <a:buFont typeface="Arial"/>
              <a:buNone/>
            </a:pPr>
            <a:r>
              <a:t/>
            </a:r>
            <a:endParaRPr b="0" i="0" sz="2000" u="none" cap="none" strike="noStrike">
              <a:solidFill>
                <a:srgbClr val="FF0000"/>
              </a:solidFill>
              <a:latin typeface="Consolas"/>
              <a:ea typeface="Consolas"/>
              <a:cs typeface="Consolas"/>
              <a:sym typeface="Consolas"/>
            </a:endParaRPr>
          </a:p>
          <a:p>
            <a:pPr indent="0" lvl="0" marL="0" marR="0" rtl="0" algn="l">
              <a:lnSpc>
                <a:spcPct val="115000"/>
              </a:lnSpc>
              <a:spcBef>
                <a:spcPts val="1000"/>
              </a:spcBef>
              <a:spcAft>
                <a:spcPts val="0"/>
              </a:spcAft>
              <a:buClr>
                <a:srgbClr val="000000"/>
              </a:buClr>
              <a:buSzPts val="1600"/>
              <a:buFont typeface="Arial"/>
              <a:buNone/>
            </a:pPr>
            <a:r>
              <a:t/>
            </a:r>
            <a:endParaRPr b="1" i="1" sz="1600" u="none" cap="none" strike="noStrike">
              <a:solidFill>
                <a:srgbClr val="FF0000"/>
              </a:solidFill>
              <a:latin typeface="Consolas"/>
              <a:ea typeface="Consolas"/>
              <a:cs typeface="Consolas"/>
              <a:sym typeface="Consolas"/>
            </a:endParaRPr>
          </a:p>
        </p:txBody>
      </p:sp>
      <p:sp>
        <p:nvSpPr>
          <p:cNvPr id="260" name="Google Shape;260;g3243ccbddfa_0_73"/>
          <p:cNvSpPr txBox="1"/>
          <p:nvPr/>
        </p:nvSpPr>
        <p:spPr>
          <a:xfrm>
            <a:off x="361775" y="2086125"/>
            <a:ext cx="6956700" cy="2878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a:p>
            <a:pPr indent="0" lvl="0" marL="0" marR="0" rtl="0" algn="l">
              <a:lnSpc>
                <a:spcPct val="115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Answer: The time complexity to retrieve the minimum element using the Min Stack approach is constant, O(1). Since the minimum element is always stored at the top of the min stack, accessing it does not depend on the size of the main stack.</a:t>
            </a:r>
            <a:endParaRPr b="0" i="0" sz="1400" u="none" cap="none" strike="noStrike">
              <a:solidFill>
                <a:schemeClr val="dk1"/>
              </a:solidFill>
              <a:latin typeface="Arial"/>
              <a:ea typeface="Arial"/>
              <a:cs typeface="Arial"/>
              <a:sym typeface="Arial"/>
            </a:endParaRPr>
          </a:p>
          <a:p>
            <a:pPr indent="0" lvl="0" marL="0" marR="0" rtl="0" algn="l">
              <a:lnSpc>
                <a:spcPct val="200000"/>
              </a:lnSpc>
              <a:spcBef>
                <a:spcPts val="0"/>
              </a:spcBef>
              <a:spcAft>
                <a:spcPts val="0"/>
              </a:spcAft>
              <a:buClr>
                <a:srgbClr val="000000"/>
              </a:buClr>
              <a:buSzPts val="2000"/>
              <a:buFont typeface="Arial"/>
              <a:buNone/>
            </a:pPr>
            <a:r>
              <a:t/>
            </a:r>
            <a:endParaRPr b="0" i="0" sz="2000" u="none" cap="none" strike="noStrike">
              <a:solidFill>
                <a:srgbClr val="000000"/>
              </a:solidFill>
              <a:latin typeface="Consolas"/>
              <a:ea typeface="Consolas"/>
              <a:cs typeface="Consolas"/>
              <a:sym typeface="Consola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g3243ccbddfa_0_83"/>
          <p:cNvSpPr txBox="1"/>
          <p:nvPr/>
        </p:nvSpPr>
        <p:spPr>
          <a:xfrm>
            <a:off x="720725" y="369400"/>
            <a:ext cx="69567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3500"/>
              <a:buFont typeface="Arial"/>
              <a:buNone/>
            </a:pPr>
            <a:r>
              <a:rPr b="0" i="0" lang="en-GB" sz="1800" u="none" cap="none" strike="noStrike">
                <a:solidFill>
                  <a:srgbClr val="8182EF"/>
                </a:solidFill>
                <a:latin typeface="Roboto Black"/>
                <a:ea typeface="Roboto Black"/>
                <a:cs typeface="Roboto Black"/>
                <a:sym typeface="Roboto Black"/>
              </a:rPr>
              <a:t>                                      INTERVIEW QUESTIONS</a:t>
            </a:r>
            <a:endParaRPr b="0" i="0" sz="1700" u="none" cap="none" strike="noStrike">
              <a:solidFill>
                <a:srgbClr val="6D9EEB"/>
              </a:solidFill>
              <a:latin typeface="Roboto Black"/>
              <a:ea typeface="Roboto Black"/>
              <a:cs typeface="Roboto Black"/>
              <a:sym typeface="Roboto Black"/>
            </a:endParaRPr>
          </a:p>
        </p:txBody>
      </p:sp>
      <p:sp>
        <p:nvSpPr>
          <p:cNvPr id="266" name="Google Shape;266;g3243ccbddfa_0_83"/>
          <p:cNvSpPr txBox="1"/>
          <p:nvPr/>
        </p:nvSpPr>
        <p:spPr>
          <a:xfrm>
            <a:off x="300125" y="865050"/>
            <a:ext cx="77979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3. Does using the Min Stack approach increase the space complexity?</a:t>
            </a:r>
            <a:endParaRPr b="0" i="0" sz="20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rgbClr val="000000"/>
              </a:buClr>
              <a:buSzPts val="1600"/>
              <a:buFont typeface="Arial"/>
              <a:buNone/>
            </a:pPr>
            <a:r>
              <a:t/>
            </a:r>
            <a:endParaRPr b="1" i="1" sz="2000" u="none" cap="none" strike="noStrike">
              <a:solidFill>
                <a:srgbClr val="FF0000"/>
              </a:solidFill>
              <a:latin typeface="Consolas"/>
              <a:ea typeface="Consolas"/>
              <a:cs typeface="Consolas"/>
              <a:sym typeface="Consolas"/>
            </a:endParaRPr>
          </a:p>
        </p:txBody>
      </p:sp>
      <p:sp>
        <p:nvSpPr>
          <p:cNvPr id="267" name="Google Shape;267;g3243ccbddfa_0_83"/>
          <p:cNvSpPr txBox="1"/>
          <p:nvPr/>
        </p:nvSpPr>
        <p:spPr>
          <a:xfrm>
            <a:off x="383475" y="1869475"/>
            <a:ext cx="7372500" cy="31707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Answer: Yes, using the Min Stack approach increases the space complexity. In addition to the main stack, an extra stack (the min stack) is required to store the minimum elements. However, the space complexity remains proportional to the number of elements in the stack.</a:t>
            </a:r>
            <a:endParaRPr b="1" i="0" sz="2000" u="none" cap="none" strike="noStrike">
              <a:solidFill>
                <a:schemeClr val="dk1"/>
              </a:solidFill>
              <a:latin typeface="Consolas"/>
              <a:ea typeface="Consolas"/>
              <a:cs typeface="Consolas"/>
              <a:sym typeface="Consolas"/>
            </a:endParaRPr>
          </a:p>
          <a:p>
            <a:pPr indent="0" lvl="0" marL="0" marR="0" rtl="0" algn="l">
              <a:lnSpc>
                <a:spcPct val="150000"/>
              </a:lnSpc>
              <a:spcBef>
                <a:spcPts val="0"/>
              </a:spcBef>
              <a:spcAft>
                <a:spcPts val="0"/>
              </a:spcAft>
              <a:buClr>
                <a:srgbClr val="000000"/>
              </a:buClr>
              <a:buSzPts val="2000"/>
              <a:buFont typeface="Arial"/>
              <a:buNone/>
            </a:pPr>
            <a:r>
              <a:t/>
            </a:r>
            <a:endParaRPr b="0" i="0" sz="2000" u="none" cap="none" strike="noStrike">
              <a:solidFill>
                <a:srgbClr val="000000"/>
              </a:solidFill>
              <a:latin typeface="Consolas"/>
              <a:ea typeface="Consolas"/>
              <a:cs typeface="Consolas"/>
              <a:sym typeface="Consolas"/>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1fdec52c72_0_308"/>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73" name="Google Shape;273;g31fdec52c72_0_308"/>
          <p:cNvSpPr txBox="1"/>
          <p:nvPr/>
        </p:nvSpPr>
        <p:spPr>
          <a:xfrm>
            <a:off x="270675" y="962925"/>
            <a:ext cx="82776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4. How does the Min Stack approach handle scenarios when the minimum element is popped from the main stack?</a:t>
            </a:r>
            <a:endParaRPr b="0" i="0" sz="2000" u="none" cap="none" strike="noStrike">
              <a:solidFill>
                <a:srgbClr val="000000"/>
              </a:solidFill>
              <a:latin typeface="Calibri"/>
              <a:ea typeface="Calibri"/>
              <a:cs typeface="Calibri"/>
              <a:sym typeface="Calibri"/>
            </a:endParaRPr>
          </a:p>
        </p:txBody>
      </p:sp>
      <p:sp>
        <p:nvSpPr>
          <p:cNvPr id="274" name="Google Shape;274;g31fdec52c72_0_308"/>
          <p:cNvSpPr txBox="1"/>
          <p:nvPr/>
        </p:nvSpPr>
        <p:spPr>
          <a:xfrm>
            <a:off x="270673" y="1909950"/>
            <a:ext cx="7492200" cy="28782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Answer: When the minimum element is popped from the main stack, the Min Stack approach ensures consistency by also popping the corresponding minimum element from the min stack. This guarantees that the top of the min stack always represents the minimum element present in the main stack at any given time.</a:t>
            </a:r>
            <a:endParaRPr b="0" i="0" sz="20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chemeClr val="dk1"/>
              </a:buClr>
              <a:buSzPts val="2000"/>
              <a:buFont typeface="Arial"/>
              <a:buNone/>
            </a:pPr>
            <a:r>
              <a:t/>
            </a:r>
            <a:endParaRPr b="0" i="0" sz="2000" u="none" cap="none" strike="noStrike">
              <a:solidFill>
                <a:schemeClr val="dk1"/>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g3243a3cdda7_0_819"/>
          <p:cNvSpPr txBox="1"/>
          <p:nvPr/>
        </p:nvSpPr>
        <p:spPr>
          <a:xfrm>
            <a:off x="3315000" y="445600"/>
            <a:ext cx="32523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rPr b="0" i="0" lang="en-GB" sz="1800" u="none" cap="none" strike="noStrike">
                <a:solidFill>
                  <a:srgbClr val="8182EF"/>
                </a:solidFill>
                <a:latin typeface="Roboto Black"/>
                <a:ea typeface="Roboto Black"/>
                <a:cs typeface="Roboto Black"/>
                <a:sym typeface="Roboto Black"/>
              </a:rPr>
              <a:t>INTERVIEW QUESTIONS</a:t>
            </a:r>
            <a:endParaRPr b="0" i="0" sz="1800" u="none" cap="none" strike="noStrike">
              <a:solidFill>
                <a:srgbClr val="6D9EEB"/>
              </a:solidFill>
              <a:latin typeface="Roboto Black"/>
              <a:ea typeface="Roboto Black"/>
              <a:cs typeface="Roboto Black"/>
              <a:sym typeface="Roboto Black"/>
            </a:endParaRPr>
          </a:p>
        </p:txBody>
      </p:sp>
      <p:sp>
        <p:nvSpPr>
          <p:cNvPr id="280" name="Google Shape;280;g3243a3cdda7_0_819"/>
          <p:cNvSpPr txBox="1"/>
          <p:nvPr/>
        </p:nvSpPr>
        <p:spPr>
          <a:xfrm>
            <a:off x="0" y="1170000"/>
            <a:ext cx="8086800" cy="6099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rgbClr val="FF0000"/>
              </a:buClr>
              <a:buSzPts val="2000"/>
              <a:buFont typeface="Arial"/>
              <a:buNone/>
            </a:pPr>
            <a:r>
              <a:rPr b="0" i="1" lang="en-GB" sz="2000" u="none" cap="none" strike="noStrike">
                <a:solidFill>
                  <a:srgbClr val="FF0000"/>
                </a:solidFill>
                <a:latin typeface="Consolas"/>
                <a:ea typeface="Consolas"/>
                <a:cs typeface="Consolas"/>
                <a:sym typeface="Consolas"/>
              </a:rPr>
              <a:t>5. Can the Min Stack approach be used with any type of stack implementation?</a:t>
            </a:r>
            <a:endParaRPr b="0" i="0" sz="2000" u="none" cap="none" strike="noStrike">
              <a:solidFill>
                <a:schemeClr val="dk1"/>
              </a:solidFill>
              <a:latin typeface="Calibri"/>
              <a:ea typeface="Calibri"/>
              <a:cs typeface="Calibri"/>
              <a:sym typeface="Calibri"/>
            </a:endParaRPr>
          </a:p>
          <a:p>
            <a:pPr indent="0" lvl="0" marL="0" marR="0" rtl="0" algn="l">
              <a:lnSpc>
                <a:spcPct val="150000"/>
              </a:lnSpc>
              <a:spcBef>
                <a:spcPts val="1000"/>
              </a:spcBef>
              <a:spcAft>
                <a:spcPts val="0"/>
              </a:spcAft>
              <a:buClr>
                <a:schemeClr val="dk1"/>
              </a:buClr>
              <a:buSzPts val="2000"/>
              <a:buFont typeface="Arial"/>
              <a:buNone/>
            </a:pPr>
            <a:r>
              <a:t/>
            </a:r>
            <a:endParaRPr b="0" i="1" sz="2000" u="none" cap="none" strike="noStrike">
              <a:solidFill>
                <a:srgbClr val="FF0000"/>
              </a:solidFill>
              <a:latin typeface="Consolas"/>
              <a:ea typeface="Consolas"/>
              <a:cs typeface="Consolas"/>
              <a:sym typeface="Consolas"/>
            </a:endParaRPr>
          </a:p>
          <a:p>
            <a:pPr indent="0" lvl="0" marL="0" marR="0" rtl="0" algn="l">
              <a:lnSpc>
                <a:spcPct val="115000"/>
              </a:lnSpc>
              <a:spcBef>
                <a:spcPts val="1000"/>
              </a:spcBef>
              <a:spcAft>
                <a:spcPts val="0"/>
              </a:spcAft>
              <a:buClr>
                <a:srgbClr val="000000"/>
              </a:buClr>
              <a:buSzPts val="1600"/>
              <a:buFont typeface="Arial"/>
              <a:buNone/>
            </a:pPr>
            <a:r>
              <a:t/>
            </a:r>
            <a:endParaRPr b="0" i="0" sz="2000" u="none" cap="none" strike="noStrike">
              <a:solidFill>
                <a:schemeClr val="dk1"/>
              </a:solidFill>
              <a:latin typeface="Consolas"/>
              <a:ea typeface="Consolas"/>
              <a:cs typeface="Consolas"/>
              <a:sym typeface="Consolas"/>
            </a:endParaRPr>
          </a:p>
        </p:txBody>
      </p:sp>
      <p:sp>
        <p:nvSpPr>
          <p:cNvPr id="281" name="Google Shape;281;g3243a3cdda7_0_819"/>
          <p:cNvSpPr txBox="1"/>
          <p:nvPr/>
        </p:nvSpPr>
        <p:spPr>
          <a:xfrm>
            <a:off x="142900" y="2298775"/>
            <a:ext cx="8380200" cy="2647500"/>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2000"/>
              <a:buFont typeface="Arial"/>
              <a:buNone/>
            </a:pPr>
            <a:r>
              <a:rPr b="0" i="0" lang="en-GB" sz="2000" u="none" cap="none" strike="noStrike">
                <a:solidFill>
                  <a:schemeClr val="dk1"/>
                </a:solidFill>
                <a:latin typeface="Consolas"/>
                <a:ea typeface="Consolas"/>
                <a:cs typeface="Consolas"/>
                <a:sym typeface="Consolas"/>
              </a:rPr>
              <a:t>Answer: Yes, the Min Stack approach can be used with any type of stack implementation, whether it’s implemented using an array or a linked list. The key idea is to maintain a separate stack for tracking the minimum elements alongside the main stack.</a:t>
            </a:r>
            <a:endParaRPr b="0" i="0" sz="1400" u="none" cap="none" strike="noStrike">
              <a:solidFill>
                <a:schemeClr val="dk1"/>
              </a:solidFill>
              <a:latin typeface="Arial"/>
              <a:ea typeface="Arial"/>
              <a:cs typeface="Arial"/>
              <a:sym typeface="Arial"/>
            </a:endParaRPr>
          </a:p>
          <a:p>
            <a:pPr indent="0" lvl="0" marL="0" marR="0" rtl="0" algn="l">
              <a:lnSpc>
                <a:spcPct val="150000"/>
              </a:lnSpc>
              <a:spcBef>
                <a:spcPts val="0"/>
              </a:spcBef>
              <a:spcAft>
                <a:spcPts val="0"/>
              </a:spcAft>
              <a:buClr>
                <a:schemeClr val="dk1"/>
              </a:buClr>
              <a:buSzPts val="2000"/>
              <a:buFont typeface="Arial"/>
              <a:buNone/>
            </a:pPr>
            <a:r>
              <a:t/>
            </a:r>
            <a:endParaRPr b="0" i="0" sz="1600" u="none" cap="none" strike="noStrike">
              <a:solidFill>
                <a:schemeClr val="dk1"/>
              </a:solidFill>
              <a:latin typeface="Consolas"/>
              <a:ea typeface="Consolas"/>
              <a:cs typeface="Consolas"/>
              <a:sym typeface="Consola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4"/>
          <p:cNvSpPr/>
          <p:nvPr/>
        </p:nvSpPr>
        <p:spPr>
          <a:xfrm>
            <a:off x="532420" y="1439990"/>
            <a:ext cx="7545000" cy="831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pic>
        <p:nvPicPr>
          <p:cNvPr id="287" name="Google Shape;287;p4"/>
          <p:cNvPicPr preferRelativeResize="0"/>
          <p:nvPr/>
        </p:nvPicPr>
        <p:blipFill rotWithShape="1">
          <a:blip r:embed="rId3">
            <a:alphaModFix/>
          </a:blip>
          <a:srcRect b="0" l="0" r="0" t="0"/>
          <a:stretch/>
        </p:blipFill>
        <p:spPr>
          <a:xfrm>
            <a:off x="2739687" y="1038566"/>
            <a:ext cx="2855119" cy="2888456"/>
          </a:xfrm>
          <a:prstGeom prst="rect">
            <a:avLst/>
          </a:prstGeom>
          <a:noFill/>
          <a:ln>
            <a:noFill/>
          </a:ln>
        </p:spPr>
      </p:pic>
      <p:sp>
        <p:nvSpPr>
          <p:cNvPr id="288" name="Google Shape;288;p4"/>
          <p:cNvSpPr/>
          <p:nvPr/>
        </p:nvSpPr>
        <p:spPr>
          <a:xfrm>
            <a:off x="1634729" y="4055269"/>
            <a:ext cx="5184000" cy="284700"/>
          </a:xfrm>
          <a:prstGeom prst="rect">
            <a:avLst/>
          </a:prstGeom>
          <a:noFill/>
          <a:ln>
            <a:noFill/>
          </a:ln>
        </p:spPr>
        <p:txBody>
          <a:bodyPr anchorCtr="0" anchor="ctr" bIns="82925" lIns="81625" spcFirstLastPara="1" rIns="81625" wrap="square" tIns="82925">
            <a:noAutofit/>
          </a:bodyPr>
          <a:lstStyle/>
          <a:p>
            <a:pPr indent="0" lvl="0" marL="0" marR="0" rtl="0" algn="ctr">
              <a:lnSpc>
                <a:spcPct val="100000"/>
              </a:lnSpc>
              <a:spcBef>
                <a:spcPts val="0"/>
              </a:spcBef>
              <a:spcAft>
                <a:spcPts val="0"/>
              </a:spcAft>
              <a:buClr>
                <a:srgbClr val="000000"/>
              </a:buClr>
              <a:buSzPts val="1200"/>
              <a:buFont typeface="Arial"/>
              <a:buNone/>
            </a:pPr>
            <a:r>
              <a:rPr b="0" i="0" lang="en-GB" sz="1200" u="sng" cap="none" strike="noStrike">
                <a:solidFill>
                  <a:srgbClr val="666666"/>
                </a:solidFill>
                <a:latin typeface="Roboto"/>
                <a:ea typeface="Roboto"/>
                <a:cs typeface="Roboto"/>
                <a:sym typeface="Roboto"/>
                <a:hlinkClick r:id="rId4">
                  <a:extLst>
                    <a:ext uri="{A12FA001-AC4F-418D-AE19-62706E023703}">
                      <ahyp:hlinkClr val="tx"/>
                    </a:ext>
                  </a:extLst>
                </a:hlinkClick>
              </a:rPr>
              <a:t>https://learn.codemithra.com</a:t>
            </a:r>
            <a:endParaRPr b="0" i="0" sz="1200" u="none" cap="none" strike="noStrike">
              <a:solidFill>
                <a:srgbClr val="666666"/>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200"/>
              <a:buFont typeface="Arial"/>
              <a:buNone/>
            </a:pPr>
            <a:r>
              <a:t/>
            </a:r>
            <a:endParaRPr b="0" i="0" sz="1200" u="none" cap="none" strike="noStrike">
              <a:solidFill>
                <a:srgbClr val="000000"/>
              </a:solidFill>
              <a:latin typeface="Roboto"/>
              <a:ea typeface="Roboto"/>
              <a:cs typeface="Roboto"/>
              <a:sym typeface="Robo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t/>
            </a:r>
            <a:endParaRPr/>
          </a:p>
        </p:txBody>
      </p:sp>
      <p:sp>
        <p:nvSpPr>
          <p:cNvPr id="294" name="Google Shape;294;p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342900" lvl="0" marL="457200" rtl="0" algn="ctr">
              <a:lnSpc>
                <a:spcPct val="100000"/>
              </a:lnSpc>
              <a:spcBef>
                <a:spcPts val="0"/>
              </a:spcBef>
              <a:spcAft>
                <a:spcPts val="0"/>
              </a:spcAft>
              <a:buSzPts val="2800"/>
              <a:buNone/>
            </a:pPr>
            <a:r>
              <a:t/>
            </a:r>
            <a:endParaRPr/>
          </a:p>
        </p:txBody>
      </p:sp>
      <p:pic>
        <p:nvPicPr>
          <p:cNvPr id="295" name="Google Shape;295;p5"/>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296" name="Google Shape;296;p5"/>
          <p:cNvSpPr txBox="1"/>
          <p:nvPr/>
        </p:nvSpPr>
        <p:spPr>
          <a:xfrm>
            <a:off x="3141000" y="2194650"/>
            <a:ext cx="2862000" cy="753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a:ea typeface="Roboto"/>
                <a:cs typeface="Roboto"/>
                <a:sym typeface="Roboto"/>
              </a:rPr>
              <a:t>THANK YOU</a:t>
            </a:r>
            <a:endParaRPr b="0" i="0" sz="3700" u="none" cap="none" strike="noStrike">
              <a:solidFill>
                <a:schemeClr val="lt1"/>
              </a:solidFill>
              <a:latin typeface="Roboto"/>
              <a:ea typeface="Roboto"/>
              <a:cs typeface="Roboto"/>
              <a:sym typeface="Roboto"/>
            </a:endParaRPr>
          </a:p>
        </p:txBody>
      </p:sp>
      <p:pic>
        <p:nvPicPr>
          <p:cNvPr id="297" name="Google Shape;297;p5"/>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298" name="Google Shape;298;p5"/>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299" name="Google Shape;299;p5"/>
          <p:cNvSpPr txBox="1"/>
          <p:nvPr/>
        </p:nvSpPr>
        <p:spPr>
          <a:xfrm>
            <a:off x="1980750" y="4590801"/>
            <a:ext cx="11871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+91 78150 95095</a:t>
            </a:r>
            <a:endParaRPr b="0" i="0" sz="1000" u="none" cap="none" strike="noStrike">
              <a:solidFill>
                <a:schemeClr val="lt1"/>
              </a:solidFill>
              <a:latin typeface="Roboto"/>
              <a:ea typeface="Roboto"/>
              <a:cs typeface="Roboto"/>
              <a:sym typeface="Roboto"/>
            </a:endParaRPr>
          </a:p>
        </p:txBody>
      </p:sp>
      <p:cxnSp>
        <p:nvCxnSpPr>
          <p:cNvPr id="300" name="Google Shape;300;p5"/>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01" name="Google Shape;301;p5"/>
          <p:cNvSpPr txBox="1"/>
          <p:nvPr/>
        </p:nvSpPr>
        <p:spPr>
          <a:xfrm>
            <a:off x="3519050"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codemithra@ethnus.com</a:t>
            </a:r>
            <a:endParaRPr b="0" i="0" sz="1000" u="none" cap="none" strike="noStrike">
              <a:solidFill>
                <a:schemeClr val="lt1"/>
              </a:solidFill>
              <a:latin typeface="Roboto"/>
              <a:ea typeface="Roboto"/>
              <a:cs typeface="Roboto"/>
              <a:sym typeface="Roboto"/>
            </a:endParaRPr>
          </a:p>
        </p:txBody>
      </p:sp>
      <p:pic>
        <p:nvPicPr>
          <p:cNvPr id="302" name="Google Shape;302;p5"/>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03" name="Google Shape;303;p5"/>
          <p:cNvSpPr txBox="1"/>
          <p:nvPr/>
        </p:nvSpPr>
        <p:spPr>
          <a:xfrm>
            <a:off x="5457275" y="4590801"/>
            <a:ext cx="1934700" cy="338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a:ea typeface="Roboto"/>
                <a:cs typeface="Roboto"/>
                <a:sym typeface="Roboto"/>
              </a:rPr>
              <a:t>www.codemithra.com</a:t>
            </a:r>
            <a:endParaRPr b="0" i="0" sz="1000" u="none" cap="none" strike="noStrike">
              <a:solidFill>
                <a:schemeClr val="lt1"/>
              </a:solidFill>
              <a:latin typeface="Roboto"/>
              <a:ea typeface="Roboto"/>
              <a:cs typeface="Roboto"/>
              <a:sym typeface="Roboto"/>
            </a:endParaRPr>
          </a:p>
        </p:txBody>
      </p:sp>
      <p:cxnSp>
        <p:nvCxnSpPr>
          <p:cNvPr id="304" name="Google Shape;304;p5"/>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