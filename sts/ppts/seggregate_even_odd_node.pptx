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y="5143500" cx="9144000"/>
  <p:notesSz cx="6858000" cy="9144000"/>
  <p:embeddedFontLst>
    <p:embeddedFont>
      <p:font typeface="Roboto Black"/>
      <p:bold r:id="rId30"/>
      <p:boldItalic r:id="rId31"/>
    </p:embeddedFont>
    <p:embeddedFont>
      <p:font typeface="Robot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sldGuideLst>
    </p:ext>
    <p:ext uri="GoogleSlidesCustomDataVersion2">
      <go:slidesCustomData xmlns:go="http://customooxmlschemas.google.com/" r:id="rId36" roundtripDataSignature="AMtx7mgGxomS1NJ78USsIzKgGiPUCTik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3D61CF2-8780-4E0F-910A-4C4CCC0E5B09}">
  <a:tblStyle styleId="{53D61CF2-8780-4E0F-910A-4C4CCC0E5B09}"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rgbClr val="FFFFFF"/>
      </a:tcTxStyle>
      <a:tcStyle>
        <a:fill>
          <a:solidFill>
            <a:srgbClr val="4472C4"/>
          </a:solidFill>
        </a:fill>
      </a:tcStyle>
    </a:lastCol>
    <a:firstCol>
      <a:tcTxStyle b="on" i="off">
        <a:font>
          <a:latin typeface="Calibri"/>
          <a:ea typeface="Calibri"/>
          <a:cs typeface="Calibri"/>
        </a:font>
        <a:srgbClr val="FFFFFF"/>
      </a:tcTxStyle>
      <a:tcStyle>
        <a:fill>
          <a:solidFill>
            <a:srgbClr val="4472C4"/>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472C4"/>
          </a:solidFill>
        </a:fill>
      </a:tcStyle>
    </a:lastRow>
    <a:seCell>
      <a:tcTxStyle b="off" i="off"/>
    </a:seCell>
    <a:swCell>
      <a:tcTxStyle b="off" i="off"/>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472C4"/>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755" orient="horz"/>
        <p:guide pos="907" orient="horz"/>
        <p:guide pos="5272"/>
        <p:guide pos="737" orient="horz"/>
        <p:guide pos="397"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Black-boldItalic.fntdata"/><Relationship Id="rId30" Type="http://schemas.openxmlformats.org/officeDocument/2006/relationships/font" Target="fonts/RobotoBlack-bold.fntdata"/><Relationship Id="rId11" Type="http://schemas.openxmlformats.org/officeDocument/2006/relationships/slide" Target="slides/slide4.xml"/><Relationship Id="rId33" Type="http://schemas.openxmlformats.org/officeDocument/2006/relationships/font" Target="fonts/Roboto-bold.fntdata"/><Relationship Id="rId10" Type="http://schemas.openxmlformats.org/officeDocument/2006/relationships/slide" Target="slides/slide3.xml"/><Relationship Id="rId32" Type="http://schemas.openxmlformats.org/officeDocument/2006/relationships/font" Target="fonts/Roboto-regular.fntdata"/><Relationship Id="rId13" Type="http://schemas.openxmlformats.org/officeDocument/2006/relationships/slide" Target="slides/slide6.xml"/><Relationship Id="rId35" Type="http://schemas.openxmlformats.org/officeDocument/2006/relationships/font" Target="fonts/Roboto-boldItalic.fntdata"/><Relationship Id="rId12" Type="http://schemas.openxmlformats.org/officeDocument/2006/relationships/slide" Target="slides/slide5.xml"/><Relationship Id="rId34" Type="http://schemas.openxmlformats.org/officeDocument/2006/relationships/font" Target="fonts/Roboto-italic.fntdata"/><Relationship Id="rId15" Type="http://schemas.openxmlformats.org/officeDocument/2006/relationships/slide" Target="slides/slide8.xml"/><Relationship Id="rId14" Type="http://schemas.openxmlformats.org/officeDocument/2006/relationships/slide" Target="slides/slide7.xml"/><Relationship Id="rId36" Type="http://customschemas.google.com/relationships/presentationmetadata" Target="meta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560d01ef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a560d01ef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4337fc5d25_0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3" name="Google Shape;113;g14337fc5d25_0_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243ccbddf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21" name="Google Shape;121;g3243ccbddf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243ccbddfa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28" name="Google Shape;128;g3243ccbddfa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243ccbddfa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36" name="Google Shape;136;g3243ccbddfa_0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243ccbddfa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43" name="Google Shape;143;g3243ccbddfa_0_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243ccbddfa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8" name="Google Shape;168;g3243ccbddfa_0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243ccbddfa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4" name="Google Shape;174;g3243ccbddfa_0_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243ccbddfa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81" name="Google Shape;181;g3243ccbddfa_0_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243ccbddfa_0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87" name="Google Shape;187;g3243ccbddfa_0_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243ccbddfa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93" name="Google Shape;193;g3243ccbddfa_0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243ccbddfa_0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99" name="Google Shape;199;g3243ccbddfa_0_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1fe56d80bc_0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05" name="Google Shape;205;g31fe56d80bc_0_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243ccbddfa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12" name="Google Shape;212;g3243ccbddfa_0_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243ccbddfa_0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19" name="Google Shape;219;g3243ccbddfa_0_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1fdec52c72_0_3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26" name="Google Shape;226;g31fdec52c72_0_3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243a3cdda7_0_8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33" name="Google Shape;233;g3243a3cdda7_0_8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243a3cdda7_0_8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40" name="Google Shape;240;g3243a3cdda7_0_8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4: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 name="Google Shape;247;p4: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g14337fc5d25_0_2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14337fc5d25_0_2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g14337fc5d25_0_2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g14337fc5d25_0_2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14337fc5d25_0_2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 name="Shape 22"/>
        <p:cNvGrpSpPr/>
        <p:nvPr/>
      </p:nvGrpSpPr>
      <p:grpSpPr>
        <a:xfrm>
          <a:off x="0" y="0"/>
          <a:ext cx="0" cy="0"/>
          <a:chOff x="0" y="0"/>
          <a:chExt cx="0" cy="0"/>
        </a:xfrm>
      </p:grpSpPr>
      <p:sp>
        <p:nvSpPr>
          <p:cNvPr id="23" name="Google Shape;23;g14337fc5d25_0_23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 name="Google Shape;24;g14337fc5d25_0_2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g14337fc5d25_0_2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7" name="Google Shape;27;g14337fc5d25_0_2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8" name="Google Shape;28;g14337fc5d25_0_2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 name="Google Shape;29;g14337fc5d25_0_2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0" name="Google Shape;30;g14337fc5d25_0_2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 name="Shape 31"/>
        <p:cNvGrpSpPr/>
        <p:nvPr/>
      </p:nvGrpSpPr>
      <p:grpSpPr>
        <a:xfrm>
          <a:off x="0" y="0"/>
          <a:ext cx="0" cy="0"/>
          <a:chOff x="0" y="0"/>
          <a:chExt cx="0" cy="0"/>
        </a:xfrm>
      </p:grpSpPr>
      <p:sp>
        <p:nvSpPr>
          <p:cNvPr id="32" name="Google Shape;32;g14337fc5d25_0_2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3" name="Google Shape;33;g14337fc5d25_0_2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g14337fc5d25_0_2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6" name="Google Shape;36;g14337fc5d25_0_2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37" name="Google Shape;37;g14337fc5d25_0_2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38" name="Shape 38"/>
        <p:cNvGrpSpPr/>
        <p:nvPr/>
      </p:nvGrpSpPr>
      <p:grpSpPr>
        <a:xfrm>
          <a:off x="0" y="0"/>
          <a:ext cx="0" cy="0"/>
          <a:chOff x="0" y="0"/>
          <a:chExt cx="0" cy="0"/>
        </a:xfrm>
      </p:grpSpPr>
      <p:pic>
        <p:nvPicPr>
          <p:cNvPr descr="A close up of a logo&#10;&#10;Description generated with high confidence" id="39" name="Google Shape;39;g14337fc5d25_0_25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0" name="Google Shape;40;g14337fc5d25_0_25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1" name="Google Shape;41;g14337fc5d25_0_25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2" name="Google Shape;42;g14337fc5d25_0_25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3" name="Google Shape;43;g14337fc5d25_0_25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9" name="Shape 49"/>
        <p:cNvGrpSpPr/>
        <p:nvPr/>
      </p:nvGrpSpPr>
      <p:grpSpPr>
        <a:xfrm>
          <a:off x="0" y="0"/>
          <a:ext cx="0" cy="0"/>
          <a:chOff x="0" y="0"/>
          <a:chExt cx="0" cy="0"/>
        </a:xfrm>
      </p:grpSpPr>
      <p:sp>
        <p:nvSpPr>
          <p:cNvPr id="50" name="Google Shape;50;g14337fc5d25_0_8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1" name="Google Shape;51;g14337fc5d25_0_8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2" name="Google Shape;52;g14337fc5d25_0_8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3" name="Google Shape;53;g14337fc5d25_0_8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 name="Google Shape;56;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58" name="Shape 58"/>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9" name="Shape 59"/>
        <p:cNvGrpSpPr/>
        <p:nvPr/>
      </p:nvGrpSpPr>
      <p:grpSpPr>
        <a:xfrm>
          <a:off x="0" y="0"/>
          <a:ext cx="0" cy="0"/>
          <a:chOff x="0" y="0"/>
          <a:chExt cx="0" cy="0"/>
        </a:xfrm>
      </p:grpSpPr>
      <p:sp>
        <p:nvSpPr>
          <p:cNvPr id="60" name="Google Shape;60;g14337fc5d25_0_84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1" name="Google Shape;61;g14337fc5d25_0_8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sp>
        <p:nvSpPr>
          <p:cNvPr id="63" name="Google Shape;63;g14337fc5d25_0_8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4" name="Google Shape;64;g14337fc5d25_0_8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5" name="Shape 65"/>
        <p:cNvGrpSpPr/>
        <p:nvPr/>
      </p:nvGrpSpPr>
      <p:grpSpPr>
        <a:xfrm>
          <a:off x="0" y="0"/>
          <a:ext cx="0" cy="0"/>
          <a:chOff x="0" y="0"/>
          <a:chExt cx="0" cy="0"/>
        </a:xfrm>
      </p:grpSpPr>
      <p:sp>
        <p:nvSpPr>
          <p:cNvPr id="66" name="Google Shape;66;g14337fc5d25_0_85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7" name="Google Shape;67;g14337fc5d25_0_85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68" name="Google Shape;68;g14337fc5d25_0_8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sp>
        <p:nvSpPr>
          <p:cNvPr id="70" name="Google Shape;70;g14337fc5d25_0_86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1" name="Google Shape;71;g14337fc5d25_0_8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2" name="Shape 72"/>
        <p:cNvGrpSpPr/>
        <p:nvPr/>
      </p:nvGrpSpPr>
      <p:grpSpPr>
        <a:xfrm>
          <a:off x="0" y="0"/>
          <a:ext cx="0" cy="0"/>
          <a:chOff x="0" y="0"/>
          <a:chExt cx="0" cy="0"/>
        </a:xfrm>
      </p:grpSpPr>
      <p:sp>
        <p:nvSpPr>
          <p:cNvPr id="73" name="Google Shape;73;g14337fc5d25_0_86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74" name="Google Shape;74;g14337fc5d25_0_86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75" name="Google Shape;75;g14337fc5d25_0_86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6" name="Google Shape;76;g14337fc5d25_0_86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77" name="Google Shape;77;g14337fc5d25_0_8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8" name="Shape 78"/>
        <p:cNvGrpSpPr/>
        <p:nvPr/>
      </p:nvGrpSpPr>
      <p:grpSpPr>
        <a:xfrm>
          <a:off x="0" y="0"/>
          <a:ext cx="0" cy="0"/>
          <a:chOff x="0" y="0"/>
          <a:chExt cx="0" cy="0"/>
        </a:xfrm>
      </p:grpSpPr>
      <p:sp>
        <p:nvSpPr>
          <p:cNvPr id="79" name="Google Shape;79;g14337fc5d25_0_87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80" name="Google Shape;80;g14337fc5d25_0_8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1" name="Shape 81"/>
        <p:cNvGrpSpPr/>
        <p:nvPr/>
      </p:nvGrpSpPr>
      <p:grpSpPr>
        <a:xfrm>
          <a:off x="0" y="0"/>
          <a:ext cx="0" cy="0"/>
          <a:chOff x="0" y="0"/>
          <a:chExt cx="0" cy="0"/>
        </a:xfrm>
      </p:grpSpPr>
      <p:sp>
        <p:nvSpPr>
          <p:cNvPr id="82" name="Google Shape;82;g14337fc5d25_0_87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83" name="Google Shape;83;g14337fc5d25_0_87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84" name="Google Shape;84;g14337fc5d25_0_8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5" name="Shape 85"/>
        <p:cNvGrpSpPr/>
        <p:nvPr/>
      </p:nvGrpSpPr>
      <p:grpSpPr>
        <a:xfrm>
          <a:off x="0" y="0"/>
          <a:ext cx="0" cy="0"/>
          <a:chOff x="0" y="0"/>
          <a:chExt cx="0" cy="0"/>
        </a:xfrm>
      </p:grpSpPr>
      <p:sp>
        <p:nvSpPr>
          <p:cNvPr id="86" name="Google Shape;86;g14337fc5d25_0_8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8.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9.xml"/><Relationship Id="rId10" Type="http://schemas.openxmlformats.org/officeDocument/2006/relationships/slideLayout" Target="../slideLayouts/slideLayout18.xml"/><Relationship Id="rId13" Type="http://schemas.openxmlformats.org/officeDocument/2006/relationships/theme" Target="../theme/theme1.xml"/><Relationship Id="rId12" Type="http://schemas.openxmlformats.org/officeDocument/2006/relationships/slideLayout" Target="../slideLayouts/slideLayout20.xml"/><Relationship Id="rId1" Type="http://schemas.openxmlformats.org/officeDocument/2006/relationships/image" Target="../media/image8.jpg"/><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14337fc5d25_0_2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4337fc5d25_0_2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4337fc5d25_0_2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g14337fc5d25_0_22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4" name="Shape 44"/>
        <p:cNvGrpSpPr/>
        <p:nvPr/>
      </p:nvGrpSpPr>
      <p:grpSpPr>
        <a:xfrm>
          <a:off x="0" y="0"/>
          <a:ext cx="0" cy="0"/>
          <a:chOff x="0" y="0"/>
          <a:chExt cx="0" cy="0"/>
        </a:xfrm>
      </p:grpSpPr>
      <p:sp>
        <p:nvSpPr>
          <p:cNvPr id="45" name="Google Shape;45;g14337fc5d25_0_8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46" name="Google Shape;46;g14337fc5d25_0_8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47" name="Google Shape;47;g14337fc5d25_0_8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48" name="Google Shape;48;g14337fc5d25_0_837"/>
          <p:cNvPicPr preferRelativeResize="0"/>
          <p:nvPr/>
        </p:nvPicPr>
        <p:blipFill rotWithShape="1">
          <a:blip r:embed="rId1">
            <a:alphaModFix/>
          </a:blip>
          <a:srcRect b="0" l="0" r="0" t="0"/>
          <a:stretch/>
        </p:blipFill>
        <p:spPr>
          <a:xfrm>
            <a:off x="-1" y="7219"/>
            <a:ext cx="9144003"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9.png"/><Relationship Id="rId5"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forms.gle/3BybjYD1x4CNBmC78" TargetMode="Externa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hyperlink" Target="https://learn.codemithra.com/"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5.jpg"/><Relationship Id="rId4" Type="http://schemas.openxmlformats.org/officeDocument/2006/relationships/image" Target="../media/image6.png"/><Relationship Id="rId5" Type="http://schemas.openxmlformats.org/officeDocument/2006/relationships/image" Target="../media/image13.png"/><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92" name="Google Shape;92;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93" name="Google Shape;93;p2"/>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94" name="Google Shape;94;p2"/>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95" name="Google Shape;95;p2"/>
          <p:cNvPicPr preferRelativeResize="0"/>
          <p:nvPr/>
        </p:nvPicPr>
        <p:blipFill rotWithShape="1">
          <a:blip r:embed="rId5">
            <a:alphaModFix/>
          </a:blip>
          <a:srcRect b="0" l="0" r="0" t="0"/>
          <a:stretch/>
        </p:blipFill>
        <p:spPr>
          <a:xfrm>
            <a:off x="231752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01" name="Google Shape;10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02" name="Google Shape;102;p3"/>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03" name="Google Shape;103;p3"/>
          <p:cNvSpPr txBox="1"/>
          <p:nvPr/>
        </p:nvSpPr>
        <p:spPr>
          <a:xfrm>
            <a:off x="140951" y="2260382"/>
            <a:ext cx="4690800" cy="1031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4800"/>
              <a:buFont typeface="Arial"/>
              <a:buNone/>
            </a:pPr>
            <a:r>
              <a:rPr b="1" i="0" lang="en-GB" sz="1700" u="none" cap="none" strike="noStrike">
                <a:solidFill>
                  <a:schemeClr val="lt1"/>
                </a:solidFill>
                <a:latin typeface="Consolas"/>
                <a:ea typeface="Consolas"/>
                <a:cs typeface="Consolas"/>
                <a:sym typeface="Consolas"/>
              </a:rPr>
              <a:t>SEGREGATE EVEN AND ODD NODES IN A LINKED LIST</a:t>
            </a:r>
            <a:endParaRPr b="1" i="0" sz="1700" u="none" cap="none" strike="noStrike">
              <a:solidFill>
                <a:schemeClr val="lt1"/>
              </a:solidFill>
              <a:latin typeface="Consolas"/>
              <a:ea typeface="Consolas"/>
              <a:cs typeface="Consolas"/>
              <a:sym typeface="Consolas"/>
            </a:endParaRPr>
          </a:p>
          <a:p>
            <a:pPr indent="0" lvl="0" marL="0" marR="0" rtl="0" algn="ctr">
              <a:lnSpc>
                <a:spcPct val="100000"/>
              </a:lnSpc>
              <a:spcBef>
                <a:spcPts val="0"/>
              </a:spcBef>
              <a:spcAft>
                <a:spcPts val="0"/>
              </a:spcAft>
              <a:buClr>
                <a:schemeClr val="dk1"/>
              </a:buClr>
              <a:buSzPts val="6000"/>
              <a:buFont typeface="Arial"/>
              <a:buNone/>
            </a:pPr>
            <a:r>
              <a:t/>
            </a:r>
            <a:endParaRPr b="1" i="0" sz="2100" u="none" cap="none" strike="noStrike">
              <a:solidFill>
                <a:schemeClr val="lt1"/>
              </a:solidFill>
              <a:latin typeface="Consolas"/>
              <a:ea typeface="Consolas"/>
              <a:cs typeface="Consolas"/>
              <a:sym typeface="Consola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a560d01ef1_0_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600">
                <a:latin typeface="Consolas"/>
                <a:ea typeface="Consolas"/>
                <a:cs typeface="Consolas"/>
                <a:sym typeface="Consolas"/>
              </a:rPr>
              <a:t>Test time on Sort the bitonic in Doubly LL</a:t>
            </a:r>
            <a:endParaRPr sz="2600">
              <a:latin typeface="Consolas"/>
              <a:ea typeface="Consolas"/>
              <a:cs typeface="Consolas"/>
              <a:sym typeface="Consolas"/>
            </a:endParaRPr>
          </a:p>
        </p:txBody>
      </p:sp>
      <p:sp>
        <p:nvSpPr>
          <p:cNvPr id="109" name="Google Shape;109;g3a560d01ef1_0_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Url: </a:t>
            </a:r>
            <a:r>
              <a:rPr lang="en-GB" u="sng">
                <a:solidFill>
                  <a:schemeClr val="hlink"/>
                </a:solidFill>
                <a:hlinkClick r:id="rId3"/>
              </a:rPr>
              <a:t>https://forms.gle/3BybjYD1x4CNBmC78</a:t>
            </a:r>
            <a:endParaRPr/>
          </a:p>
        </p:txBody>
      </p:sp>
      <p:pic>
        <p:nvPicPr>
          <p:cNvPr id="110" name="Google Shape;110;g3a560d01ef1_0_0" title="SortTheBitonicinDLL.png"/>
          <p:cNvPicPr preferRelativeResize="0"/>
          <p:nvPr/>
        </p:nvPicPr>
        <p:blipFill>
          <a:blip r:embed="rId4">
            <a:alphaModFix/>
          </a:blip>
          <a:stretch>
            <a:fillRect/>
          </a:stretch>
        </p:blipFill>
        <p:spPr>
          <a:xfrm>
            <a:off x="2798825" y="1838300"/>
            <a:ext cx="2730575" cy="2730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14337fc5d25_0_216"/>
          <p:cNvSpPr txBox="1"/>
          <p:nvPr/>
        </p:nvSpPr>
        <p:spPr>
          <a:xfrm>
            <a:off x="720725" y="445600"/>
            <a:ext cx="69567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8182EF"/>
                </a:solidFill>
                <a:latin typeface="Consolas"/>
                <a:ea typeface="Consolas"/>
                <a:cs typeface="Consolas"/>
                <a:sym typeface="Consolas"/>
              </a:rPr>
              <a:t>SEGREGATE EVEN AND ODD NODES IN A LINKED LIST</a:t>
            </a:r>
            <a:endParaRPr b="0" i="0" sz="1800" u="none" cap="none" strike="noStrike">
              <a:solidFill>
                <a:srgbClr val="8182EF"/>
              </a:solidFill>
              <a:latin typeface="Roboto Black"/>
              <a:ea typeface="Roboto Black"/>
              <a:cs typeface="Roboto Black"/>
              <a:sym typeface="Roboto Black"/>
            </a:endParaRPr>
          </a:p>
        </p:txBody>
      </p:sp>
      <p:sp>
        <p:nvSpPr>
          <p:cNvPr id="116" name="Google Shape;116;g14337fc5d25_0_216"/>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
        <p:nvSpPr>
          <p:cNvPr id="117" name="Google Shape;117;g14337fc5d25_0_216"/>
          <p:cNvSpPr txBox="1"/>
          <p:nvPr/>
        </p:nvSpPr>
        <p:spPr>
          <a:xfrm>
            <a:off x="259500" y="1529150"/>
            <a:ext cx="8628000" cy="3048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Consolas"/>
              <a:buChar char="●"/>
            </a:pPr>
            <a:r>
              <a:rPr lang="en-GB" sz="1800">
                <a:solidFill>
                  <a:schemeClr val="dk1"/>
                </a:solidFill>
                <a:latin typeface="Consolas"/>
                <a:ea typeface="Consolas"/>
                <a:cs typeface="Consolas"/>
                <a:sym typeface="Consolas"/>
              </a:rPr>
              <a:t>To segregate even and odd nodes in a singly linked list, you can create two separate linked list, you can create two separate linked list: one for even nodes and one for odd nodes.</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t/>
            </a:r>
            <a:endParaRPr sz="1800">
              <a:solidFill>
                <a:schemeClr val="dk1"/>
              </a:solidFill>
              <a:latin typeface="Consolas"/>
              <a:ea typeface="Consolas"/>
              <a:cs typeface="Consolas"/>
              <a:sym typeface="Consolas"/>
            </a:endParaRPr>
          </a:p>
          <a:p>
            <a:pPr indent="-342900" lvl="0" marL="457200" rtl="0" algn="l">
              <a:spcBef>
                <a:spcPts val="0"/>
              </a:spcBef>
              <a:spcAft>
                <a:spcPts val="0"/>
              </a:spcAft>
              <a:buClr>
                <a:schemeClr val="dk1"/>
              </a:buClr>
              <a:buSzPts val="1800"/>
              <a:buFont typeface="Consolas"/>
              <a:buChar char="●"/>
            </a:pPr>
            <a:r>
              <a:rPr lang="en-GB" sz="1800">
                <a:solidFill>
                  <a:schemeClr val="dk1"/>
                </a:solidFill>
                <a:latin typeface="Consolas"/>
                <a:ea typeface="Consolas"/>
                <a:cs typeface="Consolas"/>
                <a:sym typeface="Consolas"/>
              </a:rPr>
              <a:t>Then traverse the original list moving nodes to their respective new lists based on whether their values are even or odd. Finally merge the two list to obtain the final segregated linked list.</a:t>
            </a:r>
            <a:endParaRPr sz="1800">
              <a:solidFill>
                <a:schemeClr val="dk1"/>
              </a:solidFill>
              <a:latin typeface="Consolas"/>
              <a:ea typeface="Consolas"/>
              <a:cs typeface="Consolas"/>
              <a:sym typeface="Consolas"/>
            </a:endParaRPr>
          </a:p>
        </p:txBody>
      </p:sp>
      <p:sp>
        <p:nvSpPr>
          <p:cNvPr id="118" name="Google Shape;118;g14337fc5d25_0_216"/>
          <p:cNvSpPr txBox="1"/>
          <p:nvPr/>
        </p:nvSpPr>
        <p:spPr>
          <a:xfrm>
            <a:off x="-545400" y="1233425"/>
            <a:ext cx="4833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3243ccbddfa_0_0"/>
          <p:cNvSpPr txBox="1"/>
          <p:nvPr/>
        </p:nvSpPr>
        <p:spPr>
          <a:xfrm>
            <a:off x="720725" y="445600"/>
            <a:ext cx="6956700" cy="630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8182EF"/>
                </a:solidFill>
                <a:latin typeface="Consolas"/>
                <a:ea typeface="Consolas"/>
                <a:cs typeface="Consolas"/>
                <a:sym typeface="Consolas"/>
              </a:rPr>
              <a:t>SEGREGATE EVEN AND ODD NODES IN A LINKED LIST</a:t>
            </a:r>
            <a:endParaRPr b="0" i="0" sz="1800" u="none" cap="none" strike="noStrike">
              <a:solidFill>
                <a:srgbClr val="8182EF"/>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sp>
        <p:nvSpPr>
          <p:cNvPr id="124" name="Google Shape;124;g3243ccbddfa_0_0"/>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600"/>
              <a:buFont typeface="Arial"/>
              <a:buNone/>
            </a:pPr>
            <a:r>
              <a:rPr lang="en-GB" sz="1600">
                <a:solidFill>
                  <a:schemeClr val="dk1"/>
                </a:solidFill>
                <a:latin typeface="Consolas"/>
                <a:ea typeface="Consolas"/>
                <a:cs typeface="Consolas"/>
                <a:sym typeface="Consolas"/>
              </a:rPr>
              <a:t>Algorithm</a:t>
            </a:r>
            <a:endParaRPr i="0" sz="1600" u="none" cap="none" strike="noStrike">
              <a:solidFill>
                <a:schemeClr val="dk1"/>
              </a:solidFill>
              <a:latin typeface="Consolas"/>
              <a:ea typeface="Consolas"/>
              <a:cs typeface="Consolas"/>
              <a:sym typeface="Consolas"/>
            </a:endParaRPr>
          </a:p>
          <a:p>
            <a:pPr indent="-330200" lvl="0" marL="457200" rtl="0" algn="l">
              <a:lnSpc>
                <a:spcPct val="150000"/>
              </a:lnSpc>
              <a:spcBef>
                <a:spcPts val="1000"/>
              </a:spcBef>
              <a:spcAft>
                <a:spcPts val="0"/>
              </a:spcAft>
              <a:buClr>
                <a:schemeClr val="dk1"/>
              </a:buClr>
              <a:buSzPts val="1600"/>
              <a:buFont typeface="Consolas"/>
              <a:buChar char="●"/>
            </a:pPr>
            <a:r>
              <a:rPr lang="en-GB" sz="1600">
                <a:solidFill>
                  <a:schemeClr val="dk1"/>
                </a:solidFill>
                <a:latin typeface="Consolas"/>
                <a:ea typeface="Consolas"/>
                <a:cs typeface="Consolas"/>
                <a:sym typeface="Consolas"/>
              </a:rPr>
              <a:t>The original list now contains only even nodes, and the odd list contains only odd nodes.</a:t>
            </a:r>
            <a:endParaRPr sz="1600">
              <a:solidFill>
                <a:schemeClr val="dk1"/>
              </a:solidFill>
            </a:endParaRPr>
          </a:p>
          <a:p>
            <a:pPr indent="-330200" lvl="0" marL="457200" marR="0" rtl="0" algn="l">
              <a:lnSpc>
                <a:spcPct val="150000"/>
              </a:lnSpc>
              <a:spcBef>
                <a:spcPts val="0"/>
              </a:spcBef>
              <a:spcAft>
                <a:spcPts val="0"/>
              </a:spcAft>
              <a:buClr>
                <a:schemeClr val="dk1"/>
              </a:buClr>
              <a:buSzPts val="1600"/>
              <a:buFont typeface="Consolas"/>
              <a:buChar char="●"/>
            </a:pPr>
            <a:r>
              <a:rPr b="0" i="0" lang="en-GB" sz="1600" u="none" cap="none" strike="noStrike">
                <a:solidFill>
                  <a:schemeClr val="dk1"/>
                </a:solidFill>
                <a:latin typeface="Consolas"/>
                <a:ea typeface="Consolas"/>
                <a:cs typeface="Consolas"/>
                <a:sym typeface="Consolas"/>
              </a:rPr>
              <a:t>After traversing the entire original list, connect the last node of the even list to the first node of the odd list to join them.</a:t>
            </a:r>
            <a:endParaRPr b="0" i="0" sz="1600" u="none" cap="none" strike="noStrike">
              <a:solidFill>
                <a:schemeClr val="dk1"/>
              </a:solidFill>
              <a:latin typeface="Arial"/>
              <a:ea typeface="Arial"/>
              <a:cs typeface="Arial"/>
              <a:sym typeface="Arial"/>
            </a:endParaRPr>
          </a:p>
          <a:p>
            <a:pPr indent="-330200" lvl="0" marL="457200" marR="0" rtl="0" algn="l">
              <a:lnSpc>
                <a:spcPct val="150000"/>
              </a:lnSpc>
              <a:spcBef>
                <a:spcPts val="0"/>
              </a:spcBef>
              <a:spcAft>
                <a:spcPts val="0"/>
              </a:spcAft>
              <a:buClr>
                <a:schemeClr val="dk1"/>
              </a:buClr>
              <a:buSzPts val="1600"/>
              <a:buFont typeface="Consolas"/>
              <a:buChar char="●"/>
            </a:pPr>
            <a:r>
              <a:rPr b="0" i="0" lang="en-GB" sz="1600" u="none" cap="none" strike="noStrike">
                <a:solidFill>
                  <a:schemeClr val="dk1"/>
                </a:solidFill>
                <a:latin typeface="Consolas"/>
                <a:ea typeface="Consolas"/>
                <a:cs typeface="Consolas"/>
                <a:sym typeface="Consolas"/>
              </a:rPr>
              <a:t>Return the head of the original list (which contains even nodes).</a:t>
            </a:r>
            <a:endParaRPr b="0" i="0" sz="1600" u="none" cap="none" strike="noStrike">
              <a:solidFill>
                <a:schemeClr val="dk1"/>
              </a:solidFill>
              <a:latin typeface="Arial"/>
              <a:ea typeface="Arial"/>
              <a:cs typeface="Arial"/>
              <a:sym typeface="Arial"/>
            </a:endParaRPr>
          </a:p>
          <a:p>
            <a:pPr indent="0" lvl="0" marL="457200" marR="0" rtl="0" algn="l">
              <a:lnSpc>
                <a:spcPct val="200000"/>
              </a:lnSpc>
              <a:spcBef>
                <a:spcPts val="1000"/>
              </a:spcBef>
              <a:spcAft>
                <a:spcPts val="0"/>
              </a:spcAft>
              <a:buNone/>
            </a:pPr>
            <a:r>
              <a:t/>
            </a:r>
            <a:endParaRPr b="0" i="0" sz="1600" u="none" cap="none" strike="noStrike">
              <a:solidFill>
                <a:schemeClr val="dk1"/>
              </a:solidFill>
              <a:latin typeface="Consolas"/>
              <a:ea typeface="Consolas"/>
              <a:cs typeface="Consolas"/>
              <a:sym typeface="Consolas"/>
            </a:endParaRPr>
          </a:p>
        </p:txBody>
      </p:sp>
      <p:sp>
        <p:nvSpPr>
          <p:cNvPr id="125" name="Google Shape;125;g3243ccbddfa_0_0"/>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243ccbddfa_0_8"/>
          <p:cNvSpPr txBox="1"/>
          <p:nvPr/>
        </p:nvSpPr>
        <p:spPr>
          <a:xfrm>
            <a:off x="720725" y="445600"/>
            <a:ext cx="6956700" cy="932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8182EF"/>
                </a:solidFill>
                <a:latin typeface="Consolas"/>
                <a:ea typeface="Consolas"/>
                <a:cs typeface="Consolas"/>
                <a:sym typeface="Consolas"/>
              </a:rPr>
              <a:t>SEGREGATE EVEN AND ODD NODES IN A LINKED LIST</a:t>
            </a:r>
            <a:endParaRPr b="0" i="0" sz="1800" u="none" cap="none" strike="noStrike">
              <a:solidFill>
                <a:srgbClr val="8182EF"/>
              </a:solidFill>
              <a:latin typeface="Roboto Black"/>
              <a:ea typeface="Roboto Black"/>
              <a:cs typeface="Roboto Black"/>
              <a:sym typeface="Roboto Black"/>
            </a:endParaRPr>
          </a:p>
          <a:p>
            <a:pPr indent="0" lvl="0" marL="0" marR="0" rtl="0" algn="ctr">
              <a:lnSpc>
                <a:spcPct val="115000"/>
              </a:lnSpc>
              <a:spcBef>
                <a:spcPts val="0"/>
              </a:spcBef>
              <a:spcAft>
                <a:spcPts val="0"/>
              </a:spcAft>
              <a:buClr>
                <a:schemeClr val="dk1"/>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sp>
        <p:nvSpPr>
          <p:cNvPr id="131" name="Google Shape;131;g3243ccbddfa_0_8"/>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32" name="Google Shape;132;g3243ccbddfa_0_8"/>
          <p:cNvSpPr txBox="1"/>
          <p:nvPr/>
        </p:nvSpPr>
        <p:spPr>
          <a:xfrm>
            <a:off x="172451" y="1053966"/>
            <a:ext cx="2827200" cy="8619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Example 1:</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2060"/>
              </a:solidFill>
              <a:latin typeface="Consolas"/>
              <a:ea typeface="Consolas"/>
              <a:cs typeface="Consolas"/>
              <a:sym typeface="Consolas"/>
            </a:endParaRPr>
          </a:p>
        </p:txBody>
      </p:sp>
      <p:pic>
        <p:nvPicPr>
          <p:cNvPr id="133" name="Google Shape;133;g3243ccbddfa_0_8"/>
          <p:cNvPicPr preferRelativeResize="0"/>
          <p:nvPr/>
        </p:nvPicPr>
        <p:blipFill rotWithShape="1">
          <a:blip r:embed="rId3">
            <a:alphaModFix/>
          </a:blip>
          <a:srcRect b="0" l="0" r="0" t="0"/>
          <a:stretch/>
        </p:blipFill>
        <p:spPr>
          <a:xfrm>
            <a:off x="1277475" y="1589575"/>
            <a:ext cx="5843192" cy="2784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243ccbddfa_0_16"/>
          <p:cNvSpPr txBox="1"/>
          <p:nvPr/>
        </p:nvSpPr>
        <p:spPr>
          <a:xfrm>
            <a:off x="720725" y="445600"/>
            <a:ext cx="6956700" cy="630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8182EF"/>
                </a:solidFill>
                <a:latin typeface="Consolas"/>
                <a:ea typeface="Consolas"/>
                <a:cs typeface="Consolas"/>
                <a:sym typeface="Consolas"/>
              </a:rPr>
              <a:t>SEGREGATE EVEN AND ODD NODES IN A LINKED LIST</a:t>
            </a:r>
            <a:endParaRPr b="0" i="0" sz="1800" u="none" cap="none" strike="noStrike">
              <a:solidFill>
                <a:srgbClr val="8182EF"/>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sp>
        <p:nvSpPr>
          <p:cNvPr id="139" name="Google Shape;139;g3243ccbddfa_0_16"/>
          <p:cNvSpPr txBox="1"/>
          <p:nvPr/>
        </p:nvSpPr>
        <p:spPr>
          <a:xfrm>
            <a:off x="172451" y="985341"/>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
        <p:nvSpPr>
          <p:cNvPr id="140" name="Google Shape;140;g3243ccbddfa_0_16"/>
          <p:cNvSpPr txBox="1"/>
          <p:nvPr/>
        </p:nvSpPr>
        <p:spPr>
          <a:xfrm>
            <a:off x="332000" y="1354650"/>
            <a:ext cx="8037300" cy="3530100"/>
          </a:xfrm>
          <a:prstGeom prst="rect">
            <a:avLst/>
          </a:prstGeom>
          <a:noFill/>
          <a:ln>
            <a:noFill/>
          </a:ln>
        </p:spPr>
        <p:txBody>
          <a:bodyPr anchorCtr="0" anchor="t" bIns="91425" lIns="91425" spcFirstLastPara="1" rIns="91425" wrap="square" tIns="91425">
            <a:spAutoFit/>
          </a:bodyPr>
          <a:lstStyle/>
          <a:p>
            <a:pPr indent="-215900" lvl="0" marL="228600" marR="0" rtl="0" algn="l">
              <a:lnSpc>
                <a:spcPct val="150000"/>
              </a:lnSpc>
              <a:spcBef>
                <a:spcPts val="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In our original linked list, we have numbers: 1 → 2 → 3.</a:t>
            </a:r>
            <a:endParaRPr b="0" i="0" sz="1600" u="none" cap="none" strike="noStrike">
              <a:solidFill>
                <a:schemeClr val="dk1"/>
              </a:solidFill>
              <a:latin typeface="Arial"/>
              <a:ea typeface="Arial"/>
              <a:cs typeface="Arial"/>
              <a:sym typeface="Arial"/>
            </a:endParaRPr>
          </a:p>
          <a:p>
            <a:pPr indent="-215900" lvl="0" marL="228600" marR="0" rtl="0" algn="l">
              <a:lnSpc>
                <a:spcPct val="150000"/>
              </a:lnSpc>
              <a:spcBef>
                <a:spcPts val="100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We want to separate even numbers from odd numbers and keep the order the same.</a:t>
            </a:r>
            <a:endParaRPr b="0" i="0" sz="1600" u="none" cap="none" strike="noStrike">
              <a:solidFill>
                <a:schemeClr val="dk1"/>
              </a:solidFill>
              <a:latin typeface="Arial"/>
              <a:ea typeface="Arial"/>
              <a:cs typeface="Arial"/>
              <a:sym typeface="Arial"/>
            </a:endParaRPr>
          </a:p>
          <a:p>
            <a:pPr indent="-215900" lvl="0" marL="228600" marR="0" rtl="0" algn="l">
              <a:lnSpc>
                <a:spcPct val="150000"/>
              </a:lnSpc>
              <a:spcBef>
                <a:spcPts val="100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So, first, we find the even number, which is 2. We keep it at the beginning.</a:t>
            </a:r>
            <a:endParaRPr b="0" i="0" sz="1600" u="none" cap="none" strike="noStrike">
              <a:solidFill>
                <a:schemeClr val="dk1"/>
              </a:solidFill>
              <a:latin typeface="Arial"/>
              <a:ea typeface="Arial"/>
              <a:cs typeface="Arial"/>
              <a:sym typeface="Arial"/>
            </a:endParaRPr>
          </a:p>
          <a:p>
            <a:pPr indent="-215900" lvl="0" marL="228600" marR="0" rtl="0" algn="l">
              <a:lnSpc>
                <a:spcPct val="150000"/>
              </a:lnSpc>
              <a:spcBef>
                <a:spcPts val="100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Next, we find the odd numbers, which are 1 and 3. We keep their order and put them after 2.</a:t>
            </a:r>
            <a:endParaRPr b="0" i="0" sz="1600" u="none" cap="none" strike="noStrike">
              <a:solidFill>
                <a:schemeClr val="dk1"/>
              </a:solidFill>
              <a:latin typeface="Arial"/>
              <a:ea typeface="Arial"/>
              <a:cs typeface="Arial"/>
              <a:sym typeface="Arial"/>
            </a:endParaRPr>
          </a:p>
          <a:p>
            <a:pPr indent="-215900" lvl="0" marL="228600" marR="0" rtl="0" algn="l">
              <a:lnSpc>
                <a:spcPct val="150000"/>
              </a:lnSpc>
              <a:spcBef>
                <a:spcPts val="100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Now, our new linked list is segregated: 2 → 1 → 3.</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243ccbddfa_0_23"/>
          <p:cNvSpPr txBox="1"/>
          <p:nvPr/>
        </p:nvSpPr>
        <p:spPr>
          <a:xfrm>
            <a:off x="720725" y="445600"/>
            <a:ext cx="6956700" cy="630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8182EF"/>
                </a:solidFill>
                <a:latin typeface="Consolas"/>
                <a:ea typeface="Consolas"/>
                <a:cs typeface="Consolas"/>
                <a:sym typeface="Consolas"/>
              </a:rPr>
              <a:t>SEGREGATE EVEN AND ODD NODES IN A LINKED LIST</a:t>
            </a:r>
            <a:endParaRPr b="0" i="0" sz="1800" u="none" cap="none" strike="noStrike">
              <a:solidFill>
                <a:srgbClr val="8182EF"/>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sp>
        <p:nvSpPr>
          <p:cNvPr id="146" name="Google Shape;146;g3243ccbddfa_0_23"/>
          <p:cNvSpPr txBox="1"/>
          <p:nvPr/>
        </p:nvSpPr>
        <p:spPr>
          <a:xfrm>
            <a:off x="492124" y="1064225"/>
            <a:ext cx="5214600" cy="21036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600"/>
              <a:buFont typeface="Arial"/>
              <a:buNone/>
            </a:pPr>
            <a:r>
              <a:rPr b="0" i="0" lang="en-GB" sz="1600" u="none" cap="none" strike="noStrike">
                <a:solidFill>
                  <a:srgbClr val="000000"/>
                </a:solidFill>
                <a:latin typeface="Consolas"/>
                <a:ea typeface="Consolas"/>
                <a:cs typeface="Consolas"/>
                <a:sym typeface="Consolas"/>
              </a:rPr>
              <a:t>Example 2:</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1000"/>
              </a:spcBef>
              <a:spcAft>
                <a:spcPts val="0"/>
              </a:spcAft>
              <a:buClr>
                <a:srgbClr val="000000"/>
              </a:buClr>
              <a:buSzPts val="1600"/>
              <a:buFont typeface="Arial"/>
              <a:buNone/>
            </a:pPr>
            <a:r>
              <a:rPr b="0" i="0" lang="en-GB" sz="1600" u="none" cap="none" strike="noStrike">
                <a:solidFill>
                  <a:srgbClr val="000000"/>
                </a:solidFill>
                <a:latin typeface="Consolas"/>
                <a:ea typeface="Consolas"/>
                <a:cs typeface="Consolas"/>
                <a:sym typeface="Consolas"/>
              </a:rPr>
              <a:t>2 → 1 → 6 → 4 → 8.</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1000"/>
              </a:spcBef>
              <a:spcAft>
                <a:spcPts val="0"/>
              </a:spcAft>
              <a:buClr>
                <a:srgbClr val="000000"/>
              </a:buClr>
              <a:buSzPts val="1600"/>
              <a:buFont typeface="Arial"/>
              <a:buNone/>
            </a:pPr>
            <a:r>
              <a:rPr b="0" i="0" lang="en-GB" sz="1600" u="none" cap="none" strike="noStrike">
                <a:solidFill>
                  <a:srgbClr val="000000"/>
                </a:solidFill>
                <a:latin typeface="Consolas"/>
                <a:ea typeface="Consolas"/>
                <a:cs typeface="Consolas"/>
                <a:sym typeface="Consolas"/>
              </a:rPr>
              <a:t>Input linked list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2060"/>
              </a:solidFill>
              <a:latin typeface="Consolas"/>
              <a:ea typeface="Consolas"/>
              <a:cs typeface="Consolas"/>
              <a:sym typeface="Consolas"/>
            </a:endParaRPr>
          </a:p>
        </p:txBody>
      </p:sp>
      <p:sp>
        <p:nvSpPr>
          <p:cNvPr id="147" name="Google Shape;147;g3243ccbddfa_0_23"/>
          <p:cNvSpPr txBox="1"/>
          <p:nvPr/>
        </p:nvSpPr>
        <p:spPr>
          <a:xfrm>
            <a:off x="1905191" y="3167830"/>
            <a:ext cx="678300" cy="369300"/>
          </a:xfrm>
          <a:prstGeom prst="rect">
            <a:avLst/>
          </a:prstGeom>
          <a:solidFill>
            <a:srgbClr val="C55A1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148" name="Google Shape;148;g3243ccbddfa_0_23"/>
          <p:cNvSpPr txBox="1"/>
          <p:nvPr/>
        </p:nvSpPr>
        <p:spPr>
          <a:xfrm>
            <a:off x="3099678" y="3169063"/>
            <a:ext cx="678300" cy="369300"/>
          </a:xfrm>
          <a:prstGeom prst="rect">
            <a:avLst/>
          </a:prstGeom>
          <a:solidFill>
            <a:srgbClr val="C55A1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149" name="Google Shape;149;g3243ccbddfa_0_23"/>
          <p:cNvSpPr txBox="1"/>
          <p:nvPr/>
        </p:nvSpPr>
        <p:spPr>
          <a:xfrm>
            <a:off x="6683109" y="3169063"/>
            <a:ext cx="678300" cy="369300"/>
          </a:xfrm>
          <a:prstGeom prst="rect">
            <a:avLst/>
          </a:prstGeom>
          <a:solidFill>
            <a:srgbClr val="C55A1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alibri"/>
                <a:ea typeface="Calibri"/>
                <a:cs typeface="Calibri"/>
                <a:sym typeface="Calibri"/>
              </a:rPr>
              <a:t>8</a:t>
            </a:r>
            <a:endParaRPr b="0" i="0" sz="1400" u="none" cap="none" strike="noStrike">
              <a:solidFill>
                <a:srgbClr val="000000"/>
              </a:solidFill>
              <a:latin typeface="Arial"/>
              <a:ea typeface="Arial"/>
              <a:cs typeface="Arial"/>
              <a:sym typeface="Arial"/>
            </a:endParaRPr>
          </a:p>
        </p:txBody>
      </p:sp>
      <p:sp>
        <p:nvSpPr>
          <p:cNvPr id="150" name="Google Shape;150;g3243ccbddfa_0_23"/>
          <p:cNvSpPr txBox="1"/>
          <p:nvPr/>
        </p:nvSpPr>
        <p:spPr>
          <a:xfrm>
            <a:off x="4294139" y="3169080"/>
            <a:ext cx="678300" cy="369300"/>
          </a:xfrm>
          <a:prstGeom prst="rect">
            <a:avLst/>
          </a:prstGeom>
          <a:solidFill>
            <a:srgbClr val="C55A1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alibri"/>
                <a:ea typeface="Calibri"/>
                <a:cs typeface="Calibri"/>
                <a:sym typeface="Calibri"/>
              </a:rPr>
              <a:t>6</a:t>
            </a:r>
            <a:endParaRPr b="0" i="0" sz="1400" u="none" cap="none" strike="noStrike">
              <a:solidFill>
                <a:srgbClr val="000000"/>
              </a:solidFill>
              <a:latin typeface="Arial"/>
              <a:ea typeface="Arial"/>
              <a:cs typeface="Arial"/>
              <a:sym typeface="Arial"/>
            </a:endParaRPr>
          </a:p>
        </p:txBody>
      </p:sp>
      <p:sp>
        <p:nvSpPr>
          <p:cNvPr id="151" name="Google Shape;151;g3243ccbddfa_0_23"/>
          <p:cNvSpPr txBox="1"/>
          <p:nvPr/>
        </p:nvSpPr>
        <p:spPr>
          <a:xfrm>
            <a:off x="5488625" y="3169063"/>
            <a:ext cx="678300" cy="369300"/>
          </a:xfrm>
          <a:prstGeom prst="rect">
            <a:avLst/>
          </a:prstGeom>
          <a:solidFill>
            <a:srgbClr val="C55A1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cxnSp>
        <p:nvCxnSpPr>
          <p:cNvPr id="152" name="Google Shape;152;g3243ccbddfa_0_23"/>
          <p:cNvCxnSpPr>
            <a:stCxn id="147" idx="3"/>
            <a:endCxn id="148" idx="1"/>
          </p:cNvCxnSpPr>
          <p:nvPr/>
        </p:nvCxnSpPr>
        <p:spPr>
          <a:xfrm>
            <a:off x="2583491" y="3352480"/>
            <a:ext cx="516300" cy="1200"/>
          </a:xfrm>
          <a:prstGeom prst="straightConnector1">
            <a:avLst/>
          </a:prstGeom>
          <a:noFill/>
          <a:ln cap="flat" cmpd="sng" w="19050">
            <a:solidFill>
              <a:srgbClr val="ED7D31"/>
            </a:solidFill>
            <a:prstDash val="solid"/>
            <a:miter lim="800000"/>
            <a:headEnd len="sm" w="sm" type="none"/>
            <a:tailEnd len="med" w="med" type="triangle"/>
          </a:ln>
        </p:spPr>
      </p:cxnSp>
      <p:cxnSp>
        <p:nvCxnSpPr>
          <p:cNvPr id="153" name="Google Shape;153;g3243ccbddfa_0_23"/>
          <p:cNvCxnSpPr/>
          <p:nvPr/>
        </p:nvCxnSpPr>
        <p:spPr>
          <a:xfrm>
            <a:off x="3871714" y="3353688"/>
            <a:ext cx="429600" cy="2400"/>
          </a:xfrm>
          <a:prstGeom prst="straightConnector1">
            <a:avLst/>
          </a:prstGeom>
          <a:noFill/>
          <a:ln cap="flat" cmpd="sng" w="19050">
            <a:solidFill>
              <a:srgbClr val="ED7D31"/>
            </a:solidFill>
            <a:prstDash val="solid"/>
            <a:miter lim="800000"/>
            <a:headEnd len="sm" w="sm" type="none"/>
            <a:tailEnd len="med" w="med" type="triangle"/>
          </a:ln>
        </p:spPr>
      </p:cxnSp>
      <p:cxnSp>
        <p:nvCxnSpPr>
          <p:cNvPr id="154" name="Google Shape;154;g3243ccbddfa_0_23"/>
          <p:cNvCxnSpPr/>
          <p:nvPr/>
        </p:nvCxnSpPr>
        <p:spPr>
          <a:xfrm>
            <a:off x="6166809" y="3365438"/>
            <a:ext cx="429600" cy="2400"/>
          </a:xfrm>
          <a:prstGeom prst="straightConnector1">
            <a:avLst/>
          </a:prstGeom>
          <a:noFill/>
          <a:ln cap="flat" cmpd="sng" w="19050">
            <a:solidFill>
              <a:srgbClr val="ED7D31"/>
            </a:solidFill>
            <a:prstDash val="solid"/>
            <a:miter lim="800000"/>
            <a:headEnd len="sm" w="sm" type="none"/>
            <a:tailEnd len="med" w="med" type="triangle"/>
          </a:ln>
        </p:spPr>
      </p:cxnSp>
      <p:cxnSp>
        <p:nvCxnSpPr>
          <p:cNvPr id="155" name="Google Shape;155;g3243ccbddfa_0_23"/>
          <p:cNvCxnSpPr/>
          <p:nvPr/>
        </p:nvCxnSpPr>
        <p:spPr>
          <a:xfrm>
            <a:off x="4972459" y="3353688"/>
            <a:ext cx="429600" cy="2400"/>
          </a:xfrm>
          <a:prstGeom prst="straightConnector1">
            <a:avLst/>
          </a:prstGeom>
          <a:noFill/>
          <a:ln cap="flat" cmpd="sng" w="19050">
            <a:solidFill>
              <a:srgbClr val="ED7D31"/>
            </a:solidFill>
            <a:prstDash val="solid"/>
            <a:miter lim="800000"/>
            <a:headEnd len="sm" w="sm" type="none"/>
            <a:tailEnd len="med" w="med" type="triangle"/>
          </a:ln>
        </p:spPr>
      </p:cxnSp>
      <p:sp>
        <p:nvSpPr>
          <p:cNvPr id="156" name="Google Shape;156;g3243ccbddfa_0_23"/>
          <p:cNvSpPr txBox="1"/>
          <p:nvPr/>
        </p:nvSpPr>
        <p:spPr>
          <a:xfrm>
            <a:off x="6624046" y="4440196"/>
            <a:ext cx="678300" cy="369300"/>
          </a:xfrm>
          <a:prstGeom prst="rect">
            <a:avLst/>
          </a:prstGeom>
          <a:solidFill>
            <a:srgbClr val="C55A1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157" name="Google Shape;157;g3243ccbddfa_0_23"/>
          <p:cNvSpPr txBox="1"/>
          <p:nvPr/>
        </p:nvSpPr>
        <p:spPr>
          <a:xfrm>
            <a:off x="5493873" y="4440191"/>
            <a:ext cx="678300" cy="369300"/>
          </a:xfrm>
          <a:prstGeom prst="rect">
            <a:avLst/>
          </a:prstGeom>
          <a:solidFill>
            <a:srgbClr val="C55A1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alibri"/>
                <a:ea typeface="Calibri"/>
                <a:cs typeface="Calibri"/>
                <a:sym typeface="Calibri"/>
              </a:rPr>
              <a:t>8</a:t>
            </a:r>
            <a:endParaRPr b="0" i="0" sz="1400" u="none" cap="none" strike="noStrike">
              <a:solidFill>
                <a:srgbClr val="000000"/>
              </a:solidFill>
              <a:latin typeface="Arial"/>
              <a:ea typeface="Arial"/>
              <a:cs typeface="Arial"/>
              <a:sym typeface="Arial"/>
            </a:endParaRPr>
          </a:p>
        </p:txBody>
      </p:sp>
      <p:sp>
        <p:nvSpPr>
          <p:cNvPr id="158" name="Google Shape;158;g3243ccbddfa_0_23"/>
          <p:cNvSpPr txBox="1"/>
          <p:nvPr/>
        </p:nvSpPr>
        <p:spPr>
          <a:xfrm>
            <a:off x="4264626" y="4440202"/>
            <a:ext cx="678300" cy="369300"/>
          </a:xfrm>
          <a:prstGeom prst="rect">
            <a:avLst/>
          </a:prstGeom>
          <a:solidFill>
            <a:srgbClr val="C55A1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alibri"/>
                <a:ea typeface="Calibri"/>
                <a:cs typeface="Calibri"/>
                <a:sym typeface="Calibri"/>
              </a:rPr>
              <a:t>6</a:t>
            </a:r>
            <a:endParaRPr b="0" i="0" sz="1400" u="none" cap="none" strike="noStrike">
              <a:solidFill>
                <a:srgbClr val="000000"/>
              </a:solidFill>
              <a:latin typeface="Arial"/>
              <a:ea typeface="Arial"/>
              <a:cs typeface="Arial"/>
              <a:sym typeface="Arial"/>
            </a:endParaRPr>
          </a:p>
        </p:txBody>
      </p:sp>
      <p:sp>
        <p:nvSpPr>
          <p:cNvPr id="159" name="Google Shape;159;g3243ccbddfa_0_23"/>
          <p:cNvSpPr txBox="1"/>
          <p:nvPr/>
        </p:nvSpPr>
        <p:spPr>
          <a:xfrm>
            <a:off x="3035378" y="4440202"/>
            <a:ext cx="678300" cy="369300"/>
          </a:xfrm>
          <a:prstGeom prst="rect">
            <a:avLst/>
          </a:prstGeom>
          <a:solidFill>
            <a:srgbClr val="C55A1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160" name="Google Shape;160;g3243ccbddfa_0_23"/>
          <p:cNvSpPr txBox="1"/>
          <p:nvPr/>
        </p:nvSpPr>
        <p:spPr>
          <a:xfrm>
            <a:off x="1905191" y="4440202"/>
            <a:ext cx="678300" cy="369300"/>
          </a:xfrm>
          <a:prstGeom prst="rect">
            <a:avLst/>
          </a:prstGeom>
          <a:solidFill>
            <a:srgbClr val="C55A1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cxnSp>
        <p:nvCxnSpPr>
          <p:cNvPr id="161" name="Google Shape;161;g3243ccbddfa_0_23"/>
          <p:cNvCxnSpPr/>
          <p:nvPr/>
        </p:nvCxnSpPr>
        <p:spPr>
          <a:xfrm>
            <a:off x="6166794" y="4623641"/>
            <a:ext cx="429600" cy="2400"/>
          </a:xfrm>
          <a:prstGeom prst="straightConnector1">
            <a:avLst/>
          </a:prstGeom>
          <a:noFill/>
          <a:ln cap="flat" cmpd="sng" w="19050">
            <a:solidFill>
              <a:srgbClr val="ED7D31"/>
            </a:solidFill>
            <a:prstDash val="solid"/>
            <a:miter lim="800000"/>
            <a:headEnd len="sm" w="sm" type="none"/>
            <a:tailEnd len="med" w="med" type="triangle"/>
          </a:ln>
        </p:spPr>
      </p:cxnSp>
      <p:cxnSp>
        <p:nvCxnSpPr>
          <p:cNvPr id="162" name="Google Shape;162;g3243ccbddfa_0_23"/>
          <p:cNvCxnSpPr/>
          <p:nvPr/>
        </p:nvCxnSpPr>
        <p:spPr>
          <a:xfrm>
            <a:off x="5003608" y="4623657"/>
            <a:ext cx="429600" cy="2400"/>
          </a:xfrm>
          <a:prstGeom prst="straightConnector1">
            <a:avLst/>
          </a:prstGeom>
          <a:noFill/>
          <a:ln cap="flat" cmpd="sng" w="19050">
            <a:solidFill>
              <a:srgbClr val="ED7D31"/>
            </a:solidFill>
            <a:prstDash val="solid"/>
            <a:miter lim="800000"/>
            <a:headEnd len="sm" w="sm" type="none"/>
            <a:tailEnd len="med" w="med" type="triangle"/>
          </a:ln>
        </p:spPr>
      </p:cxnSp>
      <p:cxnSp>
        <p:nvCxnSpPr>
          <p:cNvPr id="163" name="Google Shape;163;g3243ccbddfa_0_23"/>
          <p:cNvCxnSpPr/>
          <p:nvPr/>
        </p:nvCxnSpPr>
        <p:spPr>
          <a:xfrm>
            <a:off x="3774360" y="4623644"/>
            <a:ext cx="429600" cy="2400"/>
          </a:xfrm>
          <a:prstGeom prst="straightConnector1">
            <a:avLst/>
          </a:prstGeom>
          <a:noFill/>
          <a:ln cap="flat" cmpd="sng" w="19050">
            <a:solidFill>
              <a:srgbClr val="ED7D31"/>
            </a:solidFill>
            <a:prstDash val="solid"/>
            <a:miter lim="800000"/>
            <a:headEnd len="sm" w="sm" type="none"/>
            <a:tailEnd len="med" w="med" type="triangle"/>
          </a:ln>
        </p:spPr>
      </p:cxnSp>
      <p:cxnSp>
        <p:nvCxnSpPr>
          <p:cNvPr id="164" name="Google Shape;164;g3243ccbddfa_0_23"/>
          <p:cNvCxnSpPr/>
          <p:nvPr/>
        </p:nvCxnSpPr>
        <p:spPr>
          <a:xfrm>
            <a:off x="2605767" y="4623646"/>
            <a:ext cx="429600" cy="2400"/>
          </a:xfrm>
          <a:prstGeom prst="straightConnector1">
            <a:avLst/>
          </a:prstGeom>
          <a:noFill/>
          <a:ln cap="flat" cmpd="sng" w="19050">
            <a:solidFill>
              <a:srgbClr val="ED7D31"/>
            </a:solidFill>
            <a:prstDash val="solid"/>
            <a:miter lim="800000"/>
            <a:headEnd len="sm" w="sm" type="none"/>
            <a:tailEnd len="med" w="med" type="triangle"/>
          </a:ln>
        </p:spPr>
      </p:cxnSp>
      <p:sp>
        <p:nvSpPr>
          <p:cNvPr id="165" name="Google Shape;165;g3243ccbddfa_0_23"/>
          <p:cNvSpPr txBox="1"/>
          <p:nvPr/>
        </p:nvSpPr>
        <p:spPr>
          <a:xfrm>
            <a:off x="390817" y="3980223"/>
            <a:ext cx="609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800"/>
              <a:buFont typeface="Consolas"/>
              <a:buNone/>
            </a:pPr>
            <a:r>
              <a:rPr b="0" i="0" lang="en-GB" sz="1800" u="none" cap="none" strike="noStrike">
                <a:solidFill>
                  <a:srgbClr val="000000"/>
                </a:solidFill>
                <a:latin typeface="Consolas"/>
                <a:ea typeface="Consolas"/>
                <a:cs typeface="Consolas"/>
                <a:sym typeface="Consolas"/>
              </a:rPr>
              <a:t>Output linked list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243ccbddfa_0_29"/>
          <p:cNvSpPr txBox="1"/>
          <p:nvPr/>
        </p:nvSpPr>
        <p:spPr>
          <a:xfrm>
            <a:off x="720725" y="445600"/>
            <a:ext cx="6956700" cy="932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8182EF"/>
                </a:solidFill>
                <a:latin typeface="Consolas"/>
                <a:ea typeface="Consolas"/>
                <a:cs typeface="Consolas"/>
                <a:sym typeface="Consolas"/>
              </a:rPr>
              <a:t>SEGREGATE EVEN AND ODD NODES IN A LINKED LIST</a:t>
            </a:r>
            <a:endParaRPr b="0" i="0" sz="1800" u="none" cap="none" strike="noStrike">
              <a:solidFill>
                <a:srgbClr val="8182EF"/>
              </a:solidFill>
              <a:latin typeface="Roboto Black"/>
              <a:ea typeface="Roboto Black"/>
              <a:cs typeface="Roboto Black"/>
              <a:sym typeface="Roboto Black"/>
            </a:endParaRPr>
          </a:p>
          <a:p>
            <a:pPr indent="0" lvl="0" marL="0" marR="0" rtl="0" algn="ctr">
              <a:lnSpc>
                <a:spcPct val="115000"/>
              </a:lnSpc>
              <a:spcBef>
                <a:spcPts val="0"/>
              </a:spcBef>
              <a:spcAft>
                <a:spcPts val="0"/>
              </a:spcAft>
              <a:buClr>
                <a:schemeClr val="dk1"/>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sp>
        <p:nvSpPr>
          <p:cNvPr id="171" name="Google Shape;171;g3243ccbddfa_0_29"/>
          <p:cNvSpPr txBox="1"/>
          <p:nvPr/>
        </p:nvSpPr>
        <p:spPr>
          <a:xfrm>
            <a:off x="242576" y="921700"/>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Example 2:</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2 → 1 → 6 → 4 → 8.</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In our original linked list, we have numbers: 2 → 1 → 6 → 4 → 8.</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We want to separate even numbers from odd numbers and keep the order the same.</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So, first, we find the even numbers, which are 2, 6, 4, and 8. We keep them at the beginning in the same order, forming 2 → 6 → 4 → 8.</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Next, we find the odd number, which is 1. We keep it after the even numbers, maintaining its original order, forming 2 → 6 → 4 → 8 → 1.</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243ccbddfa_0_35"/>
          <p:cNvSpPr txBox="1"/>
          <p:nvPr/>
        </p:nvSpPr>
        <p:spPr>
          <a:xfrm>
            <a:off x="720725" y="445600"/>
            <a:ext cx="6956700" cy="932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8182EF"/>
                </a:solidFill>
                <a:latin typeface="Consolas"/>
                <a:ea typeface="Consolas"/>
                <a:cs typeface="Consolas"/>
                <a:sym typeface="Consolas"/>
              </a:rPr>
              <a:t>SEGREGATE EVEN AND ODD NODES IN A LINKED LIST</a:t>
            </a:r>
            <a:endParaRPr b="0" i="0" sz="1800" u="none" cap="none" strike="noStrike">
              <a:solidFill>
                <a:srgbClr val="8182EF"/>
              </a:solidFill>
              <a:latin typeface="Roboto Black"/>
              <a:ea typeface="Roboto Black"/>
              <a:cs typeface="Roboto Black"/>
              <a:sym typeface="Roboto Black"/>
            </a:endParaRPr>
          </a:p>
          <a:p>
            <a:pPr indent="0" lvl="0" marL="0" marR="0" rtl="0" algn="ctr">
              <a:lnSpc>
                <a:spcPct val="115000"/>
              </a:lnSpc>
              <a:spcBef>
                <a:spcPts val="0"/>
              </a:spcBef>
              <a:spcAft>
                <a:spcPts val="0"/>
              </a:spcAft>
              <a:buClr>
                <a:schemeClr val="dk1"/>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sp>
        <p:nvSpPr>
          <p:cNvPr id="177" name="Google Shape;177;g3243ccbddfa_0_35"/>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
        <p:nvSpPr>
          <p:cNvPr id="178" name="Google Shape;178;g3243ccbddfa_0_35"/>
          <p:cNvSpPr txBox="1"/>
          <p:nvPr/>
        </p:nvSpPr>
        <p:spPr>
          <a:xfrm>
            <a:off x="2176175" y="1053975"/>
            <a:ext cx="3000000" cy="32889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Input:</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Original list:</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1 2 3 4 5 </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Output:</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Segregated list (even before odd):</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2 4 1 3 5 </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243ccbddfa_0_42"/>
          <p:cNvSpPr txBox="1"/>
          <p:nvPr/>
        </p:nvSpPr>
        <p:spPr>
          <a:xfrm>
            <a:off x="720725" y="445600"/>
            <a:ext cx="6956700" cy="932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8182EF"/>
                </a:solidFill>
                <a:latin typeface="Consolas"/>
                <a:ea typeface="Consolas"/>
                <a:cs typeface="Consolas"/>
                <a:sym typeface="Consolas"/>
              </a:rPr>
              <a:t>SEGREGATE EVEN AND ODD NODES IN A LINKED LIST</a:t>
            </a:r>
            <a:endParaRPr b="0" i="0" sz="1800" u="none" cap="none" strike="noStrike">
              <a:solidFill>
                <a:srgbClr val="8182EF"/>
              </a:solidFill>
              <a:latin typeface="Roboto Black"/>
              <a:ea typeface="Roboto Black"/>
              <a:cs typeface="Roboto Black"/>
              <a:sym typeface="Roboto Black"/>
            </a:endParaRPr>
          </a:p>
          <a:p>
            <a:pPr indent="0" lvl="0" marL="0" marR="0" rtl="0" algn="ctr">
              <a:lnSpc>
                <a:spcPct val="115000"/>
              </a:lnSpc>
              <a:spcBef>
                <a:spcPts val="0"/>
              </a:spcBef>
              <a:spcAft>
                <a:spcPts val="0"/>
              </a:spcAft>
              <a:buClr>
                <a:schemeClr val="dk1"/>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graphicFrame>
        <p:nvGraphicFramePr>
          <p:cNvPr id="184" name="Google Shape;184;g3243ccbddfa_0_42"/>
          <p:cNvGraphicFramePr/>
          <p:nvPr/>
        </p:nvGraphicFramePr>
        <p:xfrm>
          <a:off x="154610" y="896938"/>
          <a:ext cx="3000000" cy="3000000"/>
        </p:xfrm>
        <a:graphic>
          <a:graphicData uri="http://schemas.openxmlformats.org/drawingml/2006/table">
            <a:tbl>
              <a:tblPr bandRow="1" firstRow="1">
                <a:noFill/>
                <a:tableStyleId>{53D61CF2-8780-4E0F-910A-4C4CCC0E5B09}</a:tableStyleId>
              </a:tblPr>
              <a:tblGrid>
                <a:gridCol w="4265000"/>
                <a:gridCol w="4265000"/>
              </a:tblGrid>
              <a:tr h="3813800">
                <a:tc>
                  <a:txBody>
                    <a:bodyPr/>
                    <a:lstStyle/>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class Node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int data;</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Node next;</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public Node(int data)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this.data = data;</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this.next = null;</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class LinkedList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Node head;</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public void append(int data)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Node newNode = new Node(data);</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if (head == null)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head = newNode;</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return;</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Node current = head;</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while (current.next != null)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current = current.next;</a:t>
                      </a:r>
                      <a:endParaRPr sz="12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current.next = newNode;</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public void segregateEvenOdd()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if (head == null)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System.out.println("The list is empty.");</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return;</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Node evenHead = null, evenTail = null;</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Node oddHead = null, oddTail = null;</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Node current = head;</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while (current != null)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int data = current.data;</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if (data % 2 == 0) { // even node</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if (evenHead == null)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evenHead = evenTail = current;</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a:t>
                      </a:r>
                      <a:endParaRPr sz="12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243ccbddfa_0_58"/>
          <p:cNvSpPr txBox="1"/>
          <p:nvPr/>
        </p:nvSpPr>
        <p:spPr>
          <a:xfrm>
            <a:off x="720725" y="445600"/>
            <a:ext cx="6956700" cy="932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8182EF"/>
                </a:solidFill>
                <a:latin typeface="Consolas"/>
                <a:ea typeface="Consolas"/>
                <a:cs typeface="Consolas"/>
                <a:sym typeface="Consolas"/>
              </a:rPr>
              <a:t>SEGREGATE EVEN AND ODD NODES IN A LINKED LIST</a:t>
            </a:r>
            <a:endParaRPr b="0" i="0" sz="1800" u="none" cap="none" strike="noStrike">
              <a:solidFill>
                <a:srgbClr val="8182EF"/>
              </a:solidFill>
              <a:latin typeface="Roboto Black"/>
              <a:ea typeface="Roboto Black"/>
              <a:cs typeface="Roboto Black"/>
              <a:sym typeface="Roboto Black"/>
            </a:endParaRPr>
          </a:p>
          <a:p>
            <a:pPr indent="0" lvl="0" marL="0" marR="0" rtl="0" algn="ctr">
              <a:lnSpc>
                <a:spcPct val="115000"/>
              </a:lnSpc>
              <a:spcBef>
                <a:spcPts val="0"/>
              </a:spcBef>
              <a:spcAft>
                <a:spcPts val="0"/>
              </a:spcAft>
              <a:buClr>
                <a:schemeClr val="dk1"/>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graphicFrame>
        <p:nvGraphicFramePr>
          <p:cNvPr id="190" name="Google Shape;190;g3243ccbddfa_0_58"/>
          <p:cNvGraphicFramePr/>
          <p:nvPr/>
        </p:nvGraphicFramePr>
        <p:xfrm>
          <a:off x="127435" y="859463"/>
          <a:ext cx="3000000" cy="3000000"/>
        </p:xfrm>
        <a:graphic>
          <a:graphicData uri="http://schemas.openxmlformats.org/drawingml/2006/table">
            <a:tbl>
              <a:tblPr bandRow="1" firstRow="1">
                <a:noFill/>
                <a:tableStyleId>{53D61CF2-8780-4E0F-910A-4C4CCC0E5B09}</a:tableStyleId>
              </a:tblPr>
              <a:tblGrid>
                <a:gridCol w="4290450"/>
                <a:gridCol w="4290450"/>
              </a:tblGrid>
              <a:tr h="3881825">
                <a:tc>
                  <a:txBody>
                    <a:bodyPr/>
                    <a:lstStyle/>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 else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evenTail.next = current;</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evenTail = current;</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 else { // odd node</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if (oddHead == null)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oddHead = oddTail = current;</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 else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oddTail.next = current;</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oddTail = current;</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current = current.next;</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 Join even and odd lists</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if (evenHead != null)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evenTail.next = oddHead;</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a:t>
                      </a:r>
                      <a:endParaRPr sz="12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if (oddHead != null)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oddTail.next = null;</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head = evenHead != null ? evenHead : oddHead;</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public void printList()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Node current = head;</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while (current != null)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System.out.print(current.data + "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current = current.next;</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System.out.println();</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a:t>
                      </a:r>
                      <a:endParaRPr sz="12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3243ccbddfa_0_51"/>
          <p:cNvSpPr txBox="1"/>
          <p:nvPr/>
        </p:nvSpPr>
        <p:spPr>
          <a:xfrm>
            <a:off x="720725" y="445600"/>
            <a:ext cx="6956700" cy="932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8182EF"/>
                </a:solidFill>
                <a:latin typeface="Consolas"/>
                <a:ea typeface="Consolas"/>
                <a:cs typeface="Consolas"/>
                <a:sym typeface="Consolas"/>
              </a:rPr>
              <a:t>SEGREGATE EVEN AND ODD NODES IN A LINKED LIST</a:t>
            </a:r>
            <a:endParaRPr b="0" i="0" sz="1800" u="none" cap="none" strike="noStrike">
              <a:solidFill>
                <a:srgbClr val="8182EF"/>
              </a:solidFill>
              <a:latin typeface="Roboto Black"/>
              <a:ea typeface="Roboto Black"/>
              <a:cs typeface="Roboto Black"/>
              <a:sym typeface="Roboto Black"/>
            </a:endParaRPr>
          </a:p>
          <a:p>
            <a:pPr indent="0" lvl="0" marL="0" marR="0" rtl="0" algn="ctr">
              <a:lnSpc>
                <a:spcPct val="115000"/>
              </a:lnSpc>
              <a:spcBef>
                <a:spcPts val="0"/>
              </a:spcBef>
              <a:spcAft>
                <a:spcPts val="0"/>
              </a:spcAft>
              <a:buClr>
                <a:schemeClr val="dk1"/>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graphicFrame>
        <p:nvGraphicFramePr>
          <p:cNvPr id="196" name="Google Shape;196;g3243ccbddfa_0_51"/>
          <p:cNvGraphicFramePr/>
          <p:nvPr/>
        </p:nvGraphicFramePr>
        <p:xfrm>
          <a:off x="116695" y="804138"/>
          <a:ext cx="3000000" cy="3000000"/>
        </p:xfrm>
        <a:graphic>
          <a:graphicData uri="http://schemas.openxmlformats.org/drawingml/2006/table">
            <a:tbl>
              <a:tblPr bandRow="1" firstRow="1">
                <a:noFill/>
                <a:tableStyleId>{53D61CF2-8780-4E0F-910A-4C4CCC0E5B09}</a:tableStyleId>
              </a:tblPr>
              <a:tblGrid>
                <a:gridCol w="8562825"/>
              </a:tblGrid>
              <a:tr h="3912325">
                <a:tc>
                  <a:txBody>
                    <a:bodyPr/>
                    <a:lstStyle/>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public class Main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public static void main(String[] args)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LinkedList list = new LinkedList();</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list.append(1);</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list.append(2);</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list.append(3);</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list.append(4);</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list.append(5);</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System.out.println("Original list:");</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list.printList();</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list.segregateEvenOdd();</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System.out.println("Segregated list (even before odd):");</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list.printList();</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a:t>
                      </a:r>
                      <a:endParaRPr sz="12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3243ccbddfa_0_66"/>
          <p:cNvSpPr txBox="1"/>
          <p:nvPr/>
        </p:nvSpPr>
        <p:spPr>
          <a:xfrm>
            <a:off x="720725" y="445600"/>
            <a:ext cx="6956700" cy="932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8182EF"/>
                </a:solidFill>
                <a:latin typeface="Consolas"/>
                <a:ea typeface="Consolas"/>
                <a:cs typeface="Consolas"/>
                <a:sym typeface="Consolas"/>
              </a:rPr>
              <a:t>SEGREGATE EVEN AND ODD NODES IN A LINKED LIST</a:t>
            </a:r>
            <a:endParaRPr b="0" i="0" sz="1800" u="none" cap="none" strike="noStrike">
              <a:solidFill>
                <a:srgbClr val="8182EF"/>
              </a:solidFill>
              <a:latin typeface="Roboto Black"/>
              <a:ea typeface="Roboto Black"/>
              <a:cs typeface="Roboto Black"/>
              <a:sym typeface="Roboto Black"/>
            </a:endParaRPr>
          </a:p>
          <a:p>
            <a:pPr indent="0" lvl="0" marL="0" marR="0" rtl="0" algn="ctr">
              <a:lnSpc>
                <a:spcPct val="115000"/>
              </a:lnSpc>
              <a:spcBef>
                <a:spcPts val="0"/>
              </a:spcBef>
              <a:spcAft>
                <a:spcPts val="0"/>
              </a:spcAft>
              <a:buClr>
                <a:schemeClr val="dk1"/>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sp>
        <p:nvSpPr>
          <p:cNvPr id="202" name="Google Shape;202;g3243ccbddfa_0_66"/>
          <p:cNvSpPr txBox="1"/>
          <p:nvPr/>
        </p:nvSpPr>
        <p:spPr>
          <a:xfrm>
            <a:off x="3146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Time complexity and space complexity</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Time complexity: O(N), where N is the number of nodes in the linked list.</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Space complexity: O(1), constant space is used for the pointers and temporary variables.</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i="0" sz="1600" u="none" cap="none" strike="noStrike">
              <a:solidFill>
                <a:srgbClr val="002060"/>
              </a:solidFill>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1fe56d80bc_0_106"/>
          <p:cNvSpPr txBox="1"/>
          <p:nvPr/>
        </p:nvSpPr>
        <p:spPr>
          <a:xfrm>
            <a:off x="720725" y="369400"/>
            <a:ext cx="6956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3500"/>
              <a:buFont typeface="Arial"/>
              <a:buNone/>
            </a:pPr>
            <a:r>
              <a:rPr b="0" i="0" lang="en-GB" sz="1800" u="none" cap="none" strike="noStrike">
                <a:solidFill>
                  <a:srgbClr val="8182EF"/>
                </a:solidFill>
                <a:latin typeface="Roboto Black"/>
                <a:ea typeface="Roboto Black"/>
                <a:cs typeface="Roboto Black"/>
                <a:sym typeface="Roboto Black"/>
              </a:rPr>
              <a:t>                                           INTERVIEW QUESTIONS</a:t>
            </a:r>
            <a:endParaRPr b="0" i="0" sz="1700" u="none" cap="none" strike="noStrike">
              <a:solidFill>
                <a:srgbClr val="6D9EEB"/>
              </a:solidFill>
              <a:latin typeface="Roboto Black"/>
              <a:ea typeface="Roboto Black"/>
              <a:cs typeface="Roboto Black"/>
              <a:sym typeface="Roboto Black"/>
            </a:endParaRPr>
          </a:p>
        </p:txBody>
      </p:sp>
      <p:sp>
        <p:nvSpPr>
          <p:cNvPr id="208" name="Google Shape;208;g31fe56d80bc_0_106"/>
          <p:cNvSpPr txBox="1"/>
          <p:nvPr/>
        </p:nvSpPr>
        <p:spPr>
          <a:xfrm>
            <a:off x="256925" y="901500"/>
            <a:ext cx="7884300" cy="5370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1. How would you segregate even and odd nodes in a singly linked list while maintaining the order of nodes?</a:t>
            </a:r>
            <a:endParaRPr b="0" i="0" sz="1600" u="none" cap="none" strike="noStrike">
              <a:solidFill>
                <a:srgbClr val="000000"/>
              </a:solidFill>
              <a:latin typeface="Calibri"/>
              <a:ea typeface="Calibri"/>
              <a:cs typeface="Calibri"/>
              <a:sym typeface="Calibri"/>
            </a:endParaRPr>
          </a:p>
          <a:p>
            <a:pPr indent="0" lvl="0" marL="0" marR="0" rtl="0" algn="l">
              <a:lnSpc>
                <a:spcPct val="150000"/>
              </a:lnSpc>
              <a:spcBef>
                <a:spcPts val="1000"/>
              </a:spcBef>
              <a:spcAft>
                <a:spcPts val="0"/>
              </a:spcAft>
              <a:buClr>
                <a:srgbClr val="000000"/>
              </a:buClr>
              <a:buSzPts val="1600"/>
              <a:buFont typeface="Arial"/>
              <a:buNone/>
            </a:pPr>
            <a:r>
              <a:t/>
            </a:r>
            <a:endParaRPr b="1" i="1" sz="1600" u="none" cap="none" strike="noStrike">
              <a:solidFill>
                <a:srgbClr val="FF0000"/>
              </a:solidFill>
              <a:latin typeface="Consolas"/>
              <a:ea typeface="Consolas"/>
              <a:cs typeface="Consolas"/>
              <a:sym typeface="Consolas"/>
            </a:endParaRPr>
          </a:p>
        </p:txBody>
      </p:sp>
      <p:sp>
        <p:nvSpPr>
          <p:cNvPr id="209" name="Google Shape;209;g31fe56d80bc_0_106"/>
          <p:cNvSpPr txBox="1"/>
          <p:nvPr/>
        </p:nvSpPr>
        <p:spPr>
          <a:xfrm>
            <a:off x="229174" y="1284734"/>
            <a:ext cx="7939800" cy="1908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t/>
            </a:r>
            <a:endParaRPr b="0" i="0" sz="2000" u="none" cap="none" strike="noStrike">
              <a:solidFill>
                <a:srgbClr val="00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rPr b="0" i="0" lang="en-GB" sz="1600" u="none" cap="none" strike="noStrike">
                <a:solidFill>
                  <a:srgbClr val="000000"/>
                </a:solidFill>
                <a:latin typeface="Consolas"/>
                <a:ea typeface="Consolas"/>
                <a:cs typeface="Consolas"/>
                <a:sym typeface="Consolas"/>
              </a:rPr>
              <a:t>Answer: To segregate even and odd nodes while preserving the order, you can iterate through the linked list, move even nodes to a separate even list, and odd nodes to an odd list. Finally, merge the two lists while keeping the order.</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243ccbddfa_0_73"/>
          <p:cNvSpPr txBox="1"/>
          <p:nvPr/>
        </p:nvSpPr>
        <p:spPr>
          <a:xfrm>
            <a:off x="720725" y="369400"/>
            <a:ext cx="6956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3500"/>
              <a:buFont typeface="Arial"/>
              <a:buNone/>
            </a:pPr>
            <a:r>
              <a:rPr b="0" i="0" lang="en-GB" sz="1800" u="none" cap="none" strike="noStrike">
                <a:solidFill>
                  <a:srgbClr val="8182EF"/>
                </a:solidFill>
                <a:latin typeface="Roboto Black"/>
                <a:ea typeface="Roboto Black"/>
                <a:cs typeface="Roboto Black"/>
                <a:sym typeface="Roboto Black"/>
              </a:rPr>
              <a:t>                                           INTERVIEW QUESTIONS</a:t>
            </a:r>
            <a:endParaRPr b="0" i="0" sz="1700" u="none" cap="none" strike="noStrike">
              <a:solidFill>
                <a:srgbClr val="6D9EEB"/>
              </a:solidFill>
              <a:latin typeface="Roboto Black"/>
              <a:ea typeface="Roboto Black"/>
              <a:cs typeface="Roboto Black"/>
              <a:sym typeface="Roboto Black"/>
            </a:endParaRPr>
          </a:p>
        </p:txBody>
      </p:sp>
      <p:sp>
        <p:nvSpPr>
          <p:cNvPr id="215" name="Google Shape;215;g3243ccbddfa_0_73"/>
          <p:cNvSpPr txBox="1"/>
          <p:nvPr/>
        </p:nvSpPr>
        <p:spPr>
          <a:xfrm>
            <a:off x="294425" y="989300"/>
            <a:ext cx="78093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600"/>
              <a:buFont typeface="Arial"/>
              <a:buNone/>
            </a:pPr>
            <a:r>
              <a:rPr b="1" i="1" lang="en-GB" sz="1600" u="none" cap="none" strike="noStrike">
                <a:solidFill>
                  <a:srgbClr val="FF0000"/>
                </a:solidFill>
                <a:latin typeface="Consolas"/>
                <a:ea typeface="Consolas"/>
                <a:cs typeface="Consolas"/>
                <a:sym typeface="Consolas"/>
              </a:rPr>
              <a:t>2.</a:t>
            </a:r>
            <a:r>
              <a:rPr b="0" i="1" lang="en-GB" sz="1600" u="none" cap="none" strike="noStrike">
                <a:solidFill>
                  <a:srgbClr val="FF0000"/>
                </a:solidFill>
                <a:latin typeface="Consolas"/>
                <a:ea typeface="Consolas"/>
                <a:cs typeface="Consolas"/>
                <a:sym typeface="Consolas"/>
              </a:rPr>
              <a:t> What is the time complexity of segregating even and odd nodes in a singly linked list using the above approach?</a:t>
            </a:r>
            <a:endParaRPr b="0" i="0" sz="1600" u="none" cap="none" strike="noStrike">
              <a:solidFill>
                <a:srgbClr val="000000"/>
              </a:solidFill>
              <a:latin typeface="Calibri"/>
              <a:ea typeface="Calibri"/>
              <a:cs typeface="Calibri"/>
              <a:sym typeface="Calibri"/>
            </a:endParaRPr>
          </a:p>
          <a:p>
            <a:pPr indent="0" lvl="0" marL="0" marR="0" rtl="0" algn="l">
              <a:lnSpc>
                <a:spcPct val="150000"/>
              </a:lnSpc>
              <a:spcBef>
                <a:spcPts val="1000"/>
              </a:spcBef>
              <a:spcAft>
                <a:spcPts val="0"/>
              </a:spcAft>
              <a:buClr>
                <a:srgbClr val="000000"/>
              </a:buClr>
              <a:buSzPts val="1600"/>
              <a:buFont typeface="Arial"/>
              <a:buNone/>
            </a:pPr>
            <a:r>
              <a:t/>
            </a:r>
            <a:endParaRPr b="1" i="1" sz="1600" u="none" cap="none" strike="noStrike">
              <a:solidFill>
                <a:srgbClr val="FF0000"/>
              </a:solidFill>
              <a:latin typeface="Consolas"/>
              <a:ea typeface="Consolas"/>
              <a:cs typeface="Consolas"/>
              <a:sym typeface="Consolas"/>
            </a:endParaRPr>
          </a:p>
        </p:txBody>
      </p:sp>
      <p:sp>
        <p:nvSpPr>
          <p:cNvPr id="216" name="Google Shape;216;g3243ccbddfa_0_73"/>
          <p:cNvSpPr txBox="1"/>
          <p:nvPr/>
        </p:nvSpPr>
        <p:spPr>
          <a:xfrm>
            <a:off x="404323" y="1439875"/>
            <a:ext cx="6956700" cy="153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t/>
            </a:r>
            <a:endParaRPr b="0" i="0" sz="2000" u="none" cap="none" strike="noStrike">
              <a:solidFill>
                <a:srgbClr val="00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rPr b="0" i="0" lang="en-GB" sz="1600" u="none" cap="none" strike="noStrike">
                <a:solidFill>
                  <a:srgbClr val="000000"/>
                </a:solidFill>
                <a:latin typeface="Consolas"/>
                <a:ea typeface="Consolas"/>
                <a:cs typeface="Consolas"/>
                <a:sym typeface="Consolas"/>
              </a:rPr>
              <a:t>Answer: The time complexity is O(n), where n is the number of nodes in the linked list, as we traverse the list once to segregate the nodes.</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243ccbddfa_0_83"/>
          <p:cNvSpPr txBox="1"/>
          <p:nvPr/>
        </p:nvSpPr>
        <p:spPr>
          <a:xfrm>
            <a:off x="720725" y="369400"/>
            <a:ext cx="6956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3500"/>
              <a:buFont typeface="Arial"/>
              <a:buNone/>
            </a:pPr>
            <a:r>
              <a:rPr b="0" i="0" lang="en-GB" sz="1800" u="none" cap="none" strike="noStrike">
                <a:solidFill>
                  <a:srgbClr val="8182EF"/>
                </a:solidFill>
                <a:latin typeface="Roboto Black"/>
                <a:ea typeface="Roboto Black"/>
                <a:cs typeface="Roboto Black"/>
                <a:sym typeface="Roboto Black"/>
              </a:rPr>
              <a:t>                                           INTERVIEW QUESTIONS</a:t>
            </a:r>
            <a:endParaRPr b="0" i="0" sz="1700" u="none" cap="none" strike="noStrike">
              <a:solidFill>
                <a:srgbClr val="6D9EEB"/>
              </a:solidFill>
              <a:latin typeface="Roboto Black"/>
              <a:ea typeface="Roboto Black"/>
              <a:cs typeface="Roboto Black"/>
              <a:sym typeface="Roboto Black"/>
            </a:endParaRPr>
          </a:p>
        </p:txBody>
      </p:sp>
      <p:sp>
        <p:nvSpPr>
          <p:cNvPr id="222" name="Google Shape;222;g3243ccbddfa_0_83"/>
          <p:cNvSpPr txBox="1"/>
          <p:nvPr/>
        </p:nvSpPr>
        <p:spPr>
          <a:xfrm>
            <a:off x="300125" y="865050"/>
            <a:ext cx="77979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600"/>
              <a:buFont typeface="Arial"/>
              <a:buNone/>
            </a:pPr>
            <a:r>
              <a:rPr b="1" i="1" lang="en-GB" sz="1600" u="none" cap="none" strike="noStrike">
                <a:solidFill>
                  <a:srgbClr val="FF0000"/>
                </a:solidFill>
                <a:latin typeface="Consolas"/>
                <a:ea typeface="Consolas"/>
                <a:cs typeface="Consolas"/>
                <a:sym typeface="Consolas"/>
              </a:rPr>
              <a:t>3.</a:t>
            </a:r>
            <a:r>
              <a:rPr b="0" i="1" lang="en-GB" sz="1600" u="none" cap="none" strike="noStrike">
                <a:solidFill>
                  <a:srgbClr val="FF0000"/>
                </a:solidFill>
                <a:latin typeface="Consolas"/>
                <a:ea typeface="Consolas"/>
                <a:cs typeface="Consolas"/>
                <a:sym typeface="Consolas"/>
              </a:rPr>
              <a:t> Can you solve this problem in-place without using extra space for additional lists?</a:t>
            </a:r>
            <a:endParaRPr b="0" i="0" sz="1600" u="none" cap="none" strike="noStrike">
              <a:solidFill>
                <a:srgbClr val="000000"/>
              </a:solidFill>
              <a:latin typeface="Calibri"/>
              <a:ea typeface="Calibri"/>
              <a:cs typeface="Calibri"/>
              <a:sym typeface="Calibri"/>
            </a:endParaRPr>
          </a:p>
          <a:p>
            <a:pPr indent="0" lvl="0" marL="0" marR="0" rtl="0" algn="l">
              <a:lnSpc>
                <a:spcPct val="150000"/>
              </a:lnSpc>
              <a:spcBef>
                <a:spcPts val="1000"/>
              </a:spcBef>
              <a:spcAft>
                <a:spcPts val="0"/>
              </a:spcAft>
              <a:buClr>
                <a:srgbClr val="000000"/>
              </a:buClr>
              <a:buSzPts val="1600"/>
              <a:buFont typeface="Arial"/>
              <a:buNone/>
            </a:pPr>
            <a:r>
              <a:t/>
            </a:r>
            <a:endParaRPr b="1" i="1" sz="1600" u="none" cap="none" strike="noStrike">
              <a:solidFill>
                <a:srgbClr val="FF0000"/>
              </a:solidFill>
              <a:latin typeface="Consolas"/>
              <a:ea typeface="Consolas"/>
              <a:cs typeface="Consolas"/>
              <a:sym typeface="Consolas"/>
            </a:endParaRPr>
          </a:p>
        </p:txBody>
      </p:sp>
      <p:sp>
        <p:nvSpPr>
          <p:cNvPr id="223" name="Google Shape;223;g3243ccbddfa_0_83"/>
          <p:cNvSpPr txBox="1"/>
          <p:nvPr/>
        </p:nvSpPr>
        <p:spPr>
          <a:xfrm>
            <a:off x="383475" y="1869475"/>
            <a:ext cx="7372500" cy="19701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0" i="0" lang="en-GB" sz="1600" u="none" cap="none" strike="noStrike">
                <a:solidFill>
                  <a:srgbClr val="000000"/>
                </a:solidFill>
                <a:latin typeface="Consolas"/>
                <a:ea typeface="Consolas"/>
                <a:cs typeface="Consolas"/>
                <a:sym typeface="Consolas"/>
              </a:rPr>
              <a:t>Answer: Yes, an in-place solution is possible. You can maintain two pointers, one for even nodes and one for odd nodes, while rearranging the nodes within the existing list.</a:t>
            </a:r>
            <a:endParaRPr b="0" i="0" sz="16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000"/>
              <a:buFont typeface="Arial"/>
              <a:buNone/>
            </a:pPr>
            <a:r>
              <a:t/>
            </a:r>
            <a:endParaRPr b="0" i="0" sz="2000" u="none" cap="none" strike="noStrike">
              <a:solidFill>
                <a:srgbClr val="00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b="0" i="0" sz="2000" u="none" cap="none" strike="noStrike">
              <a:solidFill>
                <a:srgbClr val="000000"/>
              </a:solidFill>
              <a:latin typeface="Consolas"/>
              <a:ea typeface="Consolas"/>
              <a:cs typeface="Consolas"/>
              <a:sym typeface="Consola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1fdec52c72_0_308"/>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29" name="Google Shape;229;g31fdec52c72_0_308"/>
          <p:cNvSpPr txBox="1"/>
          <p:nvPr/>
        </p:nvSpPr>
        <p:spPr>
          <a:xfrm>
            <a:off x="270675" y="962925"/>
            <a:ext cx="82776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4. What is the space complexity of the in-place solution for segregating even and odd nodes?</a:t>
            </a:r>
            <a:endParaRPr b="0" i="0" sz="1600" u="none" cap="none" strike="noStrike">
              <a:solidFill>
                <a:srgbClr val="000000"/>
              </a:solidFill>
              <a:latin typeface="Calibri"/>
              <a:ea typeface="Calibri"/>
              <a:cs typeface="Calibri"/>
              <a:sym typeface="Calibri"/>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30" name="Google Shape;230;g31fdec52c72_0_308"/>
          <p:cNvSpPr txBox="1"/>
          <p:nvPr/>
        </p:nvSpPr>
        <p:spPr>
          <a:xfrm>
            <a:off x="270673" y="1909950"/>
            <a:ext cx="74922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 Answer: The in-place solution has a space complexity of O(1), as it does not require additional data structures.</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g3243a3cdda7_0_819"/>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36" name="Google Shape;236;g3243a3cdda7_0_819"/>
          <p:cNvSpPr txBox="1"/>
          <p:nvPr/>
        </p:nvSpPr>
        <p:spPr>
          <a:xfrm>
            <a:off x="436325" y="1821325"/>
            <a:ext cx="80868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
        <p:nvSpPr>
          <p:cNvPr id="237" name="Google Shape;237;g3243a3cdda7_0_819"/>
          <p:cNvSpPr txBox="1"/>
          <p:nvPr/>
        </p:nvSpPr>
        <p:spPr>
          <a:xfrm>
            <a:off x="307200" y="865050"/>
            <a:ext cx="85296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rgbClr val="FF0000"/>
                </a:solidFill>
                <a:latin typeface="Consolas"/>
                <a:ea typeface="Consolas"/>
                <a:cs typeface="Consolas"/>
                <a:sym typeface="Consolas"/>
              </a:rPr>
              <a:t>5. How can you modify the linked list to place all even nodes before all odd nodes, regardless of the original order?</a:t>
            </a:r>
            <a:endParaRPr b="0" i="0" sz="1600" u="none" cap="none" strike="noStrike">
              <a:solidFill>
                <a:srgbClr val="000000"/>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 To place all even nodes before odd nodes, you can create two separate lists for even and odd nodes, then concatenate the odd list to the end of the even list.</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rgbClr val="000000"/>
              </a:buClr>
              <a:buSzPts val="2000"/>
              <a:buFont typeface="Arial"/>
              <a:buNone/>
            </a:pPr>
            <a:r>
              <a:t/>
            </a:r>
            <a:endParaRPr b="0" i="0" sz="2000" u="none" cap="none" strike="noStrike">
              <a:solidFill>
                <a:srgbClr val="FF0000"/>
              </a:solidFill>
              <a:latin typeface="Consolas"/>
              <a:ea typeface="Consolas"/>
              <a:cs typeface="Consolas"/>
              <a:sym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3243a3cdda7_0_825"/>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43" name="Google Shape;243;g3243a3cdda7_0_825"/>
          <p:cNvSpPr txBox="1"/>
          <p:nvPr/>
        </p:nvSpPr>
        <p:spPr>
          <a:xfrm>
            <a:off x="231725" y="814900"/>
            <a:ext cx="8004600" cy="4950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rgbClr val="FF0000"/>
                </a:solidFill>
                <a:latin typeface="Consolas"/>
                <a:ea typeface="Consolas"/>
                <a:cs typeface="Consolas"/>
                <a:sym typeface="Consolas"/>
              </a:rPr>
              <a:t>6.If the linked list nodes contain values, and you need to maintain the order of nodes based on their values while segregating even and odd nodes, how would you modify your approach?</a:t>
            </a:r>
            <a:endParaRPr b="0" i="0" sz="1600" u="none" cap="none" strike="noStrike">
              <a:solidFill>
                <a:srgbClr val="000000"/>
              </a:solidFill>
              <a:latin typeface="Calibri"/>
              <a:ea typeface="Calibri"/>
              <a:cs typeface="Calibri"/>
              <a:sym typeface="Calibri"/>
            </a:endParaRPr>
          </a:p>
          <a:p>
            <a:pPr indent="0" lvl="0" marL="0" marR="0" rtl="0" algn="l">
              <a:lnSpc>
                <a:spcPct val="150000"/>
              </a:lnSpc>
              <a:spcBef>
                <a:spcPts val="1000"/>
              </a:spcBef>
              <a:spcAft>
                <a:spcPts val="0"/>
              </a:spcAft>
              <a:buClr>
                <a:srgbClr val="000000"/>
              </a:buClr>
              <a:buSzPts val="1600"/>
              <a:buFont typeface="Arial"/>
              <a:buNone/>
            </a:pPr>
            <a:r>
              <a:t/>
            </a:r>
            <a:endParaRPr b="0" i="0" sz="1600" u="none" cap="none" strike="noStrike">
              <a:solidFill>
                <a:srgbClr val="FF0000"/>
              </a:solidFill>
              <a:latin typeface="Consolas"/>
              <a:ea typeface="Consolas"/>
              <a:cs typeface="Consolas"/>
              <a:sym typeface="Consolas"/>
            </a:endParaRPr>
          </a:p>
        </p:txBody>
      </p:sp>
      <p:sp>
        <p:nvSpPr>
          <p:cNvPr id="244" name="Google Shape;244;g3243a3cdda7_0_825"/>
          <p:cNvSpPr txBox="1"/>
          <p:nvPr/>
        </p:nvSpPr>
        <p:spPr>
          <a:xfrm>
            <a:off x="203670" y="2111598"/>
            <a:ext cx="8060700" cy="18777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0" i="0" lang="en-GB" sz="1600" u="none" cap="none" strike="noStrike">
                <a:solidFill>
                  <a:srgbClr val="000000"/>
                </a:solidFill>
                <a:latin typeface="Consolas"/>
                <a:ea typeface="Consolas"/>
                <a:cs typeface="Consolas"/>
                <a:sym typeface="Consolas"/>
              </a:rPr>
              <a:t>Answer: In this case, you would need to compare node values and reorder nodes accordingly while segregating even and odd nodes, ensuring that the relative order of values is preserved in both the even and odd portions of the list.</a:t>
            </a:r>
            <a:endParaRPr b="0" i="0" sz="16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2000"/>
              <a:buFont typeface="Arial"/>
              <a:buNone/>
            </a:pPr>
            <a:r>
              <a:t/>
            </a:r>
            <a:endParaRPr b="0" i="0" sz="2000" u="none" cap="none" strike="noStrike">
              <a:solidFill>
                <a:srgbClr val="000000"/>
              </a:solidFill>
              <a:latin typeface="Consolas"/>
              <a:ea typeface="Consolas"/>
              <a:cs typeface="Consolas"/>
              <a:sym typeface="Consola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
          <p:cNvSpPr/>
          <p:nvPr/>
        </p:nvSpPr>
        <p:spPr>
          <a:xfrm>
            <a:off x="532420" y="1439990"/>
            <a:ext cx="7545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250" name="Google Shape;250;p4"/>
          <p:cNvPicPr preferRelativeResize="0"/>
          <p:nvPr/>
        </p:nvPicPr>
        <p:blipFill rotWithShape="1">
          <a:blip r:embed="rId3">
            <a:alphaModFix/>
          </a:blip>
          <a:srcRect b="0" l="0" r="0" t="0"/>
          <a:stretch/>
        </p:blipFill>
        <p:spPr>
          <a:xfrm>
            <a:off x="2739687" y="1038566"/>
            <a:ext cx="2855119" cy="2888456"/>
          </a:xfrm>
          <a:prstGeom prst="rect">
            <a:avLst/>
          </a:prstGeom>
          <a:noFill/>
          <a:ln>
            <a:noFill/>
          </a:ln>
        </p:spPr>
      </p:pic>
      <p:sp>
        <p:nvSpPr>
          <p:cNvPr id="251" name="Google Shape;251;p4"/>
          <p:cNvSpPr/>
          <p:nvPr/>
        </p:nvSpPr>
        <p:spPr>
          <a:xfrm>
            <a:off x="1634729" y="4055269"/>
            <a:ext cx="5184000" cy="28470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257" name="Google Shape;257;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258" name="Google Shape;258;p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259" name="Google Shape;259;p5"/>
          <p:cNvSpPr txBox="1"/>
          <p:nvPr/>
        </p:nvSpPr>
        <p:spPr>
          <a:xfrm>
            <a:off x="3141000" y="2194650"/>
            <a:ext cx="2862000" cy="75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260" name="Google Shape;260;p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261" name="Google Shape;261;p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262" name="Google Shape;262;p5"/>
          <p:cNvSpPr txBox="1"/>
          <p:nvPr/>
        </p:nvSpPr>
        <p:spPr>
          <a:xfrm>
            <a:off x="1980750" y="4590801"/>
            <a:ext cx="11871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263" name="Google Shape;263;p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264" name="Google Shape;264;p5"/>
          <p:cNvSpPr txBox="1"/>
          <p:nvPr/>
        </p:nvSpPr>
        <p:spPr>
          <a:xfrm>
            <a:off x="3519050"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265" name="Google Shape;265;p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266" name="Google Shape;266;p5"/>
          <p:cNvSpPr txBox="1"/>
          <p:nvPr/>
        </p:nvSpPr>
        <p:spPr>
          <a:xfrm>
            <a:off x="5457275"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267" name="Google Shape;267;p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