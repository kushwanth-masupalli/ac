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embeddedFontLst>
    <p:embeddedFont>
      <p:font typeface="Roboto Black"/>
      <p:bold r:id="rId30"/>
      <p:boldItalic r:id="rId31"/>
    </p:embeddedFont>
    <p:embeddedFont>
      <p:font typeface="Robo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guide id="7" pos="1757">
          <p15:clr>
            <a:srgbClr val="747775"/>
          </p15:clr>
        </p15:guide>
      </p15:sldGuideLst>
    </p:ext>
    <p:ext uri="GoogleSlidesCustomDataVersion2">
      <go:slidesCustomData xmlns:go="http://customooxmlschemas.google.com/" r:id="rId36" roundtripDataSignature="AMtx7mgAj0K9UQ8bkos/2Jr1tsNRki+T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351526-4113-409B-923E-E11D2F0F1BA7}">
  <a:tblStyle styleId="{3F351526-4113-409B-923E-E11D2F0F1BA7}"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b="off" i="off"/>
    </a:seCell>
    <a:swCell>
      <a:tcTxStyle b="off" i="off"/>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 pos="1757"/>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lack-boldItalic.fntdata"/><Relationship Id="rId30" Type="http://schemas.openxmlformats.org/officeDocument/2006/relationships/font" Target="fonts/RobotoBlack-bold.fntdata"/><Relationship Id="rId11" Type="http://schemas.openxmlformats.org/officeDocument/2006/relationships/slide" Target="slides/slide4.xml"/><Relationship Id="rId33" Type="http://schemas.openxmlformats.org/officeDocument/2006/relationships/font" Target="fonts/Roboto-bold.fntdata"/><Relationship Id="rId10" Type="http://schemas.openxmlformats.org/officeDocument/2006/relationships/slide" Target="slides/slide3.xml"/><Relationship Id="rId32" Type="http://schemas.openxmlformats.org/officeDocument/2006/relationships/font" Target="fonts/Roboto-regular.fntdata"/><Relationship Id="rId13" Type="http://schemas.openxmlformats.org/officeDocument/2006/relationships/slide" Target="slides/slide6.xml"/><Relationship Id="rId35" Type="http://schemas.openxmlformats.org/officeDocument/2006/relationships/font" Target="fonts/Roboto-boldItalic.fntdata"/><Relationship Id="rId12" Type="http://schemas.openxmlformats.org/officeDocument/2006/relationships/slide" Target="slides/slide5.xml"/><Relationship Id="rId34" Type="http://schemas.openxmlformats.org/officeDocument/2006/relationships/font" Target="fonts/Roboto-italic.fntdata"/><Relationship Id="rId15" Type="http://schemas.openxmlformats.org/officeDocument/2006/relationships/slide" Target="slides/slide8.xml"/><Relationship Id="rId14" Type="http://schemas.openxmlformats.org/officeDocument/2006/relationships/slide" Target="slides/slide7.xml"/><Relationship Id="rId36" Type="http://customschemas.google.com/relationships/presentationmetadata" Target="meta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4337fc5d25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2" name="Google Shape;112;g14337fc5d25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2041119a6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9" name="Google Shape;119;g32041119a6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042aa8473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6" name="Google Shape;126;g32042aa8473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2042aa8473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2" name="Google Shape;132;g32042aa8473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2042aa8473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9" name="Google Shape;139;g32042aa8473_0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2042aa8473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6" name="Google Shape;146;g32042aa8473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2042aa8473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3" name="Google Shape;153;g32042aa8473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2042aa8473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0" name="Google Shape;160;g32042aa8473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2042aa8473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7" name="Google Shape;167;g32042aa8473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2042aa8473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4" name="Google Shape;174;g32042aa8473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2042aa8473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1" name="Google Shape;181;g32042aa8473_0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2042aa8473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8" name="Google Shape;188;g32042aa8473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2042aa8473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4" name="Google Shape;194;g32042aa8473_0_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2042aa8473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0" name="Google Shape;200;g32042aa8473_0_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1fdec52c72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7" name="Google Shape;207;g31fdec52c72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243a3cdda7_0_8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4" name="Google Shape;214;g3243a3cdda7_0_8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243a3cdda7_0_8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21" name="Google Shape;221;g3243a3cdda7_0_8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243a3cdda7_0_8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28" name="Google Shape;228;g3243a3cdda7_0_8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4" name="Shape 44"/>
        <p:cNvGrpSpPr/>
        <p:nvPr/>
      </p:nvGrpSpPr>
      <p:grpSpPr>
        <a:xfrm>
          <a:off x="0" y="0"/>
          <a:ext cx="0" cy="0"/>
          <a:chOff x="0" y="0"/>
          <a:chExt cx="0" cy="0"/>
        </a:xfrm>
      </p:grpSpPr>
      <p:sp>
        <p:nvSpPr>
          <p:cNvPr id="45" name="Google Shape;45;g31fef00ada2_0_12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6" name="Google Shape;46;g31fef00ada2_0_12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 name="Google Shape;47;g31fef00ada2_0_1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8" name="Google Shape;48;g31fef00ada2_0_1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9" name="Google Shape;49;g31fef00ada2_0_1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5" name="Shape 55"/>
        <p:cNvGrpSpPr/>
        <p:nvPr/>
      </p:nvGrpSpPr>
      <p:grpSpPr>
        <a:xfrm>
          <a:off x="0" y="0"/>
          <a:ext cx="0" cy="0"/>
          <a:chOff x="0" y="0"/>
          <a:chExt cx="0" cy="0"/>
        </a:xfrm>
      </p:grpSpPr>
      <p:sp>
        <p:nvSpPr>
          <p:cNvPr id="56" name="Google Shape;56;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8" name="Google Shape;58;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9" name="Google Shape;59;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2" name="Google Shape;62;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64" name="Shape 6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7" name="Google Shape;67;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1" name="Shape 71"/>
        <p:cNvGrpSpPr/>
        <p:nvPr/>
      </p:nvGrpSpPr>
      <p:grpSpPr>
        <a:xfrm>
          <a:off x="0" y="0"/>
          <a:ext cx="0" cy="0"/>
          <a:chOff x="0" y="0"/>
          <a:chExt cx="0" cy="0"/>
        </a:xfrm>
      </p:grpSpPr>
      <p:sp>
        <p:nvSpPr>
          <p:cNvPr id="72" name="Google Shape;72;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3" name="Google Shape;73;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4" name="Google Shape;74;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5" name="Shape 75"/>
        <p:cNvGrpSpPr/>
        <p:nvPr/>
      </p:nvGrpSpPr>
      <p:grpSpPr>
        <a:xfrm>
          <a:off x="0" y="0"/>
          <a:ext cx="0" cy="0"/>
          <a:chOff x="0" y="0"/>
          <a:chExt cx="0" cy="0"/>
        </a:xfrm>
      </p:grpSpPr>
      <p:sp>
        <p:nvSpPr>
          <p:cNvPr id="76" name="Google Shape;76;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7" name="Google Shape;77;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 name="Shape 78"/>
        <p:cNvGrpSpPr/>
        <p:nvPr/>
      </p:nvGrpSpPr>
      <p:grpSpPr>
        <a:xfrm>
          <a:off x="0" y="0"/>
          <a:ext cx="0" cy="0"/>
          <a:chOff x="0" y="0"/>
          <a:chExt cx="0" cy="0"/>
        </a:xfrm>
      </p:grpSpPr>
      <p:sp>
        <p:nvSpPr>
          <p:cNvPr id="79" name="Google Shape;79;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0" name="Google Shape;80;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1" name="Google Shape;81;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2" name="Google Shape;82;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3" name="Google Shape;83;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 name="Shape 84"/>
        <p:cNvGrpSpPr/>
        <p:nvPr/>
      </p:nvGrpSpPr>
      <p:grpSpPr>
        <a:xfrm>
          <a:off x="0" y="0"/>
          <a:ext cx="0" cy="0"/>
          <a:chOff x="0" y="0"/>
          <a:chExt cx="0" cy="0"/>
        </a:xfrm>
      </p:grpSpPr>
      <p:sp>
        <p:nvSpPr>
          <p:cNvPr id="85" name="Google Shape;85;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6" name="Google Shape;86;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7" name="Shape 87"/>
        <p:cNvGrpSpPr/>
        <p:nvPr/>
      </p:nvGrpSpPr>
      <p:grpSpPr>
        <a:xfrm>
          <a:off x="0" y="0"/>
          <a:ext cx="0" cy="0"/>
          <a:chOff x="0" y="0"/>
          <a:chExt cx="0" cy="0"/>
        </a:xfrm>
      </p:grpSpPr>
      <p:sp>
        <p:nvSpPr>
          <p:cNvPr id="88" name="Google Shape;88;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9" name="Google Shape;89;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0" name="Google Shape;90;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1" name="Shape 91"/>
        <p:cNvGrpSpPr/>
        <p:nvPr/>
      </p:nvGrpSpPr>
      <p:grpSpPr>
        <a:xfrm>
          <a:off x="0" y="0"/>
          <a:ext cx="0" cy="0"/>
          <a:chOff x="0" y="0"/>
          <a:chExt cx="0" cy="0"/>
        </a:xfrm>
      </p:grpSpPr>
      <p:sp>
        <p:nvSpPr>
          <p:cNvPr id="92" name="Google Shape;92;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theme" Target="../theme/theme2.xml"/><Relationship Id="rId12" Type="http://schemas.openxmlformats.org/officeDocument/2006/relationships/slideLayout" Target="../slideLayouts/slideLayout21.xml"/><Relationship Id="rId1" Type="http://schemas.openxmlformats.org/officeDocument/2006/relationships/image" Target="../media/image1.jp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4" name="Google Shape;54;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forms.gle/cqoa4QcjjL8rPkzD8" TargetMode="Externa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hyperlink" Target="https://learn.codemithra.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2.jpg"/><Relationship Id="rId4" Type="http://schemas.openxmlformats.org/officeDocument/2006/relationships/image" Target="../media/image14.png"/><Relationship Id="rId5" Type="http://schemas.openxmlformats.org/officeDocument/2006/relationships/image" Target="../media/image9.png"/><Relationship Id="rId6"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8" name="Google Shape;98;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9" name="Google Shape;99;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00" name="Google Shape;100;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01" name="Google Shape;101;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7" name="Google Shape;10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8" name="Google Shape;108;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9" name="Google Shape;109;p3"/>
          <p:cNvSpPr txBox="1"/>
          <p:nvPr/>
        </p:nvSpPr>
        <p:spPr>
          <a:xfrm>
            <a:off x="140951" y="2260382"/>
            <a:ext cx="46908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6000"/>
              <a:buFont typeface="Arial"/>
              <a:buNone/>
            </a:pPr>
            <a:r>
              <a:rPr b="1" i="0" lang="en-GB" sz="2000" u="none" cap="none" strike="noStrike">
                <a:solidFill>
                  <a:schemeClr val="lt1"/>
                </a:solidFill>
                <a:latin typeface="Times New Roman"/>
                <a:ea typeface="Times New Roman"/>
                <a:cs typeface="Times New Roman"/>
                <a:sym typeface="Times New Roman"/>
              </a:rPr>
              <a:t>T</a:t>
            </a:r>
            <a:r>
              <a:rPr b="1" lang="en-GB" sz="2000">
                <a:solidFill>
                  <a:schemeClr val="lt1"/>
                </a:solidFill>
                <a:latin typeface="Times New Roman"/>
                <a:ea typeface="Times New Roman"/>
                <a:cs typeface="Times New Roman"/>
                <a:sym typeface="Times New Roman"/>
              </a:rPr>
              <a:t>HE CELEBRITY PROBLEM</a:t>
            </a:r>
            <a:endParaRPr b="1" i="0" sz="20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14337fc5d25_0_216"/>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GB" sz="1700">
                <a:solidFill>
                  <a:srgbClr val="8182EF"/>
                </a:solidFill>
                <a:latin typeface="Roboto Black"/>
                <a:ea typeface="Roboto Black"/>
                <a:cs typeface="Roboto Black"/>
                <a:sym typeface="Roboto Black"/>
              </a:rPr>
              <a:t>TEST TIME ON MINIMUM STACK</a:t>
            </a:r>
            <a:endParaRPr b="0" i="0" sz="1700" u="none" cap="none" strike="noStrike">
              <a:solidFill>
                <a:srgbClr val="6D9EEB"/>
              </a:solidFill>
              <a:latin typeface="Roboto Black"/>
              <a:ea typeface="Roboto Black"/>
              <a:cs typeface="Roboto Black"/>
              <a:sym typeface="Roboto Black"/>
            </a:endParaRPr>
          </a:p>
        </p:txBody>
      </p:sp>
      <p:sp>
        <p:nvSpPr>
          <p:cNvPr id="115" name="Google Shape;115;g14337fc5d25_0_216"/>
          <p:cNvSpPr txBox="1"/>
          <p:nvPr/>
        </p:nvSpPr>
        <p:spPr>
          <a:xfrm>
            <a:off x="126950" y="1144965"/>
            <a:ext cx="11040300" cy="589800"/>
          </a:xfrm>
          <a:prstGeom prst="rect">
            <a:avLst/>
          </a:prstGeom>
          <a:noFill/>
          <a:ln>
            <a:noFill/>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Clr>
                <a:srgbClr val="000000"/>
              </a:buClr>
              <a:buSzPts val="2000"/>
              <a:buFont typeface="Arial"/>
              <a:buNone/>
            </a:pPr>
            <a:r>
              <a:rPr b="0" i="0" lang="en-GB" sz="2000" u="none" cap="none" strike="noStrike">
                <a:solidFill>
                  <a:srgbClr val="000000"/>
                </a:solidFill>
                <a:latin typeface="Consolas"/>
                <a:ea typeface="Consolas"/>
                <a:cs typeface="Consolas"/>
                <a:sym typeface="Consolas"/>
              </a:rPr>
              <a:t>URL:</a:t>
            </a:r>
            <a:r>
              <a:rPr b="0" i="0" lang="en-GB" sz="2000" u="sng" cap="none" strike="noStrike">
                <a:solidFill>
                  <a:srgbClr val="0563C1"/>
                </a:solidFill>
                <a:latin typeface="Consolas"/>
                <a:ea typeface="Consolas"/>
                <a:cs typeface="Consolas"/>
                <a:sym typeface="Consolas"/>
                <a:hlinkClick r:id="rId3">
                  <a:extLst>
                    <a:ext uri="{A12FA001-AC4F-418D-AE19-62706E023703}">
                      <ahyp:hlinkClr val="tx"/>
                    </a:ext>
                  </a:extLst>
                </a:hlinkClick>
              </a:rPr>
              <a:t>https://forms.gle/cqoa4QcjjL8rPkzD8</a:t>
            </a:r>
            <a:endParaRPr b="0" i="0" sz="2000" u="none" cap="none" strike="noStrike">
              <a:solidFill>
                <a:srgbClr val="000000"/>
              </a:solidFill>
              <a:latin typeface="Calibri"/>
              <a:ea typeface="Calibri"/>
              <a:cs typeface="Calibri"/>
              <a:sym typeface="Calibri"/>
            </a:endParaRPr>
          </a:p>
        </p:txBody>
      </p:sp>
      <p:pic>
        <p:nvPicPr>
          <p:cNvPr id="116" name="Google Shape;116;g14337fc5d25_0_216"/>
          <p:cNvPicPr preferRelativeResize="0"/>
          <p:nvPr/>
        </p:nvPicPr>
        <p:blipFill rotWithShape="1">
          <a:blip r:embed="rId4">
            <a:alphaModFix/>
          </a:blip>
          <a:srcRect b="0" l="0" r="0" t="0"/>
          <a:stretch/>
        </p:blipFill>
        <p:spPr>
          <a:xfrm>
            <a:off x="2889401" y="1846699"/>
            <a:ext cx="3192906" cy="28378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2041119a69_0_0"/>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T</a:t>
            </a:r>
            <a:r>
              <a:rPr lang="en-GB" sz="1700">
                <a:solidFill>
                  <a:srgbClr val="8182EF"/>
                </a:solidFill>
                <a:latin typeface="Roboto Black"/>
                <a:ea typeface="Roboto Black"/>
                <a:cs typeface="Roboto Black"/>
                <a:sym typeface="Roboto Black"/>
              </a:rPr>
              <a:t>HE CELEBRITY PROBLEM</a:t>
            </a:r>
            <a:endParaRPr b="0" i="0" sz="1700" u="none" cap="none" strike="noStrike">
              <a:solidFill>
                <a:srgbClr val="6D9EEB"/>
              </a:solidFill>
              <a:latin typeface="Roboto Black"/>
              <a:ea typeface="Roboto Black"/>
              <a:cs typeface="Roboto Black"/>
              <a:sym typeface="Roboto Black"/>
            </a:endParaRPr>
          </a:p>
        </p:txBody>
      </p:sp>
      <p:sp>
        <p:nvSpPr>
          <p:cNvPr id="122" name="Google Shape;122;g32041119a69_0_0"/>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
        <p:nvSpPr>
          <p:cNvPr id="123" name="Google Shape;123;g32041119a69_0_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215900" lvl="0" marL="228600" rtl="0" algn="l">
              <a:lnSpc>
                <a:spcPct val="150000"/>
              </a:lnSpc>
              <a:spcBef>
                <a:spcPts val="0"/>
              </a:spcBef>
              <a:spcAft>
                <a:spcPts val="0"/>
              </a:spcAft>
              <a:buClr>
                <a:schemeClr val="dk1"/>
              </a:buClr>
              <a:buSzPts val="1600"/>
              <a:buChar char="•"/>
            </a:pPr>
            <a:r>
              <a:rPr lang="en-GB" sz="1600">
                <a:solidFill>
                  <a:schemeClr val="dk1"/>
                </a:solidFill>
                <a:latin typeface="Consolas"/>
                <a:ea typeface="Consolas"/>
                <a:cs typeface="Consolas"/>
                <a:sym typeface="Consolas"/>
              </a:rPr>
              <a:t>The celebrity problem is identifying a celebrity in a group of people. In this context, a celebrity is defined as someone who is known by everyone in the group, but who does not know anyone else in the group. </a:t>
            </a:r>
            <a:endParaRPr sz="1600">
              <a:solidFill>
                <a:schemeClr val="dk1"/>
              </a:solidFill>
            </a:endParaRPr>
          </a:p>
          <a:p>
            <a:pPr indent="-215900" lvl="0" marL="228600" rtl="0" algn="l">
              <a:lnSpc>
                <a:spcPct val="150000"/>
              </a:lnSpc>
              <a:spcBef>
                <a:spcPts val="1000"/>
              </a:spcBef>
              <a:spcAft>
                <a:spcPts val="0"/>
              </a:spcAft>
              <a:buClr>
                <a:schemeClr val="dk1"/>
              </a:buClr>
              <a:buSzPts val="1600"/>
              <a:buChar char="•"/>
            </a:pPr>
            <a:r>
              <a:rPr lang="en-GB" sz="1600">
                <a:solidFill>
                  <a:schemeClr val="dk1"/>
                </a:solidFill>
                <a:latin typeface="Consolas"/>
                <a:ea typeface="Consolas"/>
                <a:cs typeface="Consolas"/>
                <a:sym typeface="Consolas"/>
              </a:rPr>
              <a:t>This problem can be used as an illustrative example for understanding algorithms and data structures.</a:t>
            </a:r>
            <a:endParaRPr sz="1600">
              <a:solidFill>
                <a:schemeClr val="dk1"/>
              </a:solidFill>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2042aa8473_0_7"/>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T</a:t>
            </a:r>
            <a:r>
              <a:rPr lang="en-GB" sz="1700">
                <a:solidFill>
                  <a:srgbClr val="8182EF"/>
                </a:solidFill>
                <a:latin typeface="Roboto Black"/>
                <a:ea typeface="Roboto Black"/>
                <a:cs typeface="Roboto Black"/>
                <a:sym typeface="Roboto Black"/>
              </a:rPr>
              <a:t>HE CELEBRITY PROBLEM</a:t>
            </a:r>
            <a:endParaRPr b="0" i="0" sz="1700" u="none" cap="none" strike="noStrike">
              <a:solidFill>
                <a:srgbClr val="6D9EEB"/>
              </a:solidFill>
              <a:latin typeface="Roboto Black"/>
              <a:ea typeface="Roboto Black"/>
              <a:cs typeface="Roboto Black"/>
              <a:sym typeface="Roboto Black"/>
            </a:endParaRPr>
          </a:p>
        </p:txBody>
      </p:sp>
      <p:pic>
        <p:nvPicPr>
          <p:cNvPr id="129" name="Google Shape;129;g32042aa8473_0_7"/>
          <p:cNvPicPr preferRelativeResize="0"/>
          <p:nvPr/>
        </p:nvPicPr>
        <p:blipFill rotWithShape="1">
          <a:blip r:embed="rId3">
            <a:alphaModFix/>
          </a:blip>
          <a:srcRect b="0" l="0" r="0" t="0"/>
          <a:stretch/>
        </p:blipFill>
        <p:spPr>
          <a:xfrm>
            <a:off x="2181300" y="1273100"/>
            <a:ext cx="4499425" cy="3193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2042aa8473_0_14"/>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T</a:t>
            </a:r>
            <a:r>
              <a:rPr lang="en-GB" sz="1700">
                <a:solidFill>
                  <a:srgbClr val="8182EF"/>
                </a:solidFill>
                <a:latin typeface="Roboto Black"/>
                <a:ea typeface="Roboto Black"/>
                <a:cs typeface="Roboto Black"/>
                <a:sym typeface="Roboto Black"/>
              </a:rPr>
              <a:t>HE CELEBRITY PROBLEM</a:t>
            </a:r>
            <a:endParaRPr b="0" i="0" sz="1700" u="none" cap="none" strike="noStrike">
              <a:solidFill>
                <a:srgbClr val="6D9EEB"/>
              </a:solidFill>
              <a:latin typeface="Roboto Black"/>
              <a:ea typeface="Roboto Black"/>
              <a:cs typeface="Roboto Black"/>
              <a:sym typeface="Roboto Black"/>
            </a:endParaRPr>
          </a:p>
        </p:txBody>
      </p:sp>
      <p:sp>
        <p:nvSpPr>
          <p:cNvPr id="135" name="Google Shape;135;g32042aa8473_0_14"/>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
        <p:nvSpPr>
          <p:cNvPr id="136" name="Google Shape;136;g32042aa8473_0_14"/>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330200" lvl="0" marL="457200" rtl="0" algn="l">
              <a:lnSpc>
                <a:spcPct val="150000"/>
              </a:lnSpc>
              <a:spcBef>
                <a:spcPts val="0"/>
              </a:spcBef>
              <a:spcAft>
                <a:spcPts val="0"/>
              </a:spcAft>
              <a:buClr>
                <a:schemeClr val="dk1"/>
              </a:buClr>
              <a:buSzPts val="1600"/>
              <a:buChar char="•"/>
            </a:pPr>
            <a:r>
              <a:rPr lang="en-GB" sz="1600">
                <a:solidFill>
                  <a:schemeClr val="dk1"/>
                </a:solidFill>
                <a:latin typeface="Consolas"/>
                <a:ea typeface="Consolas"/>
                <a:cs typeface="Consolas"/>
                <a:sym typeface="Consolas"/>
              </a:rPr>
              <a:t>Given a group of people, each person may or may not know other people in the group.</a:t>
            </a:r>
            <a:endParaRPr sz="1600">
              <a:solidFill>
                <a:schemeClr val="dk1"/>
              </a:solidFill>
            </a:endParaRPr>
          </a:p>
          <a:p>
            <a:pPr indent="-330200" lvl="0" marL="457200" rtl="0" algn="l">
              <a:lnSpc>
                <a:spcPct val="150000"/>
              </a:lnSpc>
              <a:spcBef>
                <a:spcPts val="1000"/>
              </a:spcBef>
              <a:spcAft>
                <a:spcPts val="0"/>
              </a:spcAft>
              <a:buClr>
                <a:schemeClr val="dk1"/>
              </a:buClr>
              <a:buSzPts val="1600"/>
              <a:buChar char="•"/>
            </a:pPr>
            <a:r>
              <a:rPr lang="en-GB" sz="1600">
                <a:solidFill>
                  <a:schemeClr val="dk1"/>
                </a:solidFill>
                <a:latin typeface="Consolas"/>
                <a:ea typeface="Consolas"/>
                <a:cs typeface="Consolas"/>
                <a:sym typeface="Consolas"/>
              </a:rPr>
              <a:t>Your task is to identify if there is a celebrity in the group and, if so, who that celebrity is.</a:t>
            </a:r>
            <a:endParaRPr sz="1600">
              <a:solidFill>
                <a:schemeClr val="dk1"/>
              </a:solidFill>
            </a:endParaRPr>
          </a:p>
          <a:p>
            <a:pPr indent="-330200" lvl="0" marL="457200" rtl="0" algn="l">
              <a:lnSpc>
                <a:spcPct val="150000"/>
              </a:lnSpc>
              <a:spcBef>
                <a:spcPts val="1000"/>
              </a:spcBef>
              <a:spcAft>
                <a:spcPts val="0"/>
              </a:spcAft>
              <a:buClr>
                <a:schemeClr val="dk1"/>
              </a:buClr>
              <a:buSzPts val="1600"/>
              <a:buChar char="•"/>
            </a:pPr>
            <a:r>
              <a:rPr lang="en-GB" sz="1600">
                <a:solidFill>
                  <a:schemeClr val="dk1"/>
                </a:solidFill>
                <a:latin typeface="Consolas"/>
                <a:ea typeface="Consolas"/>
                <a:cs typeface="Consolas"/>
                <a:sym typeface="Consolas"/>
              </a:rPr>
              <a:t>A celebrity is someone who is known by everyone in the group but does not know anyone else.</a:t>
            </a:r>
            <a:endParaRPr sz="1600">
              <a:solidFill>
                <a:schemeClr val="dk1"/>
              </a:solidFill>
            </a:endParaRPr>
          </a:p>
          <a:p>
            <a:pPr indent="0" lvl="0" marL="457200" rtl="0" algn="l">
              <a:lnSpc>
                <a:spcPct val="150000"/>
              </a:lnSpc>
              <a:spcBef>
                <a:spcPts val="1000"/>
              </a:spcBef>
              <a:spcAft>
                <a:spcPts val="0"/>
              </a:spcAft>
              <a:buNone/>
            </a:pPr>
            <a:r>
              <a:t/>
            </a:r>
            <a:endParaRPr sz="1600">
              <a:solidFill>
                <a:schemeClr val="dk1"/>
              </a:solidFill>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2042aa8473_0_20"/>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T</a:t>
            </a:r>
            <a:r>
              <a:rPr lang="en-GB" sz="1700">
                <a:solidFill>
                  <a:srgbClr val="8182EF"/>
                </a:solidFill>
                <a:latin typeface="Roboto Black"/>
                <a:ea typeface="Roboto Black"/>
                <a:cs typeface="Roboto Black"/>
                <a:sym typeface="Roboto Black"/>
              </a:rPr>
              <a:t>HE CELEBRITY PROBLEM</a:t>
            </a:r>
            <a:endParaRPr b="0" i="0" sz="1700" u="none" cap="none" strike="noStrike">
              <a:solidFill>
                <a:srgbClr val="6D9EEB"/>
              </a:solidFill>
              <a:latin typeface="Roboto Black"/>
              <a:ea typeface="Roboto Black"/>
              <a:cs typeface="Roboto Black"/>
              <a:sym typeface="Roboto Black"/>
            </a:endParaRPr>
          </a:p>
        </p:txBody>
      </p:sp>
      <p:sp>
        <p:nvSpPr>
          <p:cNvPr id="142" name="Google Shape;142;g32042aa8473_0_20"/>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ALGORITHM</a:t>
            </a:r>
            <a:endParaRPr b="0" i="0" sz="1400" u="none" cap="none" strike="noStrike">
              <a:solidFill>
                <a:srgbClr val="000000"/>
              </a:solidFill>
              <a:latin typeface="Arial"/>
              <a:ea typeface="Arial"/>
              <a:cs typeface="Arial"/>
              <a:sym typeface="Arial"/>
            </a:endParaRPr>
          </a:p>
        </p:txBody>
      </p:sp>
      <p:sp>
        <p:nvSpPr>
          <p:cNvPr id="143" name="Google Shape;143;g32042aa8473_0_2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600"/>
              <a:buFont typeface="Arial"/>
              <a:buNone/>
            </a:pPr>
            <a:r>
              <a:rPr lang="en-GB" sz="1600">
                <a:solidFill>
                  <a:schemeClr val="dk1"/>
                </a:solidFill>
                <a:latin typeface="Consolas"/>
                <a:ea typeface="Consolas"/>
                <a:cs typeface="Consolas"/>
                <a:sym typeface="Consolas"/>
              </a:rPr>
              <a:t>To solve the celebrity problem, you can use a two-pass algorithm.</a:t>
            </a:r>
            <a:endParaRPr sz="1600">
              <a:solidFill>
                <a:schemeClr val="dk1"/>
              </a:solidFill>
            </a:endParaRPr>
          </a:p>
          <a:p>
            <a:pPr indent="0" lvl="0" marL="0" rtl="0" algn="l">
              <a:lnSpc>
                <a:spcPct val="150000"/>
              </a:lnSpc>
              <a:spcBef>
                <a:spcPts val="1000"/>
              </a:spcBef>
              <a:spcAft>
                <a:spcPts val="0"/>
              </a:spcAft>
              <a:buClr>
                <a:schemeClr val="dk1"/>
              </a:buClr>
              <a:buSzPts val="1600"/>
              <a:buFont typeface="Arial"/>
              <a:buNone/>
            </a:pPr>
            <a:r>
              <a:rPr lang="en-GB" sz="1600">
                <a:solidFill>
                  <a:schemeClr val="dk1"/>
                </a:solidFill>
                <a:latin typeface="Consolas"/>
                <a:ea typeface="Consolas"/>
                <a:cs typeface="Consolas"/>
                <a:sym typeface="Consolas"/>
              </a:rPr>
              <a:t>	 In the first pass, you find a potential celebrity candidate, and in the second pass, you verify if the candidate meets the celebrity criteria.</a:t>
            </a:r>
            <a:endParaRPr sz="1600">
              <a:solidFill>
                <a:schemeClr val="dk1"/>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2042aa8473_0_26"/>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T</a:t>
            </a:r>
            <a:r>
              <a:rPr lang="en-GB" sz="1700">
                <a:solidFill>
                  <a:srgbClr val="8182EF"/>
                </a:solidFill>
                <a:latin typeface="Roboto Black"/>
                <a:ea typeface="Roboto Black"/>
                <a:cs typeface="Roboto Black"/>
                <a:sym typeface="Roboto Black"/>
              </a:rPr>
              <a:t>HE CELEBRITY PROBLEM</a:t>
            </a:r>
            <a:endParaRPr b="0" i="0" sz="1700" u="none" cap="none" strike="noStrike">
              <a:solidFill>
                <a:srgbClr val="6D9EEB"/>
              </a:solidFill>
              <a:latin typeface="Roboto Black"/>
              <a:ea typeface="Roboto Black"/>
              <a:cs typeface="Roboto Black"/>
              <a:sym typeface="Roboto Black"/>
            </a:endParaRPr>
          </a:p>
        </p:txBody>
      </p:sp>
      <p:sp>
        <p:nvSpPr>
          <p:cNvPr id="149" name="Google Shape;149;g32042aa8473_0_26"/>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ALGORITHM</a:t>
            </a:r>
            <a:endParaRPr b="0" i="0" sz="1400" u="none" cap="none" strike="noStrike">
              <a:solidFill>
                <a:srgbClr val="000000"/>
              </a:solidFill>
              <a:latin typeface="Arial"/>
              <a:ea typeface="Arial"/>
              <a:cs typeface="Arial"/>
              <a:sym typeface="Arial"/>
            </a:endParaRPr>
          </a:p>
        </p:txBody>
      </p:sp>
      <p:sp>
        <p:nvSpPr>
          <p:cNvPr id="150" name="Google Shape;150;g32042aa8473_0_26"/>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rtl="0" algn="l">
              <a:lnSpc>
                <a:spcPct val="130000"/>
              </a:lnSpc>
              <a:spcBef>
                <a:spcPts val="0"/>
              </a:spcBef>
              <a:spcAft>
                <a:spcPts val="0"/>
              </a:spcAft>
              <a:buClr>
                <a:schemeClr val="dk1"/>
              </a:buClr>
              <a:buSzPts val="1600"/>
              <a:buFont typeface="Arial"/>
              <a:buNone/>
            </a:pPr>
            <a:r>
              <a:rPr lang="en-GB" sz="1600">
                <a:solidFill>
                  <a:schemeClr val="dk1"/>
                </a:solidFill>
                <a:latin typeface="Consolas"/>
                <a:ea typeface="Consolas"/>
                <a:cs typeface="Consolas"/>
                <a:sym typeface="Consolas"/>
              </a:rPr>
              <a:t>Step 1: Find a potential celebrity candidate.</a:t>
            </a:r>
            <a:endParaRPr sz="1600">
              <a:solidFill>
                <a:schemeClr val="dk1"/>
              </a:solidFill>
            </a:endParaRPr>
          </a:p>
          <a:p>
            <a:pPr indent="0" lvl="0" marL="0" rtl="0" algn="l">
              <a:lnSpc>
                <a:spcPct val="130000"/>
              </a:lnSpc>
              <a:spcBef>
                <a:spcPts val="0"/>
              </a:spcBef>
              <a:spcAft>
                <a:spcPts val="0"/>
              </a:spcAft>
              <a:buClr>
                <a:schemeClr val="dk1"/>
              </a:buClr>
              <a:buSzPts val="1600"/>
              <a:buFont typeface="Arial"/>
              <a:buNone/>
            </a:pPr>
            <a:r>
              <a:rPr lang="en-GB" sz="1600">
                <a:solidFill>
                  <a:schemeClr val="dk1"/>
                </a:solidFill>
                <a:latin typeface="Consolas"/>
                <a:ea typeface="Consolas"/>
                <a:cs typeface="Consolas"/>
                <a:sym typeface="Consolas"/>
              </a:rPr>
              <a:t>  Initialize two pointers, `left` and `right`, both initially pointing to the first person in the group.</a:t>
            </a:r>
            <a:endParaRPr sz="1600">
              <a:solidFill>
                <a:schemeClr val="dk1"/>
              </a:solidFill>
            </a:endParaRPr>
          </a:p>
          <a:p>
            <a:pPr indent="0" lvl="0" marL="0" rtl="0" algn="l">
              <a:lnSpc>
                <a:spcPct val="130000"/>
              </a:lnSpc>
              <a:spcBef>
                <a:spcPts val="0"/>
              </a:spcBef>
              <a:spcAft>
                <a:spcPts val="0"/>
              </a:spcAft>
              <a:buClr>
                <a:schemeClr val="dk1"/>
              </a:buClr>
              <a:buSzPts val="1600"/>
              <a:buFont typeface="Arial"/>
              <a:buNone/>
            </a:pPr>
            <a:r>
              <a:rPr lang="en-GB" sz="1600">
                <a:solidFill>
                  <a:schemeClr val="dk1"/>
                </a:solidFill>
                <a:latin typeface="Consolas"/>
                <a:ea typeface="Consolas"/>
                <a:cs typeface="Consolas"/>
                <a:sym typeface="Consolas"/>
              </a:rPr>
              <a:t>  Use a loop to iterate until `left` is not equal to `right`.</a:t>
            </a:r>
            <a:endParaRPr sz="1600">
              <a:solidFill>
                <a:schemeClr val="dk1"/>
              </a:solidFill>
            </a:endParaRPr>
          </a:p>
          <a:p>
            <a:pPr indent="0" lvl="0" marL="0" rtl="0" algn="l">
              <a:lnSpc>
                <a:spcPct val="130000"/>
              </a:lnSpc>
              <a:spcBef>
                <a:spcPts val="0"/>
              </a:spcBef>
              <a:spcAft>
                <a:spcPts val="0"/>
              </a:spcAft>
              <a:buClr>
                <a:schemeClr val="dk1"/>
              </a:buClr>
              <a:buSzPts val="1600"/>
              <a:buFont typeface="Arial"/>
              <a:buNone/>
            </a:pPr>
            <a:r>
              <a:rPr lang="en-GB" sz="1600">
                <a:solidFill>
                  <a:schemeClr val="dk1"/>
                </a:solidFill>
                <a:latin typeface="Consolas"/>
                <a:ea typeface="Consolas"/>
                <a:cs typeface="Consolas"/>
                <a:sym typeface="Consolas"/>
              </a:rPr>
              <a:t>  In each iteration, compare the knowledge of the two people pointed to by `left` and `right`.</a:t>
            </a:r>
            <a:endParaRPr sz="1600">
              <a:solidFill>
                <a:schemeClr val="dk1"/>
              </a:solidFill>
            </a:endParaRPr>
          </a:p>
          <a:p>
            <a:pPr indent="0" lvl="0" marL="0" rtl="0" algn="l">
              <a:lnSpc>
                <a:spcPct val="130000"/>
              </a:lnSpc>
              <a:spcBef>
                <a:spcPts val="0"/>
              </a:spcBef>
              <a:spcAft>
                <a:spcPts val="0"/>
              </a:spcAft>
              <a:buClr>
                <a:schemeClr val="dk1"/>
              </a:buClr>
              <a:buSzPts val="1600"/>
              <a:buFont typeface="Arial"/>
              <a:buNone/>
            </a:pPr>
            <a:r>
              <a:rPr lang="en-GB" sz="1600">
                <a:solidFill>
                  <a:schemeClr val="dk1"/>
                </a:solidFill>
                <a:latin typeface="Consolas"/>
                <a:ea typeface="Consolas"/>
                <a:cs typeface="Consolas"/>
                <a:sym typeface="Consolas"/>
              </a:rPr>
              <a:t>  If `left` knows `right`, set `left` to the next person; otherwise, set `right` to the next person.</a:t>
            </a:r>
            <a:endParaRPr sz="1600">
              <a:solidFill>
                <a:schemeClr val="dk1"/>
              </a:solidFill>
            </a:endParaRPr>
          </a:p>
          <a:p>
            <a:pPr indent="0" lvl="0" marL="0" rtl="0" algn="l">
              <a:lnSpc>
                <a:spcPct val="130000"/>
              </a:lnSpc>
              <a:spcBef>
                <a:spcPts val="0"/>
              </a:spcBef>
              <a:spcAft>
                <a:spcPts val="0"/>
              </a:spcAft>
              <a:buClr>
                <a:schemeClr val="dk1"/>
              </a:buClr>
              <a:buSzPts val="1600"/>
              <a:buFont typeface="Arial"/>
              <a:buNone/>
            </a:pPr>
            <a:r>
              <a:rPr lang="en-GB" sz="1600">
                <a:solidFill>
                  <a:schemeClr val="dk1"/>
                </a:solidFill>
                <a:latin typeface="Consolas"/>
                <a:ea typeface="Consolas"/>
                <a:cs typeface="Consolas"/>
                <a:sym typeface="Consolas"/>
              </a:rPr>
              <a:t>  At the end of this loop, `left` or `right` will be a potential celebrity candidate.</a:t>
            </a:r>
            <a:endParaRPr sz="1600">
              <a:solidFill>
                <a:schemeClr val="dk1"/>
              </a:solidFill>
            </a:endParaRPr>
          </a:p>
          <a:p>
            <a:pPr indent="0" lvl="0" marL="0" rtl="0" algn="l">
              <a:lnSpc>
                <a:spcPct val="130000"/>
              </a:lnSpc>
              <a:spcBef>
                <a:spcPts val="0"/>
              </a:spcBef>
              <a:spcAft>
                <a:spcPts val="0"/>
              </a:spcAft>
              <a:buNone/>
            </a:pPr>
            <a:r>
              <a:t/>
            </a:r>
            <a:endParaRPr sz="1600">
              <a:solidFill>
                <a:schemeClr val="dk1"/>
              </a:solidFill>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2042aa8473_0_32"/>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T</a:t>
            </a:r>
            <a:r>
              <a:rPr lang="en-GB" sz="1700">
                <a:solidFill>
                  <a:srgbClr val="8182EF"/>
                </a:solidFill>
                <a:latin typeface="Roboto Black"/>
                <a:ea typeface="Roboto Black"/>
                <a:cs typeface="Roboto Black"/>
                <a:sym typeface="Roboto Black"/>
              </a:rPr>
              <a:t>HE CELEBRITY PROBLEM</a:t>
            </a:r>
            <a:endParaRPr b="0" i="0" sz="1700" u="none" cap="none" strike="noStrike">
              <a:solidFill>
                <a:srgbClr val="6D9EEB"/>
              </a:solidFill>
              <a:latin typeface="Roboto Black"/>
              <a:ea typeface="Roboto Black"/>
              <a:cs typeface="Roboto Black"/>
              <a:sym typeface="Roboto Black"/>
            </a:endParaRPr>
          </a:p>
        </p:txBody>
      </p:sp>
      <p:sp>
        <p:nvSpPr>
          <p:cNvPr id="156" name="Google Shape;156;g32042aa8473_0_32"/>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ALGORITHM</a:t>
            </a:r>
            <a:endParaRPr b="0" i="0" sz="1400" u="none" cap="none" strike="noStrike">
              <a:solidFill>
                <a:srgbClr val="000000"/>
              </a:solidFill>
              <a:latin typeface="Arial"/>
              <a:ea typeface="Arial"/>
              <a:cs typeface="Arial"/>
              <a:sym typeface="Arial"/>
            </a:endParaRPr>
          </a:p>
        </p:txBody>
      </p:sp>
      <p:sp>
        <p:nvSpPr>
          <p:cNvPr id="157" name="Google Shape;157;g32042aa8473_0_32"/>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600"/>
              <a:buFont typeface="Arial"/>
              <a:buNone/>
            </a:pPr>
            <a:r>
              <a:rPr lang="en-GB" sz="1600">
                <a:solidFill>
                  <a:schemeClr val="dk1"/>
                </a:solidFill>
                <a:latin typeface="Consolas"/>
                <a:ea typeface="Consolas"/>
                <a:cs typeface="Consolas"/>
                <a:sym typeface="Consolas"/>
              </a:rPr>
              <a:t>Step 2: Verify if the candidate is a celebrity.</a:t>
            </a:r>
            <a:endParaRPr sz="1600">
              <a:solidFill>
                <a:schemeClr val="dk1"/>
              </a:solidFill>
            </a:endParaRPr>
          </a:p>
          <a:p>
            <a:pPr indent="0" lvl="0" marL="0" rtl="0" algn="l">
              <a:lnSpc>
                <a:spcPct val="150000"/>
              </a:lnSpc>
              <a:spcBef>
                <a:spcPts val="1000"/>
              </a:spcBef>
              <a:spcAft>
                <a:spcPts val="0"/>
              </a:spcAft>
              <a:buClr>
                <a:schemeClr val="dk1"/>
              </a:buClr>
              <a:buSzPts val="1600"/>
              <a:buFont typeface="Arial"/>
              <a:buNone/>
            </a:pPr>
            <a:r>
              <a:rPr lang="en-GB" sz="1600">
                <a:solidFill>
                  <a:schemeClr val="dk1"/>
                </a:solidFill>
                <a:latin typeface="Consolas"/>
                <a:ea typeface="Consolas"/>
                <a:cs typeface="Consolas"/>
                <a:sym typeface="Consolas"/>
              </a:rPr>
              <a:t>  Reset `left` to the beginning of the group, and set `right` to the candidate.</a:t>
            </a:r>
            <a:endParaRPr sz="1600">
              <a:solidFill>
                <a:schemeClr val="dk1"/>
              </a:solidFill>
            </a:endParaRPr>
          </a:p>
          <a:p>
            <a:pPr indent="0" lvl="0" marL="0" rtl="0" algn="l">
              <a:lnSpc>
                <a:spcPct val="150000"/>
              </a:lnSpc>
              <a:spcBef>
                <a:spcPts val="1000"/>
              </a:spcBef>
              <a:spcAft>
                <a:spcPts val="0"/>
              </a:spcAft>
              <a:buClr>
                <a:schemeClr val="dk1"/>
              </a:buClr>
              <a:buSzPts val="1600"/>
              <a:buFont typeface="Arial"/>
              <a:buNone/>
            </a:pPr>
            <a:r>
              <a:rPr lang="en-GB" sz="1600">
                <a:solidFill>
                  <a:schemeClr val="dk1"/>
                </a:solidFill>
                <a:latin typeface="Consolas"/>
                <a:ea typeface="Consolas"/>
                <a:cs typeface="Consolas"/>
                <a:sym typeface="Consolas"/>
              </a:rPr>
              <a:t>  Iterate through the group again and check if everyone knows the candidate (i.e., `left` knows `right` for all pairs).</a:t>
            </a:r>
            <a:endParaRPr sz="1600">
              <a:solidFill>
                <a:schemeClr val="dk1"/>
              </a:solidFill>
            </a:endParaRPr>
          </a:p>
          <a:p>
            <a:pPr indent="0" lvl="0" marL="0" rtl="0" algn="l">
              <a:lnSpc>
                <a:spcPct val="150000"/>
              </a:lnSpc>
              <a:spcBef>
                <a:spcPts val="1000"/>
              </a:spcBef>
              <a:spcAft>
                <a:spcPts val="0"/>
              </a:spcAft>
              <a:buClr>
                <a:schemeClr val="dk1"/>
              </a:buClr>
              <a:buSzPts val="1600"/>
              <a:buFont typeface="Arial"/>
              <a:buNone/>
            </a:pPr>
            <a:r>
              <a:rPr lang="en-GB" sz="1600">
                <a:solidFill>
                  <a:schemeClr val="dk1"/>
                </a:solidFill>
                <a:latin typeface="Consolas"/>
                <a:ea typeface="Consolas"/>
                <a:cs typeface="Consolas"/>
                <a:sym typeface="Consolas"/>
              </a:rPr>
              <a:t>  If the candidate is known by everyone and doesn't know anyone, they are the celebrity.</a:t>
            </a:r>
            <a:endParaRPr sz="1600">
              <a:solidFill>
                <a:schemeClr val="dk1"/>
              </a:solidFill>
            </a:endParaRPr>
          </a:p>
          <a:p>
            <a:pPr indent="0" lvl="0" marL="0" rtl="0" algn="l">
              <a:lnSpc>
                <a:spcPct val="150000"/>
              </a:lnSpc>
              <a:spcBef>
                <a:spcPts val="0"/>
              </a:spcBef>
              <a:spcAft>
                <a:spcPts val="0"/>
              </a:spcAft>
              <a:buNone/>
            </a:pPr>
            <a:r>
              <a:t/>
            </a:r>
            <a:endParaRPr sz="1600">
              <a:solidFill>
                <a:schemeClr val="dk1"/>
              </a:solidFill>
              <a:latin typeface="Consolas"/>
              <a:ea typeface="Consolas"/>
              <a:cs typeface="Consolas"/>
              <a:sym typeface="Consolas"/>
            </a:endParaRPr>
          </a:p>
          <a:p>
            <a:pPr indent="0" lvl="0" marL="0" rtl="0" algn="l">
              <a:lnSpc>
                <a:spcPct val="150000"/>
              </a:lnSpc>
              <a:spcBef>
                <a:spcPts val="0"/>
              </a:spcBef>
              <a:spcAft>
                <a:spcPts val="0"/>
              </a:spcAft>
              <a:buNone/>
            </a:pPr>
            <a:r>
              <a:t/>
            </a:r>
            <a:endParaRPr sz="1600">
              <a:solidFill>
                <a:schemeClr val="dk1"/>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2042aa8473_0_38"/>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T</a:t>
            </a:r>
            <a:r>
              <a:rPr lang="en-GB" sz="1700">
                <a:solidFill>
                  <a:srgbClr val="8182EF"/>
                </a:solidFill>
                <a:latin typeface="Roboto Black"/>
                <a:ea typeface="Roboto Black"/>
                <a:cs typeface="Roboto Black"/>
                <a:sym typeface="Roboto Black"/>
              </a:rPr>
              <a:t>HE CELEBRITY PROBLEM</a:t>
            </a:r>
            <a:endParaRPr b="0" i="0" sz="1700" u="none" cap="none" strike="noStrike">
              <a:solidFill>
                <a:srgbClr val="6D9EEB"/>
              </a:solidFill>
              <a:latin typeface="Roboto Black"/>
              <a:ea typeface="Roboto Black"/>
              <a:cs typeface="Roboto Black"/>
              <a:sym typeface="Roboto Black"/>
            </a:endParaRPr>
          </a:p>
        </p:txBody>
      </p:sp>
      <p:sp>
        <p:nvSpPr>
          <p:cNvPr id="163" name="Google Shape;163;g32042aa8473_0_38"/>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PSEUDOCODE</a:t>
            </a:r>
            <a:endParaRPr b="0" i="0" sz="1400" u="none" cap="none" strike="noStrike">
              <a:solidFill>
                <a:srgbClr val="000000"/>
              </a:solidFill>
              <a:latin typeface="Arial"/>
              <a:ea typeface="Arial"/>
              <a:cs typeface="Arial"/>
              <a:sym typeface="Arial"/>
            </a:endParaRPr>
          </a:p>
        </p:txBody>
      </p:sp>
      <p:sp>
        <p:nvSpPr>
          <p:cNvPr id="164" name="Google Shape;164;g32042aa8473_0_38"/>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rtl="0" algn="l">
              <a:lnSpc>
                <a:spcPct val="135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function findCelebrity(group):</a:t>
            </a:r>
            <a:endParaRPr sz="1600">
              <a:solidFill>
                <a:schemeClr val="dk1"/>
              </a:solidFill>
            </a:endParaRPr>
          </a:p>
          <a:p>
            <a:pPr indent="0" lvl="0" marL="0" rtl="0" algn="l">
              <a:lnSpc>
                <a:spcPct val="135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left = 0</a:t>
            </a:r>
            <a:endParaRPr sz="1600">
              <a:solidFill>
                <a:schemeClr val="dk1"/>
              </a:solidFill>
            </a:endParaRPr>
          </a:p>
          <a:p>
            <a:pPr indent="0" lvl="0" marL="0" rtl="0" algn="l">
              <a:lnSpc>
                <a:spcPct val="135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right = 0</a:t>
            </a:r>
            <a:endParaRPr sz="1600">
              <a:solidFill>
                <a:schemeClr val="dk1"/>
              </a:solidFill>
            </a:endParaRPr>
          </a:p>
          <a:p>
            <a:pPr indent="0" lvl="0" marL="0" rtl="0" algn="l">
              <a:lnSpc>
                <a:spcPct val="135000"/>
              </a:lnSpc>
              <a:spcBef>
                <a:spcPts val="0"/>
              </a:spcBef>
              <a:spcAft>
                <a:spcPts val="0"/>
              </a:spcAft>
              <a:buClr>
                <a:schemeClr val="dk1"/>
              </a:buClr>
              <a:buSzPts val="1800"/>
              <a:buFont typeface="Arial"/>
              <a:buNone/>
            </a:pPr>
            <a:r>
              <a:t/>
            </a:r>
            <a:endParaRPr sz="1600">
              <a:solidFill>
                <a:schemeClr val="dk1"/>
              </a:solidFill>
              <a:latin typeface="Consolas"/>
              <a:ea typeface="Consolas"/>
              <a:cs typeface="Consolas"/>
              <a:sym typeface="Consolas"/>
            </a:endParaRPr>
          </a:p>
          <a:p>
            <a:pPr indent="0" lvl="0" marL="0" rtl="0" algn="l">
              <a:lnSpc>
                <a:spcPct val="135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 Step 1: Find a potential celebrity candidate</a:t>
            </a:r>
            <a:endParaRPr sz="1600">
              <a:solidFill>
                <a:schemeClr val="dk1"/>
              </a:solidFill>
            </a:endParaRPr>
          </a:p>
          <a:p>
            <a:pPr indent="0" lvl="0" marL="0" rtl="0" algn="l">
              <a:lnSpc>
                <a:spcPct val="135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while left != right:</a:t>
            </a:r>
            <a:endParaRPr sz="1600">
              <a:solidFill>
                <a:schemeClr val="dk1"/>
              </a:solidFill>
            </a:endParaRPr>
          </a:p>
          <a:p>
            <a:pPr indent="0" lvl="0" marL="0" rtl="0" algn="l">
              <a:lnSpc>
                <a:spcPct val="135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if group[left].knows(group[right]):</a:t>
            </a:r>
            <a:endParaRPr sz="1600">
              <a:solidFill>
                <a:schemeClr val="dk1"/>
              </a:solidFill>
            </a:endParaRPr>
          </a:p>
          <a:p>
            <a:pPr indent="0" lvl="0" marL="0" rtl="0" algn="l">
              <a:lnSpc>
                <a:spcPct val="135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left = left + 1</a:t>
            </a:r>
            <a:endParaRPr sz="1600">
              <a:solidFill>
                <a:schemeClr val="dk1"/>
              </a:solidFill>
            </a:endParaRPr>
          </a:p>
          <a:p>
            <a:pPr indent="0" lvl="0" marL="0" rtl="0" algn="l">
              <a:lnSpc>
                <a:spcPct val="135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else:</a:t>
            </a:r>
            <a:endParaRPr sz="1600">
              <a:solidFill>
                <a:schemeClr val="dk1"/>
              </a:solidFill>
            </a:endParaRPr>
          </a:p>
          <a:p>
            <a:pPr indent="0" lvl="0" marL="0" rtl="0" algn="l">
              <a:lnSpc>
                <a:spcPct val="135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right = right + 1</a:t>
            </a:r>
            <a:endParaRPr sz="1600">
              <a:solidFill>
                <a:schemeClr val="dk1"/>
              </a:solidFill>
              <a:latin typeface="Consolas"/>
              <a:ea typeface="Consolas"/>
              <a:cs typeface="Consolas"/>
              <a:sym typeface="Consolas"/>
            </a:endParaRPr>
          </a:p>
          <a:p>
            <a:pPr indent="0" lvl="0" marL="0" rtl="0" algn="l">
              <a:lnSpc>
                <a:spcPct val="135000"/>
              </a:lnSpc>
              <a:spcBef>
                <a:spcPts val="0"/>
              </a:spcBef>
              <a:spcAft>
                <a:spcPts val="0"/>
              </a:spcAft>
              <a:buNone/>
            </a:pPr>
            <a:r>
              <a:t/>
            </a:r>
            <a:endParaRPr sz="1600">
              <a:solidFill>
                <a:schemeClr val="dk1"/>
              </a:solidFill>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2042aa8473_0_62"/>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T</a:t>
            </a:r>
            <a:r>
              <a:rPr lang="en-GB" sz="1700">
                <a:solidFill>
                  <a:srgbClr val="8182EF"/>
                </a:solidFill>
                <a:latin typeface="Roboto Black"/>
                <a:ea typeface="Roboto Black"/>
                <a:cs typeface="Roboto Black"/>
                <a:sym typeface="Roboto Black"/>
              </a:rPr>
              <a:t>HE CELEBRITY PROBLEM</a:t>
            </a:r>
            <a:endParaRPr b="0" i="0" sz="1700" u="none" cap="none" strike="noStrike">
              <a:solidFill>
                <a:srgbClr val="6D9EEB"/>
              </a:solidFill>
              <a:latin typeface="Roboto Black"/>
              <a:ea typeface="Roboto Black"/>
              <a:cs typeface="Roboto Black"/>
              <a:sym typeface="Roboto Black"/>
            </a:endParaRPr>
          </a:p>
        </p:txBody>
      </p:sp>
      <p:sp>
        <p:nvSpPr>
          <p:cNvPr id="170" name="Google Shape;170;g32042aa8473_0_62"/>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PSEUDOCODE</a:t>
            </a:r>
            <a:endParaRPr b="0" i="0" sz="1400" u="none" cap="none" strike="noStrike">
              <a:solidFill>
                <a:srgbClr val="000000"/>
              </a:solidFill>
              <a:latin typeface="Arial"/>
              <a:ea typeface="Arial"/>
              <a:cs typeface="Arial"/>
              <a:sym typeface="Arial"/>
            </a:endParaRPr>
          </a:p>
        </p:txBody>
      </p:sp>
      <p:sp>
        <p:nvSpPr>
          <p:cNvPr id="171" name="Google Shape;171;g32042aa8473_0_62"/>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Step 2: Verify if the candidate is a celebrity</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right = candidate</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left = 0</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while left &lt; length(group):</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if left != right and (group[left].knows(group[right]) or !group[right].knows(group[left])):</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return "No celebrity found"</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left = left + 1</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     return candidate</a:t>
            </a:r>
            <a:endParaRPr sz="1600">
              <a:solidFill>
                <a:schemeClr val="dk1"/>
              </a:solidFill>
              <a:latin typeface="Consolas"/>
              <a:ea typeface="Consolas"/>
              <a:cs typeface="Consolas"/>
              <a:sym typeface="Consolas"/>
            </a:endParaRPr>
          </a:p>
          <a:p>
            <a:pPr indent="0" lvl="0" marL="0" rtl="0" algn="l">
              <a:lnSpc>
                <a:spcPct val="135000"/>
              </a:lnSpc>
              <a:spcBef>
                <a:spcPts val="0"/>
              </a:spcBef>
              <a:spcAft>
                <a:spcPts val="0"/>
              </a:spcAft>
              <a:buNone/>
            </a:pPr>
            <a:r>
              <a:t/>
            </a:r>
            <a:endParaRPr sz="1600">
              <a:solidFill>
                <a:schemeClr val="dk1"/>
              </a:solidFill>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2042aa8473_0_44"/>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T</a:t>
            </a:r>
            <a:r>
              <a:rPr lang="en-GB" sz="1700">
                <a:solidFill>
                  <a:srgbClr val="8182EF"/>
                </a:solidFill>
                <a:latin typeface="Roboto Black"/>
                <a:ea typeface="Roboto Black"/>
                <a:cs typeface="Roboto Black"/>
                <a:sym typeface="Roboto Black"/>
              </a:rPr>
              <a:t>HE CELEBRITY PROBLEM</a:t>
            </a:r>
            <a:endParaRPr b="0" i="0" sz="1700" u="none" cap="none" strike="noStrike">
              <a:solidFill>
                <a:srgbClr val="6D9EEB"/>
              </a:solidFill>
              <a:latin typeface="Roboto Black"/>
              <a:ea typeface="Roboto Black"/>
              <a:cs typeface="Roboto Black"/>
              <a:sym typeface="Roboto Black"/>
            </a:endParaRPr>
          </a:p>
        </p:txBody>
      </p:sp>
      <p:sp>
        <p:nvSpPr>
          <p:cNvPr id="177" name="Google Shape;177;g32042aa8473_0_44"/>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SAMPLE PROGRAM 1</a:t>
            </a:r>
            <a:endParaRPr b="0" i="0" sz="1400" u="none" cap="none" strike="noStrike">
              <a:solidFill>
                <a:srgbClr val="000000"/>
              </a:solidFill>
              <a:latin typeface="Arial"/>
              <a:ea typeface="Arial"/>
              <a:cs typeface="Arial"/>
              <a:sym typeface="Arial"/>
            </a:endParaRPr>
          </a:p>
        </p:txBody>
      </p:sp>
      <p:sp>
        <p:nvSpPr>
          <p:cNvPr id="178" name="Google Shape;178;g32042aa8473_0_44"/>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INPUT</a:t>
            </a:r>
            <a:endParaRPr sz="1600">
              <a:solidFill>
                <a:schemeClr val="dk1"/>
              </a:solidFill>
            </a:endParaRPr>
          </a:p>
          <a:p>
            <a:pPr indent="0" lvl="0" marL="0" rtl="0" algn="l">
              <a:lnSpc>
                <a:spcPct val="150000"/>
              </a:lnSpc>
              <a:spcBef>
                <a:spcPts val="0"/>
              </a:spcBef>
              <a:spcAft>
                <a:spcPts val="0"/>
              </a:spcAft>
              <a:buClr>
                <a:schemeClr val="dk1"/>
              </a:buClr>
              <a:buSzPts val="2000"/>
              <a:buFont typeface="Arial"/>
              <a:buNone/>
            </a:pPr>
            <a:r>
              <a:t/>
            </a:r>
            <a:endParaRPr sz="1600">
              <a:solidFill>
                <a:schemeClr val="dk1"/>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2       //n count</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0 1 </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0 0 </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t/>
            </a:r>
            <a:endParaRPr sz="1600">
              <a:solidFill>
                <a:schemeClr val="dk1"/>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OUTPUT</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Celebrity ID: 1</a:t>
            </a:r>
            <a:endParaRPr sz="1600">
              <a:solidFill>
                <a:schemeClr val="dk1"/>
              </a:solidFill>
            </a:endParaRPr>
          </a:p>
          <a:p>
            <a:pPr indent="0" lvl="0" marL="0" rtl="0" algn="l">
              <a:lnSpc>
                <a:spcPct val="130000"/>
              </a:lnSpc>
              <a:spcBef>
                <a:spcPts val="0"/>
              </a:spcBef>
              <a:spcAft>
                <a:spcPts val="0"/>
              </a:spcAft>
              <a:buNone/>
            </a:pPr>
            <a:r>
              <a:t/>
            </a:r>
            <a:endParaRPr sz="1600">
              <a:solidFill>
                <a:schemeClr val="dk1"/>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2042aa8473_0_68"/>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T</a:t>
            </a:r>
            <a:r>
              <a:rPr lang="en-GB" sz="1700">
                <a:solidFill>
                  <a:srgbClr val="8182EF"/>
                </a:solidFill>
                <a:latin typeface="Roboto Black"/>
                <a:ea typeface="Roboto Black"/>
                <a:cs typeface="Roboto Black"/>
                <a:sym typeface="Roboto Black"/>
              </a:rPr>
              <a:t>HE CELEBRITY PROBLEM</a:t>
            </a:r>
            <a:endParaRPr b="0" i="0" sz="1700" u="none" cap="none" strike="noStrike">
              <a:solidFill>
                <a:srgbClr val="6D9EEB"/>
              </a:solidFill>
              <a:latin typeface="Roboto Black"/>
              <a:ea typeface="Roboto Black"/>
              <a:cs typeface="Roboto Black"/>
              <a:sym typeface="Roboto Black"/>
            </a:endParaRPr>
          </a:p>
        </p:txBody>
      </p:sp>
      <p:sp>
        <p:nvSpPr>
          <p:cNvPr id="184" name="Google Shape;184;g32042aa8473_0_68"/>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SAMPLE PROGRAM 1</a:t>
            </a:r>
            <a:endParaRPr b="0" i="0" sz="1400" u="none" cap="none" strike="noStrike">
              <a:solidFill>
                <a:srgbClr val="000000"/>
              </a:solidFill>
              <a:latin typeface="Arial"/>
              <a:ea typeface="Arial"/>
              <a:cs typeface="Arial"/>
              <a:sym typeface="Arial"/>
            </a:endParaRPr>
          </a:p>
        </p:txBody>
      </p:sp>
      <p:sp>
        <p:nvSpPr>
          <p:cNvPr id="185" name="Google Shape;185;g32042aa8473_0_68"/>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INPUT</a:t>
            </a:r>
            <a:endParaRPr sz="1600">
              <a:solidFill>
                <a:schemeClr val="dk1"/>
              </a:solidFill>
            </a:endParaRPr>
          </a:p>
          <a:p>
            <a:pPr indent="0" lvl="0" marL="0" rtl="0" algn="l">
              <a:spcBef>
                <a:spcPts val="0"/>
              </a:spcBef>
              <a:spcAft>
                <a:spcPts val="0"/>
              </a:spcAft>
              <a:buClr>
                <a:schemeClr val="dk1"/>
              </a:buClr>
              <a:buSzPts val="2000"/>
              <a:buFont typeface="Arial"/>
              <a:buNone/>
            </a:pPr>
            <a:r>
              <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3</a:t>
            </a:r>
            <a:endParaRPr sz="1600">
              <a:solidFill>
                <a:schemeClr val="dk1"/>
              </a:solidFill>
            </a:endParaRPr>
          </a:p>
          <a:p>
            <a:pPr indent="0" lvl="0" marL="0" rtl="0" algn="l">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0 1 0</a:t>
            </a:r>
            <a:endParaRPr sz="1600">
              <a:solidFill>
                <a:schemeClr val="dk1"/>
              </a:solidFill>
            </a:endParaRPr>
          </a:p>
          <a:p>
            <a:pPr indent="0" lvl="0" marL="0" rtl="0" algn="l">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0 0 0 </a:t>
            </a:r>
            <a:endParaRPr sz="1600">
              <a:solidFill>
                <a:schemeClr val="dk1"/>
              </a:solidFill>
            </a:endParaRPr>
          </a:p>
          <a:p>
            <a:pPr indent="0" lvl="0" marL="0" rtl="0" algn="l">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1 0 0</a:t>
            </a:r>
            <a:endParaRPr sz="1600">
              <a:solidFill>
                <a:schemeClr val="dk1"/>
              </a:solidFill>
            </a:endParaRPr>
          </a:p>
          <a:p>
            <a:pPr indent="0" lvl="0" marL="0" rtl="0" algn="l">
              <a:spcBef>
                <a:spcPts val="0"/>
              </a:spcBef>
              <a:spcAft>
                <a:spcPts val="0"/>
              </a:spcAft>
              <a:buClr>
                <a:schemeClr val="dk1"/>
              </a:buClr>
              <a:buSzPts val="1800"/>
              <a:buFont typeface="Arial"/>
              <a:buNone/>
            </a:pPr>
            <a:r>
              <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OUTPUT</a:t>
            </a:r>
            <a:endParaRPr sz="1600">
              <a:solidFill>
                <a:schemeClr val="dk1"/>
              </a:solidFill>
            </a:endParaRPr>
          </a:p>
          <a:p>
            <a:pPr indent="0" lvl="0" marL="0" rtl="0" algn="l">
              <a:spcBef>
                <a:spcPts val="0"/>
              </a:spcBef>
              <a:spcAft>
                <a:spcPts val="0"/>
              </a:spcAft>
              <a:buClr>
                <a:schemeClr val="dk1"/>
              </a:buClr>
              <a:buSzPts val="1800"/>
              <a:buFont typeface="Arial"/>
              <a:buNone/>
            </a:pPr>
            <a:r>
              <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800"/>
              <a:buFont typeface="Arial"/>
              <a:buNone/>
            </a:pPr>
            <a:r>
              <a:rPr lang="en-GB" sz="1600">
                <a:solidFill>
                  <a:schemeClr val="dk1"/>
                </a:solidFill>
                <a:latin typeface="Consolas"/>
                <a:ea typeface="Consolas"/>
                <a:cs typeface="Consolas"/>
                <a:sym typeface="Consolas"/>
              </a:rPr>
              <a:t>No Celebrity</a:t>
            </a:r>
            <a:endParaRPr sz="1600">
              <a:solidFill>
                <a:schemeClr val="dk1"/>
              </a:solidFill>
            </a:endParaRPr>
          </a:p>
          <a:p>
            <a:pPr indent="0" lvl="0" marL="0" rtl="0" algn="l">
              <a:lnSpc>
                <a:spcPct val="150000"/>
              </a:lnSpc>
              <a:spcBef>
                <a:spcPts val="0"/>
              </a:spcBef>
              <a:spcAft>
                <a:spcPts val="0"/>
              </a:spcAft>
              <a:buNone/>
            </a:pPr>
            <a:r>
              <a:t/>
            </a:r>
            <a:endParaRPr sz="1600">
              <a:solidFill>
                <a:schemeClr val="dk1"/>
              </a:solidFill>
              <a:latin typeface="Consolas"/>
              <a:ea typeface="Consolas"/>
              <a:cs typeface="Consolas"/>
              <a:sym typeface="Consolas"/>
            </a:endParaRPr>
          </a:p>
          <a:p>
            <a:pPr indent="0" lvl="0" marL="0" rtl="0" algn="l">
              <a:lnSpc>
                <a:spcPct val="130000"/>
              </a:lnSpc>
              <a:spcBef>
                <a:spcPts val="0"/>
              </a:spcBef>
              <a:spcAft>
                <a:spcPts val="0"/>
              </a:spcAft>
              <a:buNone/>
            </a:pPr>
            <a:r>
              <a:t/>
            </a:r>
            <a:endParaRPr sz="1600">
              <a:solidFill>
                <a:schemeClr val="dk1"/>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2042aa8473_0_50"/>
          <p:cNvSpPr txBox="1"/>
          <p:nvPr/>
        </p:nvSpPr>
        <p:spPr>
          <a:xfrm>
            <a:off x="1922421" y="2932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T</a:t>
            </a:r>
            <a:r>
              <a:rPr lang="en-GB" sz="1700">
                <a:solidFill>
                  <a:srgbClr val="8182EF"/>
                </a:solidFill>
                <a:latin typeface="Roboto Black"/>
                <a:ea typeface="Roboto Black"/>
                <a:cs typeface="Roboto Black"/>
                <a:sym typeface="Roboto Black"/>
              </a:rPr>
              <a:t>HE CELEBRITY PROBLEM</a:t>
            </a:r>
            <a:endParaRPr b="0" i="0" sz="1700" u="none" cap="none" strike="noStrike">
              <a:solidFill>
                <a:srgbClr val="6D9EEB"/>
              </a:solidFill>
              <a:latin typeface="Roboto Black"/>
              <a:ea typeface="Roboto Black"/>
              <a:cs typeface="Roboto Black"/>
              <a:sym typeface="Roboto Black"/>
            </a:endParaRPr>
          </a:p>
        </p:txBody>
      </p:sp>
      <p:graphicFrame>
        <p:nvGraphicFramePr>
          <p:cNvPr id="191" name="Google Shape;191;g32042aa8473_0_50"/>
          <p:cNvGraphicFramePr/>
          <p:nvPr/>
        </p:nvGraphicFramePr>
        <p:xfrm>
          <a:off x="19228" y="647201"/>
          <a:ext cx="3000000" cy="3000000"/>
        </p:xfrm>
        <a:graphic>
          <a:graphicData uri="http://schemas.openxmlformats.org/drawingml/2006/table">
            <a:tbl>
              <a:tblPr bandRow="1" firstRow="1">
                <a:noFill/>
                <a:tableStyleId>{3F351526-4113-409B-923E-E11D2F0F1BA7}</a:tableStyleId>
              </a:tblPr>
              <a:tblGrid>
                <a:gridCol w="4399925"/>
                <a:gridCol w="4572450"/>
              </a:tblGrid>
              <a:tr h="4496300">
                <a:tc>
                  <a:txBody>
                    <a:bodyPr/>
                    <a:lstStyle/>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import java.io.*;</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import java.util.*;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class Main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public static void main(String args[]) throws IOException {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Scanner sc = new Scanner(System.in);</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int N = sc.nextInt();</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int[][] </a:t>
                      </a:r>
                      <a:r>
                        <a:rPr b="0" lang="en-GB" sz="1350" u="none" cap="none" strike="noStrike">
                          <a:solidFill>
                            <a:srgbClr val="000000"/>
                          </a:solidFill>
                          <a:latin typeface="Consolas"/>
                          <a:ea typeface="Consolas"/>
                          <a:cs typeface="Consolas"/>
                          <a:sym typeface="Consolas"/>
                        </a:rPr>
                        <a:t>relationshipMatrix</a:t>
                      </a:r>
                      <a:r>
                        <a:rPr b="0" lang="en-GB" sz="1350" u="none" cap="none" strike="noStrike">
                          <a:solidFill>
                            <a:srgbClr val="000000"/>
                          </a:solidFill>
                          <a:latin typeface="Consolas"/>
                          <a:ea typeface="Consolas"/>
                          <a:cs typeface="Consolas"/>
                          <a:sym typeface="Consolas"/>
                        </a:rPr>
                        <a:t> = new int[N][N];</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for (int i = 0; i &lt; N; i++)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for (int j = 0; j &lt; N; j++)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r>
                        <a:rPr b="0" lang="en-GB" sz="1350" u="none" cap="none" strike="noStrike">
                          <a:solidFill>
                            <a:srgbClr val="000000"/>
                          </a:solidFill>
                          <a:latin typeface="Consolas"/>
                          <a:ea typeface="Consolas"/>
                          <a:cs typeface="Consolas"/>
                          <a:sym typeface="Consolas"/>
                        </a:rPr>
                        <a:t>relationshipMatrix</a:t>
                      </a:r>
                      <a:r>
                        <a:rPr b="0" lang="en-GB" sz="1350" u="none" cap="none" strike="noStrike">
                          <a:solidFill>
                            <a:srgbClr val="000000"/>
                          </a:solidFill>
                          <a:latin typeface="Consolas"/>
                          <a:ea typeface="Consolas"/>
                          <a:cs typeface="Consolas"/>
                          <a:sym typeface="Consolas"/>
                        </a:rPr>
                        <a:t>[i][j] = sc.nextInt();</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int celebrityId = new Solution().findCelebrity(relationshipMatrix, N);</a:t>
                      </a:r>
                      <a:endParaRPr sz="1350" u="none" cap="none" strike="noStrike"/>
                    </a:p>
                    <a:p>
                      <a:pPr indent="0" lvl="0" marL="0" marR="0" rtl="0" algn="l">
                        <a:lnSpc>
                          <a:spcPct val="100000"/>
                        </a:lnSpc>
                        <a:spcBef>
                          <a:spcPts val="0"/>
                        </a:spcBef>
                        <a:spcAft>
                          <a:spcPts val="0"/>
                        </a:spcAft>
                        <a:buClr>
                          <a:srgbClr val="000000"/>
                        </a:buClr>
                        <a:buSzPts val="1800"/>
                        <a:buFont typeface="Consolas"/>
                        <a:buNone/>
                      </a:pPr>
                      <a:r>
                        <a:rPr b="0" lang="en-GB" sz="1350" u="none" cap="none" strike="noStrike">
                          <a:solidFill>
                            <a:srgbClr val="000000"/>
                          </a:solidFill>
                          <a:latin typeface="Consolas"/>
                          <a:ea typeface="Consolas"/>
                          <a:cs typeface="Consolas"/>
                          <a:sym typeface="Consolas"/>
                        </a:rPr>
                        <a:t>     if (</a:t>
                      </a:r>
                      <a:r>
                        <a:rPr b="0" lang="en-GB" sz="1350" u="none" cap="none" strike="noStrike">
                          <a:solidFill>
                            <a:srgbClr val="000000"/>
                          </a:solidFill>
                          <a:latin typeface="Consolas"/>
                          <a:ea typeface="Consolas"/>
                          <a:cs typeface="Consolas"/>
                          <a:sym typeface="Consolas"/>
                        </a:rPr>
                        <a:t>celebrityId</a:t>
                      </a:r>
                      <a:r>
                        <a:rPr b="0" lang="en-GB" sz="1350" u="none" cap="none" strike="noStrike">
                          <a:solidFill>
                            <a:srgbClr val="000000"/>
                          </a:solidFill>
                          <a:latin typeface="Consolas"/>
                          <a:ea typeface="Consolas"/>
                          <a:cs typeface="Consolas"/>
                          <a:sym typeface="Consolas"/>
                        </a:rPr>
                        <a:t> != -1) {   </a:t>
                      </a:r>
                      <a:endParaRPr sz="135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System.out.println("Celebrity id: " + celebrityId);</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 else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System.out.println("No Celebrity");</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 } }</a:t>
                      </a:r>
                      <a:endParaRPr b="0" sz="135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class Solution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int </a:t>
                      </a:r>
                      <a:r>
                        <a:rPr b="0" lang="en-GB" sz="1350" u="none" cap="none" strike="noStrike">
                          <a:solidFill>
                            <a:srgbClr val="000000"/>
                          </a:solidFill>
                          <a:latin typeface="Consolas"/>
                          <a:ea typeface="Consolas"/>
                          <a:cs typeface="Consolas"/>
                          <a:sym typeface="Consolas"/>
                        </a:rPr>
                        <a:t>findCelebrity</a:t>
                      </a:r>
                      <a:r>
                        <a:rPr b="0" lang="en-GB" sz="1350" u="none" cap="none" strike="noStrike">
                          <a:solidFill>
                            <a:srgbClr val="000000"/>
                          </a:solidFill>
                          <a:latin typeface="Consolas"/>
                          <a:ea typeface="Consolas"/>
                          <a:cs typeface="Consolas"/>
                          <a:sym typeface="Consolas"/>
                        </a:rPr>
                        <a:t>(int M[][], int n)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int candidate = 0;</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for (int i = 1; i &lt; n; i++)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if (M[candidate][i] == 1)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candidate = i;</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for (int i = 0; i &lt; n; i++)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if (i != candidate &amp;&amp; (M[candidate][i] == 1 || M[i][candidate] == 0))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return -1;</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return candidate;  }}</a:t>
                      </a:r>
                      <a:endParaRPr sz="135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2042aa8473_0_75"/>
          <p:cNvSpPr txBox="1"/>
          <p:nvPr/>
        </p:nvSpPr>
        <p:spPr>
          <a:xfrm>
            <a:off x="1922421" y="2932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T</a:t>
            </a:r>
            <a:r>
              <a:rPr lang="en-GB" sz="1700">
                <a:solidFill>
                  <a:srgbClr val="8182EF"/>
                </a:solidFill>
                <a:latin typeface="Roboto Black"/>
                <a:ea typeface="Roboto Black"/>
                <a:cs typeface="Roboto Black"/>
                <a:sym typeface="Roboto Black"/>
              </a:rPr>
              <a:t>HE CELEBRITY PROBLEM</a:t>
            </a:r>
            <a:endParaRPr b="0" i="0" sz="1700" u="none" cap="none" strike="noStrike">
              <a:solidFill>
                <a:srgbClr val="6D9EEB"/>
              </a:solidFill>
              <a:latin typeface="Roboto Black"/>
              <a:ea typeface="Roboto Black"/>
              <a:cs typeface="Roboto Black"/>
              <a:sym typeface="Roboto Black"/>
            </a:endParaRPr>
          </a:p>
        </p:txBody>
      </p:sp>
      <p:graphicFrame>
        <p:nvGraphicFramePr>
          <p:cNvPr id="197" name="Google Shape;197;g32042aa8473_0_75"/>
          <p:cNvGraphicFramePr/>
          <p:nvPr/>
        </p:nvGraphicFramePr>
        <p:xfrm>
          <a:off x="95428" y="571001"/>
          <a:ext cx="3000000" cy="3000000"/>
        </p:xfrm>
        <a:graphic>
          <a:graphicData uri="http://schemas.openxmlformats.org/drawingml/2006/table">
            <a:tbl>
              <a:tblPr bandRow="1" firstRow="1">
                <a:noFill/>
                <a:tableStyleId>{3F351526-4113-409B-923E-E11D2F0F1BA7}</a:tableStyleId>
              </a:tblPr>
              <a:tblGrid>
                <a:gridCol w="4296275"/>
                <a:gridCol w="4676100"/>
              </a:tblGrid>
              <a:tr h="4496300">
                <a:tc>
                  <a:txBody>
                    <a:bodyPr/>
                    <a:lstStyle/>
                    <a:p>
                      <a:pPr indent="0" lvl="0" marL="0" marR="0" rtl="0" algn="l">
                        <a:lnSpc>
                          <a:spcPct val="100000"/>
                        </a:lnSpc>
                        <a:spcBef>
                          <a:spcPts val="0"/>
                        </a:spcBef>
                        <a:spcAft>
                          <a:spcPts val="0"/>
                        </a:spcAft>
                        <a:buClr>
                          <a:srgbClr val="000000"/>
                        </a:buClr>
                        <a:buSzPts val="1800"/>
                        <a:buFont typeface="Consolas"/>
                        <a:buNone/>
                      </a:pPr>
                      <a:r>
                        <a:rPr b="0" lang="en-GB" sz="1300" u="none" cap="none" strike="noStrike">
                          <a:solidFill>
                            <a:srgbClr val="000000"/>
                          </a:solidFill>
                          <a:latin typeface="Consolas"/>
                          <a:ea typeface="Consolas"/>
                          <a:cs typeface="Consolas"/>
                          <a:sym typeface="Consolas"/>
                        </a:rPr>
                        <a:t>import java.util.*;</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public class Main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public static int celebritySolution(int[][] mat)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Stack&lt;Integer&gt; stk = new Stack&lt;&gt;();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for(int i=0;i&lt;mat.length;i++)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stk.push(i);</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while(stk.size() &gt; 1)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int col = stk.pop();</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int row = stk.pop();</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if(mat[row][col] == 1)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stk.push(col);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 else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stk.push(row);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int x = stk.pop();</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for(int j=0;j&lt;mat.length;j++)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if(j == x) continue;</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if(mat[x][j] == 1)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b="0" lang="en-GB" sz="1300">
                          <a:solidFill>
                            <a:schemeClr val="dk1"/>
                          </a:solidFill>
                          <a:latin typeface="Consolas"/>
                          <a:ea typeface="Consolas"/>
                          <a:cs typeface="Consolas"/>
                          <a:sym typeface="Consolas"/>
                        </a:rPr>
                        <a:t>  return -1;</a:t>
                      </a:r>
                      <a:endParaRPr b="0"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0" lang="en-GB" sz="1300">
                          <a:solidFill>
                            <a:schemeClr val="dk1"/>
                          </a:solidFill>
                          <a:latin typeface="Consolas"/>
                          <a:ea typeface="Consolas"/>
                          <a:cs typeface="Consolas"/>
                          <a:sym typeface="Consolas"/>
                        </a:rPr>
                        <a:t>    	    }}	</a:t>
                      </a:r>
                      <a:endParaRPr b="0" sz="1300">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for(int i=0;i&lt;mat.length;i++)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if(i == x) continue;</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if(mat[i][x] == 0)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return -1;</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return x;}</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public static void main(String[] args)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int[][] matrix = {{0,1,1,0},</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{0,0,0,0},</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{0,1,0,0},</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{1,1,0,0}};</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int res = celebritySolution(matrix);</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if(res == -1)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System.out.println("There is no celebrity in the party");</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 else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            System.out.println(res + " is the celebrity in the party");</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lang="en-GB" sz="1300" u="none" cap="none" strike="noStrike">
                          <a:solidFill>
                            <a:srgbClr val="000000"/>
                          </a:solidFill>
                          <a:latin typeface="Consolas"/>
                          <a:ea typeface="Consolas"/>
                          <a:cs typeface="Consolas"/>
                          <a:sym typeface="Consolas"/>
                        </a:rPr>
                        <a:t>}}}</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2042aa8473_0_56"/>
          <p:cNvSpPr txBox="1"/>
          <p:nvPr/>
        </p:nvSpPr>
        <p:spPr>
          <a:xfrm>
            <a:off x="1922421" y="445600"/>
            <a:ext cx="48918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T</a:t>
            </a:r>
            <a:r>
              <a:rPr lang="en-GB" sz="1700">
                <a:solidFill>
                  <a:srgbClr val="8182EF"/>
                </a:solidFill>
                <a:latin typeface="Roboto Black"/>
                <a:ea typeface="Roboto Black"/>
                <a:cs typeface="Roboto Black"/>
                <a:sym typeface="Roboto Black"/>
              </a:rPr>
              <a:t>HE CELEBRITY PROBLEM</a:t>
            </a:r>
            <a:endParaRPr b="0" i="0" sz="1700" u="none" cap="none" strike="noStrike">
              <a:solidFill>
                <a:srgbClr val="6D9EEB"/>
              </a:solidFill>
              <a:latin typeface="Roboto Black"/>
              <a:ea typeface="Roboto Black"/>
              <a:cs typeface="Roboto Black"/>
              <a:sym typeface="Roboto Black"/>
            </a:endParaRPr>
          </a:p>
        </p:txBody>
      </p:sp>
      <p:sp>
        <p:nvSpPr>
          <p:cNvPr id="203" name="Google Shape;203;g32042aa8473_0_56"/>
          <p:cNvSpPr txBox="1"/>
          <p:nvPr/>
        </p:nvSpPr>
        <p:spPr>
          <a:xfrm>
            <a:off x="172449" y="901575"/>
            <a:ext cx="541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lang="en-GB" sz="1800">
                <a:solidFill>
                  <a:srgbClr val="002060"/>
                </a:solidFill>
                <a:latin typeface="Consolas"/>
                <a:ea typeface="Consolas"/>
                <a:cs typeface="Consolas"/>
                <a:sym typeface="Consolas"/>
              </a:rPr>
              <a:t>TIME AND SPACE COMPLEXITY </a:t>
            </a:r>
            <a:endParaRPr b="0" i="0" sz="1400" u="none" cap="none" strike="noStrike">
              <a:solidFill>
                <a:srgbClr val="000000"/>
              </a:solidFill>
              <a:latin typeface="Arial"/>
              <a:ea typeface="Arial"/>
              <a:cs typeface="Arial"/>
              <a:sym typeface="Arial"/>
            </a:endParaRPr>
          </a:p>
        </p:txBody>
      </p:sp>
      <p:sp>
        <p:nvSpPr>
          <p:cNvPr id="204" name="Google Shape;204;g32042aa8473_0_56"/>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00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Time complexity: O(N), where N is the number of people in the group</a:t>
            </a:r>
            <a:endParaRPr sz="1600">
              <a:solidFill>
                <a:schemeClr val="dk1"/>
              </a:solidFill>
            </a:endParaRPr>
          </a:p>
          <a:p>
            <a:pPr indent="0" lvl="0" marL="0" rtl="0" algn="l">
              <a:lnSpc>
                <a:spcPct val="150000"/>
              </a:lnSpc>
              <a:spcBef>
                <a:spcPts val="100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Space complexity:O(N) because the code uses a constant amount of additional space regardless of the input size, mainly for variables like candidate and loop counters.</a:t>
            </a:r>
            <a:endParaRPr sz="1600">
              <a:solidFill>
                <a:schemeClr val="dk1"/>
              </a:solidFill>
              <a:latin typeface="Consolas"/>
              <a:ea typeface="Consolas"/>
              <a:cs typeface="Consolas"/>
              <a:sym typeface="Consolas"/>
            </a:endParaRPr>
          </a:p>
          <a:p>
            <a:pPr indent="0" lvl="0" marL="0" rtl="0" algn="l">
              <a:lnSpc>
                <a:spcPct val="150000"/>
              </a:lnSpc>
              <a:spcBef>
                <a:spcPts val="0"/>
              </a:spcBef>
              <a:spcAft>
                <a:spcPts val="0"/>
              </a:spcAft>
              <a:buNone/>
            </a:pPr>
            <a:r>
              <a:t/>
            </a:r>
            <a:endParaRPr sz="1600">
              <a:solidFill>
                <a:schemeClr val="dk1"/>
              </a:solidFill>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1fdec52c72_0_308"/>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10" name="Google Shape;210;g31fdec52c72_0_308"/>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FF0000"/>
              </a:buClr>
              <a:buSzPts val="2000"/>
              <a:buFont typeface="Arial"/>
              <a:buNone/>
            </a:pPr>
            <a:r>
              <a:rPr i="1" lang="en-GB" sz="1600">
                <a:solidFill>
                  <a:srgbClr val="FF0000"/>
                </a:solidFill>
                <a:latin typeface="Consolas"/>
                <a:ea typeface="Consolas"/>
                <a:cs typeface="Consolas"/>
                <a:sym typeface="Consolas"/>
              </a:rPr>
              <a:t>1. Explain the Celebrity Problem</a:t>
            </a:r>
            <a:endParaRPr sz="160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600"/>
              <a:buFont typeface="Arial"/>
              <a:buNone/>
            </a:pPr>
            <a:r>
              <a:t/>
            </a:r>
            <a:endParaRPr i="1" sz="1600">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11" name="Google Shape;211;g31fdec52c72_0_308"/>
          <p:cNvSpPr txBox="1"/>
          <p:nvPr/>
        </p:nvSpPr>
        <p:spPr>
          <a:xfrm>
            <a:off x="436323" y="1779900"/>
            <a:ext cx="7492200" cy="32940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Answer: The Celebrity Problem involves finding a celebrity in a group of people. A celebrity is someone who is known by everyone in the group but doesn't know anyone. It can be represented using a square matrix where M[i][j] represents whether person i knows person j (1 for "knows" and 0 for "doesn't know"). The goal is to identify the celebrity efficiently.</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243a3cdda7_0_819"/>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17" name="Google Shape;217;g3243a3cdda7_0_819"/>
          <p:cNvSpPr txBox="1"/>
          <p:nvPr/>
        </p:nvSpPr>
        <p:spPr>
          <a:xfrm>
            <a:off x="0" y="1170000"/>
            <a:ext cx="80868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FF0000"/>
              </a:buClr>
              <a:buSzPts val="2000"/>
              <a:buFont typeface="Arial"/>
              <a:buNone/>
            </a:pPr>
            <a:r>
              <a:rPr i="1" lang="en-GB" sz="1600">
                <a:solidFill>
                  <a:srgbClr val="FF0000"/>
                </a:solidFill>
                <a:latin typeface="Consolas"/>
                <a:ea typeface="Consolas"/>
                <a:cs typeface="Consolas"/>
                <a:sym typeface="Consolas"/>
              </a:rPr>
              <a:t>2. What is the time complexity of the stack-based solution for the Celebrity Problem?</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18" name="Google Shape;218;g3243a3cdda7_0_819"/>
          <p:cNvSpPr txBox="1"/>
          <p:nvPr/>
        </p:nvSpPr>
        <p:spPr>
          <a:xfrm>
            <a:off x="418725" y="1932300"/>
            <a:ext cx="8086800" cy="21858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Answer: The time complexity is O(N), where N is the number of people in the group. The stack-based solution iteratively compares pairs of people, reducing the number of candidates until only one potential celebrity remains. This is done in linear time.</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243a3cdda7_0_825"/>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24" name="Google Shape;224;g3243a3cdda7_0_825"/>
          <p:cNvSpPr txBox="1"/>
          <p:nvPr/>
        </p:nvSpPr>
        <p:spPr>
          <a:xfrm>
            <a:off x="0" y="1170000"/>
            <a:ext cx="82632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FF0000"/>
              </a:buClr>
              <a:buSzPts val="2000"/>
              <a:buFont typeface="Arial"/>
              <a:buNone/>
            </a:pPr>
            <a:r>
              <a:rPr i="1" lang="en-GB" sz="1600">
                <a:solidFill>
                  <a:srgbClr val="FF0000"/>
                </a:solidFill>
                <a:latin typeface="Consolas"/>
                <a:ea typeface="Consolas"/>
                <a:cs typeface="Consolas"/>
                <a:sym typeface="Consolas"/>
              </a:rPr>
              <a:t>3.Can the Celebrity Problem be solved using a brute-force approach? What would be the time complexity?</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25" name="Google Shape;225;g3243a3cdda7_0_825"/>
          <p:cNvSpPr txBox="1"/>
          <p:nvPr/>
        </p:nvSpPr>
        <p:spPr>
          <a:xfrm>
            <a:off x="436323" y="2008500"/>
            <a:ext cx="7492200" cy="32940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Answer: Yes, the Celebrity Problem can be solved using a brute-force approach by checking each person's compatibility with the definition of a celebrity. However, the time complexity would be O(N^2) because you would need to check every pair of people to determine if one knows the other.</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243a3cdda7_0_831"/>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31" name="Google Shape;231;g3243a3cdda7_0_831"/>
          <p:cNvSpPr txBox="1"/>
          <p:nvPr/>
        </p:nvSpPr>
        <p:spPr>
          <a:xfrm>
            <a:off x="0" y="1170000"/>
            <a:ext cx="7928400" cy="609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FF0000"/>
              </a:buClr>
              <a:buSzPts val="2000"/>
              <a:buFont typeface="Arial"/>
              <a:buNone/>
            </a:pPr>
            <a:r>
              <a:rPr i="1" lang="en-GB" sz="1600">
                <a:solidFill>
                  <a:srgbClr val="FF0000"/>
                </a:solidFill>
                <a:latin typeface="Consolas"/>
                <a:ea typeface="Consolas"/>
                <a:cs typeface="Consolas"/>
                <a:sym typeface="Consolas"/>
              </a:rPr>
              <a:t>4. How does the Min Stack approach handle scenarios when the minimum element is popped from the main stack?</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32" name="Google Shape;232;g3243a3cdda7_0_831"/>
          <p:cNvSpPr txBox="1"/>
          <p:nvPr/>
        </p:nvSpPr>
        <p:spPr>
          <a:xfrm>
            <a:off x="436323" y="1932300"/>
            <a:ext cx="7492200" cy="32940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chemeClr val="dk1"/>
              </a:buClr>
              <a:buSzPts val="2000"/>
              <a:buFont typeface="Arial"/>
              <a:buNone/>
            </a:pPr>
            <a:r>
              <a:rPr lang="en-GB" sz="1600">
                <a:solidFill>
                  <a:schemeClr val="dk1"/>
                </a:solidFill>
                <a:latin typeface="Consolas"/>
                <a:ea typeface="Consolas"/>
                <a:cs typeface="Consolas"/>
                <a:sym typeface="Consolas"/>
              </a:rPr>
              <a:t>Answer: When the minimum element is popped from the main stack, the Min Stack approach ensures consistency by also popping the corresponding minimum element from the min stack. This guarantees that the top of the min stack always represents the minimum element present in the main stack at any given time.</a:t>
            </a:r>
            <a:endParaRPr sz="1600">
              <a:solidFill>
                <a:schemeClr val="dk1"/>
              </a:solidFill>
            </a:endParaRPr>
          </a:p>
          <a:p>
            <a:pPr indent="0" lvl="0" marL="0" marR="0" rtl="0" algn="l">
              <a:lnSpc>
                <a:spcPct val="150000"/>
              </a:lnSpc>
              <a:spcBef>
                <a:spcPts val="0"/>
              </a:spcBef>
              <a:spcAft>
                <a:spcPts val="0"/>
              </a:spcAft>
              <a:buClr>
                <a:schemeClr val="dk1"/>
              </a:buClr>
              <a:buSzPts val="2000"/>
              <a:buFont typeface="Arial"/>
              <a:buNone/>
            </a:pPr>
            <a:r>
              <a:t/>
            </a:r>
            <a:endParaRPr sz="1600">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38" name="Google Shape;238;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239" name="Google Shape;239;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45" name="Google Shape;245;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46" name="Google Shape;246;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47" name="Google Shape;247;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248" name="Google Shape;248;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49" name="Google Shape;249;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50" name="Google Shape;250;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251" name="Google Shape;251;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52" name="Google Shape;252;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253" name="Google Shape;253;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54" name="Google Shape;254;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255" name="Google Shape;255;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