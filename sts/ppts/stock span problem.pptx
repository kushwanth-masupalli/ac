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y="5143500" cx="9144000"/>
  <p:notesSz cx="6858000" cy="9144000"/>
  <p:embeddedFontLst>
    <p:embeddedFont>
      <p:font typeface="Roboto Black"/>
      <p:bold r:id="rId33"/>
      <p:boldItalic r:id="rId34"/>
    </p:embeddedFont>
    <p:embeddedFont>
      <p:font typeface="Robo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guide id="7" pos="1757">
          <p15:clr>
            <a:srgbClr val="747775"/>
          </p15:clr>
        </p15:guide>
      </p15:sldGuideLst>
    </p:ext>
    <p:ext uri="GoogleSlidesCustomDataVersion2">
      <go:slidesCustomData xmlns:go="http://customooxmlschemas.google.com/" r:id="rId39" roundtripDataSignature="AMtx7mhog6IRqVVZ/+Hz1UPYvCl9CVID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C64190-E89A-4DB4-8CD5-5764A30B56D3}">
  <a:tblStyle styleId="{B5C64190-E89A-4DB4-8CD5-5764A30B56D3}"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 pos="1757"/>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RobotoBlack-bold.fntdata"/><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regular.fntdata"/><Relationship Id="rId12" Type="http://schemas.openxmlformats.org/officeDocument/2006/relationships/slide" Target="slides/slide5.xml"/><Relationship Id="rId34" Type="http://schemas.openxmlformats.org/officeDocument/2006/relationships/font" Target="fonts/RobotoBlack-boldItalic.fntdata"/><Relationship Id="rId15" Type="http://schemas.openxmlformats.org/officeDocument/2006/relationships/slide" Target="slides/slide8.xml"/><Relationship Id="rId37" Type="http://schemas.openxmlformats.org/officeDocument/2006/relationships/font" Target="fonts/Roboto-italic.fntdata"/><Relationship Id="rId14" Type="http://schemas.openxmlformats.org/officeDocument/2006/relationships/slide" Target="slides/slide7.xml"/><Relationship Id="rId36" Type="http://schemas.openxmlformats.org/officeDocument/2006/relationships/font" Target="fonts/Roboto-bold.fntdata"/><Relationship Id="rId17" Type="http://schemas.openxmlformats.org/officeDocument/2006/relationships/slide" Target="slides/slide10.xml"/><Relationship Id="rId39" Type="http://customschemas.google.com/relationships/presentationmetadata" Target="metadata"/><Relationship Id="rId16" Type="http://schemas.openxmlformats.org/officeDocument/2006/relationships/slide" Target="slides/slide9.xml"/><Relationship Id="rId38" Type="http://schemas.openxmlformats.org/officeDocument/2006/relationships/font" Target="fonts/Roboto-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2" name="Google Shape;112;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041119a6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9" name="Google Shape;119;g32041119a6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04327b395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6" name="Google Shape;126;g3204327b395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04327b395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1" name="Google Shape;141;g3204327b395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204327b395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8" name="Google Shape;148;g3204327b395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204327b395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5" name="Google Shape;155;g3204327b395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204327b395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2" name="Google Shape;162;g3204327b395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204327b395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9" name="Google Shape;169;g3204327b395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204327b395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6" name="Google Shape;176;g3204327b395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204327b395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3" name="Google Shape;183;g3204327b395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204327b395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9" name="Google Shape;189;g3204327b395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204327b395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6" name="Google Shape;196;g3204327b395_0_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2042aa8473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3" name="Google Shape;203;g32042aa8473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204327b395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9" name="Google Shape;209;g3204327b395_0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04327b395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6" name="Google Shape;216;g3204327b395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1fdec52c72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3" name="Google Shape;223;g31fdec52c72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0" name="Google Shape;230;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243a3cdda7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7" name="Google Shape;237;g3243a3cdda7_0_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243a3cdda7_0_8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4" name="Google Shape;244;g3243a3cdda7_0_8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204327b395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51" name="Google Shape;251;g3204327b395_0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204327b395_0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58" name="Google Shape;258;g3204327b395_0_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4" name="Shape 44"/>
        <p:cNvGrpSpPr/>
        <p:nvPr/>
      </p:nvGrpSpPr>
      <p:grpSpPr>
        <a:xfrm>
          <a:off x="0" y="0"/>
          <a:ext cx="0" cy="0"/>
          <a:chOff x="0" y="0"/>
          <a:chExt cx="0" cy="0"/>
        </a:xfrm>
      </p:grpSpPr>
      <p:sp>
        <p:nvSpPr>
          <p:cNvPr id="45" name="Google Shape;45;g31fef00ada2_0_1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g31fef00ada2_0_1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 name="Google Shape;47;g31fef00ada2_0_1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8" name="Google Shape;48;g31fef00ada2_0_1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9" name="Google Shape;49;g31fef00ada2_0_1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sp>
        <p:nvSpPr>
          <p:cNvPr id="56" name="Google Shape;5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8" name="Google Shape;5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9" name="Google Shape;5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64" name="Shape 6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7" name="Google Shape;6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1" name="Shape 71"/>
        <p:cNvGrpSpPr/>
        <p:nvPr/>
      </p:nvGrpSpPr>
      <p:grpSpPr>
        <a:xfrm>
          <a:off x="0" y="0"/>
          <a:ext cx="0" cy="0"/>
          <a:chOff x="0" y="0"/>
          <a:chExt cx="0" cy="0"/>
        </a:xfrm>
      </p:grpSpPr>
      <p:sp>
        <p:nvSpPr>
          <p:cNvPr id="72" name="Google Shape;7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3" name="Google Shape;7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4" name="Google Shape;7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 name="Shape 75"/>
        <p:cNvGrpSpPr/>
        <p:nvPr/>
      </p:nvGrpSpPr>
      <p:grpSpPr>
        <a:xfrm>
          <a:off x="0" y="0"/>
          <a:ext cx="0" cy="0"/>
          <a:chOff x="0" y="0"/>
          <a:chExt cx="0" cy="0"/>
        </a:xfrm>
      </p:grpSpPr>
      <p:sp>
        <p:nvSpPr>
          <p:cNvPr id="76" name="Google Shape;7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7" name="Google Shape;7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0" name="Google Shape;8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1" name="Google Shape;8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 name="Google Shape;8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3" name="Google Shape;8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6" name="Google Shape;8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9" name="Google Shape;8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0" name="Google Shape;9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theme" Target="../theme/theme2.xml"/><Relationship Id="rId12" Type="http://schemas.openxmlformats.org/officeDocument/2006/relationships/slideLayout" Target="../slideLayouts/slideLayout21.xml"/><Relationship Id="rId1" Type="http://schemas.openxmlformats.org/officeDocument/2006/relationships/image" Target="../media/image6.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2.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orms.gle/4NHVaw6w4KwLbY2P8" TargetMode="Externa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hyperlink" Target="https://learn.codemithra.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4.jp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8" name="Google Shape;9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9" name="Google Shape;9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00" name="Google Shape;10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01" name="Google Shape;10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7" name="Google Shape;10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8" name="Google Shape;10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9" name="Google Shape;109;p3"/>
          <p:cNvSpPr txBox="1"/>
          <p:nvPr/>
        </p:nvSpPr>
        <p:spPr>
          <a:xfrm>
            <a:off x="140951" y="2260382"/>
            <a:ext cx="4690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6000"/>
              <a:buFont typeface="Arial"/>
              <a:buNone/>
            </a:pPr>
            <a:r>
              <a:rPr b="1" i="0" lang="en-GB" sz="2000" u="none" cap="none" strike="noStrike">
                <a:solidFill>
                  <a:schemeClr val="lt1"/>
                </a:solidFill>
                <a:latin typeface="Times New Roman"/>
                <a:ea typeface="Times New Roman"/>
                <a:cs typeface="Times New Roman"/>
                <a:sym typeface="Times New Roman"/>
              </a:rPr>
              <a:t>STOCK SPAN PROBLEM</a:t>
            </a:r>
            <a:endParaRPr b="1" i="0" sz="20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14337fc5d25_0_216"/>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TEST TIME ON </a:t>
            </a:r>
            <a:r>
              <a:rPr lang="en-GB" sz="1700">
                <a:solidFill>
                  <a:srgbClr val="8182EF"/>
                </a:solidFill>
                <a:latin typeface="Roboto Black"/>
                <a:ea typeface="Roboto Black"/>
                <a:cs typeface="Roboto Black"/>
                <a:sym typeface="Roboto Black"/>
              </a:rPr>
              <a:t>TOWER OF HANOI</a:t>
            </a:r>
            <a:endParaRPr b="0" i="0" sz="1700" u="none" cap="none" strike="noStrike">
              <a:solidFill>
                <a:srgbClr val="6D9EEB"/>
              </a:solidFill>
              <a:latin typeface="Roboto Black"/>
              <a:ea typeface="Roboto Black"/>
              <a:cs typeface="Roboto Black"/>
              <a:sym typeface="Roboto Black"/>
            </a:endParaRPr>
          </a:p>
        </p:txBody>
      </p:sp>
      <p:sp>
        <p:nvSpPr>
          <p:cNvPr id="115" name="Google Shape;115;g14337fc5d25_0_216"/>
          <p:cNvSpPr txBox="1"/>
          <p:nvPr/>
        </p:nvSpPr>
        <p:spPr>
          <a:xfrm>
            <a:off x="126950" y="1144965"/>
            <a:ext cx="11040300" cy="5898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URL:</a:t>
            </a:r>
            <a:r>
              <a:rPr b="0" i="0" lang="en-GB" sz="2000" u="sng" cap="none" strike="noStrike">
                <a:solidFill>
                  <a:srgbClr val="0563C1"/>
                </a:solidFill>
                <a:latin typeface="Consolas"/>
                <a:ea typeface="Consolas"/>
                <a:cs typeface="Consolas"/>
                <a:sym typeface="Consolas"/>
                <a:hlinkClick r:id="rId3">
                  <a:extLst>
                    <a:ext uri="{A12FA001-AC4F-418D-AE19-62706E023703}">
                      <ahyp:hlinkClr val="tx"/>
                    </a:ext>
                  </a:extLst>
                </a:hlinkClick>
              </a:rPr>
              <a:t>https://forms.gle/4NHVaw6w4KwLbY2P8</a:t>
            </a:r>
            <a:endParaRPr b="0" i="0" sz="2000" u="none" cap="none" strike="noStrike">
              <a:solidFill>
                <a:srgbClr val="000000"/>
              </a:solidFill>
              <a:latin typeface="Calibri"/>
              <a:ea typeface="Calibri"/>
              <a:cs typeface="Calibri"/>
              <a:sym typeface="Calibri"/>
            </a:endParaRPr>
          </a:p>
        </p:txBody>
      </p:sp>
      <p:pic>
        <p:nvPicPr>
          <p:cNvPr id="116" name="Google Shape;116;g14337fc5d25_0_216"/>
          <p:cNvPicPr preferRelativeResize="0"/>
          <p:nvPr/>
        </p:nvPicPr>
        <p:blipFill rotWithShape="1">
          <a:blip r:embed="rId4">
            <a:alphaModFix/>
          </a:blip>
          <a:srcRect b="0" l="0" r="0" t="0"/>
          <a:stretch/>
        </p:blipFill>
        <p:spPr>
          <a:xfrm>
            <a:off x="2745700" y="1957350"/>
            <a:ext cx="3001950" cy="2591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2041119a69_0_0"/>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sp>
        <p:nvSpPr>
          <p:cNvPr id="122" name="Google Shape;122;g32041119a69_0_0"/>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23" name="Google Shape;123;g32041119a69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0" marL="457200" marR="0" rtl="0" algn="l">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The Stock Span problem is a financial problem where we have a series of daily stock price quotes, and we need to calculate the span of stock's price for each day.</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The span of a stock's price on a given day is defined as the maximum number of consecutive days (including the current day) for which the stock price was less than or equal to the price on the current day. </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In simple terms, it measures how many days a stock had a lower or equal price leading up to the current day.</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204327b395_0_1"/>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sp>
        <p:nvSpPr>
          <p:cNvPr id="129" name="Google Shape;129;g3204327b395_0_1"/>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APPROACHES</a:t>
            </a:r>
            <a:endParaRPr b="0" i="0" sz="1400" u="none" cap="none" strike="noStrike">
              <a:solidFill>
                <a:srgbClr val="000000"/>
              </a:solidFill>
              <a:latin typeface="Arial"/>
              <a:ea typeface="Arial"/>
              <a:cs typeface="Arial"/>
              <a:sym typeface="Arial"/>
            </a:endParaRPr>
          </a:p>
        </p:txBody>
      </p:sp>
      <p:grpSp>
        <p:nvGrpSpPr>
          <p:cNvPr id="130" name="Google Shape;130;g3204327b395_0_1"/>
          <p:cNvGrpSpPr/>
          <p:nvPr/>
        </p:nvGrpSpPr>
        <p:grpSpPr>
          <a:xfrm>
            <a:off x="351861" y="1372850"/>
            <a:ext cx="8690712" cy="2979887"/>
            <a:chOff x="2096" y="540185"/>
            <a:chExt cx="8690712" cy="2979887"/>
          </a:xfrm>
        </p:grpSpPr>
        <p:sp>
          <p:nvSpPr>
            <p:cNvPr id="131" name="Google Shape;131;g3204327b395_0_1"/>
            <p:cNvSpPr/>
            <p:nvPr/>
          </p:nvSpPr>
          <p:spPr>
            <a:xfrm>
              <a:off x="4451393" y="1163209"/>
              <a:ext cx="2275200" cy="1719300"/>
            </a:xfrm>
            <a:custGeom>
              <a:rect b="b" l="l" r="r" t="t"/>
              <a:pathLst>
                <a:path extrusionOk="0" h="120000" w="120000">
                  <a:moveTo>
                    <a:pt x="0" y="0"/>
                  </a:moveTo>
                  <a:lnTo>
                    <a:pt x="0" y="91182"/>
                  </a:lnTo>
                  <a:lnTo>
                    <a:pt x="120000" y="91182"/>
                  </a:lnTo>
                  <a:lnTo>
                    <a:pt x="120000" y="120000"/>
                  </a:lnTo>
                </a:path>
              </a:pathLst>
            </a:custGeom>
            <a:noFill/>
            <a:ln cap="flat" cmpd="sng" w="12700">
              <a:solidFill>
                <a:srgbClr val="BA6124"/>
              </a:solidFill>
              <a:prstDash val="solid"/>
              <a:miter lim="800000"/>
              <a:headEnd len="sm" w="sm" type="none"/>
              <a:tailEnd len="sm" w="sm" type="none"/>
            </a:ln>
          </p:spPr>
        </p:sp>
        <p:sp>
          <p:nvSpPr>
            <p:cNvPr id="132" name="Google Shape;132;g3204327b395_0_1"/>
            <p:cNvSpPr/>
            <p:nvPr/>
          </p:nvSpPr>
          <p:spPr>
            <a:xfrm>
              <a:off x="1968340" y="1163209"/>
              <a:ext cx="2483100" cy="1719300"/>
            </a:xfrm>
            <a:custGeom>
              <a:rect b="b" l="l" r="r" t="t"/>
              <a:pathLst>
                <a:path extrusionOk="0" h="120000" w="120000">
                  <a:moveTo>
                    <a:pt x="120000" y="0"/>
                  </a:moveTo>
                  <a:lnTo>
                    <a:pt x="120000" y="91182"/>
                  </a:lnTo>
                  <a:lnTo>
                    <a:pt x="0" y="91182"/>
                  </a:lnTo>
                  <a:lnTo>
                    <a:pt x="0" y="120000"/>
                  </a:lnTo>
                </a:path>
              </a:pathLst>
            </a:custGeom>
            <a:noFill/>
            <a:ln cap="flat" cmpd="sng" w="12700">
              <a:solidFill>
                <a:srgbClr val="BA6124"/>
              </a:solidFill>
              <a:prstDash val="solid"/>
              <a:miter lim="800000"/>
              <a:headEnd len="sm" w="sm" type="none"/>
              <a:tailEnd len="sm" w="sm" type="none"/>
            </a:ln>
          </p:spPr>
        </p:sp>
        <p:sp>
          <p:nvSpPr>
            <p:cNvPr id="133" name="Google Shape;133;g3204327b395_0_1"/>
            <p:cNvSpPr/>
            <p:nvPr/>
          </p:nvSpPr>
          <p:spPr>
            <a:xfrm>
              <a:off x="2485148" y="540185"/>
              <a:ext cx="3932400" cy="623100"/>
            </a:xfrm>
            <a:prstGeom prst="rect">
              <a:avLst/>
            </a:prstGeom>
            <a:solidFill>
              <a:srgbClr val="ED7D31"/>
            </a:solidFill>
            <a:ln cap="flat" cmpd="sng" w="1905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3204327b395_0_1"/>
            <p:cNvSpPr txBox="1"/>
            <p:nvPr/>
          </p:nvSpPr>
          <p:spPr>
            <a:xfrm>
              <a:off x="2485148" y="540185"/>
              <a:ext cx="3932400" cy="6231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FFFFFF"/>
                </a:buClr>
                <a:buSzPts val="1800"/>
                <a:buFont typeface="Consolas"/>
                <a:buNone/>
              </a:pPr>
              <a:r>
                <a:rPr b="1" i="0" lang="en-GB" sz="1800" u="none" cap="none" strike="noStrike">
                  <a:solidFill>
                    <a:srgbClr val="FFFFFF"/>
                  </a:solidFill>
                  <a:latin typeface="Consolas"/>
                  <a:ea typeface="Consolas"/>
                  <a:cs typeface="Consolas"/>
                  <a:sym typeface="Consolas"/>
                </a:rPr>
                <a:t>TWO APPROACHES</a:t>
              </a:r>
              <a:endParaRPr b="0" i="0" sz="1400" u="none" cap="none" strike="noStrike">
                <a:solidFill>
                  <a:srgbClr val="000000"/>
                </a:solidFill>
                <a:latin typeface="Arial"/>
                <a:ea typeface="Arial"/>
                <a:cs typeface="Arial"/>
                <a:sym typeface="Arial"/>
              </a:endParaRPr>
            </a:p>
          </p:txBody>
        </p:sp>
        <p:sp>
          <p:nvSpPr>
            <p:cNvPr id="135" name="Google Shape;135;g3204327b395_0_1"/>
            <p:cNvSpPr/>
            <p:nvPr/>
          </p:nvSpPr>
          <p:spPr>
            <a:xfrm>
              <a:off x="2096" y="2882572"/>
              <a:ext cx="3932400" cy="637500"/>
            </a:xfrm>
            <a:prstGeom prst="rect">
              <a:avLst/>
            </a:prstGeom>
            <a:solidFill>
              <a:srgbClr val="ED7D31"/>
            </a:solidFill>
            <a:ln cap="flat" cmpd="sng" w="1905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204327b395_0_1"/>
            <p:cNvSpPr txBox="1"/>
            <p:nvPr/>
          </p:nvSpPr>
          <p:spPr>
            <a:xfrm>
              <a:off x="2096" y="2882572"/>
              <a:ext cx="3932400" cy="6375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FFFFFF"/>
                </a:buClr>
                <a:buSzPts val="1800"/>
                <a:buFont typeface="Consolas"/>
                <a:buNone/>
              </a:pPr>
              <a:r>
                <a:rPr b="1" i="0" lang="en-GB" sz="1800" u="none" cap="none" strike="noStrike">
                  <a:solidFill>
                    <a:srgbClr val="FFFFFF"/>
                  </a:solidFill>
                  <a:latin typeface="Consolas"/>
                  <a:ea typeface="Consolas"/>
                  <a:cs typeface="Consolas"/>
                  <a:sym typeface="Consolas"/>
                </a:rPr>
                <a:t>brute-force approach</a:t>
              </a:r>
              <a:endParaRPr b="1" i="0" sz="1800" u="none" cap="none" strike="noStrike">
                <a:solidFill>
                  <a:srgbClr val="FFFFFF"/>
                </a:solidFill>
                <a:latin typeface="Consolas"/>
                <a:ea typeface="Consolas"/>
                <a:cs typeface="Consolas"/>
                <a:sym typeface="Consolas"/>
              </a:endParaRPr>
            </a:p>
          </p:txBody>
        </p:sp>
        <p:sp>
          <p:nvSpPr>
            <p:cNvPr id="137" name="Google Shape;137;g3204327b395_0_1"/>
            <p:cNvSpPr/>
            <p:nvPr/>
          </p:nvSpPr>
          <p:spPr>
            <a:xfrm>
              <a:off x="4760408" y="2882572"/>
              <a:ext cx="3932400" cy="616500"/>
            </a:xfrm>
            <a:prstGeom prst="rect">
              <a:avLst/>
            </a:prstGeom>
            <a:solidFill>
              <a:srgbClr val="ED7D31"/>
            </a:solidFill>
            <a:ln cap="flat" cmpd="sng" w="1905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g3204327b395_0_1"/>
            <p:cNvSpPr txBox="1"/>
            <p:nvPr/>
          </p:nvSpPr>
          <p:spPr>
            <a:xfrm>
              <a:off x="4760408" y="2882572"/>
              <a:ext cx="3932400" cy="6165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FFFFFF"/>
                </a:buClr>
                <a:buSzPts val="1800"/>
                <a:buFont typeface="Consolas"/>
                <a:buNone/>
              </a:pPr>
              <a:r>
                <a:rPr b="1" i="0" lang="en-GB" sz="1800" u="none" cap="none" strike="noStrike">
                  <a:solidFill>
                    <a:srgbClr val="FFFFFF"/>
                  </a:solidFill>
                  <a:latin typeface="Consolas"/>
                  <a:ea typeface="Consolas"/>
                  <a:cs typeface="Consolas"/>
                  <a:sym typeface="Consolas"/>
                </a:rPr>
                <a:t>stack-based approach. </a:t>
              </a:r>
              <a:endParaRPr b="1" i="0" sz="1800" u="none" cap="none" strike="noStrike">
                <a:solidFill>
                  <a:srgbClr val="FFFFFF"/>
                </a:solidFill>
                <a:latin typeface="Consolas"/>
                <a:ea typeface="Consolas"/>
                <a:cs typeface="Consolas"/>
                <a:sym typeface="Consola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204327b395_0_16"/>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sp>
        <p:nvSpPr>
          <p:cNvPr id="144" name="Google Shape;144;g3204327b395_0_16"/>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APPROACHES 1:BRUTE FORCE APPROACH</a:t>
            </a:r>
            <a:endParaRPr b="0" i="0" sz="1400" u="none" cap="none" strike="noStrike">
              <a:solidFill>
                <a:srgbClr val="000000"/>
              </a:solidFill>
              <a:latin typeface="Arial"/>
              <a:ea typeface="Arial"/>
              <a:cs typeface="Arial"/>
              <a:sym typeface="Arial"/>
            </a:endParaRPr>
          </a:p>
        </p:txBody>
      </p:sp>
      <p:sp>
        <p:nvSpPr>
          <p:cNvPr id="145" name="Google Shape;145;g3204327b395_0_1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The brute force approach to solving the Stock Span problem involves a straightforward, iterative method.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STEP-BY-STEP EXPLANATION:</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Start with the first day's stock price and initialize its span as 1 because there are no previous days to compare with.</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For each subsequent day (starting from the second day):	</a:t>
            </a:r>
            <a:endParaRPr b="0" i="0" sz="1600" u="none" cap="none" strike="noStrike">
              <a:solidFill>
                <a:schemeClr val="dk1"/>
              </a:solidFill>
              <a:latin typeface="Arial"/>
              <a:ea typeface="Arial"/>
              <a:cs typeface="Arial"/>
              <a:sym typeface="Arial"/>
            </a:endParaRPr>
          </a:p>
          <a:p>
            <a:pPr indent="-273050" lvl="2" marL="12001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Initialize the span for the current day as 1.</a:t>
            </a:r>
            <a:endParaRPr b="0" i="0" sz="1600" u="none" cap="none" strike="noStrike">
              <a:solidFill>
                <a:schemeClr val="dk1"/>
              </a:solidFill>
              <a:latin typeface="Arial"/>
              <a:ea typeface="Arial"/>
              <a:cs typeface="Arial"/>
              <a:sym typeface="Arial"/>
            </a:endParaRPr>
          </a:p>
          <a:p>
            <a:pPr indent="-273050" lvl="2" marL="12001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Compare the stock price of the current day with the stock prices of all the previous days (back to day 1).</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1000"/>
              </a:spcBef>
              <a:spcAft>
                <a:spcPts val="0"/>
              </a:spcAft>
              <a:buClr>
                <a:schemeClr val="dk1"/>
              </a:buClr>
              <a:buSzPts val="1600"/>
              <a:buFont typeface="Consolas"/>
              <a:buChar char="•"/>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204327b395_0_31"/>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sp>
        <p:nvSpPr>
          <p:cNvPr id="151" name="Google Shape;151;g3204327b395_0_31"/>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APPROACHES 1:BRUTE FORCE APPROACH</a:t>
            </a:r>
            <a:endParaRPr b="0" i="0" sz="1400" u="none" cap="none" strike="noStrike">
              <a:solidFill>
                <a:srgbClr val="000000"/>
              </a:solidFill>
              <a:latin typeface="Arial"/>
              <a:ea typeface="Arial"/>
              <a:cs typeface="Arial"/>
              <a:sym typeface="Arial"/>
            </a:endParaRPr>
          </a:p>
        </p:txBody>
      </p:sp>
      <p:sp>
        <p:nvSpPr>
          <p:cNvPr id="152" name="Google Shape;152;g3204327b395_0_31"/>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2" marL="137160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Increment the span for the current day for each previous day where the stock price is less than or equal to the stock price of the current day.</a:t>
            </a:r>
            <a:endParaRPr b="0" i="0" sz="1600" u="none" cap="none" strike="noStrike">
              <a:solidFill>
                <a:schemeClr val="dk1"/>
              </a:solidFill>
              <a:latin typeface="Arial"/>
              <a:ea typeface="Arial"/>
              <a:cs typeface="Arial"/>
              <a:sym typeface="Arial"/>
            </a:endParaRPr>
          </a:p>
          <a:p>
            <a:pPr indent="-330200" lvl="2" marL="137160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Continue this process for each day, building the span values for the entire series of stock prices.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The final result is an array of span values, where each span value represents how many consecutive days the stock price was less than or equal to the price on the current day.</a:t>
            </a:r>
            <a:endParaRPr b="0" i="0" sz="1600" u="none" cap="none" strike="noStrike">
              <a:solidFill>
                <a:schemeClr val="dk1"/>
              </a:solidFill>
              <a:latin typeface="Consolas"/>
              <a:ea typeface="Consolas"/>
              <a:cs typeface="Consolas"/>
              <a:sym typeface="Consolas"/>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204327b395_0_37"/>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sp>
        <p:nvSpPr>
          <p:cNvPr id="158" name="Google Shape;158;g3204327b395_0_37"/>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APPROACHES </a:t>
            </a:r>
            <a:r>
              <a:rPr b="1" lang="en-GB" sz="1800">
                <a:solidFill>
                  <a:srgbClr val="002060"/>
                </a:solidFill>
                <a:latin typeface="Consolas"/>
                <a:ea typeface="Consolas"/>
                <a:cs typeface="Consolas"/>
                <a:sym typeface="Consolas"/>
              </a:rPr>
              <a:t>2</a:t>
            </a:r>
            <a:r>
              <a:rPr b="1" i="0" lang="en-GB" sz="1800" u="none" cap="none" strike="noStrike">
                <a:solidFill>
                  <a:srgbClr val="002060"/>
                </a:solidFill>
                <a:latin typeface="Consolas"/>
                <a:ea typeface="Consolas"/>
                <a:cs typeface="Consolas"/>
                <a:sym typeface="Consolas"/>
              </a:rPr>
              <a:t>:STACK BASED APPROACH</a:t>
            </a:r>
            <a:endParaRPr b="0" i="0" sz="1400" u="none" cap="none" strike="noStrike">
              <a:solidFill>
                <a:srgbClr val="000000"/>
              </a:solidFill>
              <a:latin typeface="Arial"/>
              <a:ea typeface="Arial"/>
              <a:cs typeface="Arial"/>
              <a:sym typeface="Arial"/>
            </a:endParaRPr>
          </a:p>
        </p:txBody>
      </p:sp>
      <p:sp>
        <p:nvSpPr>
          <p:cNvPr id="159" name="Google Shape;159;g3204327b395_0_37"/>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The stack based approach to solving the Stock Span problem is a more efficient and elegant solution that leverages a stack data structure.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STEP BY STEP EXPLANATION</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Start with the first day's stock price and initialize its span as 1 because there are no previous days to compare with.</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Create an empty stack to store the indices of previously seen stock prices.</a:t>
            </a:r>
            <a:endParaRPr b="0" i="0" sz="1600" u="none" cap="none" strike="noStrike">
              <a:solidFill>
                <a:schemeClr val="dk1"/>
              </a:solidFill>
              <a:latin typeface="Consolas"/>
              <a:ea typeface="Consolas"/>
              <a:cs typeface="Consolas"/>
              <a:sym typeface="Consolas"/>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204327b395_0_43"/>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sp>
        <p:nvSpPr>
          <p:cNvPr id="165" name="Google Shape;165;g3204327b395_0_43"/>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APPROACHES </a:t>
            </a:r>
            <a:r>
              <a:rPr b="1" lang="en-GB" sz="1800">
                <a:solidFill>
                  <a:srgbClr val="002060"/>
                </a:solidFill>
                <a:latin typeface="Consolas"/>
                <a:ea typeface="Consolas"/>
                <a:cs typeface="Consolas"/>
                <a:sym typeface="Consolas"/>
              </a:rPr>
              <a:t>2</a:t>
            </a:r>
            <a:r>
              <a:rPr b="1" i="0" lang="en-GB" sz="1800" u="none" cap="none" strike="noStrike">
                <a:solidFill>
                  <a:srgbClr val="002060"/>
                </a:solidFill>
                <a:latin typeface="Consolas"/>
                <a:ea typeface="Consolas"/>
                <a:cs typeface="Consolas"/>
                <a:sym typeface="Consolas"/>
              </a:rPr>
              <a:t>:STACK BASED APPROACH</a:t>
            </a:r>
            <a:endParaRPr b="0" i="0" sz="1400" u="none" cap="none" strike="noStrike">
              <a:solidFill>
                <a:srgbClr val="000000"/>
              </a:solidFill>
              <a:latin typeface="Arial"/>
              <a:ea typeface="Arial"/>
              <a:cs typeface="Arial"/>
              <a:sym typeface="Arial"/>
            </a:endParaRPr>
          </a:p>
        </p:txBody>
      </p:sp>
      <p:sp>
        <p:nvSpPr>
          <p:cNvPr id="166" name="Google Shape;166;g3204327b395_0_43"/>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For each subsequent day (starting from the second day):</a:t>
            </a:r>
            <a:endParaRPr b="0" i="0" sz="1600" u="none" cap="none" strike="noStrike">
              <a:solidFill>
                <a:schemeClr val="dk1"/>
              </a:solidFill>
              <a:latin typeface="Arial"/>
              <a:ea typeface="Arial"/>
              <a:cs typeface="Arial"/>
              <a:sym typeface="Arial"/>
            </a:endParaRPr>
          </a:p>
          <a:p>
            <a:pPr indent="-273050" lvl="1" marL="7429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Initialize the span for the current day as 1.</a:t>
            </a:r>
            <a:endParaRPr b="0" i="0" sz="1600" u="none" cap="none" strike="noStrike">
              <a:solidFill>
                <a:schemeClr val="dk1"/>
              </a:solidFill>
              <a:latin typeface="Arial"/>
              <a:ea typeface="Arial"/>
              <a:cs typeface="Arial"/>
              <a:sym typeface="Arial"/>
            </a:endParaRPr>
          </a:p>
          <a:p>
            <a:pPr indent="-273050" lvl="1" marL="7429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While the stack is not empty and the stock price of the current day is greater than or equal to the stock price at the index stored at the top of the stack:</a:t>
            </a:r>
            <a:endParaRPr b="0" i="0" sz="1600" u="none" cap="none" strike="noStrike">
              <a:solidFill>
                <a:schemeClr val="dk1"/>
              </a:solidFill>
              <a:latin typeface="Arial"/>
              <a:ea typeface="Arial"/>
              <a:cs typeface="Arial"/>
              <a:sym typeface="Arial"/>
            </a:endParaRPr>
          </a:p>
          <a:p>
            <a:pPr indent="-273050" lvl="1" marL="7429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Pop elements from the stack until a smaller stock price is encountered.</a:t>
            </a:r>
            <a:endParaRPr b="0" i="0" sz="1600" u="none" cap="none" strike="noStrike">
              <a:solidFill>
                <a:schemeClr val="dk1"/>
              </a:solidFill>
              <a:latin typeface="Arial"/>
              <a:ea typeface="Arial"/>
              <a:cs typeface="Arial"/>
              <a:sym typeface="Arial"/>
            </a:endParaRPr>
          </a:p>
          <a:p>
            <a:pPr indent="-273050" lvl="1" marL="7429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Increment the span for the current day during each pop operation.</a:t>
            </a:r>
            <a:endParaRPr b="0" i="0" sz="1600" u="none" cap="none" strike="noStrike">
              <a:solidFill>
                <a:schemeClr val="dk1"/>
              </a:solidFill>
              <a:latin typeface="Consolas"/>
              <a:ea typeface="Consolas"/>
              <a:cs typeface="Consolas"/>
              <a:sym typeface="Consolas"/>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204327b395_0_49"/>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sp>
        <p:nvSpPr>
          <p:cNvPr id="172" name="Google Shape;172;g3204327b395_0_49"/>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APPROACHES 2:STACK BASED APPROACH</a:t>
            </a:r>
            <a:endParaRPr b="0" i="0" sz="1400" u="none" cap="none" strike="noStrike">
              <a:solidFill>
                <a:srgbClr val="000000"/>
              </a:solidFill>
              <a:latin typeface="Arial"/>
              <a:ea typeface="Arial"/>
              <a:cs typeface="Arial"/>
              <a:sym typeface="Arial"/>
            </a:endParaRPr>
          </a:p>
        </p:txBody>
      </p:sp>
      <p:sp>
        <p:nvSpPr>
          <p:cNvPr id="173" name="Google Shape;173;g3204327b395_0_49"/>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Calculate the span for the current day using the difference between the current index and the index at the top of the stack. If the stack is empty, the span is simply the current index plus 1.</a:t>
            </a:r>
            <a:endParaRPr b="0" i="0" sz="1600" u="none" cap="none" strike="noStrike">
              <a:solidFill>
                <a:schemeClr val="dk1"/>
              </a:solidFill>
              <a:latin typeface="Arial"/>
              <a:ea typeface="Arial"/>
              <a:cs typeface="Arial"/>
              <a:sym typeface="Arial"/>
            </a:endParaRPr>
          </a:p>
          <a:p>
            <a:pPr indent="-273050" lvl="1" marL="7429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Push the current index onto the stack.</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Continue this process for each day, efficiently calculating the span values for the entire series of stock prices.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The final result is an array of span values, where each span value represents how many consecutive days the stock price was less than or equal to the price on the current day.</a:t>
            </a:r>
            <a:endParaRPr b="0" i="0" sz="1600" u="none" cap="none" strike="noStrike">
              <a:solidFill>
                <a:schemeClr val="dk1"/>
              </a:solidFill>
              <a:latin typeface="Consolas"/>
              <a:ea typeface="Consolas"/>
              <a:cs typeface="Consolas"/>
              <a:sym typeface="Consolas"/>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204327b395_0_55"/>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sp>
        <p:nvSpPr>
          <p:cNvPr id="179" name="Google Shape;179;g3204327b395_0_55"/>
          <p:cNvSpPr txBox="1"/>
          <p:nvPr/>
        </p:nvSpPr>
        <p:spPr>
          <a:xfrm>
            <a:off x="172451" y="9015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SOLVING THE STOCK SPAN PROBLEM-BRUTE-FORCE APPROACH</a:t>
            </a:r>
            <a:endParaRPr b="0" i="0" sz="1400" u="none" cap="none" strike="noStrike">
              <a:solidFill>
                <a:srgbClr val="000000"/>
              </a:solidFill>
              <a:latin typeface="Arial"/>
              <a:ea typeface="Arial"/>
              <a:cs typeface="Arial"/>
              <a:sym typeface="Arial"/>
            </a:endParaRPr>
          </a:p>
        </p:txBody>
      </p:sp>
      <p:sp>
        <p:nvSpPr>
          <p:cNvPr id="180" name="Google Shape;180;g3204327b395_0_55"/>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The brute-force approach involves iterating through the stock prices day by day and, for each day, counting the number of consecutive days with lower or equal prices</a:t>
            </a:r>
            <a:endParaRPr b="0" i="0" sz="1600" u="none" cap="none" strike="noStrike">
              <a:solidFill>
                <a:schemeClr val="dk1"/>
              </a:solidFill>
              <a:latin typeface="Consolas"/>
              <a:ea typeface="Consolas"/>
              <a:cs typeface="Consolas"/>
              <a:sym typeface="Consolas"/>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204327b395_0_61"/>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graphicFrame>
        <p:nvGraphicFramePr>
          <p:cNvPr id="186" name="Google Shape;186;g3204327b395_0_61"/>
          <p:cNvGraphicFramePr/>
          <p:nvPr/>
        </p:nvGraphicFramePr>
        <p:xfrm>
          <a:off x="76203" y="799601"/>
          <a:ext cx="3000000" cy="3000000"/>
        </p:xfrm>
        <a:graphic>
          <a:graphicData uri="http://schemas.openxmlformats.org/drawingml/2006/table">
            <a:tbl>
              <a:tblPr bandRow="1" firstRow="1">
                <a:noFill/>
                <a:tableStyleId>{B5C64190-E89A-4DB4-8CD5-5764A30B56D3}</a:tableStyleId>
              </a:tblPr>
              <a:tblGrid>
                <a:gridCol w="4540175"/>
                <a:gridCol w="43285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import java.util.Arrays;</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class Main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int[] calculateSpan(int[] stockPrices)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n = stockPrices.length;</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span = new int[n];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span[0] = 1; // The span of the first day is always 1.</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(int i = 1; i &lt; n; i++)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span[i] = 1; // Initialize the span for the current day.</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j = i - 1;</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while (j &gt;= 0 &amp;&amp; stockPrices[i] &gt;= stockPrices[j])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span[i]++;</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j--;</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return span;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static void main(String[] args)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Main calculator = new Main();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stockPrices = {100, 80, 60, 70, 60, 75, 85};</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spans = calculator.calculateSpan(stockPrices);</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System.out.println("Stock Prices: " + Arrays.toString(stockPrices));</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System.out.println("Stock Spans:   " + Arrays.toString(spans));</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204327b395_0_68"/>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sp>
        <p:nvSpPr>
          <p:cNvPr id="192" name="Google Shape;192;g3204327b395_0_68"/>
          <p:cNvSpPr txBox="1"/>
          <p:nvPr/>
        </p:nvSpPr>
        <p:spPr>
          <a:xfrm>
            <a:off x="172451" y="9015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TIME AND SPACE COMPLEXITY</a:t>
            </a:r>
            <a:endParaRPr b="0" i="0" sz="1400" u="none" cap="none" strike="noStrike">
              <a:solidFill>
                <a:srgbClr val="000000"/>
              </a:solidFill>
              <a:latin typeface="Arial"/>
              <a:ea typeface="Arial"/>
              <a:cs typeface="Arial"/>
              <a:sym typeface="Arial"/>
            </a:endParaRPr>
          </a:p>
        </p:txBody>
      </p:sp>
      <p:sp>
        <p:nvSpPr>
          <p:cNvPr id="193" name="Google Shape;193;g3204327b395_0_6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The time complexity of the code is O(n^2) in the worst case, where n is the number of stock prices, due to the nested loop used to calculate spans.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The space complexity is O(n) as it requires additional memory to store the span values for each day.</a:t>
            </a:r>
            <a:endParaRPr b="0" i="0" sz="1600" u="none" cap="none" strike="noStrike">
              <a:solidFill>
                <a:schemeClr val="dk1"/>
              </a:solidFill>
              <a:latin typeface="Consolas"/>
              <a:ea typeface="Consolas"/>
              <a:cs typeface="Consolas"/>
              <a:sym typeface="Consolas"/>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204327b395_0_74"/>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sp>
        <p:nvSpPr>
          <p:cNvPr id="199" name="Google Shape;199;g3204327b395_0_74"/>
          <p:cNvSpPr txBox="1"/>
          <p:nvPr/>
        </p:nvSpPr>
        <p:spPr>
          <a:xfrm>
            <a:off x="172451" y="9015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SOLVING THE STOCK SPAN PROBLEM-STACK BASED APPROACH</a:t>
            </a:r>
            <a:endParaRPr b="0" i="0" sz="1400" u="none" cap="none" strike="noStrike">
              <a:solidFill>
                <a:srgbClr val="000000"/>
              </a:solidFill>
              <a:latin typeface="Arial"/>
              <a:ea typeface="Arial"/>
              <a:cs typeface="Arial"/>
              <a:sym typeface="Arial"/>
            </a:endParaRPr>
          </a:p>
        </p:txBody>
      </p:sp>
      <p:sp>
        <p:nvSpPr>
          <p:cNvPr id="200" name="Google Shape;200;g3204327b395_0_74"/>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2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The stack-based approach is more efficient and leverages a stack data structure to keep track of the indices of previously seen stock prices.</a:t>
            </a:r>
            <a:endParaRPr b="0" i="0" sz="1600" u="none" cap="none" strike="noStrike">
              <a:solidFill>
                <a:schemeClr val="dk1"/>
              </a:solidFill>
              <a:latin typeface="Consolas"/>
              <a:ea typeface="Consolas"/>
              <a:cs typeface="Consolas"/>
              <a:sym typeface="Consolas"/>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2042aa8473_0_7"/>
          <p:cNvSpPr txBox="1"/>
          <p:nvPr/>
        </p:nvSpPr>
        <p:spPr>
          <a:xfrm>
            <a:off x="1922421" y="2932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graphicFrame>
        <p:nvGraphicFramePr>
          <p:cNvPr id="206" name="Google Shape;206;g32042aa8473_0_7"/>
          <p:cNvGraphicFramePr/>
          <p:nvPr/>
        </p:nvGraphicFramePr>
        <p:xfrm>
          <a:off x="42694" y="843835"/>
          <a:ext cx="3000000" cy="3000000"/>
        </p:xfrm>
        <a:graphic>
          <a:graphicData uri="http://schemas.openxmlformats.org/drawingml/2006/table">
            <a:tbl>
              <a:tblPr bandRow="1" firstRow="1">
                <a:noFill/>
                <a:tableStyleId>{B5C64190-E89A-4DB4-8CD5-5764A30B56D3}</a:tableStyleId>
              </a:tblPr>
              <a:tblGrid>
                <a:gridCol w="4597050"/>
                <a:gridCol w="4546950"/>
              </a:tblGrid>
              <a:tr h="3732075">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import java.util.Stack;</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import java.util.Arrays;</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class Main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int[] calculateSpan(int[] stockPrices)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n = stockPrices.length;</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span = new int[n];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Stack&lt;Integer&gt; stack = new Stack&lt;&gt;();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span[0] = 1;</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stack.push(0);</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(int i = 1; i &lt; n; i++)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while (!stack.isEmpty() &amp;&amp; stockPrices[i] &gt;= stockPrices[stack.peek()])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stack.pop();</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Consolas"/>
                        <a:buNone/>
                      </a:pPr>
                      <a:r>
                        <a:rPr b="0" lang="en-GB" sz="1300" u="none" cap="none" strike="noStrike">
                          <a:solidFill>
                            <a:srgbClr val="000000"/>
                          </a:solidFill>
                          <a:latin typeface="Consolas"/>
                          <a:ea typeface="Consolas"/>
                          <a:cs typeface="Consolas"/>
                          <a:sym typeface="Consolas"/>
                        </a:rPr>
                        <a:t>span[i] = stack.isEmpty() ? i + 1 : i - stack.peek();</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Push the current index onto the stack.</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stack.push(i);</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return span;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static void main(String[] args)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Main calculator = new Main();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stockPrices = {100, 80, 60, 70, 60, 75, 85};</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spans = calculator.calculateSpan(stockPrices);</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System.out.println("Stock Prices: " + Arrays.toString(stockPrices));</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System.out.println("Stock Spans:   " + Arrays.toString(spans));</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204327b395_0_82"/>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sp>
        <p:nvSpPr>
          <p:cNvPr id="212" name="Google Shape;212;g3204327b395_0_82"/>
          <p:cNvSpPr txBox="1"/>
          <p:nvPr/>
        </p:nvSpPr>
        <p:spPr>
          <a:xfrm>
            <a:off x="172451" y="9015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TIME AND SPACE COMPLEXITY</a:t>
            </a:r>
            <a:endParaRPr b="0" i="0" sz="1400" u="none" cap="none" strike="noStrike">
              <a:solidFill>
                <a:srgbClr val="000000"/>
              </a:solidFill>
              <a:latin typeface="Arial"/>
              <a:ea typeface="Arial"/>
              <a:cs typeface="Arial"/>
              <a:sym typeface="Arial"/>
            </a:endParaRPr>
          </a:p>
        </p:txBody>
      </p:sp>
      <p:sp>
        <p:nvSpPr>
          <p:cNvPr id="213" name="Google Shape;213;g3204327b395_0_82"/>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Time Complexity: O(N), where N is the number of stock prices. It iterates through the prices once.</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Space Complexity: O(N) for the stack data structure.</a:t>
            </a:r>
            <a:endParaRPr b="0" i="0" sz="1600" u="none" cap="none" strike="noStrike">
              <a:solidFill>
                <a:schemeClr val="dk1"/>
              </a:solidFill>
              <a:latin typeface="Consolas"/>
              <a:ea typeface="Consolas"/>
              <a:cs typeface="Consolas"/>
              <a:sym typeface="Consolas"/>
            </a:endParaRPr>
          </a:p>
          <a:p>
            <a:pPr indent="0" lvl="0" marL="457200" marR="0" rtl="0" algn="l">
              <a:lnSpc>
                <a:spcPct val="15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204327b395_0_88"/>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STOCK SPAN PROBLEM</a:t>
            </a:r>
            <a:endParaRPr b="0" i="0" sz="1700" u="none" cap="none" strike="noStrike">
              <a:solidFill>
                <a:srgbClr val="6D9EEB"/>
              </a:solidFill>
              <a:latin typeface="Roboto Black"/>
              <a:ea typeface="Roboto Black"/>
              <a:cs typeface="Roboto Black"/>
              <a:sym typeface="Roboto Black"/>
            </a:endParaRPr>
          </a:p>
        </p:txBody>
      </p:sp>
      <p:sp>
        <p:nvSpPr>
          <p:cNvPr id="219" name="Google Shape;219;g3204327b395_0_88"/>
          <p:cNvSpPr txBox="1"/>
          <p:nvPr/>
        </p:nvSpPr>
        <p:spPr>
          <a:xfrm>
            <a:off x="172451" y="901575"/>
            <a:ext cx="83586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7030A0"/>
              </a:buClr>
              <a:buSzPts val="2000"/>
              <a:buFont typeface="Arial"/>
              <a:buNone/>
            </a:pPr>
            <a:r>
              <a:rPr b="1" i="0" lang="en-GB" sz="2000" u="none" cap="none" strike="noStrike">
                <a:solidFill>
                  <a:srgbClr val="7030A0"/>
                </a:solidFill>
                <a:latin typeface="Consolas"/>
                <a:ea typeface="Consolas"/>
                <a:cs typeface="Consolas"/>
                <a:sym typeface="Consolas"/>
              </a:rPr>
              <a:t>BEST METHOD FOR SOLVING THE STOCK SPAN PROBLEM.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sp>
        <p:nvSpPr>
          <p:cNvPr id="220" name="Google Shape;220;g3204327b395_0_8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1. The stack-based approach is considered the best method for solving the Stock Span problem.</a:t>
            </a:r>
            <a:endParaRPr b="0" i="0" sz="1600" u="none" cap="none" strike="noStrike">
              <a:solidFill>
                <a:schemeClr val="dk1"/>
              </a:solidFill>
              <a:latin typeface="Arial"/>
              <a:ea typeface="Arial"/>
              <a:cs typeface="Arial"/>
              <a:sym typeface="Arial"/>
            </a:endParaRPr>
          </a:p>
          <a:p>
            <a:pPr indent="0" lvl="0" marL="0" marR="0" rtl="0" algn="l">
              <a:lnSpc>
                <a:spcPct val="13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2. It offers improved efficiency in terms of time complexity.</a:t>
            </a:r>
            <a:endParaRPr b="0" i="0" sz="1600" u="none" cap="none" strike="noStrike">
              <a:solidFill>
                <a:schemeClr val="dk1"/>
              </a:solidFill>
              <a:latin typeface="Arial"/>
              <a:ea typeface="Arial"/>
              <a:cs typeface="Arial"/>
              <a:sym typeface="Arial"/>
            </a:endParaRPr>
          </a:p>
          <a:p>
            <a:pPr indent="0" lvl="0" marL="0" marR="0" rtl="0" algn="l">
              <a:lnSpc>
                <a:spcPct val="13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3. This approach avoids redundant calculations by efficiently tracking previous stock price indices using a stack.</a:t>
            </a:r>
            <a:endParaRPr b="0" i="0" sz="1600" u="none" cap="none" strike="noStrike">
              <a:solidFill>
                <a:schemeClr val="dk1"/>
              </a:solidFill>
              <a:latin typeface="Arial"/>
              <a:ea typeface="Arial"/>
              <a:cs typeface="Arial"/>
              <a:sym typeface="Arial"/>
            </a:endParaRPr>
          </a:p>
          <a:p>
            <a:pPr indent="0" lvl="0" marL="0" marR="0" rtl="0" algn="l">
              <a:lnSpc>
                <a:spcPct val="13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4. In contrast, the brute-force approach has a higher time complexity due to its reliance on nested loops.</a:t>
            </a:r>
            <a:endParaRPr b="0" i="0" sz="1600" u="none" cap="none" strike="noStrike">
              <a:solidFill>
                <a:schemeClr val="dk1"/>
              </a:solidFill>
              <a:latin typeface="Arial"/>
              <a:ea typeface="Arial"/>
              <a:cs typeface="Arial"/>
              <a:sym typeface="Arial"/>
            </a:endParaRPr>
          </a:p>
          <a:p>
            <a:pPr indent="0" lvl="0" marL="0" marR="0" rtl="0" algn="l">
              <a:lnSpc>
                <a:spcPct val="130000"/>
              </a:lnSpc>
              <a:spcBef>
                <a:spcPts val="100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5. The brute-force approach also performs unnecessary comparisons, making it less efficient for this problem.</a:t>
            </a:r>
            <a:endParaRPr b="0" i="0" sz="1600" u="none" cap="none" strike="noStrike">
              <a:solidFill>
                <a:schemeClr val="dk1"/>
              </a:solidFill>
              <a:latin typeface="Arial"/>
              <a:ea typeface="Arial"/>
              <a:cs typeface="Arial"/>
              <a:sym typeface="Arial"/>
            </a:endParaRPr>
          </a:p>
          <a:p>
            <a:pPr indent="0" lvl="0" marL="0" marR="0" rtl="0" algn="l">
              <a:lnSpc>
                <a:spcPct val="13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457200" marR="0" rtl="0" algn="l">
              <a:lnSpc>
                <a:spcPct val="130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1fdec52c72_0_308"/>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26" name="Google Shape;226;g31fdec52c72_0_308"/>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1. What is the Stock Span problem, and why is it important in finance? </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27" name="Google Shape;227;g31fdec52c72_0_308"/>
          <p:cNvSpPr txBox="1"/>
          <p:nvPr/>
        </p:nvSpPr>
        <p:spPr>
          <a:xfrm>
            <a:off x="436323" y="1779900"/>
            <a:ext cx="7492200" cy="3663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Stock Span problem involves calculating the span of a stock's price for each day, where the span of a day is the number of consecutive days immediately before the current day on which the stock price is less than or equal to the current day's price. It is important in finance for analyzing the performance and volatility of stocks.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33" name="Google Shape;233;g3243a3cdda7_0_819"/>
          <p:cNvSpPr txBox="1"/>
          <p:nvPr/>
        </p:nvSpPr>
        <p:spPr>
          <a:xfrm>
            <a:off x="0" y="1170000"/>
            <a:ext cx="80868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0" lang="en-GB" sz="1600" u="none" cap="none" strike="noStrike">
                <a:solidFill>
                  <a:srgbClr val="FF0000"/>
                </a:solidFill>
                <a:latin typeface="Consolas"/>
                <a:ea typeface="Consolas"/>
                <a:cs typeface="Consolas"/>
                <a:sym typeface="Consolas"/>
              </a:rPr>
              <a:t>2.What are the key differences between the brute-force approach and the stack-based approach for solving the Stock Span problem?</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34" name="Google Shape;234;g3243a3cdda7_0_819"/>
          <p:cNvSpPr txBox="1"/>
          <p:nvPr/>
        </p:nvSpPr>
        <p:spPr>
          <a:xfrm>
            <a:off x="418725" y="1932300"/>
            <a:ext cx="80868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stack-based approach is preferred as it offers better time complexity by avoiding redundant calculations and efficiently tracking previous stock price indices using a stack. In contrast, the brute-force approach involves nested loops and performs unnecessary comparisons, resulting in higher time complexity.</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243a3cdda7_0_825"/>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40" name="Google Shape;240;g3243a3cdda7_0_825"/>
          <p:cNvSpPr txBox="1"/>
          <p:nvPr/>
        </p:nvSpPr>
        <p:spPr>
          <a:xfrm>
            <a:off x="0" y="1170000"/>
            <a:ext cx="8263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3.Explain the stack-based approach to solving the Stock Span problem with a code example.</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41" name="Google Shape;241;g3243a3cdda7_0_825"/>
          <p:cNvSpPr txBox="1"/>
          <p:nvPr/>
        </p:nvSpPr>
        <p:spPr>
          <a:xfrm>
            <a:off x="436323" y="2008500"/>
            <a:ext cx="7492200" cy="3663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Answer: The stack-based approach uses a stack to keep track of indices of stock prices. It iterates through the stock prices, efficiently popping elements from the stack when necessary and calculating spans based on the difference between the current index and the index at the top of the stack. This approach optimally solves the problem.</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243a3cdda7_0_831"/>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47" name="Google Shape;247;g3243a3cdda7_0_831"/>
          <p:cNvSpPr txBox="1"/>
          <p:nvPr/>
        </p:nvSpPr>
        <p:spPr>
          <a:xfrm>
            <a:off x="0" y="1170000"/>
            <a:ext cx="79284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4.What is the time complexity of the stack-based solution for the Stock Span problem, and why is it efficient?</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48" name="Google Shape;248;g3243a3cdda7_0_831"/>
          <p:cNvSpPr txBox="1"/>
          <p:nvPr/>
        </p:nvSpPr>
        <p:spPr>
          <a:xfrm>
            <a:off x="436323" y="1932300"/>
            <a:ext cx="7492200" cy="4032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stack-based solution has a time complexity of O(n), where n is the number of stock prices. It is efficient because it avoids redundant calculations and optimally tracks previous stock price indices using a stack, resulting in a linear time complexity.</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time complexity is O(2^n), where n is the number of disks.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204327b395_0_94"/>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54" name="Google Shape;254;g3204327b395_0_94"/>
          <p:cNvSpPr txBox="1"/>
          <p:nvPr/>
        </p:nvSpPr>
        <p:spPr>
          <a:xfrm>
            <a:off x="0" y="1170000"/>
            <a:ext cx="79284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5.In what scenarios would you use the Stock Span problem to analyze stock market data?</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55" name="Google Shape;255;g3204327b395_0_94"/>
          <p:cNvSpPr txBox="1"/>
          <p:nvPr/>
        </p:nvSpPr>
        <p:spPr>
          <a:xfrm>
            <a:off x="436323" y="1932300"/>
            <a:ext cx="7492200" cy="329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Stock Span problem is useful for analyzing stock market data when you want to understand the consecutive days on which a stock's price showed consistent growth or decline. It helps identify trends, assess market sentiment, and make informed investment decisions.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204327b395_0_100"/>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61" name="Google Shape;261;g3204327b395_0_100"/>
          <p:cNvSpPr txBox="1"/>
          <p:nvPr/>
        </p:nvSpPr>
        <p:spPr>
          <a:xfrm>
            <a:off x="0" y="1170000"/>
            <a:ext cx="79284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6.Can you provide a real-world application of the Stock Span problem outside of finance?</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62" name="Google Shape;262;g3204327b395_0_100"/>
          <p:cNvSpPr txBox="1"/>
          <p:nvPr/>
        </p:nvSpPr>
        <p:spPr>
          <a:xfrm>
            <a:off x="436323" y="1932300"/>
            <a:ext cx="7492200" cy="2924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Stock Span problem can be applied in various scenarios, such as analyzing the consecutive days of temperature increase or decrease in weather data. It helps identify trends and patterns in temperature fluctuations, which can be valuable for weather forecasting and climate analysis.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68" name="Google Shape;268;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69" name="Google Shape;269;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75" name="Google Shape;275;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76" name="Google Shape;276;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77" name="Google Shape;277;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78" name="Google Shape;278;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79" name="Google Shape;279;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80" name="Google Shape;280;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81" name="Google Shape;281;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82" name="Google Shape;282;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83" name="Google Shape;283;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84" name="Google Shape;284;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85" name="Google Shape;285;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