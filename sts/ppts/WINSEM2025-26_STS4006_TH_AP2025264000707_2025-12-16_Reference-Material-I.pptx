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5143500" cx="9144000"/>
  <p:notesSz cx="6858000" cy="9144000"/>
  <p:embeddedFontLst>
    <p:embeddedFont>
      <p:font typeface="Roboto Black"/>
      <p:bold r:id="rId35"/>
      <p:boldItalic r:id="rId36"/>
    </p:embeddedFont>
    <p:embeddedFont>
      <p:font typeface="Robo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41" roundtripDataSignature="AMtx7mhX+8iMzjvWk9r7Hix+7XVvlM9X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EDABD6-7680-48BD-ADE9-94118BBC4931}">
  <a:tblStyle styleId="{5CEDABD6-7680-48BD-ADE9-94118BBC4931}"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b="off" i="off"/>
    </a:seCell>
    <a:swCell>
      <a:tcTxStyle b="off" i="off"/>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3.xml"/><Relationship Id="rId41" Type="http://customschemas.google.com/relationships/presentationmetadata" Target="meta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RobotoBlack-bold.fntdata"/><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Roboto-regular.fntdata"/><Relationship Id="rId14" Type="http://schemas.openxmlformats.org/officeDocument/2006/relationships/slide" Target="slides/slide7.xml"/><Relationship Id="rId36" Type="http://schemas.openxmlformats.org/officeDocument/2006/relationships/font" Target="fonts/RobotoBlack-boldItalic.fntdata"/><Relationship Id="rId17" Type="http://schemas.openxmlformats.org/officeDocument/2006/relationships/slide" Target="slides/slide10.xml"/><Relationship Id="rId39" Type="http://schemas.openxmlformats.org/officeDocument/2006/relationships/font" Target="fonts/Roboto-italic.fntdata"/><Relationship Id="rId16" Type="http://schemas.openxmlformats.org/officeDocument/2006/relationships/slide" Target="slides/slide9.xml"/><Relationship Id="rId38" Type="http://schemas.openxmlformats.org/officeDocument/2006/relationships/font" Target="fonts/Roboto-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25f61525f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06" name="Google Shape;106;g325f61525f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20974100d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3" name="Google Shape;113;g320974100d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25f61525f9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0" name="Google Shape;120;g325f61525f9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25f61525f9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8" name="Google Shape;128;g325f61525f9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25f61525f9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5" name="Google Shape;135;g325f61525f9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09728d5f3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2" name="Google Shape;142;g3209728d5f3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209728d5f3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9" name="Google Shape;149;g3209728d5f3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20974100d0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6" name="Google Shape;156;g320974100d0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20974100d0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3" name="Google Shape;163;g320974100d0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20974100d0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0" name="Google Shape;170;g320974100d0_0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209728d5f3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7" name="Google Shape;177;g3209728d5f3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20974100d0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3" name="Google Shape;183;g320974100d0_0_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20974100d0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9" name="Google Shape;189;g320974100d0_0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20974100d0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5" name="Google Shape;195;g320974100d0_0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20974100d0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1" name="Google Shape;201;g320974100d0_0_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20974100d0_0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7" name="Google Shape;207;g320974100d0_0_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20974100d0_0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3" name="Google Shape;213;g320974100d0_0_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20974100d0_0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9" name="Google Shape;219;g320974100d0_0_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20974100d0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5" name="Google Shape;225;g320974100d0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1fdec52c72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1" name="Google Shape;231;g31fdec52c72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243a3cdda7_0_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8" name="Google Shape;238;g3243a3cdda7_0_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243a3cdda7_0_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5" name="Google Shape;245;g3243a3cdda7_0_8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243a3cdda7_0_8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52" name="Google Shape;252;g3243a3cdda7_0_8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2" name="Google Shape;52;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3" name="Google Shape;53;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58" name="Shape 5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1" name="Google Shape;61;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7" name="Google Shape;67;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8" name="Google Shape;68;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sp>
        <p:nvSpPr>
          <p:cNvPr id="70" name="Google Shape;70;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1" name="Google Shape;71;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2" name="Shape 72"/>
        <p:cNvGrpSpPr/>
        <p:nvPr/>
      </p:nvGrpSpPr>
      <p:grpSpPr>
        <a:xfrm>
          <a:off x="0" y="0"/>
          <a:ext cx="0" cy="0"/>
          <a:chOff x="0" y="0"/>
          <a:chExt cx="0" cy="0"/>
        </a:xfrm>
      </p:grpSpPr>
      <p:sp>
        <p:nvSpPr>
          <p:cNvPr id="73" name="Google Shape;73;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74" name="Google Shape;74;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5" name="Google Shape;75;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6" name="Google Shape;76;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7" name="Google Shape;77;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8" name="Shape 78"/>
        <p:cNvGrpSpPr/>
        <p:nvPr/>
      </p:nvGrpSpPr>
      <p:grpSpPr>
        <a:xfrm>
          <a:off x="0" y="0"/>
          <a:ext cx="0" cy="0"/>
          <a:chOff x="0" y="0"/>
          <a:chExt cx="0" cy="0"/>
        </a:xfrm>
      </p:grpSpPr>
      <p:sp>
        <p:nvSpPr>
          <p:cNvPr id="79" name="Google Shape;79;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0" name="Google Shape;80;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1" name="Shape 81"/>
        <p:cNvGrpSpPr/>
        <p:nvPr/>
      </p:nvGrpSpPr>
      <p:grpSpPr>
        <a:xfrm>
          <a:off x="0" y="0"/>
          <a:ext cx="0" cy="0"/>
          <a:chOff x="0" y="0"/>
          <a:chExt cx="0" cy="0"/>
        </a:xfrm>
      </p:grpSpPr>
      <p:sp>
        <p:nvSpPr>
          <p:cNvPr id="82" name="Google Shape;82;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3" name="Google Shape;83;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4" name="Google Shape;84;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5" name="Shape 85"/>
        <p:cNvGrpSpPr/>
        <p:nvPr/>
      </p:nvGrpSpPr>
      <p:grpSpPr>
        <a:xfrm>
          <a:off x="0" y="0"/>
          <a:ext cx="0" cy="0"/>
          <a:chOff x="0" y="0"/>
          <a:chExt cx="0" cy="0"/>
        </a:xfrm>
      </p:grpSpPr>
      <p:sp>
        <p:nvSpPr>
          <p:cNvPr id="86" name="Google Shape;86;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3.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theme" Target="../theme/theme1.xml"/><Relationship Id="rId12" Type="http://schemas.openxmlformats.org/officeDocument/2006/relationships/slideLayout" Target="../slideLayouts/slideLayout20.xml"/><Relationship Id="rId1" Type="http://schemas.openxmlformats.org/officeDocument/2006/relationships/image" Target="../media/image5.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4" name="Shape 44"/>
        <p:cNvGrpSpPr/>
        <p:nvPr/>
      </p:nvGrpSpPr>
      <p:grpSpPr>
        <a:xfrm>
          <a:off x="0" y="0"/>
          <a:ext cx="0" cy="0"/>
          <a:chOff x="0" y="0"/>
          <a:chExt cx="0" cy="0"/>
        </a:xfrm>
      </p:grpSpPr>
      <p:sp>
        <p:nvSpPr>
          <p:cNvPr id="45" name="Google Shape;45;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6" name="Google Shape;46;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7" name="Google Shape;47;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7.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forms.gle/s4Wicp5kj3zKiLLX7" TargetMode="Externa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hyperlink" Target="https://learn.codemithra.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12.jp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2" name="Google Shape;92;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3" name="Google Shape;93;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94" name="Google Shape;94;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95" name="Google Shape;95;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1" name="Google Shape;10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2" name="Google Shape;102;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3" name="Google Shape;103;p3"/>
          <p:cNvSpPr txBox="1"/>
          <p:nvPr/>
        </p:nvSpPr>
        <p:spPr>
          <a:xfrm>
            <a:off x="140951" y="2260382"/>
            <a:ext cx="4690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6000"/>
              <a:buFont typeface="Arial"/>
              <a:buNone/>
            </a:pPr>
            <a:r>
              <a:rPr b="1" i="0" lang="en-GB" sz="2000" u="none" cap="none" strike="noStrike">
                <a:solidFill>
                  <a:schemeClr val="lt1"/>
                </a:solidFill>
                <a:latin typeface="Times New Roman"/>
                <a:ea typeface="Times New Roman"/>
                <a:cs typeface="Times New Roman"/>
                <a:sym typeface="Times New Roman"/>
              </a:rPr>
              <a:t>MERGE SORT N DLL</a:t>
            </a:r>
            <a:endParaRPr b="1" i="0" sz="20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25f61525f9_0_0"/>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TEST TIME ON SEGREGATE EVEN AND ODD NODES IN A LINKED LIST</a:t>
            </a:r>
            <a:endParaRPr b="0" i="0" sz="1700" u="none" cap="none" strike="noStrike">
              <a:solidFill>
                <a:srgbClr val="6D9EEB"/>
              </a:solidFill>
              <a:latin typeface="Roboto Black"/>
              <a:ea typeface="Roboto Black"/>
              <a:cs typeface="Roboto Black"/>
              <a:sym typeface="Roboto Black"/>
            </a:endParaRPr>
          </a:p>
        </p:txBody>
      </p:sp>
      <p:sp>
        <p:nvSpPr>
          <p:cNvPr id="109" name="Google Shape;109;g325f61525f9_0_0"/>
          <p:cNvSpPr txBox="1"/>
          <p:nvPr/>
        </p:nvSpPr>
        <p:spPr>
          <a:xfrm>
            <a:off x="278950" y="1144965"/>
            <a:ext cx="11040300" cy="589800"/>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Clr>
                <a:srgbClr val="000000"/>
              </a:buClr>
              <a:buSzPts val="2000"/>
              <a:buFont typeface="Arial"/>
              <a:buNone/>
            </a:pPr>
            <a:r>
              <a:rPr b="0" i="0" lang="en-GB" sz="2000" u="none" cap="none" strike="noStrike">
                <a:solidFill>
                  <a:srgbClr val="000000"/>
                </a:solidFill>
                <a:latin typeface="Consolas"/>
                <a:ea typeface="Consolas"/>
                <a:cs typeface="Consolas"/>
                <a:sym typeface="Consolas"/>
              </a:rPr>
              <a:t>URL:</a:t>
            </a:r>
            <a:r>
              <a:rPr b="0" i="0" lang="en-GB" sz="2000" u="sng" cap="none" strike="noStrike">
                <a:solidFill>
                  <a:srgbClr val="0563C1"/>
                </a:solidFill>
                <a:latin typeface="Consolas"/>
                <a:ea typeface="Consolas"/>
                <a:cs typeface="Consolas"/>
                <a:sym typeface="Consolas"/>
                <a:hlinkClick r:id="rId3">
                  <a:extLst>
                    <a:ext uri="{A12FA001-AC4F-418D-AE19-62706E023703}">
                      <ahyp:hlinkClr val="tx"/>
                    </a:ext>
                  </a:extLst>
                </a:hlinkClick>
              </a:rPr>
              <a:t>https://forms.gle/s4Wicp5kj3zKiLLX7</a:t>
            </a:r>
            <a:endParaRPr b="0" i="0" sz="2000" u="none" cap="none" strike="noStrike">
              <a:solidFill>
                <a:srgbClr val="000000"/>
              </a:solidFill>
              <a:latin typeface="Calibri"/>
              <a:ea typeface="Calibri"/>
              <a:cs typeface="Calibri"/>
              <a:sym typeface="Calibri"/>
            </a:endParaRPr>
          </a:p>
        </p:txBody>
      </p:sp>
      <p:pic>
        <p:nvPicPr>
          <p:cNvPr id="110" name="Google Shape;110;g325f61525f9_0_0"/>
          <p:cNvPicPr preferRelativeResize="0"/>
          <p:nvPr/>
        </p:nvPicPr>
        <p:blipFill rotWithShape="1">
          <a:blip r:embed="rId4">
            <a:alphaModFix/>
          </a:blip>
          <a:srcRect b="0" l="0" r="0" t="0"/>
          <a:stretch/>
        </p:blipFill>
        <p:spPr>
          <a:xfrm>
            <a:off x="2516849" y="1734775"/>
            <a:ext cx="3790476" cy="3126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20974100d0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p:txBody>
      </p:sp>
      <p:sp>
        <p:nvSpPr>
          <p:cNvPr id="116" name="Google Shape;116;g320974100d0_0_0"/>
          <p:cNvSpPr txBox="1"/>
          <p:nvPr/>
        </p:nvSpPr>
        <p:spPr>
          <a:xfrm>
            <a:off x="390825" y="1471675"/>
            <a:ext cx="8358600" cy="33930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Merge Sort is a widely used and efficient comparison-based sorting algorithm that falls under the category of divide and conquer algorithms. </a:t>
            </a:r>
            <a:endParaRPr b="0" i="0" sz="1600" u="none" cap="none" strike="noStrike">
              <a:solidFill>
                <a:schemeClr val="dk1"/>
              </a:solidFill>
              <a:latin typeface="Arial"/>
              <a:ea typeface="Arial"/>
              <a:cs typeface="Arial"/>
              <a:sym typeface="Arial"/>
            </a:endParaRPr>
          </a:p>
          <a:p>
            <a:pPr indent="-2286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It was invented by John von Neumann in 1945. Merge Sort divides an unsorted list into smaller sublists, recursively sorts those sublists, and then merges them back together to produce a sorted list. Here's how it works:</a:t>
            </a:r>
            <a:endParaRPr b="0" i="0" sz="1600" u="none" cap="none" strike="noStrike">
              <a:solidFill>
                <a:schemeClr val="dk1"/>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1. Divide 2.Conquer 3. Merge</a:t>
            </a:r>
            <a:endParaRPr b="0" i="0" sz="1400" u="none" cap="none" strike="noStrike">
              <a:solidFill>
                <a:schemeClr val="dk1"/>
              </a:solidFill>
              <a:latin typeface="Arial"/>
              <a:ea typeface="Arial"/>
              <a:cs typeface="Arial"/>
              <a:sym typeface="Arial"/>
            </a:endParaRPr>
          </a:p>
          <a:p>
            <a:pPr indent="0" lvl="0" marL="0" marR="0" rtl="0" algn="l">
              <a:lnSpc>
                <a:spcPct val="200000"/>
              </a:lnSpc>
              <a:spcBef>
                <a:spcPts val="100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200000"/>
              </a:lnSpc>
              <a:spcBef>
                <a:spcPts val="100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17" name="Google Shape;117;g320974100d0_0_0"/>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TIME TO RECALL…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25f61525f9_0_8"/>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123" name="Google Shape;123;g325f61525f9_0_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24" name="Google Shape;124;g325f61525f9_0_8"/>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TIME TO RECALL…</a:t>
            </a:r>
            <a:endParaRPr b="0" i="0" sz="1400" u="none" cap="none" strike="noStrike">
              <a:solidFill>
                <a:srgbClr val="000000"/>
              </a:solidFill>
              <a:latin typeface="Arial"/>
              <a:ea typeface="Arial"/>
              <a:cs typeface="Arial"/>
              <a:sym typeface="Arial"/>
            </a:endParaRPr>
          </a:p>
        </p:txBody>
      </p:sp>
      <p:pic>
        <p:nvPicPr>
          <p:cNvPr id="125" name="Google Shape;125;g325f61525f9_0_8"/>
          <p:cNvPicPr preferRelativeResize="0"/>
          <p:nvPr/>
        </p:nvPicPr>
        <p:blipFill rotWithShape="1">
          <a:blip r:embed="rId3">
            <a:alphaModFix/>
          </a:blip>
          <a:srcRect b="0" l="0" r="0" t="0"/>
          <a:stretch/>
        </p:blipFill>
        <p:spPr>
          <a:xfrm>
            <a:off x="2170175" y="1677650"/>
            <a:ext cx="3765375" cy="3128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25f61525f9_0_14"/>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p:txBody>
      </p:sp>
      <p:sp>
        <p:nvSpPr>
          <p:cNvPr id="131" name="Google Shape;131;g325f61525f9_0_14"/>
          <p:cNvSpPr txBox="1"/>
          <p:nvPr/>
        </p:nvSpPr>
        <p:spPr>
          <a:xfrm>
            <a:off x="440625" y="1053975"/>
            <a:ext cx="8308800" cy="3484800"/>
          </a:xfrm>
          <a:prstGeom prst="rect">
            <a:avLst/>
          </a:prstGeom>
          <a:noFill/>
          <a:ln>
            <a:noFill/>
          </a:ln>
        </p:spPr>
        <p:txBody>
          <a:bodyPr anchorCtr="0" anchor="t" bIns="45700" lIns="91425" spcFirstLastPara="1" rIns="91425" wrap="square" tIns="45700">
            <a:noAutofit/>
          </a:bodyPr>
          <a:lstStyle/>
          <a:p>
            <a:pPr indent="-222250" lvl="0" marL="228600" marR="0" rtl="0" algn="l">
              <a:lnSpc>
                <a:spcPct val="100000"/>
              </a:lnSpc>
              <a:spcBef>
                <a:spcPts val="0"/>
              </a:spcBef>
              <a:spcAft>
                <a:spcPts val="0"/>
              </a:spcAft>
              <a:buClr>
                <a:schemeClr val="dk1"/>
              </a:buClr>
              <a:buSzPts val="1500"/>
              <a:buFont typeface="Arial"/>
              <a:buChar char="•"/>
            </a:pPr>
            <a:r>
              <a:rPr b="0" i="0" lang="en-GB" sz="1500" u="none" cap="none" strike="noStrike">
                <a:solidFill>
                  <a:schemeClr val="dk1"/>
                </a:solidFill>
                <a:latin typeface="Consolas"/>
                <a:ea typeface="Consolas"/>
                <a:cs typeface="Consolas"/>
                <a:sym typeface="Consolas"/>
              </a:rPr>
              <a:t>Divide: The unsorted list is divided into two equal halves (or approximately equal if the list has an odd number of elements). This is done recursively for each sublist until each sublist contains only one element.</a:t>
            </a:r>
            <a:endParaRPr b="0" i="0" sz="1500" u="none" cap="none" strike="noStrike">
              <a:solidFill>
                <a:schemeClr val="dk1"/>
              </a:solidFill>
              <a:latin typeface="Arial"/>
              <a:ea typeface="Arial"/>
              <a:cs typeface="Arial"/>
              <a:sym typeface="Arial"/>
            </a:endParaRPr>
          </a:p>
          <a:p>
            <a:pPr indent="-222250" lvl="0" marL="228600" marR="0" rtl="0" algn="l">
              <a:lnSpc>
                <a:spcPct val="100000"/>
              </a:lnSpc>
              <a:spcBef>
                <a:spcPts val="1000"/>
              </a:spcBef>
              <a:spcAft>
                <a:spcPts val="0"/>
              </a:spcAft>
              <a:buClr>
                <a:schemeClr val="dk1"/>
              </a:buClr>
              <a:buSzPts val="1500"/>
              <a:buFont typeface="Arial"/>
              <a:buChar char="•"/>
            </a:pPr>
            <a:r>
              <a:rPr b="0" i="0" lang="en-GB" sz="1500" u="none" cap="none" strike="noStrike">
                <a:solidFill>
                  <a:schemeClr val="dk1"/>
                </a:solidFill>
                <a:latin typeface="Consolas"/>
                <a:ea typeface="Consolas"/>
                <a:cs typeface="Consolas"/>
                <a:sym typeface="Consolas"/>
              </a:rPr>
              <a:t>Conquer: The individual elements, which are essentially sorted sublists of size one, are considered sorted.</a:t>
            </a:r>
            <a:endParaRPr b="0" i="0" sz="1500" u="none" cap="none" strike="noStrike">
              <a:solidFill>
                <a:schemeClr val="dk1"/>
              </a:solidFill>
              <a:latin typeface="Arial"/>
              <a:ea typeface="Arial"/>
              <a:cs typeface="Arial"/>
              <a:sym typeface="Arial"/>
            </a:endParaRPr>
          </a:p>
          <a:p>
            <a:pPr indent="-222250" lvl="0" marL="228600" marR="0" rtl="0" algn="l">
              <a:lnSpc>
                <a:spcPct val="100000"/>
              </a:lnSpc>
              <a:spcBef>
                <a:spcPts val="1000"/>
              </a:spcBef>
              <a:spcAft>
                <a:spcPts val="0"/>
              </a:spcAft>
              <a:buClr>
                <a:schemeClr val="dk1"/>
              </a:buClr>
              <a:buSzPts val="1500"/>
              <a:buFont typeface="Arial"/>
              <a:buChar char="•"/>
            </a:pPr>
            <a:r>
              <a:rPr b="0" i="0" lang="en-GB" sz="1500" u="none" cap="none" strike="noStrike">
                <a:solidFill>
                  <a:schemeClr val="dk1"/>
                </a:solidFill>
                <a:latin typeface="Consolas"/>
                <a:ea typeface="Consolas"/>
                <a:cs typeface="Consolas"/>
                <a:sym typeface="Consolas"/>
              </a:rPr>
              <a:t>Merge: The sorted sublists are then merged together in pairs to create larger sorted sublists. This process continues until a single, fully sorted list is achieved.</a:t>
            </a:r>
            <a:endParaRPr b="0" i="0" sz="1500" u="none" cap="none" strike="noStrike">
              <a:solidFill>
                <a:schemeClr val="dk1"/>
              </a:solidFill>
              <a:latin typeface="Consolas"/>
              <a:ea typeface="Consolas"/>
              <a:cs typeface="Consolas"/>
              <a:sym typeface="Consolas"/>
            </a:endParaRPr>
          </a:p>
          <a:p>
            <a:pPr indent="-323850" lvl="0" marL="457200" marR="0" rtl="0" algn="l">
              <a:lnSpc>
                <a:spcPct val="100000"/>
              </a:lnSpc>
              <a:spcBef>
                <a:spcPts val="1000"/>
              </a:spcBef>
              <a:spcAft>
                <a:spcPts val="0"/>
              </a:spcAft>
              <a:buClr>
                <a:schemeClr val="dk1"/>
              </a:buClr>
              <a:buSzPts val="1500"/>
              <a:buFont typeface="Consolas"/>
              <a:buChar char="•"/>
            </a:pPr>
            <a:r>
              <a:rPr b="0" i="0" lang="en-GB" sz="1500" u="none" cap="none" strike="noStrike">
                <a:solidFill>
                  <a:schemeClr val="dk1"/>
                </a:solidFill>
                <a:latin typeface="Consolas"/>
                <a:ea typeface="Consolas"/>
                <a:cs typeface="Consolas"/>
                <a:sym typeface="Consolas"/>
              </a:rPr>
              <a:t>The key step in Merge Sort is the merging phase, where two sorted sublists are combined into a larger sorted sublist. This merging process is efficient because it takes advantage of the fact that both sublists are already sorted.</a:t>
            </a:r>
            <a:endParaRPr b="0" i="0" sz="1500" u="none" cap="none" strike="noStrike">
              <a:solidFill>
                <a:schemeClr val="dk1"/>
              </a:solidFill>
              <a:latin typeface="Consolas"/>
              <a:ea typeface="Consolas"/>
              <a:cs typeface="Consolas"/>
              <a:sym typeface="Consolas"/>
            </a:endParaRPr>
          </a:p>
          <a:p>
            <a:pPr indent="0" lvl="0" marL="0" marR="0" rtl="0" algn="l">
              <a:lnSpc>
                <a:spcPct val="115000"/>
              </a:lnSpc>
              <a:spcBef>
                <a:spcPts val="1000"/>
              </a:spcBef>
              <a:spcAft>
                <a:spcPts val="0"/>
              </a:spcAft>
              <a:buClr>
                <a:schemeClr val="dk1"/>
              </a:buClr>
              <a:buSzPts val="1600"/>
              <a:buFont typeface="Arial"/>
              <a:buNone/>
            </a:pPr>
            <a:r>
              <a:rPr b="0" i="0" lang="en-GB" sz="1500" u="none" cap="none" strike="noStrike">
                <a:solidFill>
                  <a:schemeClr val="dk1"/>
                </a:solidFill>
                <a:latin typeface="Consolas"/>
                <a:ea typeface="Consolas"/>
                <a:cs typeface="Consolas"/>
                <a:sym typeface="Consolas"/>
              </a:rPr>
              <a:t>		</a:t>
            </a:r>
            <a:endParaRPr b="0" i="0" sz="1500" u="none" cap="none" strike="noStrike">
              <a:solidFill>
                <a:schemeClr val="dk1"/>
              </a:solidFill>
              <a:latin typeface="Arial"/>
              <a:ea typeface="Arial"/>
              <a:cs typeface="Arial"/>
              <a:sym typeface="Arial"/>
            </a:endParaRPr>
          </a:p>
        </p:txBody>
      </p:sp>
      <p:sp>
        <p:nvSpPr>
          <p:cNvPr id="132" name="Google Shape;132;g325f61525f9_0_14"/>
          <p:cNvSpPr txBox="1"/>
          <p:nvPr/>
        </p:nvSpPr>
        <p:spPr>
          <a:xfrm>
            <a:off x="172451" y="1053966"/>
            <a:ext cx="2827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25f61525f9_0_28"/>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138" name="Google Shape;138;g325f61525f9_0_2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11150" lvl="0" marL="342900" marR="0" rtl="0" algn="l">
              <a:lnSpc>
                <a:spcPct val="100000"/>
              </a:lnSpc>
              <a:spcBef>
                <a:spcPts val="0"/>
              </a:spcBef>
              <a:spcAft>
                <a:spcPts val="0"/>
              </a:spcAft>
              <a:buClr>
                <a:schemeClr val="dk1"/>
              </a:buClr>
              <a:buSzPts val="1500"/>
              <a:buFont typeface="Calibri"/>
              <a:buAutoNum type="arabicPeriod"/>
            </a:pPr>
            <a:r>
              <a:rPr b="0" i="0" lang="en-GB" sz="1500" u="none" cap="none" strike="noStrike">
                <a:solidFill>
                  <a:schemeClr val="dk1"/>
                </a:solidFill>
                <a:latin typeface="Consolas"/>
                <a:ea typeface="Consolas"/>
                <a:cs typeface="Consolas"/>
                <a:sym typeface="Consolas"/>
              </a:rPr>
              <a:t>If the linked list is empty or has only one node, it is already sorted, so return it.</a:t>
            </a:r>
            <a:endParaRPr b="0" i="0" sz="1500" u="none" cap="none" strike="noStrike">
              <a:solidFill>
                <a:schemeClr val="dk1"/>
              </a:solidFill>
              <a:latin typeface="Arial"/>
              <a:ea typeface="Arial"/>
              <a:cs typeface="Arial"/>
              <a:sym typeface="Arial"/>
            </a:endParaRPr>
          </a:p>
          <a:p>
            <a:pPr indent="-311150" lvl="0" marL="342900" marR="0" rtl="0" algn="l">
              <a:lnSpc>
                <a:spcPct val="100000"/>
              </a:lnSpc>
              <a:spcBef>
                <a:spcPts val="0"/>
              </a:spcBef>
              <a:spcAft>
                <a:spcPts val="0"/>
              </a:spcAft>
              <a:buClr>
                <a:schemeClr val="dk1"/>
              </a:buClr>
              <a:buSzPts val="1500"/>
              <a:buFont typeface="Calibri"/>
              <a:buAutoNum type="arabicPeriod"/>
            </a:pPr>
            <a:r>
              <a:rPr b="0" i="0" lang="en-GB" sz="1500" u="none" cap="none" strike="noStrike">
                <a:solidFill>
                  <a:schemeClr val="dk1"/>
                </a:solidFill>
                <a:latin typeface="Consolas"/>
                <a:ea typeface="Consolas"/>
                <a:cs typeface="Consolas"/>
                <a:sym typeface="Consolas"/>
              </a:rPr>
              <a:t>Find the middle node of the linked list using the slow and fast pointer approach.</a:t>
            </a:r>
            <a:endParaRPr b="0" i="0" sz="1500" u="none" cap="none" strike="noStrike">
              <a:solidFill>
                <a:schemeClr val="dk1"/>
              </a:solidFill>
              <a:latin typeface="Arial"/>
              <a:ea typeface="Arial"/>
              <a:cs typeface="Arial"/>
              <a:sym typeface="Arial"/>
            </a:endParaRPr>
          </a:p>
          <a:p>
            <a:pPr indent="-311150" lvl="0" marL="342900" marR="0" rtl="0" algn="l">
              <a:lnSpc>
                <a:spcPct val="100000"/>
              </a:lnSpc>
              <a:spcBef>
                <a:spcPts val="0"/>
              </a:spcBef>
              <a:spcAft>
                <a:spcPts val="0"/>
              </a:spcAft>
              <a:buClr>
                <a:schemeClr val="dk1"/>
              </a:buClr>
              <a:buSzPts val="1500"/>
              <a:buFont typeface="Calibri"/>
              <a:buAutoNum type="arabicPeriod"/>
            </a:pPr>
            <a:r>
              <a:rPr b="0" i="0" lang="en-GB" sz="1500" u="none" cap="none" strike="noStrike">
                <a:solidFill>
                  <a:schemeClr val="dk1"/>
                </a:solidFill>
                <a:latin typeface="Consolas"/>
                <a:ea typeface="Consolas"/>
                <a:cs typeface="Consolas"/>
                <a:sym typeface="Consolas"/>
              </a:rPr>
              <a:t>Split the linked list into two halves at the middle node.</a:t>
            </a:r>
            <a:endParaRPr b="0" i="0" sz="1500" u="none" cap="none" strike="noStrike">
              <a:solidFill>
                <a:schemeClr val="dk1"/>
              </a:solidFill>
              <a:latin typeface="Arial"/>
              <a:ea typeface="Arial"/>
              <a:cs typeface="Arial"/>
              <a:sym typeface="Arial"/>
            </a:endParaRPr>
          </a:p>
          <a:p>
            <a:pPr indent="-311150" lvl="0" marL="342900" marR="0" rtl="0" algn="l">
              <a:lnSpc>
                <a:spcPct val="100000"/>
              </a:lnSpc>
              <a:spcBef>
                <a:spcPts val="0"/>
              </a:spcBef>
              <a:spcAft>
                <a:spcPts val="0"/>
              </a:spcAft>
              <a:buClr>
                <a:schemeClr val="dk1"/>
              </a:buClr>
              <a:buSzPts val="1500"/>
              <a:buFont typeface="Calibri"/>
              <a:buAutoNum type="arabicPeriod"/>
            </a:pPr>
            <a:r>
              <a:rPr b="0" i="0" lang="en-GB" sz="1500" u="none" cap="none" strike="noStrike">
                <a:solidFill>
                  <a:schemeClr val="dk1"/>
                </a:solidFill>
                <a:latin typeface="Consolas"/>
                <a:ea typeface="Consolas"/>
                <a:cs typeface="Consolas"/>
                <a:sym typeface="Consolas"/>
              </a:rPr>
              <a:t>Recursively apply Merge Sort to the two halves.</a:t>
            </a:r>
            <a:endParaRPr b="0" i="0" sz="1500" u="none" cap="none" strike="noStrike">
              <a:solidFill>
                <a:schemeClr val="dk1"/>
              </a:solidFill>
              <a:latin typeface="Arial"/>
              <a:ea typeface="Arial"/>
              <a:cs typeface="Arial"/>
              <a:sym typeface="Arial"/>
            </a:endParaRPr>
          </a:p>
          <a:p>
            <a:pPr indent="-311150" lvl="0" marL="342900" marR="0" rtl="0" algn="l">
              <a:lnSpc>
                <a:spcPct val="100000"/>
              </a:lnSpc>
              <a:spcBef>
                <a:spcPts val="0"/>
              </a:spcBef>
              <a:spcAft>
                <a:spcPts val="0"/>
              </a:spcAft>
              <a:buClr>
                <a:schemeClr val="dk1"/>
              </a:buClr>
              <a:buSzPts val="1500"/>
              <a:buFont typeface="Calibri"/>
              <a:buAutoNum type="arabicPeriod"/>
            </a:pPr>
            <a:r>
              <a:rPr b="0" i="0" lang="en-GB" sz="1500" u="none" cap="none" strike="noStrike">
                <a:solidFill>
                  <a:schemeClr val="dk1"/>
                </a:solidFill>
                <a:latin typeface="Consolas"/>
                <a:ea typeface="Consolas"/>
                <a:cs typeface="Consolas"/>
                <a:sym typeface="Consolas"/>
              </a:rPr>
              <a:t>Merge the two sorted halves together, preserving the order.</a:t>
            </a:r>
            <a:endParaRPr b="0" i="0" sz="1500" u="none" cap="none" strike="noStrike">
              <a:solidFill>
                <a:schemeClr val="dk1"/>
              </a:solidFill>
              <a:latin typeface="Arial"/>
              <a:ea typeface="Arial"/>
              <a:cs typeface="Arial"/>
              <a:sym typeface="Arial"/>
            </a:endParaRPr>
          </a:p>
          <a:p>
            <a:pPr indent="-311150" lvl="0" marL="342900" marR="0" rtl="0" algn="l">
              <a:lnSpc>
                <a:spcPct val="100000"/>
              </a:lnSpc>
              <a:spcBef>
                <a:spcPts val="0"/>
              </a:spcBef>
              <a:spcAft>
                <a:spcPts val="0"/>
              </a:spcAft>
              <a:buClr>
                <a:schemeClr val="dk1"/>
              </a:buClr>
              <a:buSzPts val="1500"/>
              <a:buFont typeface="Calibri"/>
              <a:buAutoNum type="arabicPeriod"/>
            </a:pPr>
            <a:r>
              <a:rPr b="0" i="0" lang="en-GB" sz="1500" u="none" cap="none" strike="noStrike">
                <a:solidFill>
                  <a:schemeClr val="dk1"/>
                </a:solidFill>
                <a:latin typeface="Consolas"/>
                <a:ea typeface="Consolas"/>
                <a:cs typeface="Consolas"/>
                <a:sym typeface="Consolas"/>
              </a:rPr>
              <a:t>Return the merged list as the result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500" u="none" cap="none" strike="noStrike">
              <a:solidFill>
                <a:schemeClr val="dk1"/>
              </a:solidFill>
              <a:latin typeface="Consolas"/>
              <a:ea typeface="Consolas"/>
              <a:cs typeface="Consolas"/>
              <a:sym typeface="Consolas"/>
            </a:endParaRPr>
          </a:p>
        </p:txBody>
      </p:sp>
      <p:sp>
        <p:nvSpPr>
          <p:cNvPr id="139" name="Google Shape;139;g325f61525f9_0_28"/>
          <p:cNvSpPr txBox="1"/>
          <p:nvPr/>
        </p:nvSpPr>
        <p:spPr>
          <a:xfrm>
            <a:off x="172448" y="1053975"/>
            <a:ext cx="8358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ALGORITHM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209728d5f3_0_3"/>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145" name="Google Shape;145;g3209728d5f3_0_3"/>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Function mergeSortDoublyLinkedList(list):</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if list is empty or has only one node:</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return list   </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 Find the middle node</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middle = findMiddleNode(list) </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 Split the list into two halves</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leftHalf = sublist from start to middle</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rightHalf = sublist from middle.next to end </a:t>
            </a:r>
            <a:r>
              <a:rPr b="0" i="0" lang="en-GB" sz="1800" u="none" cap="none" strike="noStrike">
                <a:solidFill>
                  <a:schemeClr val="dk1"/>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200000"/>
              </a:lnSpc>
              <a:spcBef>
                <a:spcPts val="0"/>
              </a:spcBef>
              <a:spcAft>
                <a:spcPts val="0"/>
              </a:spcAft>
              <a:buClr>
                <a:schemeClr val="dk1"/>
              </a:buClr>
              <a:buSzPts val="1800"/>
              <a:buFont typeface="Arial"/>
              <a:buNone/>
            </a:pPr>
            <a:r>
              <a:rPr b="0" i="0" lang="en-GB" sz="1800" u="none" cap="none" strike="noStrike">
                <a:solidFill>
                  <a:schemeClr val="dk1"/>
                </a:solidFill>
                <a:latin typeface="Consolas"/>
                <a:ea typeface="Consolas"/>
                <a:cs typeface="Consolas"/>
                <a:sym typeface="Consolas"/>
              </a:rPr>
              <a:t>    </a:t>
            </a:r>
            <a:endParaRPr b="0" i="0" sz="18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Consolas"/>
              <a:ea typeface="Consolas"/>
              <a:cs typeface="Consolas"/>
              <a:sym typeface="Consolas"/>
            </a:endParaRPr>
          </a:p>
        </p:txBody>
      </p:sp>
      <p:sp>
        <p:nvSpPr>
          <p:cNvPr id="146" name="Google Shape;146;g3209728d5f3_0_3"/>
          <p:cNvSpPr txBox="1"/>
          <p:nvPr/>
        </p:nvSpPr>
        <p:spPr>
          <a:xfrm>
            <a:off x="172448" y="1053975"/>
            <a:ext cx="8358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PSEUDOCODE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209728d5f3_0_9"/>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152" name="Google Shape;152;g3209728d5f3_0_9"/>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Recursively apply mergeSort to both halves</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leftHalf = mergeSortDoublyLinkedList(leftHalf)</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rightHalf = mergeSortDoublyLinkedList(rightHalf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 Merge the two sorted halves</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sortedList = merge(leftHalf, rightHalf)</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return sortedList</a:t>
            </a:r>
            <a:endParaRPr b="0" i="0" sz="20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Function merge(leftHalf, rightHalf):</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result = Initialize an empty doubly linked list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2000" u="none" cap="none" strike="noStrike">
                <a:solidFill>
                  <a:schemeClr val="dk1"/>
                </a:solidFill>
                <a:latin typeface="Consolas"/>
                <a:ea typeface="Consolas"/>
                <a:cs typeface="Consolas"/>
                <a:sym typeface="Consolas"/>
              </a:rPr>
              <a:t>    while leftHalf is not empty and rightHalf is not empty:</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Consolas"/>
              <a:ea typeface="Consolas"/>
              <a:cs typeface="Consolas"/>
              <a:sym typeface="Consolas"/>
            </a:endParaRPr>
          </a:p>
        </p:txBody>
      </p:sp>
      <p:sp>
        <p:nvSpPr>
          <p:cNvPr id="153" name="Google Shape;153;g3209728d5f3_0_9"/>
          <p:cNvSpPr txBox="1"/>
          <p:nvPr/>
        </p:nvSpPr>
        <p:spPr>
          <a:xfrm>
            <a:off x="172448" y="1053975"/>
            <a:ext cx="8358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PSEUDOCODE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20974100d0_0_8"/>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159" name="Google Shape;159;g320974100d0_0_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if leftHalf.data &lt; rightHalf.data:</a:t>
            </a:r>
            <a:endParaRPr b="0" i="0" sz="15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append leftHalf to result</a:t>
            </a:r>
            <a:endParaRPr b="0" i="0" sz="15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move leftHalf pointer to the next node</a:t>
            </a:r>
            <a:endParaRPr b="0" i="0" sz="15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else:</a:t>
            </a:r>
            <a:endParaRPr b="0" i="0" sz="15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append rightHalf to result</a:t>
            </a:r>
            <a:endParaRPr b="0" i="0" sz="15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move rightHalf pointer to the next node    </a:t>
            </a:r>
            <a:endParaRPr b="0" i="0" sz="15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 Append any remaining nodes from leftHalf and rightHalf (if any)</a:t>
            </a:r>
            <a:endParaRPr b="0" i="0" sz="15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while leftHalf is not empty:</a:t>
            </a:r>
            <a:endParaRPr b="0" i="0" sz="15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append leftHalf to result</a:t>
            </a:r>
            <a:endParaRPr b="0" i="0" sz="15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move leftHalf pointer to the next node</a:t>
            </a:r>
            <a:endParaRPr b="0" i="0" sz="15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60" name="Google Shape;160;g320974100d0_0_8"/>
          <p:cNvSpPr txBox="1"/>
          <p:nvPr/>
        </p:nvSpPr>
        <p:spPr>
          <a:xfrm>
            <a:off x="172448" y="1053975"/>
            <a:ext cx="8358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PSEUDOCODE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20974100d0_0_14"/>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166" name="Google Shape;166;g320974100d0_0_14"/>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2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while rightHalf is not empty:</a:t>
            </a:r>
            <a:endParaRPr b="0" i="0" sz="1600" u="none" cap="none" strike="noStrike">
              <a:solidFill>
                <a:schemeClr val="dk1"/>
              </a:solidFill>
              <a:latin typeface="Arial"/>
              <a:ea typeface="Arial"/>
              <a:cs typeface="Arial"/>
              <a:sym typeface="Arial"/>
            </a:endParaRPr>
          </a:p>
          <a:p>
            <a:pPr indent="0" lvl="0" marL="0" marR="0" rtl="0" algn="l">
              <a:lnSpc>
                <a:spcPct val="2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append rightHalf to result</a:t>
            </a:r>
            <a:endParaRPr b="0" i="0" sz="1600" u="none" cap="none" strike="noStrike">
              <a:solidFill>
                <a:schemeClr val="dk1"/>
              </a:solidFill>
              <a:latin typeface="Arial"/>
              <a:ea typeface="Arial"/>
              <a:cs typeface="Arial"/>
              <a:sym typeface="Arial"/>
            </a:endParaRPr>
          </a:p>
          <a:p>
            <a:pPr indent="0" lvl="0" marL="0" marR="0" rtl="0" algn="l">
              <a:lnSpc>
                <a:spcPct val="2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move rightHalf pointer to the next node   </a:t>
            </a:r>
            <a:endParaRPr b="0" i="0" sz="1600" u="none" cap="none" strike="noStrike">
              <a:solidFill>
                <a:schemeClr val="dk1"/>
              </a:solidFill>
              <a:latin typeface="Arial"/>
              <a:ea typeface="Arial"/>
              <a:cs typeface="Arial"/>
              <a:sym typeface="Arial"/>
            </a:endParaRPr>
          </a:p>
          <a:p>
            <a:pPr indent="0" lvl="0" marL="0" marR="0" rtl="0" algn="l">
              <a:lnSpc>
                <a:spcPct val="2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return result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67" name="Google Shape;167;g320974100d0_0_14"/>
          <p:cNvSpPr txBox="1"/>
          <p:nvPr/>
        </p:nvSpPr>
        <p:spPr>
          <a:xfrm>
            <a:off x="172448" y="1053975"/>
            <a:ext cx="8358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PSEUDOCODE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20974100d0_0_137"/>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173" name="Google Shape;173;g320974100d0_0_137"/>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200000"/>
              </a:lnSpc>
              <a:spcBef>
                <a:spcPts val="0"/>
              </a:spcBef>
              <a:spcAft>
                <a:spcPts val="0"/>
              </a:spcAft>
              <a:buClr>
                <a:schemeClr val="dk1"/>
              </a:buClr>
              <a:buSzPts val="1800"/>
              <a:buFont typeface="Arial"/>
              <a:buNone/>
            </a:pPr>
            <a:r>
              <a:rPr b="0" i="0" lang="en-GB" sz="1800" u="none" cap="none" strike="noStrike">
                <a:solidFill>
                  <a:schemeClr val="dk1"/>
                </a:solidFill>
                <a:latin typeface="Consolas"/>
                <a:ea typeface="Consolas"/>
                <a:cs typeface="Consolas"/>
                <a:sym typeface="Consolas"/>
              </a:rPr>
              <a:t>Input:</a:t>
            </a:r>
            <a:endParaRPr b="0" i="0" sz="1400" u="none" cap="none" strike="noStrike">
              <a:solidFill>
                <a:schemeClr val="dk1"/>
              </a:solidFill>
              <a:latin typeface="Arial"/>
              <a:ea typeface="Arial"/>
              <a:cs typeface="Arial"/>
              <a:sym typeface="Arial"/>
            </a:endParaRPr>
          </a:p>
          <a:p>
            <a:pPr indent="0" lvl="0" marL="0" marR="0" rtl="0" algn="l">
              <a:lnSpc>
                <a:spcPct val="200000"/>
              </a:lnSpc>
              <a:spcBef>
                <a:spcPts val="0"/>
              </a:spcBef>
              <a:spcAft>
                <a:spcPts val="0"/>
              </a:spcAft>
              <a:buClr>
                <a:schemeClr val="dk1"/>
              </a:buClr>
              <a:buSzPts val="1800"/>
              <a:buFont typeface="Arial"/>
              <a:buNone/>
            </a:pPr>
            <a:r>
              <a:rPr b="0" i="0" lang="en-GB" sz="1800" u="none" cap="none" strike="noStrike">
                <a:solidFill>
                  <a:schemeClr val="dk1"/>
                </a:solidFill>
                <a:latin typeface="Consolas"/>
                <a:ea typeface="Consolas"/>
                <a:cs typeface="Consolas"/>
                <a:sym typeface="Consolas"/>
              </a:rPr>
              <a:t>2 4 1 3 5 </a:t>
            </a:r>
            <a:endParaRPr b="0" i="0" sz="1400" u="none" cap="none" strike="noStrike">
              <a:solidFill>
                <a:schemeClr val="dk1"/>
              </a:solidFill>
              <a:latin typeface="Arial"/>
              <a:ea typeface="Arial"/>
              <a:cs typeface="Arial"/>
              <a:sym typeface="Arial"/>
            </a:endParaRPr>
          </a:p>
          <a:p>
            <a:pPr indent="0" lvl="0" marL="0" marR="0" rtl="0" algn="l">
              <a:lnSpc>
                <a:spcPct val="200000"/>
              </a:lnSpc>
              <a:spcBef>
                <a:spcPts val="0"/>
              </a:spcBef>
              <a:spcAft>
                <a:spcPts val="0"/>
              </a:spcAft>
              <a:buClr>
                <a:schemeClr val="dk1"/>
              </a:buClr>
              <a:buSzPts val="1800"/>
              <a:buFont typeface="Arial"/>
              <a:buNone/>
            </a:pPr>
            <a:r>
              <a:rPr b="0" i="0" lang="en-GB" sz="1800" u="none" cap="none" strike="noStrike">
                <a:solidFill>
                  <a:schemeClr val="dk1"/>
                </a:solidFill>
                <a:latin typeface="Consolas"/>
                <a:ea typeface="Consolas"/>
                <a:cs typeface="Consolas"/>
                <a:sym typeface="Consolas"/>
              </a:rPr>
              <a:t>Output:</a:t>
            </a:r>
            <a:endParaRPr b="0" i="0" sz="1400" u="none" cap="none" strike="noStrike">
              <a:solidFill>
                <a:schemeClr val="dk1"/>
              </a:solidFill>
              <a:latin typeface="Arial"/>
              <a:ea typeface="Arial"/>
              <a:cs typeface="Arial"/>
              <a:sym typeface="Arial"/>
            </a:endParaRPr>
          </a:p>
          <a:p>
            <a:pPr indent="0" lvl="0" marL="0" marR="0" rtl="0" algn="l">
              <a:lnSpc>
                <a:spcPct val="200000"/>
              </a:lnSpc>
              <a:spcBef>
                <a:spcPts val="0"/>
              </a:spcBef>
              <a:spcAft>
                <a:spcPts val="0"/>
              </a:spcAft>
              <a:buClr>
                <a:schemeClr val="dk1"/>
              </a:buClr>
              <a:buSzPts val="1800"/>
              <a:buFont typeface="Arial"/>
              <a:buNone/>
            </a:pPr>
            <a:r>
              <a:rPr b="0" i="0" lang="en-GB" sz="1800" u="none" cap="none" strike="noStrike">
                <a:solidFill>
                  <a:schemeClr val="dk1"/>
                </a:solidFill>
                <a:latin typeface="Consolas"/>
                <a:ea typeface="Consolas"/>
                <a:cs typeface="Consolas"/>
                <a:sym typeface="Consolas"/>
              </a:rPr>
              <a:t>1 2 3 4 5</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74" name="Google Shape;174;g320974100d0_0_137"/>
          <p:cNvSpPr txBox="1"/>
          <p:nvPr/>
        </p:nvSpPr>
        <p:spPr>
          <a:xfrm>
            <a:off x="172448" y="1053975"/>
            <a:ext cx="8358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209728d5f3_0_15"/>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graphicFrame>
        <p:nvGraphicFramePr>
          <p:cNvPr id="180" name="Google Shape;180;g3209728d5f3_0_15"/>
          <p:cNvGraphicFramePr/>
          <p:nvPr/>
        </p:nvGraphicFramePr>
        <p:xfrm>
          <a:off x="22" y="926738"/>
          <a:ext cx="3000000" cy="3000000"/>
        </p:xfrm>
        <a:graphic>
          <a:graphicData uri="http://schemas.openxmlformats.org/drawingml/2006/table">
            <a:tbl>
              <a:tblPr bandRow="1" firstRow="1">
                <a:noFill/>
                <a:tableStyleId>{5CEDABD6-7680-48BD-ADE9-94118BBC4931}</a:tableStyleId>
              </a:tblPr>
              <a:tblGrid>
                <a:gridCol w="4572000"/>
                <a:gridCol w="4572000"/>
              </a:tblGrid>
              <a:tr h="370850">
                <a:tc>
                  <a:txBody>
                    <a:bodyPr/>
                    <a:lstStyle/>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import java.util.*;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//MERGE FUNCTION</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class Solution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public static Node merge(Node head1, Node head2){</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merged = new Node(-1);</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temp = merged;</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while (head1 != null &amp;&amp; head2 != null)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 (head1.data &lt; head2.data)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temp.next = head1;</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if(temp.data != -1)</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head1.prev = temp;</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head1 = head1.next;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}else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temp.next = head2;</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if(temp.data != -1)</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head2.prev = temp;</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head2 = head2.next;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temp = temp.next;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while (head1 != null)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temp.next = head1;</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head1.prev = temp;</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head1 = head1.next;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temp = temp.next;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while (head2 != null)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temp.next = head2;</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head2.prev = temp;</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head2 = head2.next;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temp = temp.next;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return merged.next;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20974100d0_0_93"/>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graphicFrame>
        <p:nvGraphicFramePr>
          <p:cNvPr id="186" name="Google Shape;186;g320974100d0_0_93"/>
          <p:cNvGraphicFramePr/>
          <p:nvPr/>
        </p:nvGraphicFramePr>
        <p:xfrm>
          <a:off x="22" y="926738"/>
          <a:ext cx="3000000" cy="3000000"/>
        </p:xfrm>
        <a:graphic>
          <a:graphicData uri="http://schemas.openxmlformats.org/drawingml/2006/table">
            <a:tbl>
              <a:tblPr bandRow="1" firstRow="1">
                <a:noFill/>
                <a:tableStyleId>{5CEDABD6-7680-48BD-ADE9-94118BBC4931}</a:tableStyleId>
              </a:tblPr>
              <a:tblGrid>
                <a:gridCol w="4572000"/>
                <a:gridCol w="4572000"/>
              </a:tblGrid>
              <a:tr h="370850">
                <a:tc>
                  <a:txBody>
                    <a:bodyPr/>
                    <a:lstStyle/>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//2.FIND THE MID POINT</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public static Node find_mid(Node head){</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Node slow = head, fast = head.next;</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while(slow != null &amp;&amp; fast != null){</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fast = fast.next;</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if(fast == null)</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break;</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slow = slow.next;</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fast = fast.next;</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return slow;</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a:t>
                      </a:r>
                      <a:endParaRPr b="0" sz="16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public static Node mergesort(Node head){</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if(head.next == null){</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return head;</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Node mid = find_mid(head);</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Node head1 = head;</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Node head2 = mid.next;</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mid.next = null;</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head2.prev = null;</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head1 = mergesort(head1);</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head2 = mergesort(head2);</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return merge(head1, head2);</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    }</a:t>
                      </a:r>
                      <a:endParaRPr b="0" sz="16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600" u="none" cap="none" strike="noStrike">
                          <a:solidFill>
                            <a:srgbClr val="000000"/>
                          </a:solidFill>
                          <a:latin typeface="Consolas"/>
                          <a:ea typeface="Consolas"/>
                          <a:cs typeface="Consolas"/>
                          <a:sym typeface="Consolas"/>
                        </a:rPr>
                        <a:t>}</a:t>
                      </a:r>
                      <a:endParaRPr b="0" sz="16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20974100d0_0_98"/>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graphicFrame>
        <p:nvGraphicFramePr>
          <p:cNvPr id="192" name="Google Shape;192;g320974100d0_0_98"/>
          <p:cNvGraphicFramePr/>
          <p:nvPr/>
        </p:nvGraphicFramePr>
        <p:xfrm>
          <a:off x="559472" y="926738"/>
          <a:ext cx="3000000" cy="3000000"/>
        </p:xfrm>
        <a:graphic>
          <a:graphicData uri="http://schemas.openxmlformats.org/drawingml/2006/table">
            <a:tbl>
              <a:tblPr bandRow="1" firstRow="1">
                <a:noFill/>
                <a:tableStyleId>{5CEDABD6-7680-48BD-ADE9-94118BBC4931}</a:tableStyleId>
              </a:tblPr>
              <a:tblGrid>
                <a:gridCol w="3750300"/>
                <a:gridCol w="4344700"/>
              </a:tblGrid>
              <a:tr h="370850">
                <a:tc>
                  <a:txBody>
                    <a:bodyPr/>
                    <a:lstStyle/>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//3.NODE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class Node{</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int data;</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prev;</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Node(int data){</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this.data = data;</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next = null;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prev = null;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//4.LINKED LIST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class LinkedList{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head;</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void add(int data){</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new_node = new Node(data);</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if(head == null){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head = new_node;</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return;</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curr = head;</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while(curr.next != null)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curr = curr.next;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curr.next = new_node;</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new_node.prev = curr;</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20974100d0_0_103"/>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198" name="Google Shape;198;g320974100d0_0_103"/>
          <p:cNvSpPr txBox="1"/>
          <p:nvPr/>
        </p:nvSpPr>
        <p:spPr>
          <a:xfrm>
            <a:off x="762000" y="685800"/>
            <a:ext cx="8615100" cy="4186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//5.MAIN FUNCTION</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public class Main {</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public static void main(String[] args) {</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Scanner input = new Scanner(System.in);</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int n = input.nextInt();</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LinkedList a = new LinkedList();</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for(int i = 0; i &lt; n; i++){</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a.add(input.nextInt());</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Solution Obj = new Solution();</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a.head = Obj.mergesort(a.head);</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Node h = a.head;</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while(h != null){</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System.out.print(h.data + " ");</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h = h.next;</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System.out.println("");</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20974100d0_0_108"/>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graphicFrame>
        <p:nvGraphicFramePr>
          <p:cNvPr id="204" name="Google Shape;204;g320974100d0_0_108"/>
          <p:cNvGraphicFramePr/>
          <p:nvPr/>
        </p:nvGraphicFramePr>
        <p:xfrm>
          <a:off x="22" y="926738"/>
          <a:ext cx="3000000" cy="3000000"/>
        </p:xfrm>
        <a:graphic>
          <a:graphicData uri="http://schemas.openxmlformats.org/drawingml/2006/table">
            <a:tbl>
              <a:tblPr bandRow="1" firstRow="1">
                <a:noFill/>
                <a:tableStyleId>{5CEDABD6-7680-48BD-ADE9-94118BBC4931}</a:tableStyleId>
              </a:tblPr>
              <a:tblGrid>
                <a:gridCol w="4572000"/>
                <a:gridCol w="4572000"/>
              </a:tblGrid>
              <a:tr h="370850">
                <a:tc>
                  <a:txBody>
                    <a:bodyPr/>
                    <a:lstStyle/>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public class DLLMergeSort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private Node head;</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public DLLMergeSort()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this.head = null;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public class Node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int data;</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prev, 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public Node(int data)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this.data = data;</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this.prev = this.next = null;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private Node merge(Node left, Node right)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 (left == null)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return right;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 (right == null)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return left;}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 (left.data &lt; right.data)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left.next = merge(left.next, right);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 (left.next != null)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left.next.prev = left;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left.prev = null;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return left;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 else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right.next = merge(left, right.next);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 (right.next != null)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right.next.prev = right;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right.prev = null;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return right;}}</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20974100d0_0_113"/>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graphicFrame>
        <p:nvGraphicFramePr>
          <p:cNvPr id="210" name="Google Shape;210;g320974100d0_0_113"/>
          <p:cNvGraphicFramePr/>
          <p:nvPr/>
        </p:nvGraphicFramePr>
        <p:xfrm>
          <a:off x="22" y="926738"/>
          <a:ext cx="3000000" cy="3000000"/>
        </p:xfrm>
        <a:graphic>
          <a:graphicData uri="http://schemas.openxmlformats.org/drawingml/2006/table">
            <a:tbl>
              <a:tblPr bandRow="1" firstRow="1">
                <a:noFill/>
                <a:tableStyleId>{5CEDABD6-7680-48BD-ADE9-94118BBC4931}</a:tableStyleId>
              </a:tblPr>
              <a:tblGrid>
                <a:gridCol w="4572000"/>
                <a:gridCol w="4572000"/>
              </a:tblGrid>
              <a:tr h="370850">
                <a:tc>
                  <a:txBody>
                    <a:bodyPr/>
                    <a:lstStyle/>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private Node getMiddle(Node head)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 (head == null)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return null;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slow = head;</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fast = head.next;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while (fast != null &amp;&amp; fast.next != null)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slow = slow.next;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fast = fast.next.next;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return slow;</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public Node mergeSort(Node node)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 (node == null || node.next == null)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return node;</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middle = getMiddle(node);</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nextOfMiddle = middle.next;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middle.next = null;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nextOfMiddle.prev = null;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left = mergeSort(node);</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right = mergeSort(nextOfMiddle);</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return merge(left, right);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20974100d0_0_118"/>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graphicFrame>
        <p:nvGraphicFramePr>
          <p:cNvPr id="216" name="Google Shape;216;g320974100d0_0_118"/>
          <p:cNvGraphicFramePr/>
          <p:nvPr/>
        </p:nvGraphicFramePr>
        <p:xfrm>
          <a:off x="22" y="926738"/>
          <a:ext cx="3000000" cy="3000000"/>
        </p:xfrm>
        <a:graphic>
          <a:graphicData uri="http://schemas.openxmlformats.org/drawingml/2006/table">
            <a:tbl>
              <a:tblPr bandRow="1" firstRow="1">
                <a:noFill/>
                <a:tableStyleId>{5CEDABD6-7680-48BD-ADE9-94118BBC4931}</a:tableStyleId>
              </a:tblPr>
              <a:tblGrid>
                <a:gridCol w="4572000"/>
                <a:gridCol w="4572000"/>
              </a:tblGrid>
              <a:tr h="370850">
                <a:tc>
                  <a:txBody>
                    <a:bodyPr/>
                    <a:lstStyle/>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public void printList(Node node)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while (node != null)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System.out.print(node.data + "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 node.next;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System.out.println();</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public void insert(int data)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newNode = new Node(data);</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 (head == null)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head = newNode;</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 else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temp = head;</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while (temp.next != null)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temp = temp.next;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temp.next = newNode;</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newNode.prev = temp;</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20974100d0_0_125"/>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222" name="Google Shape;222;g320974100d0_0_125"/>
          <p:cNvSpPr txBox="1"/>
          <p:nvPr/>
        </p:nvSpPr>
        <p:spPr>
          <a:xfrm>
            <a:off x="685800" y="1143000"/>
            <a:ext cx="8929800" cy="364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public static void main(String[] args) {</a:t>
            </a:r>
            <a:endParaRPr b="0" i="0"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        DLLMergeSort dll = new DLLMergeSort();</a:t>
            </a:r>
            <a:endParaRPr b="0" i="0"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        dll.insert(12);</a:t>
            </a:r>
            <a:endParaRPr b="0" i="0"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        dll.insert(11);</a:t>
            </a:r>
            <a:endParaRPr b="0" i="0"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        dll.insert(13);</a:t>
            </a:r>
            <a:endParaRPr b="0" i="0"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        dll.insert(5);</a:t>
            </a:r>
            <a:endParaRPr b="0" i="0"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        dll.insert(6);</a:t>
            </a:r>
            <a:endParaRPr b="0" i="0"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        dll.insert(7);</a:t>
            </a:r>
            <a:endParaRPr b="0" i="0"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        System.out.println("Original DLL:");</a:t>
            </a:r>
            <a:endParaRPr b="0" i="0"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        dll.printList(dll.head);</a:t>
            </a:r>
            <a:endParaRPr b="0" i="0"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        dll.head = dll.mergeSort(dll.head);</a:t>
            </a:r>
            <a:endParaRPr b="0" i="0"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        System.out.println("DLL after Merge Sort:");</a:t>
            </a:r>
            <a:endParaRPr b="0" i="0"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        dll.printList(dll.head);</a:t>
            </a:r>
            <a:endParaRPr b="0" i="0"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    }</a:t>
            </a:r>
            <a:endParaRPr b="0" i="0"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Consolas"/>
                <a:ea typeface="Consolas"/>
                <a:cs typeface="Consolas"/>
                <a:sym typeface="Consolas"/>
              </a:rPr>
              <a:t>}</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20974100d0_0_132"/>
          <p:cNvSpPr txBox="1"/>
          <p:nvPr/>
        </p:nvSpPr>
        <p:spPr>
          <a:xfrm>
            <a:off x="720725" y="445600"/>
            <a:ext cx="6956700" cy="654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MERGE SORT IN DLL</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228" name="Google Shape;228;g320974100d0_0_132"/>
          <p:cNvSpPr txBox="1"/>
          <p:nvPr/>
        </p:nvSpPr>
        <p:spPr>
          <a:xfrm>
            <a:off x="257875" y="1170000"/>
            <a:ext cx="8929800" cy="2165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Time complexity and space complexity</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Time complexity of O(n * log(n)) arises from the Merge Sort algorithm applied to the linked list.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Space complexity of O(log(n)) comes from the recursive function calls on the call stack during the sorting process.</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1fdec52c72_0_308"/>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34" name="Google Shape;234;g31fdec52c72_0_308"/>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1. Explain how Merge Sort works for sorting a doubly linked list.</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35" name="Google Shape;235;g31fdec52c72_0_308"/>
          <p:cNvSpPr txBox="1"/>
          <p:nvPr/>
        </p:nvSpPr>
        <p:spPr>
          <a:xfrm>
            <a:off x="436323" y="1779900"/>
            <a:ext cx="74922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Merge Sort for a doubly linked list involves dividing the list into two halves, recursively sorting both halves, and then merging them back together in sorted order. It takes advantage of the doubly linked list's ability to traverse in both directions.</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243a3cdda7_0_819"/>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41" name="Google Shape;241;g3243a3cdda7_0_819"/>
          <p:cNvSpPr txBox="1"/>
          <p:nvPr/>
        </p:nvSpPr>
        <p:spPr>
          <a:xfrm>
            <a:off x="0" y="1170000"/>
            <a:ext cx="80868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2</a:t>
            </a:r>
            <a:r>
              <a:rPr b="1" i="1" lang="en-GB" sz="1600" u="none" cap="none" strike="noStrike">
                <a:solidFill>
                  <a:srgbClr val="FF0000"/>
                </a:solidFill>
                <a:latin typeface="Consolas"/>
                <a:ea typeface="Consolas"/>
                <a:cs typeface="Consolas"/>
                <a:sym typeface="Consolas"/>
              </a:rPr>
              <a:t>.</a:t>
            </a:r>
            <a:r>
              <a:rPr b="0" i="1" lang="en-GB" sz="1600" u="none" cap="none" strike="noStrike">
                <a:solidFill>
                  <a:srgbClr val="FF0000"/>
                </a:solidFill>
                <a:latin typeface="Consolas"/>
                <a:ea typeface="Consolas"/>
                <a:cs typeface="Consolas"/>
                <a:sym typeface="Consolas"/>
              </a:rPr>
              <a:t>What is the time complexity of Merge Sort when applied to a doubly linked list?</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42" name="Google Shape;242;g3243a3cdda7_0_819"/>
          <p:cNvSpPr txBox="1"/>
          <p:nvPr/>
        </p:nvSpPr>
        <p:spPr>
          <a:xfrm>
            <a:off x="436325" y="1779900"/>
            <a:ext cx="80868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time complexity of Merge Sort on a doubly linked list is O(n log n), where n is the number of nodes in the list. This is because the list is divided in a balanced manner, and merging two sorted halves takes linear time.</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243a3cdda7_0_825"/>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48" name="Google Shape;248;g3243a3cdda7_0_825"/>
          <p:cNvSpPr txBox="1"/>
          <p:nvPr/>
        </p:nvSpPr>
        <p:spPr>
          <a:xfrm>
            <a:off x="0" y="1170000"/>
            <a:ext cx="8263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3. Can Merge Sort be implemented in-place for a doubly linked list?</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49" name="Google Shape;249;g3243a3cdda7_0_825"/>
          <p:cNvSpPr txBox="1"/>
          <p:nvPr/>
        </p:nvSpPr>
        <p:spPr>
          <a:xfrm>
            <a:off x="436323" y="1779900"/>
            <a:ext cx="74922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Yes, Merge Sort can be implemented in-place for a doubly linked list. It involves reorganizing the pointers of the existing nodes without using additional memory for new nodes.</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243a3cdda7_0_831"/>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55" name="Google Shape;255;g3243a3cdda7_0_831"/>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4. How do you handle the merging step in Merge Sort for a doubly linked list?</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56" name="Google Shape;256;g3243a3cdda7_0_831"/>
          <p:cNvSpPr txBox="1"/>
          <p:nvPr/>
        </p:nvSpPr>
        <p:spPr>
          <a:xfrm>
            <a:off x="436323" y="1779900"/>
            <a:ext cx="74922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Answer:The merging step involves comparing elements of the two sorted halves and rearranging the pointers to form a single sorted list. This is done while traversing both halves and updating the pointers accordingly, similar to merging two sorted arrays.</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62" name="Google Shape;262;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263" name="Google Shape;263;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69" name="Google Shape;269;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70" name="Google Shape;270;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71" name="Google Shape;271;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72" name="Google Shape;272;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73" name="Google Shape;273;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74" name="Google Shape;274;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75" name="Google Shape;275;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76" name="Google Shape;276;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77" name="Google Shape;277;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78" name="Google Shape;278;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79" name="Google Shape;279;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