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59"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Lst>
  <p:sldSz cy="5143500" cx="9144000"/>
  <p:notesSz cx="6858000" cy="9144000"/>
  <p:embeddedFontLst>
    <p:embeddedFont>
      <p:font typeface="Roboto Black"/>
      <p:bold r:id="rId41"/>
      <p:boldItalic r:id="rId42"/>
    </p:embeddedFont>
    <p:embeddedFont>
      <p:font typeface="Roboto"/>
      <p:regular r:id="rId43"/>
      <p:bold r:id="rId44"/>
      <p:italic r:id="rId45"/>
      <p:boldItalic r:id="rId4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454">
          <p15:clr>
            <a:srgbClr val="FF00FF"/>
          </p15:clr>
        </p15:guide>
        <p15:guide id="2" orient="horz" pos="2755">
          <p15:clr>
            <a:srgbClr val="FF0000"/>
          </p15:clr>
        </p15:guide>
        <p15:guide id="3" orient="horz" pos="907">
          <p15:clr>
            <a:srgbClr val="FF0000"/>
          </p15:clr>
        </p15:guide>
        <p15:guide id="4" pos="5272">
          <p15:clr>
            <a:srgbClr val="FF00FF"/>
          </p15:clr>
        </p15:guide>
        <p15:guide id="5" orient="horz" pos="737">
          <p15:clr>
            <a:srgbClr val="00FF00"/>
          </p15:clr>
        </p15:guide>
        <p15:guide id="6" orient="horz" pos="397">
          <p15:clr>
            <a:srgbClr val="00FF00"/>
          </p15:clr>
        </p15:guide>
        <p15:guide id="7" pos="1757">
          <p15:clr>
            <a:srgbClr val="747775"/>
          </p15:clr>
        </p15:guide>
      </p15:sldGuideLst>
    </p:ext>
    <p:ext uri="GoogleSlidesCustomDataVersion2">
      <go:slidesCustomData xmlns:go="http://customooxmlschemas.google.com/" r:id="rId47" roundtripDataSignature="AMtx7mj9fkstbdLEat9eBhtEJ35aJQbiw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6EA5A22-9332-4500-8856-F7733BD411E0}">
  <a:tblStyle styleId="{C6EA5A22-9332-4500-8856-F7733BD411E0}" styleName="Table_0">
    <a:wholeTbl>
      <a:tcTxStyle b="off" i="off">
        <a:font>
          <a:latin typeface="Calibri"/>
          <a:ea typeface="Calibri"/>
          <a:cs typeface="Calibri"/>
        </a:font>
        <a:srgbClr val="000000"/>
      </a:tcTxStyle>
      <a:tcStyle>
        <a:tcBdr>
          <a:left>
            <a:ln cap="flat" cmpd="sng" w="12700">
              <a:solidFill>
                <a:srgbClr val="FFFFFF"/>
              </a:solidFill>
              <a:prstDash val="solid"/>
              <a:round/>
              <a:headEnd len="sm" w="sm" type="none"/>
              <a:tailEnd len="sm" w="sm" type="none"/>
            </a:ln>
          </a:left>
          <a:right>
            <a:ln cap="flat" cmpd="sng" w="12700">
              <a:solidFill>
                <a:srgbClr val="FFFFFF"/>
              </a:solidFill>
              <a:prstDash val="solid"/>
              <a:round/>
              <a:headEnd len="sm" w="sm" type="none"/>
              <a:tailEnd len="sm" w="sm" type="none"/>
            </a:ln>
          </a:right>
          <a:top>
            <a:ln cap="flat" cmpd="sng" w="12700">
              <a:solidFill>
                <a:srgbClr val="FFFFFF"/>
              </a:solidFill>
              <a:prstDash val="solid"/>
              <a:round/>
              <a:headEnd len="sm" w="sm" type="none"/>
              <a:tailEnd len="sm" w="sm" type="none"/>
            </a:ln>
          </a:top>
          <a:bottom>
            <a:ln cap="flat" cmpd="sng" w="12700">
              <a:solidFill>
                <a:srgbClr val="FFFFFF"/>
              </a:solidFill>
              <a:prstDash val="solid"/>
              <a:round/>
              <a:headEnd len="sm" w="sm" type="none"/>
              <a:tailEnd len="sm" w="sm" type="none"/>
            </a:ln>
          </a:bottom>
          <a:insideH>
            <a:ln cap="flat" cmpd="sng" w="12700">
              <a:solidFill>
                <a:srgbClr val="FFFFFF"/>
              </a:solidFill>
              <a:prstDash val="solid"/>
              <a:round/>
              <a:headEnd len="sm" w="sm" type="none"/>
              <a:tailEnd len="sm" w="sm" type="none"/>
            </a:ln>
          </a:insideH>
          <a:insideV>
            <a:ln cap="flat" cmpd="sng" w="12700">
              <a:solidFill>
                <a:srgbClr val="FFFFFF"/>
              </a:solidFill>
              <a:prstDash val="solid"/>
              <a:round/>
              <a:headEnd len="sm" w="sm" type="none"/>
              <a:tailEnd len="sm" w="sm" type="none"/>
            </a:ln>
          </a:insideV>
        </a:tcBdr>
        <a:fill>
          <a:solidFill>
            <a:srgbClr val="E8EBF5"/>
          </a:solidFill>
        </a:fill>
      </a:tcStyle>
    </a:wholeTbl>
    <a:band1H>
      <a:tcTxStyle b="off" i="off"/>
      <a:tcStyle>
        <a:fill>
          <a:solidFill>
            <a:srgbClr val="CDD4EA"/>
          </a:solidFill>
        </a:fill>
      </a:tcStyle>
    </a:band1H>
    <a:band2H>
      <a:tcTxStyle b="off" i="off"/>
    </a:band2H>
    <a:band1V>
      <a:tcTxStyle b="off" i="off"/>
      <a:tcStyle>
        <a:fill>
          <a:solidFill>
            <a:srgbClr val="CDD4EA"/>
          </a:solidFill>
        </a:fill>
      </a:tcStyle>
    </a:band1V>
    <a:band2V>
      <a:tcTxStyle b="off" i="off"/>
    </a:band2V>
    <a:lastCol>
      <a:tcTxStyle b="on" i="off">
        <a:font>
          <a:latin typeface="Calibri"/>
          <a:ea typeface="Calibri"/>
          <a:cs typeface="Calibri"/>
        </a:font>
        <a:srgbClr val="FFFFFF"/>
      </a:tcTxStyle>
      <a:tcStyle>
        <a:fill>
          <a:solidFill>
            <a:srgbClr val="4472C4"/>
          </a:solidFill>
        </a:fill>
      </a:tcStyle>
    </a:lastCol>
    <a:firstCol>
      <a:tcTxStyle b="on" i="off">
        <a:font>
          <a:latin typeface="Calibri"/>
          <a:ea typeface="Calibri"/>
          <a:cs typeface="Calibri"/>
        </a:font>
        <a:srgbClr val="FFFFFF"/>
      </a:tcTxStyle>
      <a:tcStyle>
        <a:fill>
          <a:solidFill>
            <a:srgbClr val="4472C4"/>
          </a:solidFill>
        </a:fill>
      </a:tcStyle>
    </a:firstCol>
    <a:lastRow>
      <a:tcTxStyle b="on" i="off">
        <a:font>
          <a:latin typeface="Calibri"/>
          <a:ea typeface="Calibri"/>
          <a:cs typeface="Calibri"/>
        </a:font>
        <a:srgbClr val="FFFFFF"/>
      </a:tcTxStyle>
      <a:tcStyle>
        <a:tcBdr>
          <a:top>
            <a:ln cap="flat" cmpd="sng" w="38100">
              <a:solidFill>
                <a:srgbClr val="FFFFFF"/>
              </a:solidFill>
              <a:prstDash val="solid"/>
              <a:round/>
              <a:headEnd len="sm" w="sm" type="none"/>
              <a:tailEnd len="sm" w="sm" type="none"/>
            </a:ln>
          </a:top>
        </a:tcBdr>
        <a:fill>
          <a:solidFill>
            <a:srgbClr val="4472C4"/>
          </a:solidFill>
        </a:fill>
      </a:tcStyle>
    </a:lastRow>
    <a:seCell>
      <a:tcTxStyle b="off" i="off"/>
    </a:seCell>
    <a:swCell>
      <a:tcTxStyle b="off" i="off"/>
    </a:swCell>
    <a:firstRow>
      <a:tcTxStyle b="on" i="off">
        <a:font>
          <a:latin typeface="Calibri"/>
          <a:ea typeface="Calibri"/>
          <a:cs typeface="Calibri"/>
        </a:font>
        <a:srgbClr val="FFFFFF"/>
      </a:tcTxStyle>
      <a:tcStyle>
        <a:tcBdr>
          <a:bottom>
            <a:ln cap="flat" cmpd="sng" w="38100">
              <a:solidFill>
                <a:srgbClr val="FFFFFF"/>
              </a:solidFill>
              <a:prstDash val="solid"/>
              <a:round/>
              <a:headEnd len="sm" w="sm" type="none"/>
              <a:tailEnd len="sm" w="sm" type="none"/>
            </a:ln>
          </a:bottom>
        </a:tcBdr>
        <a:fill>
          <a:solidFill>
            <a:srgbClr val="4472C4"/>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454"/>
        <p:guide pos="2755" orient="horz"/>
        <p:guide pos="907" orient="horz"/>
        <p:guide pos="5272"/>
        <p:guide pos="737" orient="horz"/>
        <p:guide pos="397" orient="horz"/>
        <p:guide pos="1757"/>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20" Type="http://schemas.openxmlformats.org/officeDocument/2006/relationships/slide" Target="slides/slide13.xml"/><Relationship Id="rId42" Type="http://schemas.openxmlformats.org/officeDocument/2006/relationships/font" Target="fonts/RobotoBlack-boldItalic.fntdata"/><Relationship Id="rId41" Type="http://schemas.openxmlformats.org/officeDocument/2006/relationships/font" Target="fonts/RobotoBlack-bold.fntdata"/><Relationship Id="rId22" Type="http://schemas.openxmlformats.org/officeDocument/2006/relationships/slide" Target="slides/slide15.xml"/><Relationship Id="rId44" Type="http://schemas.openxmlformats.org/officeDocument/2006/relationships/font" Target="fonts/Roboto-bold.fntdata"/><Relationship Id="rId21" Type="http://schemas.openxmlformats.org/officeDocument/2006/relationships/slide" Target="slides/slide14.xml"/><Relationship Id="rId43" Type="http://schemas.openxmlformats.org/officeDocument/2006/relationships/font" Target="fonts/Roboto-regular.fntdata"/><Relationship Id="rId24" Type="http://schemas.openxmlformats.org/officeDocument/2006/relationships/slide" Target="slides/slide17.xml"/><Relationship Id="rId46" Type="http://schemas.openxmlformats.org/officeDocument/2006/relationships/font" Target="fonts/Roboto-boldItalic.fntdata"/><Relationship Id="rId23" Type="http://schemas.openxmlformats.org/officeDocument/2006/relationships/slide" Target="slides/slide16.xml"/><Relationship Id="rId45" Type="http://schemas.openxmlformats.org/officeDocument/2006/relationships/font" Target="fonts/Roboto-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47" Type="http://customschemas.google.com/relationships/presentationmetadata" Target="metadata"/><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slide" Target="slides/slide26.xml"/><Relationship Id="rId10" Type="http://schemas.openxmlformats.org/officeDocument/2006/relationships/slide" Target="slides/slide3.xml"/><Relationship Id="rId32" Type="http://schemas.openxmlformats.org/officeDocument/2006/relationships/slide" Target="slides/slide25.xml"/><Relationship Id="rId13" Type="http://schemas.openxmlformats.org/officeDocument/2006/relationships/slide" Target="slides/slide6.xml"/><Relationship Id="rId35" Type="http://schemas.openxmlformats.org/officeDocument/2006/relationships/slide" Target="slides/slide28.xml"/><Relationship Id="rId12" Type="http://schemas.openxmlformats.org/officeDocument/2006/relationships/slide" Target="slides/slide5.xml"/><Relationship Id="rId34" Type="http://schemas.openxmlformats.org/officeDocument/2006/relationships/slide" Target="slides/slide27.xml"/><Relationship Id="rId15" Type="http://schemas.openxmlformats.org/officeDocument/2006/relationships/slide" Target="slides/slide8.xml"/><Relationship Id="rId37" Type="http://schemas.openxmlformats.org/officeDocument/2006/relationships/slide" Target="slides/slide30.xml"/><Relationship Id="rId14" Type="http://schemas.openxmlformats.org/officeDocument/2006/relationships/slide" Target="slides/slide7.xml"/><Relationship Id="rId36" Type="http://schemas.openxmlformats.org/officeDocument/2006/relationships/slide" Target="slides/slide29.xml"/><Relationship Id="rId17" Type="http://schemas.openxmlformats.org/officeDocument/2006/relationships/slide" Target="slides/slide10.xml"/><Relationship Id="rId39" Type="http://schemas.openxmlformats.org/officeDocument/2006/relationships/slide" Target="slides/slide32.xml"/><Relationship Id="rId16" Type="http://schemas.openxmlformats.org/officeDocument/2006/relationships/slide" Target="slides/slide9.xml"/><Relationship Id="rId38" Type="http://schemas.openxmlformats.org/officeDocument/2006/relationships/slide" Target="slides/slide31.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5" name="Google Shape;95;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4" name="Google Shape;104;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14337fc5d25_0_2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12" name="Google Shape;112;g14337fc5d25_0_2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2036c06824_0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20" name="Google Shape;120;g32036c06824_0_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2036c06824_0_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26" name="Google Shape;126;g32036c06824_0_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2036c06824_0_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34" name="Google Shape;134;g32036c06824_0_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2036c06824_0_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42" name="Google Shape;142;g32036c06824_0_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2036c06824_0_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50" name="Google Shape;150;g32036c06824_0_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1fef00ada2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58" name="Google Shape;158;g31fef00ada2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2036c06824_0_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65" name="Google Shape;165;g32036c06824_0_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2036c06824_0_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72" name="Google Shape;172;g32036c06824_0_6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2036c06824_0_6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79" name="Google Shape;179;g32036c06824_0_6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2036c06824_0_7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86" name="Google Shape;186;g32036c06824_0_7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2036c06824_0_8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93" name="Google Shape;193;g32036c06824_0_8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2036c06824_0_8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00" name="Google Shape;200;g32036c06824_0_8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2036c06824_0_9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07" name="Google Shape;207;g32036c06824_0_9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2036c06824_0_10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14" name="Google Shape;214;g32036c06824_0_10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2036c06824_0_10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21" name="Google Shape;221;g32036c06824_0_10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2036c06824_0_1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28" name="Google Shape;228;g32036c06824_0_1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2036c06824_0_1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35" name="Google Shape;235;g32036c06824_0_1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2036c06824_0_1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42" name="Google Shape;242;g32036c06824_0_1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2036c06824_0_1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49" name="Google Shape;249;g32036c06824_0_1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2036c06824_0_1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56" name="Google Shape;256;g32036c06824_0_14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31fef00ada2_0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63" name="Google Shape;263;g31fef00ada2_0_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2036c06824_0_1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70" name="Google Shape;270;g32036c06824_0_15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2036c06824_0_1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77" name="Google Shape;277;g32036c06824_0_16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1fdec52c72_0_30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84" name="Google Shape;284;g31fdec52c72_0_30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243a3cdda7_0_8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91" name="Google Shape;291;g3243a3cdda7_0_8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3243a3cdda7_0_8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98" name="Google Shape;298;g3243a3cdda7_0_8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3243a3cdda7_0_8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305" name="Google Shape;305;g3243a3cdda7_0_8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3243a3cdda7_0_8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312" name="Google Shape;312;g3243a3cdda7_0_8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4:notes"/>
          <p:cNvSpPr/>
          <p:nvPr>
            <p:ph idx="2" type="sldImg"/>
          </p:nvPr>
        </p:nvSpPr>
        <p:spPr>
          <a:xfrm>
            <a:off x="685800" y="1143000"/>
            <a:ext cx="54849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9" name="Google Shape;319;p4:notes"/>
          <p:cNvSpPr txBox="1"/>
          <p:nvPr>
            <p:ph idx="1" type="body"/>
          </p:nvPr>
        </p:nvSpPr>
        <p:spPr>
          <a:xfrm>
            <a:off x="685800" y="4400640"/>
            <a:ext cx="5486100" cy="36003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6" name="Google Shape;326;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6"/>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atin typeface="Roboto"/>
                <a:ea typeface="Roboto"/>
                <a:cs typeface="Roboto"/>
                <a:sym typeface="Roboto"/>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2" name="Google Shape;12;p6"/>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atin typeface="Roboto"/>
                <a:ea typeface="Roboto"/>
                <a:cs typeface="Roboto"/>
                <a:sym typeface="Robot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4" name="Shape 14"/>
        <p:cNvGrpSpPr/>
        <p:nvPr/>
      </p:nvGrpSpPr>
      <p:grpSpPr>
        <a:xfrm>
          <a:off x="0" y="0"/>
          <a:ext cx="0" cy="0"/>
          <a:chOff x="0" y="0"/>
          <a:chExt cx="0" cy="0"/>
        </a:xfrm>
      </p:grpSpPr>
      <p:sp>
        <p:nvSpPr>
          <p:cNvPr id="15" name="Google Shape;15;g14337fc5d25_0_22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6" name="Google Shape;16;g14337fc5d25_0_22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7" name="Google Shape;17;g14337fc5d25_0_2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2">
    <p:spTree>
      <p:nvGrpSpPr>
        <p:cNvPr id="18" name="Shape 18"/>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 name="Shape 19"/>
        <p:cNvGrpSpPr/>
        <p:nvPr/>
      </p:nvGrpSpPr>
      <p:grpSpPr>
        <a:xfrm>
          <a:off x="0" y="0"/>
          <a:ext cx="0" cy="0"/>
          <a:chOff x="0" y="0"/>
          <a:chExt cx="0" cy="0"/>
        </a:xfrm>
      </p:grpSpPr>
      <p:sp>
        <p:nvSpPr>
          <p:cNvPr id="20" name="Google Shape;20;g14337fc5d25_0_23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1" name="Google Shape;21;g14337fc5d25_0_2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2" name="Shape 22"/>
        <p:cNvGrpSpPr/>
        <p:nvPr/>
      </p:nvGrpSpPr>
      <p:grpSpPr>
        <a:xfrm>
          <a:off x="0" y="0"/>
          <a:ext cx="0" cy="0"/>
          <a:chOff x="0" y="0"/>
          <a:chExt cx="0" cy="0"/>
        </a:xfrm>
      </p:grpSpPr>
      <p:sp>
        <p:nvSpPr>
          <p:cNvPr id="23" name="Google Shape;23;g14337fc5d25_0_236"/>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atin typeface="Roboto"/>
                <a:ea typeface="Roboto"/>
                <a:cs typeface="Roboto"/>
                <a:sym typeface="Roboto"/>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24" name="Google Shape;24;g14337fc5d25_0_2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5" name="Shape 25"/>
        <p:cNvGrpSpPr/>
        <p:nvPr/>
      </p:nvGrpSpPr>
      <p:grpSpPr>
        <a:xfrm>
          <a:off x="0" y="0"/>
          <a:ext cx="0" cy="0"/>
          <a:chOff x="0" y="0"/>
          <a:chExt cx="0" cy="0"/>
        </a:xfrm>
      </p:grpSpPr>
      <p:sp>
        <p:nvSpPr>
          <p:cNvPr id="26" name="Google Shape;26;g14337fc5d25_0_23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27" name="Google Shape;27;g14337fc5d25_0_239"/>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atin typeface="Roboto"/>
                <a:ea typeface="Roboto"/>
                <a:cs typeface="Roboto"/>
                <a:sym typeface="Roboto"/>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28" name="Google Shape;28;g14337fc5d25_0_239"/>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atin typeface="Roboto"/>
                <a:ea typeface="Roboto"/>
                <a:cs typeface="Roboto"/>
                <a:sym typeface="Roboto"/>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29" name="Google Shape;29;g14337fc5d25_0_239"/>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30" name="Google Shape;30;g14337fc5d25_0_2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1" name="Shape 31"/>
        <p:cNvGrpSpPr/>
        <p:nvPr/>
      </p:nvGrpSpPr>
      <p:grpSpPr>
        <a:xfrm>
          <a:off x="0" y="0"/>
          <a:ext cx="0" cy="0"/>
          <a:chOff x="0" y="0"/>
          <a:chExt cx="0" cy="0"/>
        </a:xfrm>
      </p:grpSpPr>
      <p:sp>
        <p:nvSpPr>
          <p:cNvPr id="32" name="Google Shape;32;g14337fc5d25_0_245"/>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atin typeface="Roboto"/>
                <a:ea typeface="Roboto"/>
                <a:cs typeface="Roboto"/>
                <a:sym typeface="Roboto"/>
              </a:defRPr>
            </a:lvl1pPr>
          </a:lstStyle>
          <a:p/>
        </p:txBody>
      </p:sp>
      <p:sp>
        <p:nvSpPr>
          <p:cNvPr id="33" name="Google Shape;33;g14337fc5d25_0_2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4" name="Shape 34"/>
        <p:cNvGrpSpPr/>
        <p:nvPr/>
      </p:nvGrpSpPr>
      <p:grpSpPr>
        <a:xfrm>
          <a:off x="0" y="0"/>
          <a:ext cx="0" cy="0"/>
          <a:chOff x="0" y="0"/>
          <a:chExt cx="0" cy="0"/>
        </a:xfrm>
      </p:grpSpPr>
      <p:sp>
        <p:nvSpPr>
          <p:cNvPr id="35" name="Google Shape;35;g14337fc5d25_0_248"/>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atin typeface="Roboto"/>
                <a:ea typeface="Roboto"/>
                <a:cs typeface="Roboto"/>
                <a:sym typeface="Roboto"/>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36" name="Google Shape;36;g14337fc5d25_0_248"/>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atin typeface="Roboto"/>
                <a:ea typeface="Roboto"/>
                <a:cs typeface="Roboto"/>
                <a:sym typeface="Roboto"/>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37" name="Google Shape;37;g14337fc5d25_0_2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p:cSld name="4">
    <p:spTree>
      <p:nvGrpSpPr>
        <p:cNvPr id="38" name="Shape 38"/>
        <p:cNvGrpSpPr/>
        <p:nvPr/>
      </p:nvGrpSpPr>
      <p:grpSpPr>
        <a:xfrm>
          <a:off x="0" y="0"/>
          <a:ext cx="0" cy="0"/>
          <a:chOff x="0" y="0"/>
          <a:chExt cx="0" cy="0"/>
        </a:xfrm>
      </p:grpSpPr>
      <p:pic>
        <p:nvPicPr>
          <p:cNvPr descr="A close up of a logo&#10;&#10;Description generated with high confidence" id="39" name="Google Shape;39;g14337fc5d25_0_252"/>
          <p:cNvPicPr preferRelativeResize="0"/>
          <p:nvPr/>
        </p:nvPicPr>
        <p:blipFill rotWithShape="1">
          <a:blip r:embed="rId2">
            <a:alphaModFix/>
          </a:blip>
          <a:srcRect b="0" l="0" r="0" t="0"/>
          <a:stretch/>
        </p:blipFill>
        <p:spPr>
          <a:xfrm>
            <a:off x="7876800" y="183600"/>
            <a:ext cx="1022401" cy="766801"/>
          </a:xfrm>
          <a:prstGeom prst="rect">
            <a:avLst/>
          </a:prstGeom>
          <a:noFill/>
          <a:ln>
            <a:noFill/>
          </a:ln>
        </p:spPr>
      </p:pic>
      <p:sp>
        <p:nvSpPr>
          <p:cNvPr id="40" name="Google Shape;40;g14337fc5d25_0_252"/>
          <p:cNvSpPr/>
          <p:nvPr/>
        </p:nvSpPr>
        <p:spPr>
          <a:xfrm>
            <a:off x="894683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41" name="Google Shape;41;g14337fc5d25_0_252"/>
          <p:cNvSpPr/>
          <p:nvPr/>
        </p:nvSpPr>
        <p:spPr>
          <a:xfrm>
            <a:off x="887040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42" name="Google Shape;42;g14337fc5d25_0_252"/>
          <p:cNvSpPr/>
          <p:nvPr/>
        </p:nvSpPr>
        <p:spPr>
          <a:xfrm>
            <a:off x="879397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43" name="Google Shape;43;g14337fc5d25_0_252"/>
          <p:cNvSpPr/>
          <p:nvPr/>
        </p:nvSpPr>
        <p:spPr>
          <a:xfrm>
            <a:off x="871754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4" name="Shape 44"/>
        <p:cNvGrpSpPr/>
        <p:nvPr/>
      </p:nvGrpSpPr>
      <p:grpSpPr>
        <a:xfrm>
          <a:off x="0" y="0"/>
          <a:ext cx="0" cy="0"/>
          <a:chOff x="0" y="0"/>
          <a:chExt cx="0" cy="0"/>
        </a:xfrm>
      </p:grpSpPr>
      <p:sp>
        <p:nvSpPr>
          <p:cNvPr id="45" name="Google Shape;45;g31fef00ada2_0_129"/>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46" name="Google Shape;46;g31fef00ada2_0_129"/>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7" name="Google Shape;47;g31fef00ada2_0_129"/>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48" name="Google Shape;48;g31fef00ada2_0_129"/>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49" name="Google Shape;49;g31fef00ada2_0_129"/>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55" name="Shape 55"/>
        <p:cNvGrpSpPr/>
        <p:nvPr/>
      </p:nvGrpSpPr>
      <p:grpSpPr>
        <a:xfrm>
          <a:off x="0" y="0"/>
          <a:ext cx="0" cy="0"/>
          <a:chOff x="0" y="0"/>
          <a:chExt cx="0" cy="0"/>
        </a:xfrm>
      </p:grpSpPr>
      <p:sp>
        <p:nvSpPr>
          <p:cNvPr id="56" name="Google Shape;56;g14337fc5d25_0_84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7" name="Google Shape;57;g14337fc5d25_0_849"/>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58" name="Google Shape;58;g14337fc5d25_0_849"/>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59" name="Google Shape;59;g14337fc5d25_0_84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0" name="Shape 60"/>
        <p:cNvGrpSpPr/>
        <p:nvPr/>
      </p:nvGrpSpPr>
      <p:grpSpPr>
        <a:xfrm>
          <a:off x="0" y="0"/>
          <a:ext cx="0" cy="0"/>
          <a:chOff x="0" y="0"/>
          <a:chExt cx="0" cy="0"/>
        </a:xfrm>
      </p:grpSpPr>
      <p:sp>
        <p:nvSpPr>
          <p:cNvPr id="61" name="Google Shape;61;p7"/>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atin typeface="Roboto"/>
                <a:ea typeface="Roboto"/>
                <a:cs typeface="Roboto"/>
                <a:sym typeface="Roboto"/>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62" name="Google Shape;62;p7"/>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atin typeface="Roboto"/>
                <a:ea typeface="Roboto"/>
                <a:cs typeface="Roboto"/>
                <a:sym typeface="Robot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63" name="Google Shape;63;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2">
    <p:spTree>
      <p:nvGrpSpPr>
        <p:cNvPr id="64" name="Shape 64"/>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5" name="Shape 65"/>
        <p:cNvGrpSpPr/>
        <p:nvPr/>
      </p:nvGrpSpPr>
      <p:grpSpPr>
        <a:xfrm>
          <a:off x="0" y="0"/>
          <a:ext cx="0" cy="0"/>
          <a:chOff x="0" y="0"/>
          <a:chExt cx="0" cy="0"/>
        </a:xfrm>
      </p:grpSpPr>
      <p:sp>
        <p:nvSpPr>
          <p:cNvPr id="66" name="Google Shape;66;g14337fc5d25_0_842"/>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atin typeface="Roboto"/>
                <a:ea typeface="Roboto"/>
                <a:cs typeface="Roboto"/>
                <a:sym typeface="Roboto"/>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67" name="Google Shape;67;g14337fc5d25_0_8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8" name="Shape 68"/>
        <p:cNvGrpSpPr/>
        <p:nvPr/>
      </p:nvGrpSpPr>
      <p:grpSpPr>
        <a:xfrm>
          <a:off x="0" y="0"/>
          <a:ext cx="0" cy="0"/>
          <a:chOff x="0" y="0"/>
          <a:chExt cx="0" cy="0"/>
        </a:xfrm>
      </p:grpSpPr>
      <p:sp>
        <p:nvSpPr>
          <p:cNvPr id="69" name="Google Shape;69;g14337fc5d25_0_85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0" name="Google Shape;70;g14337fc5d25_0_85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1" name="Shape 71"/>
        <p:cNvGrpSpPr/>
        <p:nvPr/>
      </p:nvGrpSpPr>
      <p:grpSpPr>
        <a:xfrm>
          <a:off x="0" y="0"/>
          <a:ext cx="0" cy="0"/>
          <a:chOff x="0" y="0"/>
          <a:chExt cx="0" cy="0"/>
        </a:xfrm>
      </p:grpSpPr>
      <p:sp>
        <p:nvSpPr>
          <p:cNvPr id="72" name="Google Shape;72;g14337fc5d25_0_857"/>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atin typeface="Roboto"/>
                <a:ea typeface="Roboto"/>
                <a:cs typeface="Roboto"/>
                <a:sym typeface="Roboto"/>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73" name="Google Shape;73;g14337fc5d25_0_857"/>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atin typeface="Roboto"/>
                <a:ea typeface="Roboto"/>
                <a:cs typeface="Roboto"/>
                <a:sym typeface="Roboto"/>
              </a:defRPr>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74" name="Google Shape;74;g14337fc5d25_0_85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5" name="Shape 75"/>
        <p:cNvGrpSpPr/>
        <p:nvPr/>
      </p:nvGrpSpPr>
      <p:grpSpPr>
        <a:xfrm>
          <a:off x="0" y="0"/>
          <a:ext cx="0" cy="0"/>
          <a:chOff x="0" y="0"/>
          <a:chExt cx="0" cy="0"/>
        </a:xfrm>
      </p:grpSpPr>
      <p:sp>
        <p:nvSpPr>
          <p:cNvPr id="76" name="Google Shape;76;g14337fc5d25_0_861"/>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atin typeface="Roboto"/>
                <a:ea typeface="Roboto"/>
                <a:cs typeface="Roboto"/>
                <a:sym typeface="Roboto"/>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77" name="Google Shape;77;g14337fc5d25_0_86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78" name="Shape 78"/>
        <p:cNvGrpSpPr/>
        <p:nvPr/>
      </p:nvGrpSpPr>
      <p:grpSpPr>
        <a:xfrm>
          <a:off x="0" y="0"/>
          <a:ext cx="0" cy="0"/>
          <a:chOff x="0" y="0"/>
          <a:chExt cx="0" cy="0"/>
        </a:xfrm>
      </p:grpSpPr>
      <p:sp>
        <p:nvSpPr>
          <p:cNvPr id="79" name="Google Shape;79;g14337fc5d25_0_864"/>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80" name="Google Shape;80;g14337fc5d25_0_864"/>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atin typeface="Roboto"/>
                <a:ea typeface="Roboto"/>
                <a:cs typeface="Roboto"/>
                <a:sym typeface="Roboto"/>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81" name="Google Shape;81;g14337fc5d25_0_864"/>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atin typeface="Roboto"/>
                <a:ea typeface="Roboto"/>
                <a:cs typeface="Roboto"/>
                <a:sym typeface="Roboto"/>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2" name="Google Shape;82;g14337fc5d25_0_864"/>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83" name="Google Shape;83;g14337fc5d25_0_86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4" name="Shape 84"/>
        <p:cNvGrpSpPr/>
        <p:nvPr/>
      </p:nvGrpSpPr>
      <p:grpSpPr>
        <a:xfrm>
          <a:off x="0" y="0"/>
          <a:ext cx="0" cy="0"/>
          <a:chOff x="0" y="0"/>
          <a:chExt cx="0" cy="0"/>
        </a:xfrm>
      </p:grpSpPr>
      <p:sp>
        <p:nvSpPr>
          <p:cNvPr id="85" name="Google Shape;85;g14337fc5d25_0_870"/>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atin typeface="Roboto"/>
                <a:ea typeface="Roboto"/>
                <a:cs typeface="Roboto"/>
                <a:sym typeface="Roboto"/>
              </a:defRPr>
            </a:lvl1pPr>
          </a:lstStyle>
          <a:p/>
        </p:txBody>
      </p:sp>
      <p:sp>
        <p:nvSpPr>
          <p:cNvPr id="86" name="Google Shape;86;g14337fc5d25_0_87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7" name="Shape 87"/>
        <p:cNvGrpSpPr/>
        <p:nvPr/>
      </p:nvGrpSpPr>
      <p:grpSpPr>
        <a:xfrm>
          <a:off x="0" y="0"/>
          <a:ext cx="0" cy="0"/>
          <a:chOff x="0" y="0"/>
          <a:chExt cx="0" cy="0"/>
        </a:xfrm>
      </p:grpSpPr>
      <p:sp>
        <p:nvSpPr>
          <p:cNvPr id="88" name="Google Shape;88;g14337fc5d25_0_873"/>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atin typeface="Roboto"/>
                <a:ea typeface="Roboto"/>
                <a:cs typeface="Roboto"/>
                <a:sym typeface="Roboto"/>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89" name="Google Shape;89;g14337fc5d25_0_873"/>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atin typeface="Roboto"/>
                <a:ea typeface="Roboto"/>
                <a:cs typeface="Roboto"/>
                <a:sym typeface="Roboto"/>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90" name="Google Shape;90;g14337fc5d25_0_87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1" name="Shape 91"/>
        <p:cNvGrpSpPr/>
        <p:nvPr/>
      </p:nvGrpSpPr>
      <p:grpSpPr>
        <a:xfrm>
          <a:off x="0" y="0"/>
          <a:ext cx="0" cy="0"/>
          <a:chOff x="0" y="0"/>
          <a:chExt cx="0" cy="0"/>
        </a:xfrm>
      </p:grpSpPr>
      <p:sp>
        <p:nvSpPr>
          <p:cNvPr id="92" name="Google Shape;92;g14337fc5d25_0_87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7.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11" Type="http://schemas.openxmlformats.org/officeDocument/2006/relationships/slideLayout" Target="../slideLayouts/slideLayout10.xml"/><Relationship Id="rId10" Type="http://schemas.openxmlformats.org/officeDocument/2006/relationships/slideLayout" Target="../slideLayouts/slideLayout9.xml"/><Relationship Id="rId12" Type="http://schemas.openxmlformats.org/officeDocument/2006/relationships/theme" Target="../theme/theme2.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0.xml"/><Relationship Id="rId10" Type="http://schemas.openxmlformats.org/officeDocument/2006/relationships/slideLayout" Target="../slideLayouts/slideLayout19.xml"/><Relationship Id="rId13" Type="http://schemas.openxmlformats.org/officeDocument/2006/relationships/theme" Target="../theme/theme1.xml"/><Relationship Id="rId12" Type="http://schemas.openxmlformats.org/officeDocument/2006/relationships/slideLayout" Target="../slideLayouts/slideLayout21.xml"/><Relationship Id="rId1" Type="http://schemas.openxmlformats.org/officeDocument/2006/relationships/image" Target="../media/image7.jpg"/><Relationship Id="rId2" Type="http://schemas.openxmlformats.org/officeDocument/2006/relationships/slideLayout" Target="../slideLayouts/slideLayout11.xml"/><Relationship Id="rId3" Type="http://schemas.openxmlformats.org/officeDocument/2006/relationships/slideLayout" Target="../slideLayouts/slideLayout12.xml"/><Relationship Id="rId4" Type="http://schemas.openxmlformats.org/officeDocument/2006/relationships/slideLayout" Target="../slideLayouts/slideLayout13.xml"/><Relationship Id="rId9" Type="http://schemas.openxmlformats.org/officeDocument/2006/relationships/slideLayout" Target="../slideLayouts/slideLayout18.xml"/><Relationship Id="rId5" Type="http://schemas.openxmlformats.org/officeDocument/2006/relationships/slideLayout" Target="../slideLayouts/slideLayout14.xml"/><Relationship Id="rId6" Type="http://schemas.openxmlformats.org/officeDocument/2006/relationships/slideLayout" Target="../slideLayouts/slideLayout15.xml"/><Relationship Id="rId7" Type="http://schemas.openxmlformats.org/officeDocument/2006/relationships/slideLayout" Target="../slideLayouts/slideLayout16.xml"/><Relationship Id="rId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g14337fc5d25_0_22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g14337fc5d25_0_22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g14337fc5d25_0_2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pic>
        <p:nvPicPr>
          <p:cNvPr id="9" name="Google Shape;9;g14337fc5d25_0_224"/>
          <p:cNvPicPr preferRelativeResize="0"/>
          <p:nvPr/>
        </p:nvPicPr>
        <p:blipFill rotWithShape="1">
          <a:blip r:embed="rId1">
            <a:alphaModFix/>
          </a:blip>
          <a:srcRect b="0" l="0" r="0" t="0"/>
          <a:stretch/>
        </p:blipFill>
        <p:spPr>
          <a:xfrm>
            <a:off x="-1" y="7219"/>
            <a:ext cx="9144001" cy="513628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g14337fc5d25_0_83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52" name="Google Shape;52;g14337fc5d25_0_83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53" name="Google Shape;53;g14337fc5d25_0_8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pic>
        <p:nvPicPr>
          <p:cNvPr id="54" name="Google Shape;54;g14337fc5d25_0_837"/>
          <p:cNvPicPr preferRelativeResize="0"/>
          <p:nvPr/>
        </p:nvPicPr>
        <p:blipFill rotWithShape="1">
          <a:blip r:embed="rId1">
            <a:alphaModFix/>
          </a:blip>
          <a:srcRect b="0" l="0" r="0" t="0"/>
          <a:stretch/>
        </p:blipFill>
        <p:spPr>
          <a:xfrm>
            <a:off x="-1" y="7219"/>
            <a:ext cx="9144003" cy="513628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 Id="rId4" Type="http://schemas.openxmlformats.org/officeDocument/2006/relationships/image" Target="../media/image5.png"/><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7.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2.xml"/><Relationship Id="rId3" Type="http://schemas.openxmlformats.org/officeDocument/2006/relationships/image" Target="../media/image6.png"/><Relationship Id="rId4" Type="http://schemas.openxmlformats.org/officeDocument/2006/relationships/hyperlink" Target="https://learn.codemithra.com/"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 Id="rId3" Type="http://schemas.openxmlformats.org/officeDocument/2006/relationships/image" Target="../media/image13.jpg"/><Relationship Id="rId4" Type="http://schemas.openxmlformats.org/officeDocument/2006/relationships/image" Target="../media/image4.png"/><Relationship Id="rId5" Type="http://schemas.openxmlformats.org/officeDocument/2006/relationships/image" Target="../media/image12.png"/><Relationship Id="rId6"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2"/>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98" name="Google Shape;98;p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342900" lvl="0" marL="457200" rtl="0" algn="ctr">
              <a:lnSpc>
                <a:spcPct val="100000"/>
              </a:lnSpc>
              <a:spcBef>
                <a:spcPts val="0"/>
              </a:spcBef>
              <a:spcAft>
                <a:spcPts val="0"/>
              </a:spcAft>
              <a:buSzPts val="2800"/>
              <a:buNone/>
            </a:pPr>
            <a:r>
              <a:t/>
            </a:r>
            <a:endParaRPr/>
          </a:p>
        </p:txBody>
      </p:sp>
      <p:pic>
        <p:nvPicPr>
          <p:cNvPr id="99" name="Google Shape;99;p2"/>
          <p:cNvPicPr preferRelativeResize="0"/>
          <p:nvPr/>
        </p:nvPicPr>
        <p:blipFill rotWithShape="1">
          <a:blip r:embed="rId3">
            <a:alphaModFix/>
          </a:blip>
          <a:srcRect b="0" l="0" r="0" t="0"/>
          <a:stretch/>
        </p:blipFill>
        <p:spPr>
          <a:xfrm>
            <a:off x="2" y="4"/>
            <a:ext cx="9144003" cy="5143501"/>
          </a:xfrm>
          <a:prstGeom prst="rect">
            <a:avLst/>
          </a:prstGeom>
          <a:noFill/>
          <a:ln>
            <a:noFill/>
          </a:ln>
        </p:spPr>
      </p:pic>
      <p:pic>
        <p:nvPicPr>
          <p:cNvPr id="100" name="Google Shape;100;p2"/>
          <p:cNvPicPr preferRelativeResize="0"/>
          <p:nvPr/>
        </p:nvPicPr>
        <p:blipFill rotWithShape="1">
          <a:blip r:embed="rId4">
            <a:alphaModFix/>
          </a:blip>
          <a:srcRect b="0" l="0" r="0" t="0"/>
          <a:stretch/>
        </p:blipFill>
        <p:spPr>
          <a:xfrm>
            <a:off x="2504604" y="600291"/>
            <a:ext cx="4134799" cy="2923400"/>
          </a:xfrm>
          <a:prstGeom prst="rect">
            <a:avLst/>
          </a:prstGeom>
          <a:noFill/>
          <a:ln>
            <a:noFill/>
          </a:ln>
        </p:spPr>
      </p:pic>
      <p:pic>
        <p:nvPicPr>
          <p:cNvPr id="101" name="Google Shape;101;p2"/>
          <p:cNvPicPr preferRelativeResize="0"/>
          <p:nvPr/>
        </p:nvPicPr>
        <p:blipFill rotWithShape="1">
          <a:blip r:embed="rId5">
            <a:alphaModFix/>
          </a:blip>
          <a:srcRect b="0" l="0" r="0" t="0"/>
          <a:stretch/>
        </p:blipFill>
        <p:spPr>
          <a:xfrm>
            <a:off x="2200054" y="3386141"/>
            <a:ext cx="4743901" cy="11570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107" name="Google Shape;107;p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108" name="Google Shape;108;p3"/>
          <p:cNvPicPr preferRelativeResize="0"/>
          <p:nvPr/>
        </p:nvPicPr>
        <p:blipFill rotWithShape="1">
          <a:blip r:embed="rId3">
            <a:alphaModFix/>
          </a:blip>
          <a:srcRect b="0" l="0" r="0" t="0"/>
          <a:stretch/>
        </p:blipFill>
        <p:spPr>
          <a:xfrm>
            <a:off x="2" y="4"/>
            <a:ext cx="9144003" cy="5143501"/>
          </a:xfrm>
          <a:prstGeom prst="rect">
            <a:avLst/>
          </a:prstGeom>
          <a:noFill/>
          <a:ln>
            <a:noFill/>
          </a:ln>
        </p:spPr>
      </p:pic>
      <p:sp>
        <p:nvSpPr>
          <p:cNvPr id="109" name="Google Shape;109;p3"/>
          <p:cNvSpPr txBox="1"/>
          <p:nvPr/>
        </p:nvSpPr>
        <p:spPr>
          <a:xfrm>
            <a:off x="140951" y="2260382"/>
            <a:ext cx="46908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6000"/>
              <a:buFont typeface="Arial"/>
              <a:buNone/>
            </a:pPr>
            <a:r>
              <a:rPr b="1" i="0" lang="en-GB" sz="2000" u="none" cap="none" strike="noStrike">
                <a:solidFill>
                  <a:schemeClr val="lt1"/>
                </a:solidFill>
                <a:latin typeface="Times New Roman"/>
                <a:ea typeface="Times New Roman"/>
                <a:cs typeface="Times New Roman"/>
                <a:sym typeface="Times New Roman"/>
              </a:rPr>
              <a:t>LOOP DETECTION</a:t>
            </a:r>
            <a:endParaRPr b="1" i="0" sz="2000" u="none" cap="none" strike="noStrike">
              <a:solidFill>
                <a:schemeClr val="lt1"/>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g14337fc5d25_0_216"/>
          <p:cNvSpPr txBox="1"/>
          <p:nvPr/>
        </p:nvSpPr>
        <p:spPr>
          <a:xfrm>
            <a:off x="1922421" y="445600"/>
            <a:ext cx="48918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LINKED LIST</a:t>
            </a:r>
            <a:endParaRPr b="0" i="0" sz="1700" u="none" cap="none" strike="noStrike">
              <a:solidFill>
                <a:srgbClr val="6D9EEB"/>
              </a:solidFill>
              <a:latin typeface="Roboto Black"/>
              <a:ea typeface="Roboto Black"/>
              <a:cs typeface="Roboto Black"/>
              <a:sym typeface="Roboto Black"/>
            </a:endParaRPr>
          </a:p>
        </p:txBody>
      </p:sp>
      <p:sp>
        <p:nvSpPr>
          <p:cNvPr id="115" name="Google Shape;115;g14337fc5d25_0_216"/>
          <p:cNvSpPr txBox="1"/>
          <p:nvPr/>
        </p:nvSpPr>
        <p:spPr>
          <a:xfrm>
            <a:off x="376926" y="1024630"/>
            <a:ext cx="7763100" cy="1248900"/>
          </a:xfrm>
          <a:prstGeom prst="rect">
            <a:avLst/>
          </a:prstGeom>
          <a:noFill/>
          <a:ln>
            <a:noFill/>
          </a:ln>
        </p:spPr>
        <p:txBody>
          <a:bodyPr anchorCtr="0" anchor="t" bIns="45700" lIns="91425" spcFirstLastPara="1" rIns="91425" wrap="square" tIns="45700">
            <a:normAutofit/>
          </a:bodyPr>
          <a:lstStyle/>
          <a:p>
            <a:pPr indent="-215900" lvl="0" marL="228600" marR="0" rtl="0" algn="l">
              <a:lnSpc>
                <a:spcPct val="150000"/>
              </a:lnSpc>
              <a:spcBef>
                <a:spcPts val="0"/>
              </a:spcBef>
              <a:spcAft>
                <a:spcPts val="0"/>
              </a:spcAft>
              <a:buClr>
                <a:srgbClr val="000000"/>
              </a:buClr>
              <a:buSzPts val="1600"/>
              <a:buFont typeface="Arial"/>
              <a:buChar char="•"/>
            </a:pPr>
            <a:r>
              <a:rPr b="0" i="0" lang="en-GB" sz="1600" u="none" cap="none" strike="noStrike">
                <a:solidFill>
                  <a:srgbClr val="000000"/>
                </a:solidFill>
                <a:latin typeface="Consolas"/>
                <a:ea typeface="Consolas"/>
                <a:cs typeface="Consolas"/>
                <a:sym typeface="Consolas"/>
              </a:rPr>
              <a:t>A linked list is a collection of nodes that organize and store elements.</a:t>
            </a:r>
            <a:endParaRPr b="0" i="0" sz="1600" u="none" cap="none" strike="noStrike">
              <a:solidFill>
                <a:srgbClr val="000000"/>
              </a:solidFill>
              <a:latin typeface="Arial"/>
              <a:ea typeface="Arial"/>
              <a:cs typeface="Arial"/>
              <a:sym typeface="Arial"/>
            </a:endParaRPr>
          </a:p>
        </p:txBody>
      </p:sp>
      <p:sp>
        <p:nvSpPr>
          <p:cNvPr id="116" name="Google Shape;116;g14337fc5d25_0_216"/>
          <p:cNvSpPr txBox="1"/>
          <p:nvPr/>
        </p:nvSpPr>
        <p:spPr>
          <a:xfrm>
            <a:off x="376925" y="1860786"/>
            <a:ext cx="6945600" cy="1163100"/>
          </a:xfrm>
          <a:prstGeom prst="rect">
            <a:avLst/>
          </a:prstGeom>
          <a:noFill/>
          <a:ln>
            <a:noFill/>
          </a:ln>
        </p:spPr>
        <p:txBody>
          <a:bodyPr anchorCtr="0" anchor="t" bIns="45700" lIns="91425" spcFirstLastPara="1" rIns="91425" wrap="square" tIns="45700">
            <a:noAutofit/>
          </a:bodyPr>
          <a:lstStyle/>
          <a:p>
            <a:pPr indent="-215900" lvl="0" marL="228600" marR="0" rtl="0" algn="l">
              <a:lnSpc>
                <a:spcPct val="150000"/>
              </a:lnSpc>
              <a:spcBef>
                <a:spcPts val="0"/>
              </a:spcBef>
              <a:spcAft>
                <a:spcPts val="0"/>
              </a:spcAft>
              <a:buClr>
                <a:srgbClr val="000000"/>
              </a:buClr>
              <a:buSzPts val="1600"/>
              <a:buFont typeface="Arial"/>
              <a:buChar char="•"/>
            </a:pPr>
            <a:r>
              <a:rPr b="0" i="0" lang="en-GB" sz="1600" u="none" cap="none" strike="noStrike">
                <a:solidFill>
                  <a:srgbClr val="000000"/>
                </a:solidFill>
                <a:latin typeface="Consolas"/>
                <a:ea typeface="Consolas"/>
                <a:cs typeface="Consolas"/>
                <a:sym typeface="Consolas"/>
              </a:rPr>
              <a:t>Unlike arrays, which use a contiguous block of memory to store elements, linked lists use a series of nodes.</a:t>
            </a:r>
            <a:endParaRPr b="0" i="0" sz="1600" u="none" cap="none" strike="noStrike">
              <a:solidFill>
                <a:srgbClr val="000000"/>
              </a:solidFill>
              <a:latin typeface="Arial"/>
              <a:ea typeface="Arial"/>
              <a:cs typeface="Arial"/>
              <a:sym typeface="Arial"/>
            </a:endParaRPr>
          </a:p>
          <a:p>
            <a:pPr indent="0" lvl="0" marL="0" marR="0" rtl="0" algn="l">
              <a:lnSpc>
                <a:spcPct val="150000"/>
              </a:lnSpc>
              <a:spcBef>
                <a:spcPts val="1000"/>
              </a:spcBef>
              <a:spcAft>
                <a:spcPts val="0"/>
              </a:spcAft>
              <a:buClr>
                <a:srgbClr val="000000"/>
              </a:buClr>
              <a:buSzPts val="2800"/>
              <a:buFont typeface="Arial"/>
              <a:buNone/>
            </a:pPr>
            <a:r>
              <a:t/>
            </a:r>
            <a:endParaRPr b="0" i="0" sz="1600" u="none" cap="none" strike="noStrike">
              <a:solidFill>
                <a:srgbClr val="000000"/>
              </a:solidFill>
              <a:latin typeface="Calibri"/>
              <a:ea typeface="Calibri"/>
              <a:cs typeface="Calibri"/>
              <a:sym typeface="Calibri"/>
            </a:endParaRPr>
          </a:p>
        </p:txBody>
      </p:sp>
      <p:sp>
        <p:nvSpPr>
          <p:cNvPr id="117" name="Google Shape;117;g14337fc5d25_0_216"/>
          <p:cNvSpPr txBox="1"/>
          <p:nvPr/>
        </p:nvSpPr>
        <p:spPr>
          <a:xfrm>
            <a:off x="376925" y="3124677"/>
            <a:ext cx="7394400" cy="1248900"/>
          </a:xfrm>
          <a:prstGeom prst="rect">
            <a:avLst/>
          </a:prstGeom>
          <a:noFill/>
          <a:ln>
            <a:noFill/>
          </a:ln>
        </p:spPr>
        <p:txBody>
          <a:bodyPr anchorCtr="0" anchor="t" bIns="45700" lIns="91425" spcFirstLastPara="1" rIns="91425" wrap="square" tIns="45700">
            <a:noAutofit/>
          </a:bodyPr>
          <a:lstStyle/>
          <a:p>
            <a:pPr indent="-215900" lvl="0" marL="228600" marR="0" rtl="0" algn="l">
              <a:lnSpc>
                <a:spcPct val="150000"/>
              </a:lnSpc>
              <a:spcBef>
                <a:spcPts val="0"/>
              </a:spcBef>
              <a:spcAft>
                <a:spcPts val="0"/>
              </a:spcAft>
              <a:buClr>
                <a:srgbClr val="000000"/>
              </a:buClr>
              <a:buSzPts val="1600"/>
              <a:buFont typeface="Arial"/>
              <a:buChar char="•"/>
            </a:pPr>
            <a:r>
              <a:rPr b="0" i="0" lang="en-GB" sz="1600" u="none" cap="none" strike="noStrike">
                <a:solidFill>
                  <a:srgbClr val="000000"/>
                </a:solidFill>
                <a:latin typeface="Consolas"/>
                <a:ea typeface="Consolas"/>
                <a:cs typeface="Consolas"/>
                <a:sym typeface="Consolas"/>
              </a:rPr>
              <a:t>This structure allows for efficient insertion and deletion of elements at any position within the list but may result in slower random access times.</a:t>
            </a:r>
            <a:endParaRPr b="0" i="0" sz="1600" u="none" cap="none" strike="noStrike">
              <a:solidFill>
                <a:srgbClr val="000000"/>
              </a:solidFill>
              <a:latin typeface="Calibri"/>
              <a:ea typeface="Calibri"/>
              <a:cs typeface="Calibri"/>
              <a:sym typeface="Calibri"/>
            </a:endParaRPr>
          </a:p>
          <a:p>
            <a:pPr indent="0" lvl="0" marL="0" marR="0" rtl="0" algn="l">
              <a:lnSpc>
                <a:spcPct val="150000"/>
              </a:lnSpc>
              <a:spcBef>
                <a:spcPts val="1000"/>
              </a:spcBef>
              <a:spcAft>
                <a:spcPts val="0"/>
              </a:spcAft>
              <a:buClr>
                <a:srgbClr val="000000"/>
              </a:buClr>
              <a:buSzPts val="1600"/>
              <a:buFont typeface="Arial"/>
              <a:buNone/>
            </a:pPr>
            <a:r>
              <a:t/>
            </a:r>
            <a:endParaRPr b="0" i="0" sz="1600" u="none" cap="none" strike="noStrike">
              <a:solidFill>
                <a:srgbClr val="000000"/>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g32036c06824_0_3"/>
          <p:cNvSpPr txBox="1"/>
          <p:nvPr/>
        </p:nvSpPr>
        <p:spPr>
          <a:xfrm>
            <a:off x="1922421" y="445600"/>
            <a:ext cx="48918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LINKED LIST</a:t>
            </a:r>
            <a:endParaRPr b="0" i="0" sz="1700" u="none" cap="none" strike="noStrike">
              <a:solidFill>
                <a:srgbClr val="6D9EEB"/>
              </a:solidFill>
              <a:latin typeface="Roboto Black"/>
              <a:ea typeface="Roboto Black"/>
              <a:cs typeface="Roboto Black"/>
              <a:sym typeface="Roboto Black"/>
            </a:endParaRPr>
          </a:p>
        </p:txBody>
      </p:sp>
      <p:pic>
        <p:nvPicPr>
          <p:cNvPr id="123" name="Google Shape;123;g32036c06824_0_3"/>
          <p:cNvPicPr preferRelativeResize="0"/>
          <p:nvPr/>
        </p:nvPicPr>
        <p:blipFill rotWithShape="1">
          <a:blip r:embed="rId3">
            <a:alphaModFix/>
          </a:blip>
          <a:srcRect b="11515" l="1579" r="-1578" t="26602"/>
          <a:stretch/>
        </p:blipFill>
        <p:spPr>
          <a:xfrm>
            <a:off x="910758" y="1087713"/>
            <a:ext cx="6915150" cy="29680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g32036c06824_0_19"/>
          <p:cNvSpPr txBox="1"/>
          <p:nvPr/>
        </p:nvSpPr>
        <p:spPr>
          <a:xfrm>
            <a:off x="1922421" y="445600"/>
            <a:ext cx="48918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LINKED LIST-STRUCTURE</a:t>
            </a:r>
            <a:endParaRPr b="0" i="0" sz="1700" u="none" cap="none" strike="noStrike">
              <a:solidFill>
                <a:srgbClr val="6D9EEB"/>
              </a:solidFill>
              <a:latin typeface="Roboto Black"/>
              <a:ea typeface="Roboto Black"/>
              <a:cs typeface="Roboto Black"/>
              <a:sym typeface="Roboto Black"/>
            </a:endParaRPr>
          </a:p>
        </p:txBody>
      </p:sp>
      <p:sp>
        <p:nvSpPr>
          <p:cNvPr id="129" name="Google Shape;129;g32036c06824_0_19"/>
          <p:cNvSpPr txBox="1"/>
          <p:nvPr/>
        </p:nvSpPr>
        <p:spPr>
          <a:xfrm>
            <a:off x="459326" y="894700"/>
            <a:ext cx="7861800" cy="1248900"/>
          </a:xfrm>
          <a:prstGeom prst="rect">
            <a:avLst/>
          </a:prstGeom>
          <a:noFill/>
          <a:ln>
            <a:noFill/>
          </a:ln>
        </p:spPr>
        <p:txBody>
          <a:bodyPr anchorCtr="0" anchor="t" bIns="45700" lIns="91425" spcFirstLastPara="1" rIns="91425" wrap="square" tIns="45700">
            <a:normAutofit fontScale="25000" lnSpcReduction="20000"/>
          </a:bodyPr>
          <a:lstStyle/>
          <a:p>
            <a:pPr indent="0" lvl="0" marL="0" marR="0" rtl="0" algn="l">
              <a:lnSpc>
                <a:spcPct val="170000"/>
              </a:lnSpc>
              <a:spcBef>
                <a:spcPts val="0"/>
              </a:spcBef>
              <a:spcAft>
                <a:spcPts val="0"/>
              </a:spcAft>
              <a:buClr>
                <a:srgbClr val="000000"/>
              </a:buClr>
              <a:buSzPct val="100000"/>
              <a:buFont typeface="Arial"/>
              <a:buNone/>
            </a:pPr>
            <a:r>
              <a:rPr b="0" i="0" lang="en-GB" sz="6400" u="none" cap="none" strike="noStrike">
                <a:solidFill>
                  <a:srgbClr val="000000"/>
                </a:solidFill>
                <a:latin typeface="Consolas"/>
                <a:ea typeface="Consolas"/>
                <a:cs typeface="Consolas"/>
                <a:sym typeface="Consolas"/>
              </a:rPr>
              <a:t>1. Node: Each node in a linked list contains two fields:</a:t>
            </a:r>
            <a:endParaRPr b="0" i="0" sz="1400" u="none" cap="none" strike="noStrike">
              <a:solidFill>
                <a:srgbClr val="000000"/>
              </a:solidFill>
              <a:latin typeface="Arial"/>
              <a:ea typeface="Arial"/>
              <a:cs typeface="Arial"/>
              <a:sym typeface="Arial"/>
            </a:endParaRPr>
          </a:p>
          <a:p>
            <a:pPr indent="0" lvl="0" marL="0" marR="0" rtl="0" algn="l">
              <a:lnSpc>
                <a:spcPct val="170000"/>
              </a:lnSpc>
              <a:spcBef>
                <a:spcPts val="1000"/>
              </a:spcBef>
              <a:spcAft>
                <a:spcPts val="0"/>
              </a:spcAft>
              <a:buClr>
                <a:srgbClr val="000000"/>
              </a:buClr>
              <a:buSzPct val="100000"/>
              <a:buFont typeface="Arial"/>
              <a:buNone/>
            </a:pPr>
            <a:r>
              <a:rPr b="0" i="0" lang="en-GB" sz="6400" u="none" cap="none" strike="noStrike">
                <a:solidFill>
                  <a:srgbClr val="000000"/>
                </a:solidFill>
                <a:latin typeface="Consolas"/>
                <a:ea typeface="Consolas"/>
                <a:cs typeface="Consolas"/>
                <a:sym typeface="Consolas"/>
              </a:rPr>
              <a:t>   	Data: This field stores the actual data or values you want in the list.</a:t>
            </a:r>
            <a:endParaRPr b="0" i="0" sz="1400" u="none" cap="none" strike="noStrike">
              <a:solidFill>
                <a:srgbClr val="000000"/>
              </a:solidFill>
              <a:latin typeface="Arial"/>
              <a:ea typeface="Arial"/>
              <a:cs typeface="Arial"/>
              <a:sym typeface="Arial"/>
            </a:endParaRPr>
          </a:p>
          <a:p>
            <a:pPr indent="0" lvl="0" marL="0" marR="0" rtl="0" algn="l">
              <a:lnSpc>
                <a:spcPct val="170000"/>
              </a:lnSpc>
              <a:spcBef>
                <a:spcPts val="1000"/>
              </a:spcBef>
              <a:spcAft>
                <a:spcPts val="0"/>
              </a:spcAft>
              <a:buClr>
                <a:srgbClr val="000000"/>
              </a:buClr>
              <a:buSzPct val="100000"/>
              <a:buFont typeface="Arial"/>
              <a:buNone/>
            </a:pPr>
            <a:r>
              <a:rPr b="0" i="0" lang="en-GB" sz="6400" u="none" cap="none" strike="noStrike">
                <a:solidFill>
                  <a:srgbClr val="000000"/>
                </a:solidFill>
                <a:latin typeface="Consolas"/>
                <a:ea typeface="Consolas"/>
                <a:cs typeface="Consolas"/>
                <a:sym typeface="Consolas"/>
              </a:rPr>
              <a:t>   	Next (or Link): This field contains a reference (a pointer or link) to the next node in the sequence</a:t>
            </a:r>
            <a:endParaRPr b="0" i="0" sz="1400" u="none" cap="none" strike="noStrike">
              <a:solidFill>
                <a:srgbClr val="000000"/>
              </a:solidFill>
              <a:latin typeface="Arial"/>
              <a:ea typeface="Arial"/>
              <a:cs typeface="Arial"/>
              <a:sym typeface="Arial"/>
            </a:endParaRPr>
          </a:p>
          <a:p>
            <a:pPr indent="-228600" lvl="0" marL="228600" marR="0" rtl="0" algn="l">
              <a:lnSpc>
                <a:spcPct val="200000"/>
              </a:lnSpc>
              <a:spcBef>
                <a:spcPts val="1000"/>
              </a:spcBef>
              <a:spcAft>
                <a:spcPts val="0"/>
              </a:spcAft>
              <a:buClr>
                <a:srgbClr val="000000"/>
              </a:buClr>
              <a:buSzPct val="100000"/>
              <a:buFont typeface="Arial"/>
              <a:buChar char="•"/>
            </a:pPr>
            <a:r>
              <a:rPr b="0" i="0" lang="en-GB" sz="1800" u="none" cap="none" strike="noStrike">
                <a:solidFill>
                  <a:srgbClr val="000000"/>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p:txBody>
      </p:sp>
      <p:sp>
        <p:nvSpPr>
          <p:cNvPr id="130" name="Google Shape;130;g32036c06824_0_19"/>
          <p:cNvSpPr txBox="1"/>
          <p:nvPr/>
        </p:nvSpPr>
        <p:spPr>
          <a:xfrm>
            <a:off x="507427" y="2968150"/>
            <a:ext cx="7861800" cy="1163100"/>
          </a:xfrm>
          <a:prstGeom prst="rect">
            <a:avLst/>
          </a:prstGeom>
          <a:noFill/>
          <a:ln>
            <a:noFill/>
          </a:ln>
        </p:spPr>
        <p:txBody>
          <a:bodyPr anchorCtr="0" anchor="t" bIns="45700" lIns="91425" spcFirstLastPara="1" rIns="91425" wrap="square" tIns="45700">
            <a:normAutofit lnSpcReduction="20000"/>
          </a:bodyPr>
          <a:lstStyle/>
          <a:p>
            <a:pPr indent="0" lvl="0" marL="0" marR="0" rtl="0" algn="l">
              <a:lnSpc>
                <a:spcPct val="150000"/>
              </a:lnSpc>
              <a:spcBef>
                <a:spcPts val="0"/>
              </a:spcBef>
              <a:spcAft>
                <a:spcPts val="0"/>
              </a:spcAft>
              <a:buClr>
                <a:srgbClr val="000000"/>
              </a:buClr>
              <a:buSzPts val="1600"/>
              <a:buFont typeface="Arial"/>
              <a:buNone/>
            </a:pPr>
            <a:r>
              <a:rPr b="0" i="0" lang="en-GB" sz="1600" u="none" cap="none" strike="noStrike">
                <a:solidFill>
                  <a:srgbClr val="000000"/>
                </a:solidFill>
                <a:latin typeface="Consolas"/>
                <a:ea typeface="Consolas"/>
                <a:cs typeface="Consolas"/>
                <a:sym typeface="Consolas"/>
              </a:rPr>
              <a:t>2. Head: The head of the linked list refers to the first node in the list. It is the starting point for traversing the list.</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1000"/>
              </a:spcBef>
              <a:spcAft>
                <a:spcPts val="0"/>
              </a:spcAft>
              <a:buClr>
                <a:srgbClr val="000000"/>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131" name="Google Shape;131;g32036c06824_0_19"/>
          <p:cNvSpPr txBox="1"/>
          <p:nvPr/>
        </p:nvSpPr>
        <p:spPr>
          <a:xfrm>
            <a:off x="507428" y="3674575"/>
            <a:ext cx="7861800" cy="1248900"/>
          </a:xfrm>
          <a:prstGeom prst="rect">
            <a:avLst/>
          </a:prstGeom>
          <a:noFill/>
          <a:ln>
            <a:noFill/>
          </a:ln>
        </p:spPr>
        <p:txBody>
          <a:bodyPr anchorCtr="0" anchor="t" bIns="45700" lIns="91425" spcFirstLastPara="1" rIns="91425" wrap="square" tIns="45700">
            <a:normAutofit/>
          </a:bodyPr>
          <a:lstStyle/>
          <a:p>
            <a:pPr indent="0" lvl="0" marL="0" marR="0" rtl="0" algn="l">
              <a:lnSpc>
                <a:spcPct val="150000"/>
              </a:lnSpc>
              <a:spcBef>
                <a:spcPts val="0"/>
              </a:spcBef>
              <a:spcAft>
                <a:spcPts val="0"/>
              </a:spcAft>
              <a:buClr>
                <a:srgbClr val="000000"/>
              </a:buClr>
              <a:buSzPts val="1600"/>
              <a:buFont typeface="Arial"/>
              <a:buNone/>
            </a:pPr>
            <a:r>
              <a:rPr b="0" i="0" lang="en-GB" sz="1600" u="none" cap="none" strike="noStrike">
                <a:solidFill>
                  <a:srgbClr val="000000"/>
                </a:solidFill>
                <a:latin typeface="Consolas"/>
                <a:ea typeface="Consolas"/>
                <a:cs typeface="Consolas"/>
                <a:sym typeface="Consolas"/>
              </a:rPr>
              <a:t>3. Tail: In some cases, linked lists may have a tail pointer, which refers to the last node in the list. </a:t>
            </a:r>
            <a:endParaRPr b="0" i="0" sz="2800" u="none" cap="none" strike="noStrike">
              <a:solidFill>
                <a:srgbClr val="000000"/>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g32036c06824_0_29"/>
          <p:cNvSpPr txBox="1"/>
          <p:nvPr/>
        </p:nvSpPr>
        <p:spPr>
          <a:xfrm>
            <a:off x="1922421" y="445600"/>
            <a:ext cx="48918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LINKED LIST</a:t>
            </a:r>
            <a:endParaRPr b="0" i="0" sz="1700" u="none" cap="none" strike="noStrike">
              <a:solidFill>
                <a:srgbClr val="6D9EEB"/>
              </a:solidFill>
              <a:latin typeface="Roboto Black"/>
              <a:ea typeface="Roboto Black"/>
              <a:cs typeface="Roboto Black"/>
              <a:sym typeface="Roboto Black"/>
            </a:endParaRPr>
          </a:p>
        </p:txBody>
      </p:sp>
      <p:sp>
        <p:nvSpPr>
          <p:cNvPr id="137" name="Google Shape;137;g32036c06824_0_29"/>
          <p:cNvSpPr txBox="1"/>
          <p:nvPr/>
        </p:nvSpPr>
        <p:spPr>
          <a:xfrm>
            <a:off x="265475" y="907650"/>
            <a:ext cx="1258500" cy="524700"/>
          </a:xfrm>
          <a:prstGeom prst="rect">
            <a:avLst/>
          </a:prstGeom>
          <a:noFill/>
          <a:ln>
            <a:noFill/>
          </a:ln>
        </p:spPr>
        <p:txBody>
          <a:bodyPr anchorCtr="0" anchor="t" bIns="45700" lIns="91425" spcFirstLastPara="1" rIns="91425" wrap="square" tIns="45700">
            <a:normAutofit/>
          </a:bodyPr>
          <a:lstStyle/>
          <a:p>
            <a:pPr indent="0" lvl="0" marL="0" marR="0" rtl="0" algn="l">
              <a:lnSpc>
                <a:spcPct val="200000"/>
              </a:lnSpc>
              <a:spcBef>
                <a:spcPts val="0"/>
              </a:spcBef>
              <a:spcAft>
                <a:spcPts val="0"/>
              </a:spcAft>
              <a:buClr>
                <a:srgbClr val="000000"/>
              </a:buClr>
              <a:buSzPts val="1800"/>
              <a:buFont typeface="Arial"/>
              <a:buNone/>
            </a:pPr>
            <a:r>
              <a:rPr b="0" i="0" lang="en-GB" sz="1800" u="none" cap="none" strike="noStrike">
                <a:solidFill>
                  <a:srgbClr val="000000"/>
                </a:solidFill>
                <a:latin typeface="Consolas"/>
                <a:ea typeface="Consolas"/>
                <a:cs typeface="Consolas"/>
                <a:sym typeface="Consolas"/>
              </a:rPr>
              <a:t>Types</a:t>
            </a:r>
            <a:endParaRPr b="0" i="0" sz="1400" u="none" cap="none" strike="noStrike">
              <a:solidFill>
                <a:srgbClr val="000000"/>
              </a:solidFill>
              <a:latin typeface="Arial"/>
              <a:ea typeface="Arial"/>
              <a:cs typeface="Arial"/>
              <a:sym typeface="Arial"/>
            </a:endParaRPr>
          </a:p>
        </p:txBody>
      </p:sp>
      <p:sp>
        <p:nvSpPr>
          <p:cNvPr id="138" name="Google Shape;138;g32036c06824_0_29"/>
          <p:cNvSpPr txBox="1"/>
          <p:nvPr/>
        </p:nvSpPr>
        <p:spPr>
          <a:xfrm>
            <a:off x="541201" y="1432350"/>
            <a:ext cx="7606800" cy="1248900"/>
          </a:xfrm>
          <a:prstGeom prst="rect">
            <a:avLst/>
          </a:prstGeom>
          <a:noFill/>
          <a:ln>
            <a:noFill/>
          </a:ln>
        </p:spPr>
        <p:txBody>
          <a:bodyPr anchorCtr="0" anchor="t" bIns="45700" lIns="91425" spcFirstLastPara="1" rIns="91425" wrap="square" tIns="45700">
            <a:noAutofit/>
          </a:bodyPr>
          <a:lstStyle/>
          <a:p>
            <a:pPr indent="-332930" lvl="0" marL="342900" marR="0" rtl="0" algn="l">
              <a:lnSpc>
                <a:spcPct val="150000"/>
              </a:lnSpc>
              <a:spcBef>
                <a:spcPts val="0"/>
              </a:spcBef>
              <a:spcAft>
                <a:spcPts val="0"/>
              </a:spcAft>
              <a:buClr>
                <a:srgbClr val="000000"/>
              </a:buClr>
              <a:buSzPts val="1600"/>
              <a:buFont typeface="Arial"/>
              <a:buAutoNum type="arabicPeriod"/>
            </a:pPr>
            <a:r>
              <a:rPr b="0" i="0" lang="en-GB" sz="1600" u="none" cap="none" strike="noStrike">
                <a:solidFill>
                  <a:srgbClr val="000000"/>
                </a:solidFill>
                <a:latin typeface="Consolas"/>
                <a:ea typeface="Consolas"/>
                <a:cs typeface="Consolas"/>
                <a:sym typeface="Consolas"/>
              </a:rPr>
              <a:t>Singly Linked List: </a:t>
            </a:r>
            <a:endParaRPr b="0" i="0" sz="1600" u="none" cap="none" strike="noStrike">
              <a:solidFill>
                <a:srgbClr val="000000"/>
              </a:solidFill>
              <a:latin typeface="Calibri"/>
              <a:ea typeface="Calibri"/>
              <a:cs typeface="Calibri"/>
              <a:sym typeface="Calibri"/>
            </a:endParaRPr>
          </a:p>
          <a:p>
            <a:pPr indent="-224471" lvl="2" marL="1143000" marR="0" rtl="0" algn="l">
              <a:lnSpc>
                <a:spcPct val="150000"/>
              </a:lnSpc>
              <a:spcBef>
                <a:spcPts val="500"/>
              </a:spcBef>
              <a:spcAft>
                <a:spcPts val="0"/>
              </a:spcAft>
              <a:buClr>
                <a:srgbClr val="000000"/>
              </a:buClr>
              <a:buSzPts val="1600"/>
              <a:buFont typeface="Arial"/>
              <a:buChar char="•"/>
            </a:pPr>
            <a:r>
              <a:rPr b="0" i="0" lang="en-GB" sz="1600" u="none" cap="none" strike="noStrike">
                <a:solidFill>
                  <a:srgbClr val="000000"/>
                </a:solidFill>
                <a:latin typeface="Consolas"/>
                <a:ea typeface="Consolas"/>
                <a:cs typeface="Consolas"/>
                <a:sym typeface="Consolas"/>
              </a:rPr>
              <a:t>Each node has a reference to the next node in the list. </a:t>
            </a:r>
            <a:endParaRPr b="0" i="0" sz="1600" u="none" cap="none" strike="noStrike">
              <a:solidFill>
                <a:srgbClr val="000000"/>
              </a:solidFill>
              <a:latin typeface="Calibri"/>
              <a:ea typeface="Calibri"/>
              <a:cs typeface="Calibri"/>
              <a:sym typeface="Calibri"/>
            </a:endParaRPr>
          </a:p>
          <a:p>
            <a:pPr indent="-224471" lvl="2" marL="1143000" marR="0" rtl="0" algn="l">
              <a:lnSpc>
                <a:spcPct val="150000"/>
              </a:lnSpc>
              <a:spcBef>
                <a:spcPts val="500"/>
              </a:spcBef>
              <a:spcAft>
                <a:spcPts val="0"/>
              </a:spcAft>
              <a:buClr>
                <a:srgbClr val="000000"/>
              </a:buClr>
              <a:buSzPts val="1600"/>
              <a:buFont typeface="Arial"/>
              <a:buChar char="•"/>
            </a:pPr>
            <a:r>
              <a:rPr b="0" i="0" lang="en-GB" sz="1600" u="none" cap="none" strike="noStrike">
                <a:solidFill>
                  <a:srgbClr val="000000"/>
                </a:solidFill>
                <a:latin typeface="Consolas"/>
                <a:ea typeface="Consolas"/>
                <a:cs typeface="Consolas"/>
                <a:sym typeface="Consolas"/>
              </a:rPr>
              <a:t>Traversal can only be done in one direction, from the head to the tail.</a:t>
            </a:r>
            <a:endParaRPr b="0" i="0" sz="1600" u="none" cap="none" strike="noStrike">
              <a:solidFill>
                <a:srgbClr val="000000"/>
              </a:solidFill>
              <a:latin typeface="Calibri"/>
              <a:ea typeface="Calibri"/>
              <a:cs typeface="Calibri"/>
              <a:sym typeface="Calibri"/>
            </a:endParaRPr>
          </a:p>
          <a:p>
            <a:pPr indent="0" lvl="0" marL="0" marR="0" rtl="0" algn="l">
              <a:lnSpc>
                <a:spcPct val="150000"/>
              </a:lnSpc>
              <a:spcBef>
                <a:spcPts val="1000"/>
              </a:spcBef>
              <a:spcAft>
                <a:spcPts val="0"/>
              </a:spcAft>
              <a:buClr>
                <a:srgbClr val="000000"/>
              </a:buClr>
              <a:buSzPts val="1600"/>
              <a:buFont typeface="Arial"/>
              <a:buNone/>
            </a:pPr>
            <a:r>
              <a:t/>
            </a:r>
            <a:endParaRPr b="0" i="0" sz="1600" u="none" cap="none" strike="noStrike">
              <a:solidFill>
                <a:srgbClr val="000000"/>
              </a:solidFill>
              <a:latin typeface="Calibri"/>
              <a:ea typeface="Calibri"/>
              <a:cs typeface="Calibri"/>
              <a:sym typeface="Calibri"/>
            </a:endParaRPr>
          </a:p>
        </p:txBody>
      </p:sp>
      <p:pic>
        <p:nvPicPr>
          <p:cNvPr id="139" name="Google Shape;139;g32036c06824_0_29"/>
          <p:cNvPicPr preferRelativeResize="0"/>
          <p:nvPr/>
        </p:nvPicPr>
        <p:blipFill rotWithShape="1">
          <a:blip r:embed="rId3">
            <a:alphaModFix/>
          </a:blip>
          <a:srcRect b="0" l="0" r="0" t="0"/>
          <a:stretch/>
        </p:blipFill>
        <p:spPr>
          <a:xfrm>
            <a:off x="1723275" y="3110875"/>
            <a:ext cx="5515725" cy="17406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g32036c06824_0_47"/>
          <p:cNvSpPr txBox="1"/>
          <p:nvPr/>
        </p:nvSpPr>
        <p:spPr>
          <a:xfrm>
            <a:off x="1922421" y="445600"/>
            <a:ext cx="48918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LINKED LIST</a:t>
            </a:r>
            <a:endParaRPr b="0" i="0" sz="1700" u="none" cap="none" strike="noStrike">
              <a:solidFill>
                <a:srgbClr val="6D9EEB"/>
              </a:solidFill>
              <a:latin typeface="Roboto Black"/>
              <a:ea typeface="Roboto Black"/>
              <a:cs typeface="Roboto Black"/>
              <a:sym typeface="Roboto Black"/>
            </a:endParaRPr>
          </a:p>
        </p:txBody>
      </p:sp>
      <p:sp>
        <p:nvSpPr>
          <p:cNvPr id="145" name="Google Shape;145;g32036c06824_0_47"/>
          <p:cNvSpPr txBox="1"/>
          <p:nvPr/>
        </p:nvSpPr>
        <p:spPr>
          <a:xfrm>
            <a:off x="265475" y="907650"/>
            <a:ext cx="1258500" cy="524700"/>
          </a:xfrm>
          <a:prstGeom prst="rect">
            <a:avLst/>
          </a:prstGeom>
          <a:noFill/>
          <a:ln>
            <a:noFill/>
          </a:ln>
        </p:spPr>
        <p:txBody>
          <a:bodyPr anchorCtr="0" anchor="t" bIns="45700" lIns="91425" spcFirstLastPara="1" rIns="91425" wrap="square" tIns="45700">
            <a:normAutofit/>
          </a:bodyPr>
          <a:lstStyle/>
          <a:p>
            <a:pPr indent="0" lvl="0" marL="0" marR="0" rtl="0" algn="l">
              <a:lnSpc>
                <a:spcPct val="200000"/>
              </a:lnSpc>
              <a:spcBef>
                <a:spcPts val="0"/>
              </a:spcBef>
              <a:spcAft>
                <a:spcPts val="0"/>
              </a:spcAft>
              <a:buClr>
                <a:srgbClr val="000000"/>
              </a:buClr>
              <a:buSzPts val="1800"/>
              <a:buFont typeface="Arial"/>
              <a:buNone/>
            </a:pPr>
            <a:r>
              <a:rPr b="0" i="0" lang="en-GB" sz="1800" u="none" cap="none" strike="noStrike">
                <a:solidFill>
                  <a:srgbClr val="000000"/>
                </a:solidFill>
                <a:latin typeface="Consolas"/>
                <a:ea typeface="Consolas"/>
                <a:cs typeface="Consolas"/>
                <a:sym typeface="Consolas"/>
              </a:rPr>
              <a:t>Types</a:t>
            </a:r>
            <a:endParaRPr b="0" i="0" sz="1400" u="none" cap="none" strike="noStrike">
              <a:solidFill>
                <a:srgbClr val="000000"/>
              </a:solidFill>
              <a:latin typeface="Arial"/>
              <a:ea typeface="Arial"/>
              <a:cs typeface="Arial"/>
              <a:sym typeface="Arial"/>
            </a:endParaRPr>
          </a:p>
        </p:txBody>
      </p:sp>
      <p:sp>
        <p:nvSpPr>
          <p:cNvPr id="146" name="Google Shape;146;g32036c06824_0_47"/>
          <p:cNvSpPr txBox="1"/>
          <p:nvPr/>
        </p:nvSpPr>
        <p:spPr>
          <a:xfrm>
            <a:off x="541201" y="1432350"/>
            <a:ext cx="7606800" cy="12489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000000"/>
              </a:buClr>
              <a:buSzPts val="1600"/>
              <a:buFont typeface="Arial"/>
              <a:buNone/>
            </a:pPr>
            <a:r>
              <a:rPr b="0" i="0" lang="en-GB" sz="1600" u="none" cap="none" strike="noStrike">
                <a:solidFill>
                  <a:schemeClr val="dk1"/>
                </a:solidFill>
                <a:latin typeface="Consolas"/>
                <a:ea typeface="Consolas"/>
                <a:cs typeface="Consolas"/>
                <a:sym typeface="Consolas"/>
              </a:rPr>
              <a:t>2. Doubly Linked List:</a:t>
            </a:r>
            <a:endParaRPr b="0" i="0" sz="1600" u="none" cap="none" strike="noStrike">
              <a:solidFill>
                <a:schemeClr val="dk1"/>
              </a:solidFill>
              <a:latin typeface="Calibri"/>
              <a:ea typeface="Calibri"/>
              <a:cs typeface="Calibri"/>
              <a:sym typeface="Calibri"/>
            </a:endParaRPr>
          </a:p>
          <a:p>
            <a:pPr indent="0" lvl="0" marL="457200" marR="0" rtl="0" algn="l">
              <a:lnSpc>
                <a:spcPct val="150000"/>
              </a:lnSpc>
              <a:spcBef>
                <a:spcPts val="500"/>
              </a:spcBef>
              <a:spcAft>
                <a:spcPts val="0"/>
              </a:spcAft>
              <a:buClr>
                <a:srgbClr val="000000"/>
              </a:buClr>
              <a:buSzPts val="1600"/>
              <a:buFont typeface="Arial"/>
              <a:buNone/>
            </a:pPr>
            <a:r>
              <a:rPr b="0" i="0" lang="en-GB" sz="1600" u="none" cap="none" strike="noStrike">
                <a:solidFill>
                  <a:schemeClr val="dk1"/>
                </a:solidFill>
                <a:latin typeface="Consolas"/>
                <a:ea typeface="Consolas"/>
                <a:cs typeface="Consolas"/>
                <a:sym typeface="Consolas"/>
              </a:rPr>
              <a:t>Each node has references to both the next and the previous nodes in the list. This allows for bidirectional traversal but requires more memory.</a:t>
            </a:r>
            <a:endParaRPr b="0" i="0" sz="1600" u="none" cap="none" strike="noStrike">
              <a:solidFill>
                <a:schemeClr val="dk1"/>
              </a:solidFill>
              <a:latin typeface="Calibri"/>
              <a:ea typeface="Calibri"/>
              <a:cs typeface="Calibri"/>
              <a:sym typeface="Calibri"/>
            </a:endParaRPr>
          </a:p>
          <a:p>
            <a:pPr indent="0" lvl="0" marL="457200" marR="0" rtl="0" algn="l">
              <a:lnSpc>
                <a:spcPct val="150000"/>
              </a:lnSpc>
              <a:spcBef>
                <a:spcPts val="0"/>
              </a:spcBef>
              <a:spcAft>
                <a:spcPts val="0"/>
              </a:spcAft>
              <a:buClr>
                <a:srgbClr val="000000"/>
              </a:buClr>
              <a:buSzPts val="1600"/>
              <a:buFont typeface="Arial"/>
              <a:buNone/>
            </a:pPr>
            <a:r>
              <a:t/>
            </a:r>
            <a:endParaRPr b="0" i="0" sz="1600" u="none" cap="none" strike="noStrike">
              <a:solidFill>
                <a:srgbClr val="000000"/>
              </a:solidFill>
              <a:latin typeface="Consolas"/>
              <a:ea typeface="Consolas"/>
              <a:cs typeface="Consolas"/>
              <a:sym typeface="Consolas"/>
            </a:endParaRPr>
          </a:p>
          <a:p>
            <a:pPr indent="0" lvl="0" marL="0" marR="0" rtl="0" algn="l">
              <a:lnSpc>
                <a:spcPct val="150000"/>
              </a:lnSpc>
              <a:spcBef>
                <a:spcPts val="1000"/>
              </a:spcBef>
              <a:spcAft>
                <a:spcPts val="0"/>
              </a:spcAft>
              <a:buClr>
                <a:srgbClr val="000000"/>
              </a:buClr>
              <a:buSzPts val="1600"/>
              <a:buFont typeface="Arial"/>
              <a:buNone/>
            </a:pPr>
            <a:r>
              <a:t/>
            </a:r>
            <a:endParaRPr b="0" i="0" sz="1600" u="none" cap="none" strike="noStrike">
              <a:solidFill>
                <a:srgbClr val="000000"/>
              </a:solidFill>
              <a:latin typeface="Calibri"/>
              <a:ea typeface="Calibri"/>
              <a:cs typeface="Calibri"/>
              <a:sym typeface="Calibri"/>
            </a:endParaRPr>
          </a:p>
        </p:txBody>
      </p:sp>
      <p:pic>
        <p:nvPicPr>
          <p:cNvPr id="147" name="Google Shape;147;g32036c06824_0_47"/>
          <p:cNvPicPr preferRelativeResize="0"/>
          <p:nvPr/>
        </p:nvPicPr>
        <p:blipFill rotWithShape="1">
          <a:blip r:embed="rId3">
            <a:alphaModFix/>
          </a:blip>
          <a:srcRect b="0" l="0" r="0" t="0"/>
          <a:stretch/>
        </p:blipFill>
        <p:spPr>
          <a:xfrm>
            <a:off x="1523973" y="2894250"/>
            <a:ext cx="5146874" cy="21107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g32036c06824_0_39"/>
          <p:cNvSpPr txBox="1"/>
          <p:nvPr/>
        </p:nvSpPr>
        <p:spPr>
          <a:xfrm>
            <a:off x="1922421" y="445600"/>
            <a:ext cx="48918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LINKED LIST</a:t>
            </a:r>
            <a:endParaRPr b="0" i="0" sz="1700" u="none" cap="none" strike="noStrike">
              <a:solidFill>
                <a:srgbClr val="6D9EEB"/>
              </a:solidFill>
              <a:latin typeface="Roboto Black"/>
              <a:ea typeface="Roboto Black"/>
              <a:cs typeface="Roboto Black"/>
              <a:sym typeface="Roboto Black"/>
            </a:endParaRPr>
          </a:p>
        </p:txBody>
      </p:sp>
      <p:sp>
        <p:nvSpPr>
          <p:cNvPr id="153" name="Google Shape;153;g32036c06824_0_39"/>
          <p:cNvSpPr txBox="1"/>
          <p:nvPr/>
        </p:nvSpPr>
        <p:spPr>
          <a:xfrm>
            <a:off x="265475" y="907650"/>
            <a:ext cx="1258500" cy="524700"/>
          </a:xfrm>
          <a:prstGeom prst="rect">
            <a:avLst/>
          </a:prstGeom>
          <a:noFill/>
          <a:ln>
            <a:noFill/>
          </a:ln>
        </p:spPr>
        <p:txBody>
          <a:bodyPr anchorCtr="0" anchor="t" bIns="45700" lIns="91425" spcFirstLastPara="1" rIns="91425" wrap="square" tIns="45700">
            <a:normAutofit/>
          </a:bodyPr>
          <a:lstStyle/>
          <a:p>
            <a:pPr indent="0" lvl="0" marL="0" marR="0" rtl="0" algn="l">
              <a:lnSpc>
                <a:spcPct val="200000"/>
              </a:lnSpc>
              <a:spcBef>
                <a:spcPts val="0"/>
              </a:spcBef>
              <a:spcAft>
                <a:spcPts val="0"/>
              </a:spcAft>
              <a:buClr>
                <a:srgbClr val="000000"/>
              </a:buClr>
              <a:buSzPts val="1800"/>
              <a:buFont typeface="Arial"/>
              <a:buNone/>
            </a:pPr>
            <a:r>
              <a:rPr b="0" i="0" lang="en-GB" sz="1800" u="none" cap="none" strike="noStrike">
                <a:solidFill>
                  <a:srgbClr val="000000"/>
                </a:solidFill>
                <a:latin typeface="Consolas"/>
                <a:ea typeface="Consolas"/>
                <a:cs typeface="Consolas"/>
                <a:sym typeface="Consolas"/>
              </a:rPr>
              <a:t>Types</a:t>
            </a:r>
            <a:endParaRPr b="0" i="0" sz="1400" u="none" cap="none" strike="noStrike">
              <a:solidFill>
                <a:srgbClr val="000000"/>
              </a:solidFill>
              <a:latin typeface="Arial"/>
              <a:ea typeface="Arial"/>
              <a:cs typeface="Arial"/>
              <a:sym typeface="Arial"/>
            </a:endParaRPr>
          </a:p>
        </p:txBody>
      </p:sp>
      <p:sp>
        <p:nvSpPr>
          <p:cNvPr id="154" name="Google Shape;154;g32036c06824_0_39"/>
          <p:cNvSpPr txBox="1"/>
          <p:nvPr/>
        </p:nvSpPr>
        <p:spPr>
          <a:xfrm>
            <a:off x="541201" y="1432350"/>
            <a:ext cx="7606800" cy="12489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chemeClr val="dk1"/>
              </a:buClr>
              <a:buSzPts val="1600"/>
              <a:buFont typeface="Arial"/>
              <a:buNone/>
            </a:pPr>
            <a:r>
              <a:rPr b="0" i="0" lang="en-GB" sz="1600" u="none" cap="none" strike="noStrike">
                <a:solidFill>
                  <a:schemeClr val="dk1"/>
                </a:solidFill>
                <a:latin typeface="Consolas"/>
                <a:ea typeface="Consolas"/>
                <a:cs typeface="Consolas"/>
                <a:sym typeface="Consolas"/>
              </a:rPr>
              <a:t>3. Circular Linked List: </a:t>
            </a:r>
            <a:endParaRPr b="0" i="0" sz="1600" u="none" cap="none" strike="noStrike">
              <a:solidFill>
                <a:schemeClr val="dk1"/>
              </a:solidFill>
              <a:latin typeface="Calibri"/>
              <a:ea typeface="Calibri"/>
              <a:cs typeface="Calibri"/>
              <a:sym typeface="Calibri"/>
            </a:endParaRPr>
          </a:p>
          <a:p>
            <a:pPr indent="0" lvl="1" marL="457200" marR="0" rtl="0" algn="l">
              <a:lnSpc>
                <a:spcPct val="150000"/>
              </a:lnSpc>
              <a:spcBef>
                <a:spcPts val="500"/>
              </a:spcBef>
              <a:spcAft>
                <a:spcPts val="0"/>
              </a:spcAft>
              <a:buClr>
                <a:schemeClr val="dk1"/>
              </a:buClr>
              <a:buSzPts val="1600"/>
              <a:buFont typeface="Arial"/>
              <a:buNone/>
            </a:pPr>
            <a:r>
              <a:rPr b="0" i="0" lang="en-GB" sz="1600" u="none" cap="none" strike="noStrike">
                <a:solidFill>
                  <a:schemeClr val="dk1"/>
                </a:solidFill>
                <a:latin typeface="Consolas"/>
                <a:ea typeface="Consolas"/>
                <a:cs typeface="Consolas"/>
                <a:sym typeface="Consolas"/>
              </a:rPr>
              <a:t>In this type, the tail node's reference points back to the head, forming a closed loop. It can be either singly or doubly linked.</a:t>
            </a:r>
            <a:endParaRPr b="0" i="0" sz="1600" u="none" cap="none" strike="noStrike">
              <a:solidFill>
                <a:schemeClr val="dk1"/>
              </a:solidFill>
              <a:latin typeface="Consolas"/>
              <a:ea typeface="Consolas"/>
              <a:cs typeface="Consolas"/>
              <a:sym typeface="Consolas"/>
            </a:endParaRPr>
          </a:p>
          <a:p>
            <a:pPr indent="0" lvl="0" marL="457200" marR="0" rtl="0" algn="l">
              <a:lnSpc>
                <a:spcPct val="150000"/>
              </a:lnSpc>
              <a:spcBef>
                <a:spcPts val="0"/>
              </a:spcBef>
              <a:spcAft>
                <a:spcPts val="0"/>
              </a:spcAft>
              <a:buClr>
                <a:srgbClr val="000000"/>
              </a:buClr>
              <a:buSzPts val="1600"/>
              <a:buFont typeface="Arial"/>
              <a:buNone/>
            </a:pPr>
            <a:r>
              <a:t/>
            </a:r>
            <a:endParaRPr b="0" i="0" sz="1600" u="none" cap="none" strike="noStrike">
              <a:solidFill>
                <a:srgbClr val="000000"/>
              </a:solidFill>
              <a:latin typeface="Consolas"/>
              <a:ea typeface="Consolas"/>
              <a:cs typeface="Consolas"/>
              <a:sym typeface="Consolas"/>
            </a:endParaRPr>
          </a:p>
          <a:p>
            <a:pPr indent="0" lvl="0" marL="0" marR="0" rtl="0" algn="l">
              <a:lnSpc>
                <a:spcPct val="150000"/>
              </a:lnSpc>
              <a:spcBef>
                <a:spcPts val="1000"/>
              </a:spcBef>
              <a:spcAft>
                <a:spcPts val="0"/>
              </a:spcAft>
              <a:buClr>
                <a:srgbClr val="000000"/>
              </a:buClr>
              <a:buSzPts val="1600"/>
              <a:buFont typeface="Arial"/>
              <a:buNone/>
            </a:pPr>
            <a:r>
              <a:t/>
            </a:r>
            <a:endParaRPr b="0" i="0" sz="1600" u="none" cap="none" strike="noStrike">
              <a:solidFill>
                <a:srgbClr val="000000"/>
              </a:solidFill>
              <a:latin typeface="Calibri"/>
              <a:ea typeface="Calibri"/>
              <a:cs typeface="Calibri"/>
              <a:sym typeface="Calibri"/>
            </a:endParaRPr>
          </a:p>
        </p:txBody>
      </p:sp>
      <p:pic>
        <p:nvPicPr>
          <p:cNvPr id="155" name="Google Shape;155;g32036c06824_0_39"/>
          <p:cNvPicPr preferRelativeResize="0"/>
          <p:nvPr/>
        </p:nvPicPr>
        <p:blipFill rotWithShape="1">
          <a:blip r:embed="rId3">
            <a:alphaModFix/>
          </a:blip>
          <a:srcRect b="0" l="0" r="0" t="0"/>
          <a:stretch/>
        </p:blipFill>
        <p:spPr>
          <a:xfrm>
            <a:off x="2469825" y="2681250"/>
            <a:ext cx="4595400" cy="18703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g31fef00ada2_0_0"/>
          <p:cNvSpPr txBox="1"/>
          <p:nvPr/>
        </p:nvSpPr>
        <p:spPr>
          <a:xfrm>
            <a:off x="720725" y="445600"/>
            <a:ext cx="69567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LOOP DETECTION</a:t>
            </a:r>
            <a:endParaRPr b="0" i="0" sz="1700" u="none" cap="none" strike="noStrike">
              <a:solidFill>
                <a:srgbClr val="6D9EEB"/>
              </a:solidFill>
              <a:latin typeface="Roboto Black"/>
              <a:ea typeface="Roboto Black"/>
              <a:cs typeface="Roboto Black"/>
              <a:sym typeface="Roboto Black"/>
            </a:endParaRPr>
          </a:p>
        </p:txBody>
      </p:sp>
      <p:sp>
        <p:nvSpPr>
          <p:cNvPr id="161" name="Google Shape;161;g31fef00ada2_0_0"/>
          <p:cNvSpPr txBox="1"/>
          <p:nvPr/>
        </p:nvSpPr>
        <p:spPr>
          <a:xfrm>
            <a:off x="390826" y="1471675"/>
            <a:ext cx="8358600" cy="4351200"/>
          </a:xfrm>
          <a:prstGeom prst="rect">
            <a:avLst/>
          </a:prstGeom>
          <a:noFill/>
          <a:ln>
            <a:noFill/>
          </a:ln>
        </p:spPr>
        <p:txBody>
          <a:bodyPr anchorCtr="0" anchor="t" bIns="45700" lIns="91425" spcFirstLastPara="1" rIns="91425" wrap="square" tIns="45700">
            <a:noAutofit/>
          </a:bodyPr>
          <a:lstStyle/>
          <a:p>
            <a:pPr indent="-215900" lvl="0" marL="228600" marR="0" rtl="0" algn="l">
              <a:lnSpc>
                <a:spcPct val="150000"/>
              </a:lnSpc>
              <a:spcBef>
                <a:spcPts val="0"/>
              </a:spcBef>
              <a:spcAft>
                <a:spcPts val="0"/>
              </a:spcAft>
              <a:buClr>
                <a:schemeClr val="dk1"/>
              </a:buClr>
              <a:buSzPts val="1600"/>
              <a:buFont typeface="Arial"/>
              <a:buChar char="•"/>
            </a:pPr>
            <a:r>
              <a:rPr b="0" i="0" lang="en-GB" sz="1600" u="none" cap="none" strike="noStrike">
                <a:solidFill>
                  <a:schemeClr val="dk1"/>
                </a:solidFill>
                <a:latin typeface="Consolas"/>
                <a:ea typeface="Consolas"/>
                <a:cs typeface="Consolas"/>
                <a:sym typeface="Consolas"/>
              </a:rPr>
              <a:t>A circumstance that arises when a linked list has no ends is known as a loop in a linked list.</a:t>
            </a:r>
            <a:endParaRPr b="0" i="0" sz="1600" u="none" cap="none" strike="noStrike">
              <a:solidFill>
                <a:schemeClr val="dk1"/>
              </a:solidFill>
              <a:latin typeface="Arial"/>
              <a:ea typeface="Arial"/>
              <a:cs typeface="Arial"/>
              <a:sym typeface="Arial"/>
            </a:endParaRPr>
          </a:p>
          <a:p>
            <a:pPr indent="-215900" lvl="0" marL="228600" marR="0" rtl="0" algn="l">
              <a:lnSpc>
                <a:spcPct val="150000"/>
              </a:lnSpc>
              <a:spcBef>
                <a:spcPts val="1000"/>
              </a:spcBef>
              <a:spcAft>
                <a:spcPts val="0"/>
              </a:spcAft>
              <a:buClr>
                <a:schemeClr val="dk1"/>
              </a:buClr>
              <a:buSzPts val="1600"/>
              <a:buFont typeface="Arial"/>
              <a:buChar char="•"/>
            </a:pPr>
            <a:r>
              <a:rPr b="0" i="0" lang="en-GB" sz="1600" u="none" cap="none" strike="noStrike">
                <a:solidFill>
                  <a:schemeClr val="dk1"/>
                </a:solidFill>
                <a:latin typeface="Consolas"/>
                <a:ea typeface="Consolas"/>
                <a:cs typeface="Consolas"/>
                <a:sym typeface="Consolas"/>
              </a:rPr>
              <a:t>When a loop is present, the last pointer in the linked list points to the linked list's head rather than the Null as is the case in a singly or doubly linked list and the circular linked list, respectively. </a:t>
            </a:r>
            <a:endParaRPr b="0" i="0" sz="1600" u="none" cap="none" strike="noStrike">
              <a:solidFill>
                <a:schemeClr val="dk1"/>
              </a:solidFill>
              <a:latin typeface="Arial"/>
              <a:ea typeface="Arial"/>
              <a:cs typeface="Arial"/>
              <a:sym typeface="Arial"/>
            </a:endParaRPr>
          </a:p>
          <a:p>
            <a:pPr indent="-215900" lvl="0" marL="228600" marR="0" rtl="0" algn="l">
              <a:lnSpc>
                <a:spcPct val="150000"/>
              </a:lnSpc>
              <a:spcBef>
                <a:spcPts val="1000"/>
              </a:spcBef>
              <a:spcAft>
                <a:spcPts val="0"/>
              </a:spcAft>
              <a:buClr>
                <a:schemeClr val="dk1"/>
              </a:buClr>
              <a:buSzPts val="1600"/>
              <a:buFont typeface="Arial"/>
              <a:buChar char="•"/>
            </a:pPr>
            <a:r>
              <a:rPr b="0" i="0" lang="en-GB" sz="1600" u="none" cap="none" strike="noStrike">
                <a:solidFill>
                  <a:schemeClr val="dk1"/>
                </a:solidFill>
                <a:latin typeface="Consolas"/>
                <a:ea typeface="Consolas"/>
                <a:cs typeface="Consolas"/>
                <a:sym typeface="Consolas"/>
              </a:rPr>
              <a:t>The linked list cycle, commonly known as the loop, is present when it points to another node.</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1600"/>
              <a:buFont typeface="Arial"/>
              <a:buNone/>
            </a:pPr>
            <a:r>
              <a:t/>
            </a:r>
            <a:endParaRPr b="0" i="0" sz="1600" u="none" cap="none" strike="noStrike">
              <a:solidFill>
                <a:schemeClr val="dk1"/>
              </a:solidFill>
              <a:latin typeface="Consolas"/>
              <a:ea typeface="Consolas"/>
              <a:cs typeface="Consolas"/>
              <a:sym typeface="Consolas"/>
            </a:endParaRPr>
          </a:p>
        </p:txBody>
      </p:sp>
      <p:sp>
        <p:nvSpPr>
          <p:cNvPr id="162" name="Google Shape;162;g31fef00ada2_0_0"/>
          <p:cNvSpPr txBox="1"/>
          <p:nvPr/>
        </p:nvSpPr>
        <p:spPr>
          <a:xfrm>
            <a:off x="172449" y="1053975"/>
            <a:ext cx="541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2060"/>
                </a:solidFill>
                <a:latin typeface="Consolas"/>
                <a:ea typeface="Consolas"/>
                <a:cs typeface="Consolas"/>
                <a:sym typeface="Consolas"/>
              </a:rPr>
              <a:t>Loop &amp; linked list cycle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g32036c06824_0_55"/>
          <p:cNvSpPr txBox="1"/>
          <p:nvPr/>
        </p:nvSpPr>
        <p:spPr>
          <a:xfrm>
            <a:off x="720725" y="445600"/>
            <a:ext cx="69567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LOOP DETECTION</a:t>
            </a:r>
            <a:endParaRPr b="0" i="0" sz="1700" u="none" cap="none" strike="noStrike">
              <a:solidFill>
                <a:srgbClr val="6D9EEB"/>
              </a:solidFill>
              <a:latin typeface="Roboto Black"/>
              <a:ea typeface="Roboto Black"/>
              <a:cs typeface="Roboto Black"/>
              <a:sym typeface="Roboto Black"/>
            </a:endParaRPr>
          </a:p>
        </p:txBody>
      </p:sp>
      <p:sp>
        <p:nvSpPr>
          <p:cNvPr id="168" name="Google Shape;168;g32036c06824_0_55"/>
          <p:cNvSpPr txBox="1"/>
          <p:nvPr/>
        </p:nvSpPr>
        <p:spPr>
          <a:xfrm>
            <a:off x="172449" y="1053975"/>
            <a:ext cx="541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2060"/>
                </a:solidFill>
                <a:latin typeface="Consolas"/>
                <a:ea typeface="Consolas"/>
                <a:cs typeface="Consolas"/>
                <a:sym typeface="Consolas"/>
              </a:rPr>
              <a:t>Loop &amp; linked list cycle</a:t>
            </a:r>
            <a:endParaRPr b="0" i="0" sz="1400" u="none" cap="none" strike="noStrike">
              <a:solidFill>
                <a:srgbClr val="000000"/>
              </a:solidFill>
              <a:latin typeface="Arial"/>
              <a:ea typeface="Arial"/>
              <a:cs typeface="Arial"/>
              <a:sym typeface="Arial"/>
            </a:endParaRPr>
          </a:p>
        </p:txBody>
      </p:sp>
      <p:pic>
        <p:nvPicPr>
          <p:cNvPr id="169" name="Google Shape;169;g32036c06824_0_55"/>
          <p:cNvPicPr preferRelativeResize="0"/>
          <p:nvPr/>
        </p:nvPicPr>
        <p:blipFill rotWithShape="1">
          <a:blip r:embed="rId3">
            <a:alphaModFix/>
          </a:blip>
          <a:srcRect b="0" l="0" r="0" t="0"/>
          <a:stretch/>
        </p:blipFill>
        <p:spPr>
          <a:xfrm>
            <a:off x="950918" y="1677654"/>
            <a:ext cx="6904654" cy="230803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g32036c06824_0_62"/>
          <p:cNvSpPr txBox="1"/>
          <p:nvPr/>
        </p:nvSpPr>
        <p:spPr>
          <a:xfrm>
            <a:off x="720725" y="445600"/>
            <a:ext cx="69567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LOOP DETECTION</a:t>
            </a:r>
            <a:endParaRPr b="0" i="0" sz="1700" u="none" cap="none" strike="noStrike">
              <a:solidFill>
                <a:srgbClr val="6D9EEB"/>
              </a:solidFill>
              <a:latin typeface="Roboto Black"/>
              <a:ea typeface="Roboto Black"/>
              <a:cs typeface="Roboto Black"/>
              <a:sym typeface="Roboto Black"/>
            </a:endParaRPr>
          </a:p>
        </p:txBody>
      </p:sp>
      <p:sp>
        <p:nvSpPr>
          <p:cNvPr id="175" name="Google Shape;175;g32036c06824_0_62"/>
          <p:cNvSpPr txBox="1"/>
          <p:nvPr/>
        </p:nvSpPr>
        <p:spPr>
          <a:xfrm>
            <a:off x="172449" y="1053975"/>
            <a:ext cx="541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2060"/>
                </a:solidFill>
                <a:latin typeface="Consolas"/>
                <a:ea typeface="Consolas"/>
                <a:cs typeface="Consolas"/>
                <a:sym typeface="Consolas"/>
              </a:rPr>
              <a:t>Algorithm</a:t>
            </a:r>
            <a:endParaRPr b="0" i="0" sz="1400" u="none" cap="none" strike="noStrike">
              <a:solidFill>
                <a:srgbClr val="000000"/>
              </a:solidFill>
              <a:latin typeface="Arial"/>
              <a:ea typeface="Arial"/>
              <a:cs typeface="Arial"/>
              <a:sym typeface="Arial"/>
            </a:endParaRPr>
          </a:p>
        </p:txBody>
      </p:sp>
      <p:sp>
        <p:nvSpPr>
          <p:cNvPr id="176" name="Google Shape;176;g32036c06824_0_62"/>
          <p:cNvSpPr txBox="1"/>
          <p:nvPr/>
        </p:nvSpPr>
        <p:spPr>
          <a:xfrm>
            <a:off x="390826" y="1471675"/>
            <a:ext cx="83586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1. Initialize two pointers, slow and fast, both pointing to the head of the linked list.</a:t>
            </a:r>
            <a:endParaRPr b="0" i="0" sz="16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2. Traverse the linked list using the slow and fast pointers.</a:t>
            </a:r>
            <a:endParaRPr b="0" i="0" sz="16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3. Move the slow pointer one step at a time and the fast pointer two steps at a time.</a:t>
            </a:r>
            <a:endParaRPr b="0" i="0" sz="16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4. If there is no loop in the linked list, the fast pointer will eventually reach the end (become null) because it moves faster than the slow pointer. In this case, return "No Loop Detected."</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1600"/>
              <a:buFont typeface="Arial"/>
              <a:buNone/>
            </a:pPr>
            <a:r>
              <a:t/>
            </a:r>
            <a:endParaRPr b="0" i="0" sz="1600" u="none" cap="none" strike="noStrike">
              <a:solidFill>
                <a:schemeClr val="dk1"/>
              </a:solidFill>
              <a:latin typeface="Consolas"/>
              <a:ea typeface="Consolas"/>
              <a:cs typeface="Consolas"/>
              <a:sym typeface="Consola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g32036c06824_0_69"/>
          <p:cNvSpPr txBox="1"/>
          <p:nvPr/>
        </p:nvSpPr>
        <p:spPr>
          <a:xfrm>
            <a:off x="720725" y="445600"/>
            <a:ext cx="69567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LOOP DETECTION</a:t>
            </a:r>
            <a:endParaRPr b="0" i="0" sz="1700" u="none" cap="none" strike="noStrike">
              <a:solidFill>
                <a:srgbClr val="6D9EEB"/>
              </a:solidFill>
              <a:latin typeface="Roboto Black"/>
              <a:ea typeface="Roboto Black"/>
              <a:cs typeface="Roboto Black"/>
              <a:sym typeface="Roboto Black"/>
            </a:endParaRPr>
          </a:p>
        </p:txBody>
      </p:sp>
      <p:sp>
        <p:nvSpPr>
          <p:cNvPr id="182" name="Google Shape;182;g32036c06824_0_69"/>
          <p:cNvSpPr txBox="1"/>
          <p:nvPr/>
        </p:nvSpPr>
        <p:spPr>
          <a:xfrm>
            <a:off x="172449" y="1053975"/>
            <a:ext cx="541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2060"/>
                </a:solidFill>
                <a:latin typeface="Consolas"/>
                <a:ea typeface="Consolas"/>
                <a:cs typeface="Consolas"/>
                <a:sym typeface="Consolas"/>
              </a:rPr>
              <a:t>Pseudocode</a:t>
            </a:r>
            <a:endParaRPr b="0" i="0" sz="1400" u="none" cap="none" strike="noStrike">
              <a:solidFill>
                <a:srgbClr val="000000"/>
              </a:solidFill>
              <a:latin typeface="Arial"/>
              <a:ea typeface="Arial"/>
              <a:cs typeface="Arial"/>
              <a:sym typeface="Arial"/>
            </a:endParaRPr>
          </a:p>
        </p:txBody>
      </p:sp>
      <p:sp>
        <p:nvSpPr>
          <p:cNvPr id="183" name="Google Shape;183;g32036c06824_0_69"/>
          <p:cNvSpPr txBox="1"/>
          <p:nvPr/>
        </p:nvSpPr>
        <p:spPr>
          <a:xfrm>
            <a:off x="390826" y="1471675"/>
            <a:ext cx="83586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function detectLoop(head):</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    slow = head</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    fast = head</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    while fast is not null and fast.next is not null:</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        slow = slow.next            // Move one step at a time</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        fast = fast.next.next       // Move two steps at a time</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        if slow is equal to fast:</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            return "Loop Detected"  // Cycle detected</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    return "No Loop Detected"      // No cycle detected</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1600"/>
              <a:buFont typeface="Arial"/>
              <a:buNone/>
            </a:pPr>
            <a:r>
              <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1600"/>
              <a:buFont typeface="Arial"/>
              <a:buNone/>
            </a:pPr>
            <a:r>
              <a:t/>
            </a:r>
            <a:endParaRPr b="0" i="0" sz="1600" u="none" cap="none" strike="noStrike">
              <a:solidFill>
                <a:schemeClr val="dk1"/>
              </a:solidFill>
              <a:latin typeface="Consolas"/>
              <a:ea typeface="Consolas"/>
              <a:cs typeface="Consolas"/>
              <a:sym typeface="Consola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g32036c06824_0_75"/>
          <p:cNvSpPr txBox="1"/>
          <p:nvPr/>
        </p:nvSpPr>
        <p:spPr>
          <a:xfrm>
            <a:off x="720725" y="445600"/>
            <a:ext cx="69567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LOOP DETECTION</a:t>
            </a:r>
            <a:endParaRPr b="0" i="0" sz="1700" u="none" cap="none" strike="noStrike">
              <a:solidFill>
                <a:srgbClr val="6D9EEB"/>
              </a:solidFill>
              <a:latin typeface="Roboto Black"/>
              <a:ea typeface="Roboto Black"/>
              <a:cs typeface="Roboto Black"/>
              <a:sym typeface="Roboto Black"/>
            </a:endParaRPr>
          </a:p>
        </p:txBody>
      </p:sp>
      <p:sp>
        <p:nvSpPr>
          <p:cNvPr id="189" name="Google Shape;189;g32036c06824_0_75"/>
          <p:cNvSpPr txBox="1"/>
          <p:nvPr/>
        </p:nvSpPr>
        <p:spPr>
          <a:xfrm>
            <a:off x="172449" y="1053975"/>
            <a:ext cx="541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2060"/>
                </a:solidFill>
                <a:latin typeface="Consolas"/>
                <a:ea typeface="Consolas"/>
                <a:cs typeface="Consolas"/>
                <a:sym typeface="Consolas"/>
              </a:rPr>
              <a:t>Algorithm</a:t>
            </a:r>
            <a:endParaRPr b="0" i="0" sz="1400" u="none" cap="none" strike="noStrike">
              <a:solidFill>
                <a:srgbClr val="000000"/>
              </a:solidFill>
              <a:latin typeface="Arial"/>
              <a:ea typeface="Arial"/>
              <a:cs typeface="Arial"/>
              <a:sym typeface="Arial"/>
            </a:endParaRPr>
          </a:p>
        </p:txBody>
      </p:sp>
      <p:sp>
        <p:nvSpPr>
          <p:cNvPr id="190" name="Google Shape;190;g32036c06824_0_75"/>
          <p:cNvSpPr txBox="1"/>
          <p:nvPr/>
        </p:nvSpPr>
        <p:spPr>
          <a:xfrm>
            <a:off x="1880517" y="1855240"/>
            <a:ext cx="5796900" cy="2170200"/>
          </a:xfrm>
          <a:prstGeom prst="rect">
            <a:avLst/>
          </a:prstGeom>
          <a:noFill/>
          <a:ln>
            <a:noFill/>
          </a:ln>
        </p:spPr>
        <p:txBody>
          <a:bodyPr anchorCtr="0" anchor="t" bIns="45700" lIns="91425" spcFirstLastPara="1" rIns="91425" wrap="square" tIns="45700">
            <a:spAutoFit/>
          </a:bodyPr>
          <a:lstStyle/>
          <a:p>
            <a:pPr indent="0" lvl="0" marL="0" marR="0" rtl="0" algn="l">
              <a:lnSpc>
                <a:spcPct val="250000"/>
              </a:lnSpc>
              <a:spcBef>
                <a:spcPts val="0"/>
              </a:spcBef>
              <a:spcAft>
                <a:spcPts val="0"/>
              </a:spcAft>
              <a:buClr>
                <a:srgbClr val="000000"/>
              </a:buClr>
              <a:buSzPts val="1800"/>
              <a:buFont typeface="Arial"/>
              <a:buNone/>
            </a:pPr>
            <a:r>
              <a:rPr b="0" i="0" lang="en-GB" sz="1800" u="none" cap="none" strike="noStrike">
                <a:solidFill>
                  <a:srgbClr val="000000"/>
                </a:solidFill>
                <a:latin typeface="Consolas"/>
                <a:ea typeface="Consolas"/>
                <a:cs typeface="Consolas"/>
                <a:sym typeface="Consolas"/>
              </a:rPr>
              <a:t>1 -&gt; 2 -&gt; 3 -&gt; 4 -&gt; 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onsolas"/>
                <a:ea typeface="Consolas"/>
                <a:cs typeface="Consolas"/>
                <a:sym typeface="Consolas"/>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onsolas"/>
                <a:ea typeface="Consolas"/>
                <a:cs typeface="Consolas"/>
                <a:sym typeface="Consolas"/>
              </a:rPr>
              <a:t>                    6</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onsolas"/>
                <a:ea typeface="Consolas"/>
                <a:cs typeface="Consolas"/>
                <a:sym typeface="Consolas"/>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onsolas"/>
                <a:ea typeface="Consolas"/>
                <a:cs typeface="Consolas"/>
                <a:sym typeface="Consolas"/>
              </a:rPr>
              <a:t>          9 &lt;- 8 &lt;- 7</a:t>
            </a:r>
            <a:endParaRPr b="0" i="0" sz="1400" u="none" cap="none" strike="noStrike">
              <a:solidFill>
                <a:srgbClr val="000000"/>
              </a:solidFill>
              <a:latin typeface="Arial"/>
              <a:ea typeface="Arial"/>
              <a:cs typeface="Arial"/>
              <a:sym typeface="Arial"/>
            </a:endParaRPr>
          </a:p>
          <a:p>
            <a:pPr indent="0" lvl="0" marL="0" marR="0" rtl="0" algn="l">
              <a:lnSpc>
                <a:spcPct val="250000"/>
              </a:lnSpc>
              <a:spcBef>
                <a:spcPts val="0"/>
              </a:spcBef>
              <a:spcAft>
                <a:spcPts val="0"/>
              </a:spcAft>
              <a:buClr>
                <a:srgbClr val="000000"/>
              </a:buClr>
              <a:buSzPts val="1800"/>
              <a:buFont typeface="Arial"/>
              <a:buNone/>
            </a:pPr>
            <a:r>
              <a:t/>
            </a:r>
            <a:endParaRPr b="0" i="0" sz="1800" u="none" cap="none" strike="noStrike">
              <a:solidFill>
                <a:srgbClr val="000000"/>
              </a:solidFill>
              <a:latin typeface="Consolas"/>
              <a:ea typeface="Consolas"/>
              <a:cs typeface="Consolas"/>
              <a:sym typeface="Consola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g32036c06824_0_83"/>
          <p:cNvSpPr txBox="1"/>
          <p:nvPr/>
        </p:nvSpPr>
        <p:spPr>
          <a:xfrm>
            <a:off x="720725" y="445600"/>
            <a:ext cx="69567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LOOP DETECTION</a:t>
            </a:r>
            <a:endParaRPr b="0" i="0" sz="1700" u="none" cap="none" strike="noStrike">
              <a:solidFill>
                <a:srgbClr val="6D9EEB"/>
              </a:solidFill>
              <a:latin typeface="Roboto Black"/>
              <a:ea typeface="Roboto Black"/>
              <a:cs typeface="Roboto Black"/>
              <a:sym typeface="Roboto Black"/>
            </a:endParaRPr>
          </a:p>
        </p:txBody>
      </p:sp>
      <p:sp>
        <p:nvSpPr>
          <p:cNvPr id="196" name="Google Shape;196;g32036c06824_0_83"/>
          <p:cNvSpPr txBox="1"/>
          <p:nvPr/>
        </p:nvSpPr>
        <p:spPr>
          <a:xfrm>
            <a:off x="172449" y="1053975"/>
            <a:ext cx="541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2060"/>
                </a:solidFill>
                <a:latin typeface="Consolas"/>
                <a:ea typeface="Consolas"/>
                <a:cs typeface="Consolas"/>
                <a:sym typeface="Consolas"/>
              </a:rPr>
              <a:t>Explanation</a:t>
            </a:r>
            <a:endParaRPr b="0" i="0" sz="1400" u="none" cap="none" strike="noStrike">
              <a:solidFill>
                <a:srgbClr val="000000"/>
              </a:solidFill>
              <a:latin typeface="Arial"/>
              <a:ea typeface="Arial"/>
              <a:cs typeface="Arial"/>
              <a:sym typeface="Arial"/>
            </a:endParaRPr>
          </a:p>
        </p:txBody>
      </p:sp>
      <p:sp>
        <p:nvSpPr>
          <p:cNvPr id="197" name="Google Shape;197;g32036c06824_0_83"/>
          <p:cNvSpPr txBox="1"/>
          <p:nvPr/>
        </p:nvSpPr>
        <p:spPr>
          <a:xfrm>
            <a:off x="390826" y="1471675"/>
            <a:ext cx="83586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1. Initially, both `slow` and `fast` pointers point to the head (node 1).</a:t>
            </a:r>
            <a:endParaRPr b="0" i="0" sz="16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2. Iteration 1: `slow` moves to node 2, `fast` moves to node 3.</a:t>
            </a:r>
            <a:endParaRPr b="0" i="0" sz="16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3. Iteration 2: `slow` moves to node 3, `fast` moves to node 5.</a:t>
            </a:r>
            <a:endParaRPr b="0" i="0" sz="16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4. Iteration 3: `slow` moves to node 4, `fast` moves to node 7.</a:t>
            </a:r>
            <a:endParaRPr b="0" i="0" sz="16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5. Iteration 4: `slow` moves to node 5, `fast` moves to node 9.</a:t>
            </a:r>
            <a:endParaRPr b="0" i="0" sz="16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6. Iteration 5: `slow` moves to node 6, `fast` moves to node 6.</a:t>
            </a:r>
            <a:endParaRPr b="0" i="0" sz="16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7. At this point, `slow` and `fast` are both at node 6, and they meet. The algorithm returns "Loop Detected."</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1600"/>
              <a:buFont typeface="Arial"/>
              <a:buNone/>
            </a:pPr>
            <a:r>
              <a:t/>
            </a:r>
            <a:endParaRPr b="0" i="0" sz="1600" u="none" cap="none" strike="noStrike">
              <a:solidFill>
                <a:schemeClr val="dk1"/>
              </a:solidFill>
              <a:latin typeface="Consolas"/>
              <a:ea typeface="Consolas"/>
              <a:cs typeface="Consolas"/>
              <a:sym typeface="Consola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g32036c06824_0_89"/>
          <p:cNvSpPr txBox="1"/>
          <p:nvPr/>
        </p:nvSpPr>
        <p:spPr>
          <a:xfrm>
            <a:off x="720725" y="445600"/>
            <a:ext cx="69567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LOOP DETECTION</a:t>
            </a:r>
            <a:endParaRPr b="0" i="0" sz="1700" u="none" cap="none" strike="noStrike">
              <a:solidFill>
                <a:srgbClr val="6D9EEB"/>
              </a:solidFill>
              <a:latin typeface="Roboto Black"/>
              <a:ea typeface="Roboto Black"/>
              <a:cs typeface="Roboto Black"/>
              <a:sym typeface="Roboto Black"/>
            </a:endParaRPr>
          </a:p>
        </p:txBody>
      </p:sp>
      <p:sp>
        <p:nvSpPr>
          <p:cNvPr id="203" name="Google Shape;203;g32036c06824_0_89"/>
          <p:cNvSpPr txBox="1"/>
          <p:nvPr/>
        </p:nvSpPr>
        <p:spPr>
          <a:xfrm>
            <a:off x="172449" y="1053975"/>
            <a:ext cx="541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2060"/>
                </a:solidFill>
                <a:latin typeface="Consolas"/>
                <a:ea typeface="Consolas"/>
                <a:cs typeface="Consolas"/>
                <a:sym typeface="Consolas"/>
              </a:rPr>
              <a:t>Algorithm</a:t>
            </a:r>
            <a:endParaRPr b="0" i="0" sz="1400" u="none" cap="none" strike="noStrike">
              <a:solidFill>
                <a:srgbClr val="000000"/>
              </a:solidFill>
              <a:latin typeface="Arial"/>
              <a:ea typeface="Arial"/>
              <a:cs typeface="Arial"/>
              <a:sym typeface="Arial"/>
            </a:endParaRPr>
          </a:p>
        </p:txBody>
      </p:sp>
      <p:sp>
        <p:nvSpPr>
          <p:cNvPr id="204" name="Google Shape;204;g32036c06824_0_89"/>
          <p:cNvSpPr txBox="1"/>
          <p:nvPr/>
        </p:nvSpPr>
        <p:spPr>
          <a:xfrm>
            <a:off x="390826" y="1471675"/>
            <a:ext cx="83586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5. If there is a loop in the linked list, the fast pointer will eventually catch up to the slow pointer within the loop. This is because it moves twice as fast and will "lap" the slow pointer within the loop.</a:t>
            </a:r>
            <a:endParaRPr b="0" i="0" sz="16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6. When the fast pointer equals the slow pointer, return "Loop Detected."</a:t>
            </a:r>
            <a:endParaRPr b="0" i="0" sz="1600" u="none" cap="none" strike="noStrike">
              <a:solidFill>
                <a:schemeClr val="dk1"/>
              </a:solidFill>
              <a:latin typeface="Consolas"/>
              <a:ea typeface="Consolas"/>
              <a:cs typeface="Consolas"/>
              <a:sym typeface="Consola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g32036c06824_0_97"/>
          <p:cNvSpPr txBox="1"/>
          <p:nvPr/>
        </p:nvSpPr>
        <p:spPr>
          <a:xfrm>
            <a:off x="720725" y="445600"/>
            <a:ext cx="69567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LOOP DETECTION</a:t>
            </a:r>
            <a:endParaRPr b="0" i="0" sz="1700" u="none" cap="none" strike="noStrike">
              <a:solidFill>
                <a:srgbClr val="6D9EEB"/>
              </a:solidFill>
              <a:latin typeface="Roboto Black"/>
              <a:ea typeface="Roboto Black"/>
              <a:cs typeface="Roboto Black"/>
              <a:sym typeface="Roboto Black"/>
            </a:endParaRPr>
          </a:p>
        </p:txBody>
      </p:sp>
      <p:sp>
        <p:nvSpPr>
          <p:cNvPr id="210" name="Google Shape;210;g32036c06824_0_97"/>
          <p:cNvSpPr txBox="1"/>
          <p:nvPr/>
        </p:nvSpPr>
        <p:spPr>
          <a:xfrm>
            <a:off x="172449" y="1053975"/>
            <a:ext cx="541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2060"/>
                </a:solidFill>
                <a:latin typeface="Consolas"/>
                <a:ea typeface="Consolas"/>
                <a:cs typeface="Consolas"/>
                <a:sym typeface="Consolas"/>
              </a:rPr>
              <a:t>Approach</a:t>
            </a:r>
            <a:endParaRPr b="0" i="0" sz="1400" u="none" cap="none" strike="noStrike">
              <a:solidFill>
                <a:srgbClr val="000000"/>
              </a:solidFill>
              <a:latin typeface="Arial"/>
              <a:ea typeface="Arial"/>
              <a:cs typeface="Arial"/>
              <a:sym typeface="Arial"/>
            </a:endParaRPr>
          </a:p>
        </p:txBody>
      </p:sp>
      <p:sp>
        <p:nvSpPr>
          <p:cNvPr id="211" name="Google Shape;211;g32036c06824_0_97"/>
          <p:cNvSpPr txBox="1"/>
          <p:nvPr/>
        </p:nvSpPr>
        <p:spPr>
          <a:xfrm>
            <a:off x="390826" y="1471675"/>
            <a:ext cx="83586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250000"/>
              </a:lnSpc>
              <a:spcBef>
                <a:spcPts val="0"/>
              </a:spcBef>
              <a:spcAft>
                <a:spcPts val="0"/>
              </a:spcAft>
              <a:buClr>
                <a:srgbClr val="000000"/>
              </a:buClr>
              <a:buSzPts val="1800"/>
              <a:buFont typeface="Arial"/>
              <a:buNone/>
            </a:pPr>
            <a:r>
              <a:rPr b="0" i="0" lang="en-GB" sz="1600" u="none" cap="none" strike="noStrike">
                <a:solidFill>
                  <a:srgbClr val="000000"/>
                </a:solidFill>
                <a:latin typeface="Consolas"/>
                <a:ea typeface="Consolas"/>
                <a:cs typeface="Consolas"/>
                <a:sym typeface="Consolas"/>
              </a:rPr>
              <a:t>Approach 1: Hashing</a:t>
            </a:r>
            <a:endParaRPr b="0" i="0" sz="1600" u="none" cap="none" strike="noStrike">
              <a:solidFill>
                <a:srgbClr val="000000"/>
              </a:solidFill>
              <a:latin typeface="Arial"/>
              <a:ea typeface="Arial"/>
              <a:cs typeface="Arial"/>
              <a:sym typeface="Arial"/>
            </a:endParaRPr>
          </a:p>
          <a:p>
            <a:pPr indent="0" lvl="0" marL="0" marR="0" rtl="0" algn="l">
              <a:lnSpc>
                <a:spcPct val="250000"/>
              </a:lnSpc>
              <a:spcBef>
                <a:spcPts val="0"/>
              </a:spcBef>
              <a:spcAft>
                <a:spcPts val="0"/>
              </a:spcAft>
              <a:buClr>
                <a:srgbClr val="000000"/>
              </a:buClr>
              <a:buSzPts val="1800"/>
              <a:buFont typeface="Arial"/>
              <a:buNone/>
            </a:pPr>
            <a:r>
              <a:rPr b="0" i="0" lang="en-GB" sz="1600" u="none" cap="none" strike="noStrike">
                <a:solidFill>
                  <a:srgbClr val="000000"/>
                </a:solidFill>
                <a:latin typeface="Consolas"/>
                <a:ea typeface="Consolas"/>
                <a:cs typeface="Consolas"/>
                <a:sym typeface="Consolas"/>
              </a:rPr>
              <a:t>Approach 2: Floyd's Cycle Detection</a:t>
            </a:r>
            <a:endParaRPr b="0" i="0" sz="1600" u="none" cap="none" strike="noStrike">
              <a:solidFill>
                <a:srgbClr val="000000"/>
              </a:solidFill>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1800"/>
              <a:buFont typeface="Arial"/>
              <a:buNone/>
            </a:pPr>
            <a:r>
              <a:t/>
            </a:r>
            <a:endParaRPr b="0" i="0" sz="1600" u="none" cap="none" strike="noStrike">
              <a:solidFill>
                <a:schemeClr val="dk1"/>
              </a:solidFill>
              <a:latin typeface="Consolas"/>
              <a:ea typeface="Consolas"/>
              <a:cs typeface="Consolas"/>
              <a:sym typeface="Consola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g32036c06824_0_103"/>
          <p:cNvSpPr txBox="1"/>
          <p:nvPr/>
        </p:nvSpPr>
        <p:spPr>
          <a:xfrm>
            <a:off x="720725" y="445600"/>
            <a:ext cx="69567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LOOP DETECTION</a:t>
            </a:r>
            <a:endParaRPr b="0" i="0" sz="1700" u="none" cap="none" strike="noStrike">
              <a:solidFill>
                <a:srgbClr val="6D9EEB"/>
              </a:solidFill>
              <a:latin typeface="Roboto Black"/>
              <a:ea typeface="Roboto Black"/>
              <a:cs typeface="Roboto Black"/>
              <a:sym typeface="Roboto Black"/>
            </a:endParaRPr>
          </a:p>
        </p:txBody>
      </p:sp>
      <p:sp>
        <p:nvSpPr>
          <p:cNvPr id="217" name="Google Shape;217;g32036c06824_0_103"/>
          <p:cNvSpPr txBox="1"/>
          <p:nvPr/>
        </p:nvSpPr>
        <p:spPr>
          <a:xfrm>
            <a:off x="390826" y="1471675"/>
            <a:ext cx="83586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Hashing in loop detection involves using a hash function to map unique identifiers (e.g., memory addresses) of visited nodes to distinct values in a data structure (e.g., a HashSet). </a:t>
            </a:r>
            <a:endParaRPr b="0" i="0" sz="16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This allows efficient tracking and detection of previously visited nodes while traversing a linked list, helping identify loops by detecting nodes that appear more than once.</a:t>
            </a:r>
            <a:endParaRPr b="0" i="0" sz="1600" u="none" cap="none" strike="noStrike">
              <a:solidFill>
                <a:schemeClr val="dk1"/>
              </a:solidFill>
              <a:latin typeface="Consolas"/>
              <a:ea typeface="Consolas"/>
              <a:cs typeface="Consolas"/>
              <a:sym typeface="Consolas"/>
            </a:endParaRPr>
          </a:p>
        </p:txBody>
      </p:sp>
      <p:sp>
        <p:nvSpPr>
          <p:cNvPr id="218" name="Google Shape;218;g32036c06824_0_103"/>
          <p:cNvSpPr txBox="1"/>
          <p:nvPr/>
        </p:nvSpPr>
        <p:spPr>
          <a:xfrm>
            <a:off x="172450" y="1053975"/>
            <a:ext cx="71166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2060"/>
                </a:solidFill>
                <a:latin typeface="Consolas"/>
                <a:ea typeface="Consolas"/>
                <a:cs typeface="Consolas"/>
                <a:sym typeface="Consolas"/>
              </a:rPr>
              <a:t>Detect a loop in a linked list-hashing approach</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g32036c06824_0_109"/>
          <p:cNvSpPr txBox="1"/>
          <p:nvPr/>
        </p:nvSpPr>
        <p:spPr>
          <a:xfrm>
            <a:off x="720725" y="445600"/>
            <a:ext cx="69567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LOOP DETECTION</a:t>
            </a:r>
            <a:endParaRPr b="0" i="0" sz="1700" u="none" cap="none" strike="noStrike">
              <a:solidFill>
                <a:srgbClr val="6D9EEB"/>
              </a:solidFill>
              <a:latin typeface="Roboto Black"/>
              <a:ea typeface="Roboto Black"/>
              <a:cs typeface="Roboto Black"/>
              <a:sym typeface="Roboto Black"/>
            </a:endParaRPr>
          </a:p>
        </p:txBody>
      </p:sp>
      <p:sp>
        <p:nvSpPr>
          <p:cNvPr id="224" name="Google Shape;224;g32036c06824_0_109"/>
          <p:cNvSpPr txBox="1"/>
          <p:nvPr/>
        </p:nvSpPr>
        <p:spPr>
          <a:xfrm>
            <a:off x="390826" y="1471675"/>
            <a:ext cx="83586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detect a loop in a linked list using a hashing approach.</a:t>
            </a:r>
            <a:endParaRPr b="0" i="0" sz="16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Algorithm:</a:t>
            </a:r>
            <a:endParaRPr b="0" i="0" sz="1600" u="none" cap="none" strike="noStrike">
              <a:solidFill>
                <a:schemeClr val="dk1"/>
              </a:solidFill>
              <a:latin typeface="Arial"/>
              <a:ea typeface="Arial"/>
              <a:cs typeface="Arial"/>
              <a:sym typeface="Arial"/>
            </a:endParaRPr>
          </a:p>
          <a:p>
            <a:pPr indent="-330200" lvl="0" marL="342900" marR="0" rtl="0" algn="l">
              <a:lnSpc>
                <a:spcPct val="150000"/>
              </a:lnSpc>
              <a:spcBef>
                <a:spcPts val="0"/>
              </a:spcBef>
              <a:spcAft>
                <a:spcPts val="0"/>
              </a:spcAft>
              <a:buClr>
                <a:schemeClr val="dk1"/>
              </a:buClr>
              <a:buSzPts val="1600"/>
              <a:buFont typeface="Calibri"/>
              <a:buAutoNum type="arabicPeriod"/>
            </a:pPr>
            <a:r>
              <a:rPr b="0" i="0" lang="en-GB" sz="1600" u="none" cap="none" strike="noStrike">
                <a:solidFill>
                  <a:schemeClr val="dk1"/>
                </a:solidFill>
                <a:latin typeface="Consolas"/>
                <a:ea typeface="Consolas"/>
                <a:cs typeface="Consolas"/>
                <a:sym typeface="Consolas"/>
              </a:rPr>
              <a:t>In this approach, we use a HashSet to store the references of nodes as we traverse the linked list.</a:t>
            </a:r>
            <a:endParaRPr b="0" i="0" sz="1600" u="none" cap="none" strike="noStrike">
              <a:solidFill>
                <a:schemeClr val="dk1"/>
              </a:solidFill>
              <a:latin typeface="Arial"/>
              <a:ea typeface="Arial"/>
              <a:cs typeface="Arial"/>
              <a:sym typeface="Arial"/>
            </a:endParaRPr>
          </a:p>
          <a:p>
            <a:pPr indent="-330200" lvl="0" marL="342900" marR="0" rtl="0" algn="l">
              <a:lnSpc>
                <a:spcPct val="150000"/>
              </a:lnSpc>
              <a:spcBef>
                <a:spcPts val="0"/>
              </a:spcBef>
              <a:spcAft>
                <a:spcPts val="0"/>
              </a:spcAft>
              <a:buClr>
                <a:schemeClr val="dk1"/>
              </a:buClr>
              <a:buSzPts val="1600"/>
              <a:buFont typeface="Calibri"/>
              <a:buAutoNum type="arabicPeriod"/>
            </a:pPr>
            <a:r>
              <a:rPr b="0" i="0" lang="en-GB" sz="1600" u="none" cap="none" strike="noStrike">
                <a:solidFill>
                  <a:schemeClr val="dk1"/>
                </a:solidFill>
                <a:latin typeface="Consolas"/>
                <a:ea typeface="Consolas"/>
                <a:cs typeface="Consolas"/>
                <a:sym typeface="Consolas"/>
              </a:rPr>
              <a:t>If we encounter a node whose reference already exists in the HashSet, it means there is a loop in the linked list.</a:t>
            </a:r>
            <a:endParaRPr b="0" i="0" sz="1600" u="none" cap="none" strike="noStrike">
              <a:solidFill>
                <a:schemeClr val="dk1"/>
              </a:solidFill>
              <a:latin typeface="Arial"/>
              <a:ea typeface="Arial"/>
              <a:cs typeface="Arial"/>
              <a:sym typeface="Arial"/>
            </a:endParaRPr>
          </a:p>
          <a:p>
            <a:pPr indent="-330200" lvl="0" marL="342900" marR="0" rtl="0" algn="l">
              <a:lnSpc>
                <a:spcPct val="150000"/>
              </a:lnSpc>
              <a:spcBef>
                <a:spcPts val="0"/>
              </a:spcBef>
              <a:spcAft>
                <a:spcPts val="0"/>
              </a:spcAft>
              <a:buClr>
                <a:schemeClr val="dk1"/>
              </a:buClr>
              <a:buSzPts val="1600"/>
              <a:buFont typeface="Calibri"/>
              <a:buAutoNum type="arabicPeriod"/>
            </a:pPr>
            <a:r>
              <a:rPr b="0" i="0" lang="en-GB" sz="1600" u="none" cap="none" strike="noStrike">
                <a:solidFill>
                  <a:schemeClr val="dk1"/>
                </a:solidFill>
                <a:latin typeface="Consolas"/>
                <a:ea typeface="Consolas"/>
                <a:cs typeface="Consolas"/>
                <a:sym typeface="Consolas"/>
              </a:rPr>
              <a:t>Otherwise, we continue traversing the list until we reach the end.</a:t>
            </a:r>
            <a:endParaRPr b="0" i="0" sz="1600" u="none" cap="none" strike="noStrike">
              <a:solidFill>
                <a:schemeClr val="dk1"/>
              </a:solidFill>
              <a:latin typeface="Consolas"/>
              <a:ea typeface="Consolas"/>
              <a:cs typeface="Consolas"/>
              <a:sym typeface="Consolas"/>
            </a:endParaRPr>
          </a:p>
        </p:txBody>
      </p:sp>
      <p:sp>
        <p:nvSpPr>
          <p:cNvPr id="225" name="Google Shape;225;g32036c06824_0_109"/>
          <p:cNvSpPr txBox="1"/>
          <p:nvPr/>
        </p:nvSpPr>
        <p:spPr>
          <a:xfrm>
            <a:off x="172450" y="1053975"/>
            <a:ext cx="71166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2060"/>
                </a:solidFill>
                <a:latin typeface="Consolas"/>
                <a:ea typeface="Consolas"/>
                <a:cs typeface="Consolas"/>
                <a:sym typeface="Consolas"/>
              </a:rPr>
              <a:t>Detect a loop in a linked list-hashing approach</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g32036c06824_0_115"/>
          <p:cNvSpPr txBox="1"/>
          <p:nvPr/>
        </p:nvSpPr>
        <p:spPr>
          <a:xfrm>
            <a:off x="720725" y="445600"/>
            <a:ext cx="69567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LOOP DETECTION</a:t>
            </a:r>
            <a:endParaRPr b="0" i="0" sz="1700" u="none" cap="none" strike="noStrike">
              <a:solidFill>
                <a:srgbClr val="6D9EEB"/>
              </a:solidFill>
              <a:latin typeface="Roboto Black"/>
              <a:ea typeface="Roboto Black"/>
              <a:cs typeface="Roboto Black"/>
              <a:sym typeface="Roboto Black"/>
            </a:endParaRPr>
          </a:p>
        </p:txBody>
      </p:sp>
      <p:graphicFrame>
        <p:nvGraphicFramePr>
          <p:cNvPr id="231" name="Google Shape;231;g32036c06824_0_115"/>
          <p:cNvGraphicFramePr/>
          <p:nvPr/>
        </p:nvGraphicFramePr>
        <p:xfrm>
          <a:off x="102543" y="1169988"/>
          <a:ext cx="3000000" cy="3000000"/>
        </p:xfrm>
        <a:graphic>
          <a:graphicData uri="http://schemas.openxmlformats.org/drawingml/2006/table">
            <a:tbl>
              <a:tblPr bandRow="1" firstRow="1">
                <a:noFill/>
                <a:tableStyleId>{C6EA5A22-9332-4500-8856-F7733BD411E0}</a:tableStyleId>
              </a:tblPr>
              <a:tblGrid>
                <a:gridCol w="3802800"/>
                <a:gridCol w="4805425"/>
              </a:tblGrid>
              <a:tr h="3331275">
                <a:tc>
                  <a:txBody>
                    <a:bodyPr/>
                    <a:lstStyle/>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import java.util.*;</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public class LinkedList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static Node head;</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static class Node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int data;</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Node next;</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Node(int d)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data = d;</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next = null;</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static public void push(int new_data)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Node new_node = new Node(new_data);</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new_node.next = head;</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head = new_node;</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a:t>
                      </a:r>
                      <a:endParaRPr sz="1300" u="none" cap="none" strike="noStrike"/>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static boolean detectLoop(Node h)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HashSet &lt; Node &gt; s = new HashSet &lt; Node &gt;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while (h != null)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if (s.contains(h))</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return true;</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s.add(h);</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h = h.next;</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return false;</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t/>
                      </a:r>
                      <a:endParaRPr b="0" sz="1300" u="none" cap="none" strike="noStrike">
                        <a:solidFill>
                          <a:srgbClr val="000000"/>
                        </a:solidFill>
                        <a:latin typeface="Consolas"/>
                        <a:ea typeface="Consolas"/>
                        <a:cs typeface="Consolas"/>
                        <a:sym typeface="Consolas"/>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
        <p:nvSpPr>
          <p:cNvPr id="232" name="Google Shape;232;g32036c06824_0_115"/>
          <p:cNvSpPr txBox="1"/>
          <p:nvPr/>
        </p:nvSpPr>
        <p:spPr>
          <a:xfrm>
            <a:off x="172450" y="749175"/>
            <a:ext cx="71166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2060"/>
                </a:solidFill>
                <a:latin typeface="Consolas"/>
                <a:ea typeface="Consolas"/>
                <a:cs typeface="Consolas"/>
                <a:sym typeface="Consolas"/>
              </a:rPr>
              <a:t>Detect a loop in a linked list-hashing approach</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g32036c06824_0_122"/>
          <p:cNvSpPr txBox="1"/>
          <p:nvPr/>
        </p:nvSpPr>
        <p:spPr>
          <a:xfrm>
            <a:off x="720725" y="445600"/>
            <a:ext cx="69567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LOOP DETECTION</a:t>
            </a:r>
            <a:endParaRPr b="0" i="0" sz="1700" u="none" cap="none" strike="noStrike">
              <a:solidFill>
                <a:srgbClr val="6D9EEB"/>
              </a:solidFill>
              <a:latin typeface="Roboto Black"/>
              <a:ea typeface="Roboto Black"/>
              <a:cs typeface="Roboto Black"/>
              <a:sym typeface="Roboto Black"/>
            </a:endParaRPr>
          </a:p>
        </p:txBody>
      </p:sp>
      <p:sp>
        <p:nvSpPr>
          <p:cNvPr id="238" name="Google Shape;238;g32036c06824_0_122"/>
          <p:cNvSpPr txBox="1"/>
          <p:nvPr/>
        </p:nvSpPr>
        <p:spPr>
          <a:xfrm>
            <a:off x="852250" y="1270875"/>
            <a:ext cx="7138800" cy="3386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GB" sz="1300" u="none" cap="none" strike="noStrike">
                <a:solidFill>
                  <a:schemeClr val="dk1"/>
                </a:solidFill>
                <a:latin typeface="Consolas"/>
                <a:ea typeface="Consolas"/>
                <a:cs typeface="Consolas"/>
                <a:sym typeface="Consolas"/>
              </a:rPr>
              <a:t>  public static void main(String[] args) {</a:t>
            </a:r>
            <a:endParaRPr b="1" i="0" sz="13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300"/>
              <a:buFont typeface="Arial"/>
              <a:buNone/>
            </a:pPr>
            <a:r>
              <a:rPr b="0" i="0" lang="en-GB" sz="1300" u="none" cap="none" strike="noStrike">
                <a:solidFill>
                  <a:schemeClr val="dk1"/>
                </a:solidFill>
                <a:latin typeface="Consolas"/>
                <a:ea typeface="Consolas"/>
                <a:cs typeface="Consolas"/>
                <a:sym typeface="Consolas"/>
              </a:rPr>
              <a:t>    LinkedList llist = new LinkedList();</a:t>
            </a:r>
            <a:endParaRPr b="1" i="0" sz="13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300"/>
              <a:buFont typeface="Arial"/>
              <a:buNone/>
            </a:pPr>
            <a:r>
              <a:rPr b="0" i="0" lang="en-GB" sz="1300" u="none" cap="none" strike="noStrike">
                <a:solidFill>
                  <a:schemeClr val="dk1"/>
                </a:solidFill>
                <a:latin typeface="Consolas"/>
                <a:ea typeface="Consolas"/>
                <a:cs typeface="Consolas"/>
                <a:sym typeface="Consolas"/>
              </a:rPr>
              <a:t>    llist.push(20);</a:t>
            </a:r>
            <a:endParaRPr b="1" i="0" sz="13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300"/>
              <a:buFont typeface="Arial"/>
              <a:buNone/>
            </a:pPr>
            <a:r>
              <a:rPr b="0" i="0" lang="en-GB" sz="1300" u="none" cap="none" strike="noStrike">
                <a:solidFill>
                  <a:schemeClr val="dk1"/>
                </a:solidFill>
                <a:latin typeface="Consolas"/>
                <a:ea typeface="Consolas"/>
                <a:cs typeface="Consolas"/>
                <a:sym typeface="Consolas"/>
              </a:rPr>
              <a:t>    llist.push(4);</a:t>
            </a:r>
            <a:endParaRPr b="1" i="0" sz="13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300"/>
              <a:buFont typeface="Arial"/>
              <a:buNone/>
            </a:pPr>
            <a:r>
              <a:rPr b="0" i="0" lang="en-GB" sz="1300" u="none" cap="none" strike="noStrike">
                <a:solidFill>
                  <a:schemeClr val="dk1"/>
                </a:solidFill>
                <a:latin typeface="Consolas"/>
                <a:ea typeface="Consolas"/>
                <a:cs typeface="Consolas"/>
                <a:sym typeface="Consolas"/>
              </a:rPr>
              <a:t>    llist.push(15);</a:t>
            </a:r>
            <a:endParaRPr b="1" i="0" sz="13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300"/>
              <a:buFont typeface="Arial"/>
              <a:buNone/>
            </a:pPr>
            <a:r>
              <a:rPr b="0" i="0" lang="en-GB" sz="1300" u="none" cap="none" strike="noStrike">
                <a:solidFill>
                  <a:schemeClr val="dk1"/>
                </a:solidFill>
                <a:latin typeface="Consolas"/>
                <a:ea typeface="Consolas"/>
                <a:cs typeface="Consolas"/>
                <a:sym typeface="Consolas"/>
              </a:rPr>
              <a:t>    llist.push(10);</a:t>
            </a:r>
            <a:endParaRPr b="1" i="0" sz="13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300"/>
              <a:buFont typeface="Arial"/>
              <a:buNone/>
            </a:pPr>
            <a:r>
              <a:rPr b="0" i="0" lang="en-GB" sz="1300" u="none" cap="none" strike="noStrike">
                <a:solidFill>
                  <a:schemeClr val="dk1"/>
                </a:solidFill>
                <a:latin typeface="Consolas"/>
                <a:ea typeface="Consolas"/>
                <a:cs typeface="Consolas"/>
                <a:sym typeface="Consolas"/>
              </a:rPr>
              <a:t>    llist.head.next.next.next.next = llist.head;</a:t>
            </a:r>
            <a:endParaRPr b="1" i="0" sz="13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300"/>
              <a:buFont typeface="Arial"/>
              <a:buNone/>
            </a:pPr>
            <a:r>
              <a:rPr b="0" i="0" lang="en-GB" sz="1300" u="none" cap="none" strike="noStrike">
                <a:solidFill>
                  <a:schemeClr val="dk1"/>
                </a:solidFill>
                <a:latin typeface="Consolas"/>
                <a:ea typeface="Consolas"/>
                <a:cs typeface="Consolas"/>
                <a:sym typeface="Consolas"/>
              </a:rPr>
              <a:t>    if (detectLoop(head))</a:t>
            </a:r>
            <a:endParaRPr b="1" i="0" sz="13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300"/>
              <a:buFont typeface="Arial"/>
              <a:buNone/>
            </a:pPr>
            <a:r>
              <a:rPr b="0" i="0" lang="en-GB" sz="1300" u="none" cap="none" strike="noStrike">
                <a:solidFill>
                  <a:schemeClr val="dk1"/>
                </a:solidFill>
                <a:latin typeface="Consolas"/>
                <a:ea typeface="Consolas"/>
                <a:cs typeface="Consolas"/>
                <a:sym typeface="Consolas"/>
              </a:rPr>
              <a:t>      System.out.println("Loop Exists");</a:t>
            </a:r>
            <a:endParaRPr b="1" i="0" sz="13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300"/>
              <a:buFont typeface="Arial"/>
              <a:buNone/>
            </a:pPr>
            <a:r>
              <a:rPr b="0" i="0" lang="en-GB" sz="1300" u="none" cap="none" strike="noStrike">
                <a:solidFill>
                  <a:schemeClr val="dk1"/>
                </a:solidFill>
                <a:latin typeface="Consolas"/>
                <a:ea typeface="Consolas"/>
                <a:cs typeface="Consolas"/>
                <a:sym typeface="Consolas"/>
              </a:rPr>
              <a:t>    else</a:t>
            </a:r>
            <a:endParaRPr b="1" i="0" sz="13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300"/>
              <a:buFont typeface="Arial"/>
              <a:buNone/>
            </a:pPr>
            <a:r>
              <a:rPr b="0" i="0" lang="en-GB" sz="1300" u="none" cap="none" strike="noStrike">
                <a:solidFill>
                  <a:schemeClr val="dk1"/>
                </a:solidFill>
                <a:latin typeface="Consolas"/>
                <a:ea typeface="Consolas"/>
                <a:cs typeface="Consolas"/>
                <a:sym typeface="Consolas"/>
              </a:rPr>
              <a:t>      System.out.println("Loop doesn't exists");</a:t>
            </a:r>
            <a:endParaRPr b="1" i="0" sz="13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300"/>
              <a:buFont typeface="Arial"/>
              <a:buNone/>
            </a:pPr>
            <a:r>
              <a:rPr b="0" i="0" lang="en-GB" sz="1300" u="none" cap="none" strike="noStrike">
                <a:solidFill>
                  <a:schemeClr val="dk1"/>
                </a:solidFill>
                <a:latin typeface="Consolas"/>
                <a:ea typeface="Consolas"/>
                <a:cs typeface="Consolas"/>
                <a:sym typeface="Consolas"/>
              </a:rPr>
              <a:t>  }</a:t>
            </a:r>
            <a:endParaRPr b="1" i="0" sz="13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300"/>
              <a:buFont typeface="Arial"/>
              <a:buNone/>
            </a:pPr>
            <a:r>
              <a:rPr b="0" i="0" lang="en-GB" sz="1300" u="none" cap="none" strike="noStrike">
                <a:solidFill>
                  <a:schemeClr val="dk1"/>
                </a:solidFill>
                <a:latin typeface="Consolas"/>
                <a:ea typeface="Consolas"/>
                <a:cs typeface="Consolas"/>
                <a:sym typeface="Consolas"/>
              </a:rPr>
              <a:t>}</a:t>
            </a:r>
            <a:endParaRPr b="1" i="0" sz="1300" u="none" cap="none" strike="noStrike">
              <a:solidFill>
                <a:schemeClr val="lt1"/>
              </a:solidFill>
              <a:latin typeface="Calibri"/>
              <a:ea typeface="Calibri"/>
              <a:cs typeface="Calibri"/>
              <a:sym typeface="Calibri"/>
            </a:endParaRPr>
          </a:p>
        </p:txBody>
      </p:sp>
      <p:sp>
        <p:nvSpPr>
          <p:cNvPr id="239" name="Google Shape;239;g32036c06824_0_122"/>
          <p:cNvSpPr txBox="1"/>
          <p:nvPr/>
        </p:nvSpPr>
        <p:spPr>
          <a:xfrm>
            <a:off x="172450" y="901575"/>
            <a:ext cx="71166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2060"/>
                </a:solidFill>
                <a:latin typeface="Consolas"/>
                <a:ea typeface="Consolas"/>
                <a:cs typeface="Consolas"/>
                <a:sym typeface="Consolas"/>
              </a:rPr>
              <a:t>Detect a loop in a linked list-hashing approach</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g32036c06824_0_134"/>
          <p:cNvSpPr txBox="1"/>
          <p:nvPr/>
        </p:nvSpPr>
        <p:spPr>
          <a:xfrm>
            <a:off x="720725" y="445600"/>
            <a:ext cx="69567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LOOP DETECTION</a:t>
            </a:r>
            <a:endParaRPr b="0" i="0" sz="1700" u="none" cap="none" strike="noStrike">
              <a:solidFill>
                <a:srgbClr val="6D9EEB"/>
              </a:solidFill>
              <a:latin typeface="Roboto Black"/>
              <a:ea typeface="Roboto Black"/>
              <a:cs typeface="Roboto Black"/>
              <a:sym typeface="Roboto Black"/>
            </a:endParaRPr>
          </a:p>
        </p:txBody>
      </p:sp>
      <p:sp>
        <p:nvSpPr>
          <p:cNvPr id="245" name="Google Shape;245;g32036c06824_0_134"/>
          <p:cNvSpPr txBox="1"/>
          <p:nvPr/>
        </p:nvSpPr>
        <p:spPr>
          <a:xfrm>
            <a:off x="852250" y="1270875"/>
            <a:ext cx="7138800" cy="1908600"/>
          </a:xfrm>
          <a:prstGeom prst="rect">
            <a:avLst/>
          </a:prstGeom>
          <a:noFill/>
          <a:ln>
            <a:noFill/>
          </a:ln>
        </p:spPr>
        <p:txBody>
          <a:bodyPr anchorCtr="0" anchor="t" bIns="91425" lIns="91425" spcFirstLastPara="1" rIns="91425" wrap="square" tIns="91425">
            <a:spAutoFit/>
          </a:bodyPr>
          <a:lstStyle/>
          <a:p>
            <a:pPr indent="0" lvl="0" marL="0" marR="0" rtl="0" algn="l">
              <a:lnSpc>
                <a:spcPct val="20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Time Complexity: O(n) where n is the number of nodes in the linked list.</a:t>
            </a:r>
            <a:endParaRPr b="0" i="0" sz="1600" u="none" cap="none" strike="noStrike">
              <a:solidFill>
                <a:schemeClr val="dk1"/>
              </a:solidFill>
              <a:latin typeface="Arial"/>
              <a:ea typeface="Arial"/>
              <a:cs typeface="Arial"/>
              <a:sym typeface="Arial"/>
            </a:endParaRPr>
          </a:p>
          <a:p>
            <a:pPr indent="0" lvl="0" marL="0" marR="0" rtl="0" algn="l">
              <a:lnSpc>
                <a:spcPct val="20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Space Complexity: O(n) for the HashSet to store the visited nodes.</a:t>
            </a:r>
            <a:endParaRPr b="0" i="0" sz="1600" u="none" cap="none" strike="noStrike">
              <a:solidFill>
                <a:schemeClr val="dk1"/>
              </a:solidFill>
              <a:latin typeface="Consolas"/>
              <a:ea typeface="Consolas"/>
              <a:cs typeface="Consolas"/>
              <a:sym typeface="Consolas"/>
            </a:endParaRPr>
          </a:p>
        </p:txBody>
      </p:sp>
      <p:sp>
        <p:nvSpPr>
          <p:cNvPr id="246" name="Google Shape;246;g32036c06824_0_134"/>
          <p:cNvSpPr txBox="1"/>
          <p:nvPr/>
        </p:nvSpPr>
        <p:spPr>
          <a:xfrm>
            <a:off x="172450" y="901575"/>
            <a:ext cx="71166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2060"/>
                </a:solidFill>
                <a:latin typeface="Consolas"/>
                <a:ea typeface="Consolas"/>
                <a:cs typeface="Consolas"/>
                <a:sym typeface="Consolas"/>
              </a:rPr>
              <a:t>Detect a loop in a linked list-hashing approach</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g32036c06824_0_140"/>
          <p:cNvSpPr txBox="1"/>
          <p:nvPr/>
        </p:nvSpPr>
        <p:spPr>
          <a:xfrm>
            <a:off x="720725" y="445600"/>
            <a:ext cx="69567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LOOP DETECTION</a:t>
            </a:r>
            <a:endParaRPr b="0" i="0" sz="1700" u="none" cap="none" strike="noStrike">
              <a:solidFill>
                <a:srgbClr val="6D9EEB"/>
              </a:solidFill>
              <a:latin typeface="Roboto Black"/>
              <a:ea typeface="Roboto Black"/>
              <a:cs typeface="Roboto Black"/>
              <a:sym typeface="Roboto Black"/>
            </a:endParaRPr>
          </a:p>
        </p:txBody>
      </p:sp>
      <p:sp>
        <p:nvSpPr>
          <p:cNvPr id="252" name="Google Shape;252;g32036c06824_0_140"/>
          <p:cNvSpPr txBox="1"/>
          <p:nvPr/>
        </p:nvSpPr>
        <p:spPr>
          <a:xfrm>
            <a:off x="390826" y="1471675"/>
            <a:ext cx="83586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000000"/>
              </a:buClr>
              <a:buSzPts val="1600"/>
              <a:buFont typeface="Arial"/>
              <a:buNone/>
            </a:pPr>
            <a:r>
              <a:rPr b="0" i="0" lang="en-GB" sz="1600" u="none" cap="none" strike="noStrike">
                <a:solidFill>
                  <a:schemeClr val="dk1"/>
                </a:solidFill>
                <a:latin typeface="Consolas"/>
                <a:ea typeface="Consolas"/>
                <a:cs typeface="Consolas"/>
                <a:sym typeface="Consolas"/>
              </a:rPr>
              <a:t>detect a loop in a linked list using Floyd's Cycle Detection.</a:t>
            </a:r>
            <a:endParaRPr b="0" i="0" sz="16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rPr b="0" i="0" lang="en-GB" sz="1600" u="none" cap="none" strike="noStrike">
                <a:solidFill>
                  <a:schemeClr val="dk1"/>
                </a:solidFill>
                <a:latin typeface="Consolas"/>
                <a:ea typeface="Consolas"/>
                <a:cs typeface="Consolas"/>
                <a:sym typeface="Consolas"/>
              </a:rPr>
              <a:t>Algorithm:</a:t>
            </a:r>
            <a:endParaRPr b="0" i="0" sz="1600" u="none" cap="none" strike="noStrike">
              <a:solidFill>
                <a:schemeClr val="dk1"/>
              </a:solidFill>
              <a:latin typeface="Arial"/>
              <a:ea typeface="Arial"/>
              <a:cs typeface="Arial"/>
              <a:sym typeface="Arial"/>
            </a:endParaRPr>
          </a:p>
          <a:p>
            <a:pPr indent="-330200" lvl="0" marL="342900" marR="0" rtl="0" algn="l">
              <a:lnSpc>
                <a:spcPct val="150000"/>
              </a:lnSpc>
              <a:spcBef>
                <a:spcPts val="0"/>
              </a:spcBef>
              <a:spcAft>
                <a:spcPts val="0"/>
              </a:spcAft>
              <a:buClr>
                <a:schemeClr val="dk1"/>
              </a:buClr>
              <a:buSzPts val="1600"/>
              <a:buFont typeface="Calibri"/>
              <a:buAutoNum type="arabicPeriod"/>
            </a:pPr>
            <a:r>
              <a:rPr b="0" i="0" lang="en-GB" sz="1600" u="none" cap="none" strike="noStrike">
                <a:solidFill>
                  <a:schemeClr val="dk1"/>
                </a:solidFill>
                <a:latin typeface="Consolas"/>
                <a:ea typeface="Consolas"/>
                <a:cs typeface="Consolas"/>
                <a:sym typeface="Consolas"/>
              </a:rPr>
              <a:t>In this approach, we use two pointers - one slow (tortoise) and one fast (hare).</a:t>
            </a:r>
            <a:endParaRPr b="0" i="0" sz="1600" u="none" cap="none" strike="noStrike">
              <a:solidFill>
                <a:schemeClr val="dk1"/>
              </a:solidFill>
              <a:latin typeface="Arial"/>
              <a:ea typeface="Arial"/>
              <a:cs typeface="Arial"/>
              <a:sym typeface="Arial"/>
            </a:endParaRPr>
          </a:p>
          <a:p>
            <a:pPr indent="-330200" lvl="0" marL="342900" marR="0" rtl="0" algn="l">
              <a:lnSpc>
                <a:spcPct val="150000"/>
              </a:lnSpc>
              <a:spcBef>
                <a:spcPts val="0"/>
              </a:spcBef>
              <a:spcAft>
                <a:spcPts val="0"/>
              </a:spcAft>
              <a:buClr>
                <a:schemeClr val="dk1"/>
              </a:buClr>
              <a:buSzPts val="1600"/>
              <a:buFont typeface="Calibri"/>
              <a:buAutoNum type="arabicPeriod"/>
            </a:pPr>
            <a:r>
              <a:rPr b="0" i="0" lang="en-GB" sz="1600" u="none" cap="none" strike="noStrike">
                <a:solidFill>
                  <a:schemeClr val="dk1"/>
                </a:solidFill>
                <a:latin typeface="Consolas"/>
                <a:ea typeface="Consolas"/>
                <a:cs typeface="Consolas"/>
                <a:sym typeface="Consolas"/>
              </a:rPr>
              <a:t>The slow pointer moves one step at a time, while the fast pointer moves two steps at a time.</a:t>
            </a:r>
            <a:endParaRPr b="0" i="0" sz="1600" u="none" cap="none" strike="noStrike">
              <a:solidFill>
                <a:schemeClr val="dk1"/>
              </a:solidFill>
              <a:latin typeface="Arial"/>
              <a:ea typeface="Arial"/>
              <a:cs typeface="Arial"/>
              <a:sym typeface="Arial"/>
            </a:endParaRPr>
          </a:p>
          <a:p>
            <a:pPr indent="-330200" lvl="0" marL="342900" marR="0" rtl="0" algn="l">
              <a:lnSpc>
                <a:spcPct val="150000"/>
              </a:lnSpc>
              <a:spcBef>
                <a:spcPts val="0"/>
              </a:spcBef>
              <a:spcAft>
                <a:spcPts val="0"/>
              </a:spcAft>
              <a:buClr>
                <a:schemeClr val="dk1"/>
              </a:buClr>
              <a:buSzPts val="1600"/>
              <a:buFont typeface="Calibri"/>
              <a:buAutoNum type="arabicPeriod"/>
            </a:pPr>
            <a:r>
              <a:rPr b="0" i="0" lang="en-GB" sz="1600" u="none" cap="none" strike="noStrike">
                <a:solidFill>
                  <a:schemeClr val="dk1"/>
                </a:solidFill>
                <a:latin typeface="Consolas"/>
                <a:ea typeface="Consolas"/>
                <a:cs typeface="Consolas"/>
                <a:sym typeface="Consolas"/>
              </a:rPr>
              <a:t>If there is a loop in the linked list, the fast pointer will eventually catch up to the slow pointer.</a:t>
            </a:r>
            <a:endParaRPr b="0" i="0" sz="1600" u="none" cap="none" strike="noStrike">
              <a:solidFill>
                <a:schemeClr val="dk1"/>
              </a:solidFill>
              <a:latin typeface="Arial"/>
              <a:ea typeface="Arial"/>
              <a:cs typeface="Arial"/>
              <a:sym typeface="Arial"/>
            </a:endParaRPr>
          </a:p>
          <a:p>
            <a:pPr indent="-330200" lvl="0" marL="342900" marR="0" rtl="0" algn="l">
              <a:lnSpc>
                <a:spcPct val="150000"/>
              </a:lnSpc>
              <a:spcBef>
                <a:spcPts val="0"/>
              </a:spcBef>
              <a:spcAft>
                <a:spcPts val="0"/>
              </a:spcAft>
              <a:buClr>
                <a:schemeClr val="dk1"/>
              </a:buClr>
              <a:buSzPts val="1600"/>
              <a:buFont typeface="Calibri"/>
              <a:buAutoNum type="arabicPeriod"/>
            </a:pPr>
            <a:r>
              <a:rPr b="0" i="0" lang="en-GB" sz="1600" u="none" cap="none" strike="noStrike">
                <a:solidFill>
                  <a:schemeClr val="dk1"/>
                </a:solidFill>
                <a:latin typeface="Consolas"/>
                <a:ea typeface="Consolas"/>
                <a:cs typeface="Consolas"/>
                <a:sym typeface="Consolas"/>
              </a:rPr>
              <a:t>If there is no loop, the fast pointer will reach the end of the list.</a:t>
            </a:r>
            <a:endParaRPr b="0" i="0" sz="1600" u="none" cap="none" strike="noStrike">
              <a:solidFill>
                <a:schemeClr val="dk1"/>
              </a:solidFill>
              <a:latin typeface="Consolas"/>
              <a:ea typeface="Consolas"/>
              <a:cs typeface="Consolas"/>
              <a:sym typeface="Consolas"/>
            </a:endParaRPr>
          </a:p>
        </p:txBody>
      </p:sp>
      <p:sp>
        <p:nvSpPr>
          <p:cNvPr id="253" name="Google Shape;253;g32036c06824_0_140"/>
          <p:cNvSpPr txBox="1"/>
          <p:nvPr/>
        </p:nvSpPr>
        <p:spPr>
          <a:xfrm>
            <a:off x="172450" y="1053975"/>
            <a:ext cx="71166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2060"/>
                </a:solidFill>
                <a:latin typeface="Consolas"/>
                <a:ea typeface="Consolas"/>
                <a:cs typeface="Consolas"/>
                <a:sym typeface="Consolas"/>
              </a:rPr>
              <a:t>Detect a loop in a linked list-Floyd’s Detection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g32036c06824_0_146"/>
          <p:cNvSpPr txBox="1"/>
          <p:nvPr/>
        </p:nvSpPr>
        <p:spPr>
          <a:xfrm>
            <a:off x="720725" y="445600"/>
            <a:ext cx="69567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LOOP DETECTION</a:t>
            </a:r>
            <a:endParaRPr b="0" i="0" sz="1700" u="none" cap="none" strike="noStrike">
              <a:solidFill>
                <a:srgbClr val="6D9EEB"/>
              </a:solidFill>
              <a:latin typeface="Roboto Black"/>
              <a:ea typeface="Roboto Black"/>
              <a:cs typeface="Roboto Black"/>
              <a:sym typeface="Roboto Black"/>
            </a:endParaRPr>
          </a:p>
        </p:txBody>
      </p:sp>
      <p:graphicFrame>
        <p:nvGraphicFramePr>
          <p:cNvPr id="259" name="Google Shape;259;g32036c06824_0_146"/>
          <p:cNvGraphicFramePr/>
          <p:nvPr/>
        </p:nvGraphicFramePr>
        <p:xfrm>
          <a:off x="102543" y="1093788"/>
          <a:ext cx="3000000" cy="3000000"/>
        </p:xfrm>
        <a:graphic>
          <a:graphicData uri="http://schemas.openxmlformats.org/drawingml/2006/table">
            <a:tbl>
              <a:tblPr bandRow="1" firstRow="1">
                <a:noFill/>
                <a:tableStyleId>{C6EA5A22-9332-4500-8856-F7733BD411E0}</a:tableStyleId>
              </a:tblPr>
              <a:tblGrid>
                <a:gridCol w="3802800"/>
                <a:gridCol w="4805425"/>
              </a:tblGrid>
              <a:tr h="3331275">
                <a:tc>
                  <a:txBody>
                    <a:bodyPr/>
                    <a:lstStyle/>
                    <a:p>
                      <a:pPr indent="0" lvl="0" marL="0" marR="0" rtl="0" algn="l">
                        <a:lnSpc>
                          <a:spcPct val="115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public class LinkedList {</a:t>
                      </a:r>
                      <a:endParaRPr b="0" sz="1300" u="none" cap="none" strike="noStrike">
                        <a:solidFill>
                          <a:srgbClr val="000000"/>
                        </a:solidFill>
                        <a:latin typeface="Consolas"/>
                        <a:ea typeface="Consolas"/>
                        <a:cs typeface="Consolas"/>
                        <a:sym typeface="Consolas"/>
                      </a:endParaRPr>
                    </a:p>
                    <a:p>
                      <a:pPr indent="0" lvl="0" marL="0" marR="0" rtl="0" algn="l">
                        <a:lnSpc>
                          <a:spcPct val="115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//1.Node structure</a:t>
                      </a:r>
                      <a:endParaRPr b="0" sz="1300" u="none" cap="none" strike="noStrike">
                        <a:solidFill>
                          <a:srgbClr val="000000"/>
                        </a:solidFill>
                        <a:latin typeface="Consolas"/>
                        <a:ea typeface="Consolas"/>
                        <a:cs typeface="Consolas"/>
                        <a:sym typeface="Consolas"/>
                      </a:endParaRPr>
                    </a:p>
                    <a:p>
                      <a:pPr indent="0" lvl="0" marL="0" marR="0" rtl="0" algn="l">
                        <a:lnSpc>
                          <a:spcPct val="115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static class Node {</a:t>
                      </a:r>
                      <a:endParaRPr b="0" sz="1300" u="none" cap="none" strike="noStrike">
                        <a:solidFill>
                          <a:srgbClr val="000000"/>
                        </a:solidFill>
                        <a:latin typeface="Consolas"/>
                        <a:ea typeface="Consolas"/>
                        <a:cs typeface="Consolas"/>
                        <a:sym typeface="Consolas"/>
                      </a:endParaRPr>
                    </a:p>
                    <a:p>
                      <a:pPr indent="0" lvl="0" marL="0" marR="0" rtl="0" algn="l">
                        <a:lnSpc>
                          <a:spcPct val="115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int data;</a:t>
                      </a:r>
                      <a:endParaRPr b="0" sz="1300" u="none" cap="none" strike="noStrike">
                        <a:solidFill>
                          <a:srgbClr val="000000"/>
                        </a:solidFill>
                        <a:latin typeface="Consolas"/>
                        <a:ea typeface="Consolas"/>
                        <a:cs typeface="Consolas"/>
                        <a:sym typeface="Consolas"/>
                      </a:endParaRPr>
                    </a:p>
                    <a:p>
                      <a:pPr indent="0" lvl="0" marL="0" marR="0" rtl="0" algn="l">
                        <a:lnSpc>
                          <a:spcPct val="115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Node next;</a:t>
                      </a:r>
                      <a:endParaRPr b="0" sz="1300" u="none" cap="none" strike="noStrike">
                        <a:solidFill>
                          <a:srgbClr val="000000"/>
                        </a:solidFill>
                        <a:latin typeface="Consolas"/>
                        <a:ea typeface="Consolas"/>
                        <a:cs typeface="Consolas"/>
                        <a:sym typeface="Consolas"/>
                      </a:endParaRPr>
                    </a:p>
                    <a:p>
                      <a:pPr indent="0" lvl="0" marL="0" marR="0" rtl="0" algn="l">
                        <a:lnSpc>
                          <a:spcPct val="115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Node(int d) {</a:t>
                      </a:r>
                      <a:endParaRPr b="0" sz="1300" u="none" cap="none" strike="noStrike">
                        <a:solidFill>
                          <a:srgbClr val="000000"/>
                        </a:solidFill>
                        <a:latin typeface="Consolas"/>
                        <a:ea typeface="Consolas"/>
                        <a:cs typeface="Consolas"/>
                        <a:sym typeface="Consolas"/>
                      </a:endParaRPr>
                    </a:p>
                    <a:p>
                      <a:pPr indent="0" lvl="0" marL="0" marR="0" rtl="0" algn="l">
                        <a:lnSpc>
                          <a:spcPct val="115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data = d;</a:t>
                      </a:r>
                      <a:endParaRPr b="0" sz="1300" u="none" cap="none" strike="noStrike">
                        <a:solidFill>
                          <a:srgbClr val="000000"/>
                        </a:solidFill>
                        <a:latin typeface="Consolas"/>
                        <a:ea typeface="Consolas"/>
                        <a:cs typeface="Consolas"/>
                        <a:sym typeface="Consolas"/>
                      </a:endParaRPr>
                    </a:p>
                    <a:p>
                      <a:pPr indent="0" lvl="0" marL="0" marR="0" rtl="0" algn="l">
                        <a:lnSpc>
                          <a:spcPct val="115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next = null;</a:t>
                      </a:r>
                      <a:endParaRPr b="0" sz="1300" u="none" cap="none" strike="noStrike">
                        <a:solidFill>
                          <a:srgbClr val="000000"/>
                        </a:solidFill>
                        <a:latin typeface="Consolas"/>
                        <a:ea typeface="Consolas"/>
                        <a:cs typeface="Consolas"/>
                        <a:sym typeface="Consolas"/>
                      </a:endParaRPr>
                    </a:p>
                    <a:p>
                      <a:pPr indent="0" lvl="0" marL="0" marR="0" rtl="0" algn="l">
                        <a:lnSpc>
                          <a:spcPct val="115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	}</a:t>
                      </a:r>
                      <a:endParaRPr b="0" sz="1300" u="none" cap="none" strike="noStrike">
                        <a:solidFill>
                          <a:srgbClr val="000000"/>
                        </a:solidFill>
                        <a:latin typeface="Consolas"/>
                        <a:ea typeface="Consolas"/>
                        <a:cs typeface="Consolas"/>
                        <a:sym typeface="Consolas"/>
                      </a:endParaRPr>
                    </a:p>
                    <a:p>
                      <a:pPr indent="0" lvl="0" marL="0" marR="0" rtl="0" algn="l">
                        <a:lnSpc>
                          <a:spcPct val="115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//2.push operation</a:t>
                      </a:r>
                      <a:endParaRPr b="0" sz="1300" u="none" cap="none" strike="noStrike">
                        <a:solidFill>
                          <a:srgbClr val="000000"/>
                        </a:solidFill>
                        <a:latin typeface="Consolas"/>
                        <a:ea typeface="Consolas"/>
                        <a:cs typeface="Consolas"/>
                        <a:sym typeface="Consolas"/>
                      </a:endParaRPr>
                    </a:p>
                    <a:p>
                      <a:pPr indent="0" lvl="0" marL="0" marR="0" rtl="0" algn="l">
                        <a:lnSpc>
                          <a:spcPct val="115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Node head;</a:t>
                      </a:r>
                      <a:endParaRPr b="0" sz="1300" u="none" cap="none" strike="noStrike">
                        <a:solidFill>
                          <a:srgbClr val="000000"/>
                        </a:solidFill>
                        <a:latin typeface="Consolas"/>
                        <a:ea typeface="Consolas"/>
                        <a:cs typeface="Consolas"/>
                        <a:sym typeface="Consolas"/>
                      </a:endParaRPr>
                    </a:p>
                    <a:p>
                      <a:pPr indent="0" lvl="0" marL="0" marR="0" rtl="0" algn="l">
                        <a:lnSpc>
                          <a:spcPct val="115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void push(int newData) {</a:t>
                      </a:r>
                      <a:endParaRPr b="0" sz="1300" u="none" cap="none" strike="noStrike">
                        <a:solidFill>
                          <a:srgbClr val="000000"/>
                        </a:solidFill>
                        <a:latin typeface="Consolas"/>
                        <a:ea typeface="Consolas"/>
                        <a:cs typeface="Consolas"/>
                        <a:sym typeface="Consolas"/>
                      </a:endParaRPr>
                    </a:p>
                    <a:p>
                      <a:pPr indent="0" lvl="0" marL="0" marR="0" rtl="0" algn="l">
                        <a:lnSpc>
                          <a:spcPct val="115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Node newNode = new Node(newData);</a:t>
                      </a:r>
                      <a:endParaRPr b="0" sz="1300" u="none" cap="none" strike="noStrike">
                        <a:solidFill>
                          <a:srgbClr val="000000"/>
                        </a:solidFill>
                        <a:latin typeface="Consolas"/>
                        <a:ea typeface="Consolas"/>
                        <a:cs typeface="Consolas"/>
                        <a:sym typeface="Consolas"/>
                      </a:endParaRPr>
                    </a:p>
                    <a:p>
                      <a:pPr indent="0" lvl="0" marL="0" marR="0" rtl="0" algn="l">
                        <a:lnSpc>
                          <a:spcPct val="115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newNode.next = head;</a:t>
                      </a:r>
                      <a:endParaRPr b="0" sz="1300" u="none" cap="none" strike="noStrike">
                        <a:solidFill>
                          <a:srgbClr val="000000"/>
                        </a:solidFill>
                        <a:latin typeface="Consolas"/>
                        <a:ea typeface="Consolas"/>
                        <a:cs typeface="Consolas"/>
                        <a:sym typeface="Consolas"/>
                      </a:endParaRPr>
                    </a:p>
                    <a:p>
                      <a:pPr indent="0" lvl="0" marL="0" marR="0" rtl="0" algn="l">
                        <a:lnSpc>
                          <a:spcPct val="115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head = newNode;</a:t>
                      </a:r>
                      <a:endParaRPr b="0" sz="1300" u="none" cap="none" strike="noStrike">
                        <a:solidFill>
                          <a:srgbClr val="000000"/>
                        </a:solidFill>
                        <a:latin typeface="Consolas"/>
                        <a:ea typeface="Consolas"/>
                        <a:cs typeface="Consolas"/>
                        <a:sym typeface="Consolas"/>
                      </a:endParaRPr>
                    </a:p>
                    <a:p>
                      <a:pPr indent="0" lvl="0" marL="0" marR="0" rtl="0" algn="l">
                        <a:lnSpc>
                          <a:spcPct val="115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 </a:t>
                      </a:r>
                      <a:endParaRPr b="0" sz="1300" u="none" cap="none" strike="noStrike">
                        <a:solidFill>
                          <a:srgbClr val="000000"/>
                        </a:solidFill>
                        <a:latin typeface="Consolas"/>
                        <a:ea typeface="Consolas"/>
                        <a:cs typeface="Consolas"/>
                        <a:sym typeface="Consolas"/>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15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//3.detect loop</a:t>
                      </a:r>
                      <a:endParaRPr b="0" sz="1300" u="none" cap="none" strike="noStrike">
                        <a:solidFill>
                          <a:srgbClr val="000000"/>
                        </a:solidFill>
                        <a:latin typeface="Consolas"/>
                        <a:ea typeface="Consolas"/>
                        <a:cs typeface="Consolas"/>
                        <a:sym typeface="Consolas"/>
                      </a:endParaRPr>
                    </a:p>
                    <a:p>
                      <a:pPr indent="0" lvl="0" marL="0" marR="0" rtl="0" algn="l">
                        <a:lnSpc>
                          <a:spcPct val="115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void detectLoopAndPrint() {</a:t>
                      </a:r>
                      <a:endParaRPr b="0" sz="1300" u="none" cap="none" strike="noStrike">
                        <a:solidFill>
                          <a:srgbClr val="000000"/>
                        </a:solidFill>
                        <a:latin typeface="Consolas"/>
                        <a:ea typeface="Consolas"/>
                        <a:cs typeface="Consolas"/>
                        <a:sym typeface="Consolas"/>
                      </a:endParaRPr>
                    </a:p>
                    <a:p>
                      <a:pPr indent="0" lvl="0" marL="0" marR="0" rtl="0" algn="l">
                        <a:lnSpc>
                          <a:spcPct val="115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Node slow = head, fast = head;</a:t>
                      </a:r>
                      <a:endParaRPr b="0" sz="1300" u="none" cap="none" strike="noStrike">
                        <a:solidFill>
                          <a:srgbClr val="000000"/>
                        </a:solidFill>
                        <a:latin typeface="Consolas"/>
                        <a:ea typeface="Consolas"/>
                        <a:cs typeface="Consolas"/>
                        <a:sym typeface="Consolas"/>
                      </a:endParaRPr>
                    </a:p>
                    <a:p>
                      <a:pPr indent="0" lvl="0" marL="0" marR="0" rtl="0" algn="l">
                        <a:lnSpc>
                          <a:spcPct val="115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while (slow != null &amp;&amp; fast != null &amp;&amp; fast.next != null) {</a:t>
                      </a:r>
                      <a:endParaRPr b="0" sz="1300" u="none" cap="none" strike="noStrike">
                        <a:solidFill>
                          <a:srgbClr val="000000"/>
                        </a:solidFill>
                        <a:latin typeface="Consolas"/>
                        <a:ea typeface="Consolas"/>
                        <a:cs typeface="Consolas"/>
                        <a:sym typeface="Consolas"/>
                      </a:endParaRPr>
                    </a:p>
                    <a:p>
                      <a:pPr indent="0" lvl="0" marL="0" marR="0" rtl="0" algn="l">
                        <a:lnSpc>
                          <a:spcPct val="115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slow = slow.next;</a:t>
                      </a:r>
                      <a:endParaRPr b="0" sz="1300" u="none" cap="none" strike="noStrike">
                        <a:solidFill>
                          <a:srgbClr val="000000"/>
                        </a:solidFill>
                        <a:latin typeface="Consolas"/>
                        <a:ea typeface="Consolas"/>
                        <a:cs typeface="Consolas"/>
                        <a:sym typeface="Consolas"/>
                      </a:endParaRPr>
                    </a:p>
                    <a:p>
                      <a:pPr indent="0" lvl="0" marL="0" marR="0" rtl="0" algn="l">
                        <a:lnSpc>
                          <a:spcPct val="115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fast = fast.next.next;</a:t>
                      </a:r>
                      <a:endParaRPr b="0" sz="1300" u="none" cap="none" strike="noStrike">
                        <a:solidFill>
                          <a:srgbClr val="000000"/>
                        </a:solidFill>
                        <a:latin typeface="Consolas"/>
                        <a:ea typeface="Consolas"/>
                        <a:cs typeface="Consolas"/>
                        <a:sym typeface="Consolas"/>
                      </a:endParaRPr>
                    </a:p>
                    <a:p>
                      <a:pPr indent="0" lvl="0" marL="0" marR="0" rtl="0" algn="l">
                        <a:lnSpc>
                          <a:spcPct val="115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if (slow == fast) {</a:t>
                      </a:r>
                      <a:endParaRPr b="0" sz="1300" u="none" cap="none" strike="noStrike">
                        <a:solidFill>
                          <a:srgbClr val="000000"/>
                        </a:solidFill>
                        <a:latin typeface="Consolas"/>
                        <a:ea typeface="Consolas"/>
                        <a:cs typeface="Consolas"/>
                        <a:sym typeface="Consolas"/>
                      </a:endParaRPr>
                    </a:p>
                    <a:p>
                      <a:pPr indent="0" lvl="0" marL="0" marR="0" rtl="0" algn="l">
                        <a:lnSpc>
                          <a:spcPct val="115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System.out.println("Loop found");</a:t>
                      </a:r>
                      <a:endParaRPr b="0" sz="1300" u="none" cap="none" strike="noStrike">
                        <a:solidFill>
                          <a:srgbClr val="000000"/>
                        </a:solidFill>
                        <a:latin typeface="Consolas"/>
                        <a:ea typeface="Consolas"/>
                        <a:cs typeface="Consolas"/>
                        <a:sym typeface="Consolas"/>
                      </a:endParaRPr>
                    </a:p>
                    <a:p>
                      <a:pPr indent="0" lvl="0" marL="0" marR="0" rtl="0" algn="l">
                        <a:lnSpc>
                          <a:spcPct val="115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return;</a:t>
                      </a:r>
                      <a:endParaRPr b="0" sz="1300" u="none" cap="none" strike="noStrike">
                        <a:solidFill>
                          <a:srgbClr val="000000"/>
                        </a:solidFill>
                        <a:latin typeface="Consolas"/>
                        <a:ea typeface="Consolas"/>
                        <a:cs typeface="Consolas"/>
                        <a:sym typeface="Consolas"/>
                      </a:endParaRPr>
                    </a:p>
                    <a:p>
                      <a:pPr indent="0" lvl="0" marL="0" marR="0" rtl="0" algn="l">
                        <a:lnSpc>
                          <a:spcPct val="115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a:t>
                      </a:r>
                      <a:endParaRPr b="0" sz="1300" u="none" cap="none" strike="noStrike">
                        <a:solidFill>
                          <a:srgbClr val="000000"/>
                        </a:solidFill>
                        <a:latin typeface="Consolas"/>
                        <a:ea typeface="Consolas"/>
                        <a:cs typeface="Consolas"/>
                        <a:sym typeface="Consolas"/>
                      </a:endParaRPr>
                    </a:p>
                    <a:p>
                      <a:pPr indent="0" lvl="0" marL="0" marR="0" rtl="0" algn="l">
                        <a:lnSpc>
                          <a:spcPct val="115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a:t>
                      </a:r>
                      <a:endParaRPr b="0" sz="1300" u="none" cap="none" strike="noStrike">
                        <a:solidFill>
                          <a:srgbClr val="000000"/>
                        </a:solidFill>
                        <a:latin typeface="Consolas"/>
                        <a:ea typeface="Consolas"/>
                        <a:cs typeface="Consolas"/>
                        <a:sym typeface="Consolas"/>
                      </a:endParaRPr>
                    </a:p>
                    <a:p>
                      <a:pPr indent="0" lvl="0" marL="0" marR="0" rtl="0" algn="l">
                        <a:lnSpc>
                          <a:spcPct val="115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System.out.println("Loop not found");</a:t>
                      </a:r>
                      <a:endParaRPr b="0" sz="1300" u="none" cap="none" strike="noStrike">
                        <a:solidFill>
                          <a:srgbClr val="000000"/>
                        </a:solidFill>
                        <a:latin typeface="Consolas"/>
                        <a:ea typeface="Consolas"/>
                        <a:cs typeface="Consolas"/>
                        <a:sym typeface="Consolas"/>
                      </a:endParaRPr>
                    </a:p>
                    <a:p>
                      <a:pPr indent="0" lvl="0" marL="0" marR="0" rtl="0" algn="l">
                        <a:lnSpc>
                          <a:spcPct val="115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a:t>
                      </a:r>
                      <a:endParaRPr b="0" sz="1300" u="none" cap="none" strike="noStrike">
                        <a:solidFill>
                          <a:srgbClr val="000000"/>
                        </a:solidFill>
                        <a:latin typeface="Consolas"/>
                        <a:ea typeface="Consolas"/>
                        <a:cs typeface="Consolas"/>
                        <a:sym typeface="Consolas"/>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
        <p:nvSpPr>
          <p:cNvPr id="260" name="Google Shape;260;g32036c06824_0_146"/>
          <p:cNvSpPr txBox="1"/>
          <p:nvPr/>
        </p:nvSpPr>
        <p:spPr>
          <a:xfrm>
            <a:off x="172450" y="749175"/>
            <a:ext cx="71166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2060"/>
                </a:solidFill>
                <a:latin typeface="Consolas"/>
                <a:ea typeface="Consolas"/>
                <a:cs typeface="Consolas"/>
                <a:sym typeface="Consolas"/>
              </a:rPr>
              <a:t>Detect a loop in a linked list-Floyd’s Detection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g31fef00ada2_0_6"/>
          <p:cNvSpPr txBox="1"/>
          <p:nvPr/>
        </p:nvSpPr>
        <p:spPr>
          <a:xfrm>
            <a:off x="172450" y="1053975"/>
            <a:ext cx="71166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2060"/>
                </a:solidFill>
                <a:latin typeface="Consolas"/>
                <a:ea typeface="Consolas"/>
                <a:cs typeface="Consolas"/>
                <a:sym typeface="Consolas"/>
              </a:rPr>
              <a:t>Detect a loop in a linked list-Floyd’s Detection</a:t>
            </a:r>
            <a:endParaRPr b="0" i="0" sz="1400" u="none" cap="none" strike="noStrike">
              <a:solidFill>
                <a:srgbClr val="000000"/>
              </a:solidFill>
              <a:latin typeface="Arial"/>
              <a:ea typeface="Arial"/>
              <a:cs typeface="Arial"/>
              <a:sym typeface="Arial"/>
            </a:endParaRPr>
          </a:p>
        </p:txBody>
      </p:sp>
      <p:sp>
        <p:nvSpPr>
          <p:cNvPr id="266" name="Google Shape;266;g31fef00ada2_0_6"/>
          <p:cNvSpPr txBox="1"/>
          <p:nvPr/>
        </p:nvSpPr>
        <p:spPr>
          <a:xfrm>
            <a:off x="720725" y="445600"/>
            <a:ext cx="69567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LOOP DETECTION</a:t>
            </a:r>
            <a:endParaRPr b="0" i="0" sz="1700" u="none" cap="none" strike="noStrike">
              <a:solidFill>
                <a:srgbClr val="6D9EEB"/>
              </a:solidFill>
              <a:latin typeface="Roboto Black"/>
              <a:ea typeface="Roboto Black"/>
              <a:cs typeface="Roboto Black"/>
              <a:sym typeface="Roboto Black"/>
            </a:endParaRPr>
          </a:p>
        </p:txBody>
      </p:sp>
      <p:graphicFrame>
        <p:nvGraphicFramePr>
          <p:cNvPr id="267" name="Google Shape;267;g31fef00ada2_0_6"/>
          <p:cNvGraphicFramePr/>
          <p:nvPr/>
        </p:nvGraphicFramePr>
        <p:xfrm>
          <a:off x="1717898" y="1598325"/>
          <a:ext cx="3000000" cy="3000000"/>
        </p:xfrm>
        <a:graphic>
          <a:graphicData uri="http://schemas.openxmlformats.org/drawingml/2006/table">
            <a:tbl>
              <a:tblPr bandRow="1" firstRow="1">
                <a:noFill/>
                <a:tableStyleId>{C6EA5A22-9332-4500-8856-F7733BD411E0}</a:tableStyleId>
              </a:tblPr>
              <a:tblGrid>
                <a:gridCol w="5238300"/>
              </a:tblGrid>
              <a:tr h="370850">
                <a:tc>
                  <a:txBody>
                    <a:bodyPr/>
                    <a:lstStyle/>
                    <a:p>
                      <a:pPr indent="0" lvl="0" marL="0" marR="0" rtl="0" algn="l">
                        <a:lnSpc>
                          <a:spcPct val="115000"/>
                        </a:lnSpc>
                        <a:spcBef>
                          <a:spcPts val="0"/>
                        </a:spcBef>
                        <a:spcAft>
                          <a:spcPts val="0"/>
                        </a:spcAft>
                        <a:buClr>
                          <a:srgbClr val="000000"/>
                        </a:buClr>
                        <a:buSzPts val="1100"/>
                        <a:buFont typeface="Arial"/>
                        <a:buNone/>
                      </a:pPr>
                      <a:r>
                        <a:rPr b="0" lang="en-GB" sz="1400" u="none" cap="none" strike="noStrike">
                          <a:solidFill>
                            <a:srgbClr val="000000"/>
                          </a:solidFill>
                          <a:latin typeface="Consolas"/>
                          <a:ea typeface="Consolas"/>
                          <a:cs typeface="Consolas"/>
                          <a:sym typeface="Consolas"/>
                        </a:rPr>
                        <a:t>//4.main method</a:t>
                      </a:r>
                      <a:endParaRPr b="0" sz="1400" u="none" cap="none" strike="noStrike">
                        <a:solidFill>
                          <a:srgbClr val="000000"/>
                        </a:solidFill>
                        <a:latin typeface="Consolas"/>
                        <a:ea typeface="Consolas"/>
                        <a:cs typeface="Consolas"/>
                        <a:sym typeface="Consolas"/>
                      </a:endParaRPr>
                    </a:p>
                    <a:p>
                      <a:pPr indent="0" lvl="0" marL="0" marR="0" rtl="0" algn="l">
                        <a:lnSpc>
                          <a:spcPct val="115000"/>
                        </a:lnSpc>
                        <a:spcBef>
                          <a:spcPts val="0"/>
                        </a:spcBef>
                        <a:spcAft>
                          <a:spcPts val="0"/>
                        </a:spcAft>
                        <a:buClr>
                          <a:srgbClr val="000000"/>
                        </a:buClr>
                        <a:buSzPts val="1100"/>
                        <a:buFont typeface="Arial"/>
                        <a:buNone/>
                      </a:pPr>
                      <a:r>
                        <a:rPr b="0" lang="en-GB" sz="1400" u="none" cap="none" strike="noStrike">
                          <a:solidFill>
                            <a:srgbClr val="000000"/>
                          </a:solidFill>
                          <a:latin typeface="Consolas"/>
                          <a:ea typeface="Consolas"/>
                          <a:cs typeface="Consolas"/>
                          <a:sym typeface="Consolas"/>
                        </a:rPr>
                        <a:t>public static void main(String[] args) {</a:t>
                      </a:r>
                      <a:endParaRPr b="0" sz="1400" u="none" cap="none" strike="noStrike">
                        <a:solidFill>
                          <a:srgbClr val="000000"/>
                        </a:solidFill>
                        <a:latin typeface="Consolas"/>
                        <a:ea typeface="Consolas"/>
                        <a:cs typeface="Consolas"/>
                        <a:sym typeface="Consolas"/>
                      </a:endParaRPr>
                    </a:p>
                    <a:p>
                      <a:pPr indent="0" lvl="0" marL="0" marR="0" rtl="0" algn="l">
                        <a:lnSpc>
                          <a:spcPct val="115000"/>
                        </a:lnSpc>
                        <a:spcBef>
                          <a:spcPts val="0"/>
                        </a:spcBef>
                        <a:spcAft>
                          <a:spcPts val="0"/>
                        </a:spcAft>
                        <a:buClr>
                          <a:srgbClr val="000000"/>
                        </a:buClr>
                        <a:buSzPts val="1100"/>
                        <a:buFont typeface="Arial"/>
                        <a:buNone/>
                      </a:pPr>
                      <a:r>
                        <a:rPr b="0" lang="en-GB" sz="1400" u="none" cap="none" strike="noStrike">
                          <a:solidFill>
                            <a:srgbClr val="000000"/>
                          </a:solidFill>
                          <a:latin typeface="Consolas"/>
                          <a:ea typeface="Consolas"/>
                          <a:cs typeface="Consolas"/>
                          <a:sym typeface="Consolas"/>
                        </a:rPr>
                        <a:t>    	LinkedList list = new LinkedList();</a:t>
                      </a:r>
                      <a:endParaRPr b="0" sz="1400" u="none" cap="none" strike="noStrike">
                        <a:solidFill>
                          <a:srgbClr val="000000"/>
                        </a:solidFill>
                        <a:latin typeface="Consolas"/>
                        <a:ea typeface="Consolas"/>
                        <a:cs typeface="Consolas"/>
                        <a:sym typeface="Consolas"/>
                      </a:endParaRPr>
                    </a:p>
                    <a:p>
                      <a:pPr indent="0" lvl="0" marL="0" marR="0" rtl="0" algn="l">
                        <a:lnSpc>
                          <a:spcPct val="115000"/>
                        </a:lnSpc>
                        <a:spcBef>
                          <a:spcPts val="0"/>
                        </a:spcBef>
                        <a:spcAft>
                          <a:spcPts val="0"/>
                        </a:spcAft>
                        <a:buClr>
                          <a:srgbClr val="000000"/>
                        </a:buClr>
                        <a:buSzPts val="1100"/>
                        <a:buFont typeface="Arial"/>
                        <a:buNone/>
                      </a:pPr>
                      <a:r>
                        <a:rPr b="0" lang="en-GB" sz="1400" u="none" cap="none" strike="noStrike">
                          <a:solidFill>
                            <a:srgbClr val="000000"/>
                          </a:solidFill>
                          <a:latin typeface="Consolas"/>
                          <a:ea typeface="Consolas"/>
                          <a:cs typeface="Consolas"/>
                          <a:sym typeface="Consolas"/>
                        </a:rPr>
                        <a:t> </a:t>
                      </a:r>
                      <a:endParaRPr b="0" sz="1400" u="none" cap="none" strike="noStrike">
                        <a:solidFill>
                          <a:srgbClr val="000000"/>
                        </a:solidFill>
                        <a:latin typeface="Consolas"/>
                        <a:ea typeface="Consolas"/>
                        <a:cs typeface="Consolas"/>
                        <a:sym typeface="Consolas"/>
                      </a:endParaRPr>
                    </a:p>
                    <a:p>
                      <a:pPr indent="0" lvl="0" marL="0" marR="0" rtl="0" algn="l">
                        <a:lnSpc>
                          <a:spcPct val="115000"/>
                        </a:lnSpc>
                        <a:spcBef>
                          <a:spcPts val="0"/>
                        </a:spcBef>
                        <a:spcAft>
                          <a:spcPts val="0"/>
                        </a:spcAft>
                        <a:buClr>
                          <a:srgbClr val="000000"/>
                        </a:buClr>
                        <a:buSzPts val="1100"/>
                        <a:buFont typeface="Arial"/>
                        <a:buNone/>
                      </a:pPr>
                      <a:r>
                        <a:rPr b="0" lang="en-GB" sz="1400" u="none" cap="none" strike="noStrike">
                          <a:solidFill>
                            <a:srgbClr val="000000"/>
                          </a:solidFill>
                          <a:latin typeface="Consolas"/>
                          <a:ea typeface="Consolas"/>
                          <a:cs typeface="Consolas"/>
                          <a:sym typeface="Consolas"/>
                        </a:rPr>
                        <a:t>    	list.push(20);</a:t>
                      </a:r>
                      <a:endParaRPr b="0" sz="1400" u="none" cap="none" strike="noStrike">
                        <a:solidFill>
                          <a:srgbClr val="000000"/>
                        </a:solidFill>
                        <a:latin typeface="Consolas"/>
                        <a:ea typeface="Consolas"/>
                        <a:cs typeface="Consolas"/>
                        <a:sym typeface="Consolas"/>
                      </a:endParaRPr>
                    </a:p>
                    <a:p>
                      <a:pPr indent="0" lvl="0" marL="0" marR="0" rtl="0" algn="l">
                        <a:lnSpc>
                          <a:spcPct val="115000"/>
                        </a:lnSpc>
                        <a:spcBef>
                          <a:spcPts val="0"/>
                        </a:spcBef>
                        <a:spcAft>
                          <a:spcPts val="0"/>
                        </a:spcAft>
                        <a:buClr>
                          <a:srgbClr val="000000"/>
                        </a:buClr>
                        <a:buSzPts val="1100"/>
                        <a:buFont typeface="Arial"/>
                        <a:buNone/>
                      </a:pPr>
                      <a:r>
                        <a:rPr b="0" lang="en-GB" sz="1400" u="none" cap="none" strike="noStrike">
                          <a:solidFill>
                            <a:srgbClr val="000000"/>
                          </a:solidFill>
                          <a:latin typeface="Consolas"/>
                          <a:ea typeface="Consolas"/>
                          <a:cs typeface="Consolas"/>
                          <a:sym typeface="Consolas"/>
                        </a:rPr>
                        <a:t>    	list.push(41);</a:t>
                      </a:r>
                      <a:endParaRPr b="0" sz="1400" u="none" cap="none" strike="noStrike">
                        <a:solidFill>
                          <a:srgbClr val="000000"/>
                        </a:solidFill>
                        <a:latin typeface="Consolas"/>
                        <a:ea typeface="Consolas"/>
                        <a:cs typeface="Consolas"/>
                        <a:sym typeface="Consolas"/>
                      </a:endParaRPr>
                    </a:p>
                    <a:p>
                      <a:pPr indent="0" lvl="0" marL="0" marR="0" rtl="0" algn="l">
                        <a:lnSpc>
                          <a:spcPct val="115000"/>
                        </a:lnSpc>
                        <a:spcBef>
                          <a:spcPts val="0"/>
                        </a:spcBef>
                        <a:spcAft>
                          <a:spcPts val="0"/>
                        </a:spcAft>
                        <a:buClr>
                          <a:srgbClr val="000000"/>
                        </a:buClr>
                        <a:buSzPts val="1100"/>
                        <a:buFont typeface="Arial"/>
                        <a:buNone/>
                      </a:pPr>
                      <a:r>
                        <a:rPr b="0" lang="en-GB" sz="1400" u="none" cap="none" strike="noStrike">
                          <a:solidFill>
                            <a:srgbClr val="000000"/>
                          </a:solidFill>
                          <a:latin typeface="Consolas"/>
                          <a:ea typeface="Consolas"/>
                          <a:cs typeface="Consolas"/>
                          <a:sym typeface="Consolas"/>
                        </a:rPr>
                        <a:t>    	list.push(5);</a:t>
                      </a:r>
                      <a:endParaRPr b="0" sz="1400" u="none" cap="none" strike="noStrike">
                        <a:solidFill>
                          <a:srgbClr val="000000"/>
                        </a:solidFill>
                        <a:latin typeface="Consolas"/>
                        <a:ea typeface="Consolas"/>
                        <a:cs typeface="Consolas"/>
                        <a:sym typeface="Consolas"/>
                      </a:endParaRPr>
                    </a:p>
                    <a:p>
                      <a:pPr indent="0" lvl="0" marL="0" marR="0" rtl="0" algn="l">
                        <a:lnSpc>
                          <a:spcPct val="115000"/>
                        </a:lnSpc>
                        <a:spcBef>
                          <a:spcPts val="0"/>
                        </a:spcBef>
                        <a:spcAft>
                          <a:spcPts val="0"/>
                        </a:spcAft>
                        <a:buClr>
                          <a:srgbClr val="000000"/>
                        </a:buClr>
                        <a:buSzPts val="1100"/>
                        <a:buFont typeface="Arial"/>
                        <a:buNone/>
                      </a:pPr>
                      <a:r>
                        <a:rPr b="0" lang="en-GB" sz="1400" u="none" cap="none" strike="noStrike">
                          <a:solidFill>
                            <a:srgbClr val="000000"/>
                          </a:solidFill>
                          <a:latin typeface="Consolas"/>
                          <a:ea typeface="Consolas"/>
                          <a:cs typeface="Consolas"/>
                          <a:sym typeface="Consolas"/>
                        </a:rPr>
                        <a:t>    	list.push(10);</a:t>
                      </a:r>
                      <a:endParaRPr b="0" sz="1400" u="none" cap="none" strike="noStrike">
                        <a:solidFill>
                          <a:srgbClr val="000000"/>
                        </a:solidFill>
                        <a:latin typeface="Consolas"/>
                        <a:ea typeface="Consolas"/>
                        <a:cs typeface="Consolas"/>
                        <a:sym typeface="Consolas"/>
                      </a:endParaRPr>
                    </a:p>
                    <a:p>
                      <a:pPr indent="0" lvl="0" marL="0" marR="0" rtl="0" algn="l">
                        <a:lnSpc>
                          <a:spcPct val="115000"/>
                        </a:lnSpc>
                        <a:spcBef>
                          <a:spcPts val="0"/>
                        </a:spcBef>
                        <a:spcAft>
                          <a:spcPts val="0"/>
                        </a:spcAft>
                        <a:buClr>
                          <a:srgbClr val="000000"/>
                        </a:buClr>
                        <a:buSzPts val="1100"/>
                        <a:buFont typeface="Arial"/>
                        <a:buNone/>
                      </a:pPr>
                      <a:r>
                        <a:rPr b="0" lang="en-GB" sz="1400" u="none" cap="none" strike="noStrike">
                          <a:solidFill>
                            <a:srgbClr val="000000"/>
                          </a:solidFill>
                          <a:latin typeface="Consolas"/>
                          <a:ea typeface="Consolas"/>
                          <a:cs typeface="Consolas"/>
                          <a:sym typeface="Consolas"/>
                        </a:rPr>
                        <a:t>    	//5.Creating a loop for testing</a:t>
                      </a:r>
                      <a:endParaRPr b="0" sz="1400" u="none" cap="none" strike="noStrike">
                        <a:solidFill>
                          <a:srgbClr val="000000"/>
                        </a:solidFill>
                        <a:latin typeface="Consolas"/>
                        <a:ea typeface="Consolas"/>
                        <a:cs typeface="Consolas"/>
                        <a:sym typeface="Consolas"/>
                      </a:endParaRPr>
                    </a:p>
                    <a:p>
                      <a:pPr indent="0" lvl="0" marL="0" marR="0" rtl="0" algn="l">
                        <a:lnSpc>
                          <a:spcPct val="115000"/>
                        </a:lnSpc>
                        <a:spcBef>
                          <a:spcPts val="0"/>
                        </a:spcBef>
                        <a:spcAft>
                          <a:spcPts val="0"/>
                        </a:spcAft>
                        <a:buClr>
                          <a:srgbClr val="000000"/>
                        </a:buClr>
                        <a:buSzPts val="1100"/>
                        <a:buFont typeface="Arial"/>
                        <a:buNone/>
                      </a:pPr>
                      <a:r>
                        <a:rPr b="0" lang="en-GB" sz="1400" u="none" cap="none" strike="noStrike">
                          <a:solidFill>
                            <a:srgbClr val="000000"/>
                          </a:solidFill>
                          <a:latin typeface="Consolas"/>
                          <a:ea typeface="Consolas"/>
                          <a:cs typeface="Consolas"/>
                          <a:sym typeface="Consolas"/>
                        </a:rPr>
                        <a:t>    	list.head.next.next.next.next = list.head;</a:t>
                      </a:r>
                      <a:endParaRPr b="0" sz="1400" u="none" cap="none" strike="noStrike">
                        <a:solidFill>
                          <a:srgbClr val="000000"/>
                        </a:solidFill>
                        <a:latin typeface="Consolas"/>
                        <a:ea typeface="Consolas"/>
                        <a:cs typeface="Consolas"/>
                        <a:sym typeface="Consolas"/>
                      </a:endParaRPr>
                    </a:p>
                    <a:p>
                      <a:pPr indent="0" lvl="0" marL="0" marR="0" rtl="0" algn="l">
                        <a:lnSpc>
                          <a:spcPct val="115000"/>
                        </a:lnSpc>
                        <a:spcBef>
                          <a:spcPts val="0"/>
                        </a:spcBef>
                        <a:spcAft>
                          <a:spcPts val="0"/>
                        </a:spcAft>
                        <a:buClr>
                          <a:srgbClr val="000000"/>
                        </a:buClr>
                        <a:buSzPts val="1100"/>
                        <a:buFont typeface="Arial"/>
                        <a:buNone/>
                      </a:pPr>
                      <a:r>
                        <a:rPr b="0" lang="en-GB" sz="1400" u="none" cap="none" strike="noStrike">
                          <a:solidFill>
                            <a:srgbClr val="000000"/>
                          </a:solidFill>
                          <a:latin typeface="Consolas"/>
                          <a:ea typeface="Consolas"/>
                          <a:cs typeface="Consolas"/>
                          <a:sym typeface="Consolas"/>
                        </a:rPr>
                        <a:t>    	list.detectLoopAndPrint();</a:t>
                      </a:r>
                      <a:endParaRPr b="0" sz="1400" u="none" cap="none" strike="noStrike">
                        <a:solidFill>
                          <a:srgbClr val="000000"/>
                        </a:solidFill>
                        <a:latin typeface="Consolas"/>
                        <a:ea typeface="Consolas"/>
                        <a:cs typeface="Consolas"/>
                        <a:sym typeface="Consolas"/>
                      </a:endParaRPr>
                    </a:p>
                    <a:p>
                      <a:pPr indent="0" lvl="0" marL="0" marR="0" rtl="0" algn="l">
                        <a:lnSpc>
                          <a:spcPct val="115000"/>
                        </a:lnSpc>
                        <a:spcBef>
                          <a:spcPts val="0"/>
                        </a:spcBef>
                        <a:spcAft>
                          <a:spcPts val="0"/>
                        </a:spcAft>
                        <a:buClr>
                          <a:srgbClr val="000000"/>
                        </a:buClr>
                        <a:buSzPts val="1100"/>
                        <a:buFont typeface="Arial"/>
                        <a:buNone/>
                      </a:pPr>
                      <a:r>
                        <a:rPr b="0" lang="en-GB" sz="1400" u="none" cap="none" strike="noStrike">
                          <a:solidFill>
                            <a:srgbClr val="000000"/>
                          </a:solidFill>
                          <a:latin typeface="Consolas"/>
                          <a:ea typeface="Consolas"/>
                          <a:cs typeface="Consolas"/>
                          <a:sym typeface="Consolas"/>
                        </a:rPr>
                        <a:t>	}</a:t>
                      </a:r>
                      <a:endParaRPr b="0" sz="1400" u="none" cap="none" strike="noStrike">
                        <a:solidFill>
                          <a:srgbClr val="000000"/>
                        </a:solidFill>
                        <a:latin typeface="Consolas"/>
                        <a:ea typeface="Consolas"/>
                        <a:cs typeface="Consolas"/>
                        <a:sym typeface="Consolas"/>
                      </a:endParaRPr>
                    </a:p>
                    <a:p>
                      <a:pPr indent="0" lvl="0" marL="0" marR="0" rtl="0" algn="l">
                        <a:lnSpc>
                          <a:spcPct val="115000"/>
                        </a:lnSpc>
                        <a:spcBef>
                          <a:spcPts val="0"/>
                        </a:spcBef>
                        <a:spcAft>
                          <a:spcPts val="0"/>
                        </a:spcAft>
                        <a:buClr>
                          <a:srgbClr val="000000"/>
                        </a:buClr>
                        <a:buSzPts val="1100"/>
                        <a:buFont typeface="Arial"/>
                        <a:buNone/>
                      </a:pPr>
                      <a:r>
                        <a:rPr b="0" lang="en-GB" sz="1400" u="none" cap="none" strike="noStrike">
                          <a:solidFill>
                            <a:srgbClr val="000000"/>
                          </a:solidFill>
                          <a:latin typeface="Consolas"/>
                          <a:ea typeface="Consolas"/>
                          <a:cs typeface="Consolas"/>
                          <a:sym typeface="Consolas"/>
                        </a:rPr>
                        <a:t>}</a:t>
                      </a:r>
                      <a:endParaRPr b="0" sz="1400" u="none" cap="none" strike="noStrike">
                        <a:solidFill>
                          <a:srgbClr val="000000"/>
                        </a:solidFill>
                        <a:latin typeface="Consolas"/>
                        <a:ea typeface="Consolas"/>
                        <a:cs typeface="Consolas"/>
                        <a:sym typeface="Consolas"/>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g32036c06824_0_156"/>
          <p:cNvSpPr txBox="1"/>
          <p:nvPr/>
        </p:nvSpPr>
        <p:spPr>
          <a:xfrm>
            <a:off x="172450" y="1053975"/>
            <a:ext cx="8035800" cy="10773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2060"/>
              </a:buClr>
              <a:buSzPts val="2400"/>
              <a:buFont typeface="Arial"/>
              <a:buNone/>
            </a:pPr>
            <a:r>
              <a:rPr b="1" i="1" lang="en-GB" sz="1600" u="none" cap="none" strike="noStrike">
                <a:solidFill>
                  <a:srgbClr val="002060"/>
                </a:solidFill>
                <a:latin typeface="Consolas"/>
                <a:ea typeface="Consolas"/>
                <a:cs typeface="Consolas"/>
                <a:sym typeface="Consolas"/>
              </a:rPr>
              <a:t>Detect a loop in a linked list-Floyd’s Detection-Time &amp; space complexity</a:t>
            </a:r>
            <a:endParaRPr b="0" i="0" sz="1600" u="none" cap="none" strike="noStrike">
              <a:solidFill>
                <a:schemeClr val="dk1"/>
              </a:solidFill>
              <a:latin typeface="Calibri"/>
              <a:ea typeface="Calibri"/>
              <a:cs typeface="Calibri"/>
              <a:sym typeface="Calibri"/>
            </a:endParaRPr>
          </a:p>
          <a:p>
            <a:pPr indent="0" lvl="0" marL="0" marR="0" rtl="0" algn="l">
              <a:lnSpc>
                <a:spcPct val="150000"/>
              </a:lnSpc>
              <a:spcBef>
                <a:spcPts val="0"/>
              </a:spcBef>
              <a:spcAft>
                <a:spcPts val="0"/>
              </a:spcAft>
              <a:buClr>
                <a:srgbClr val="000000"/>
              </a:buClr>
              <a:buSzPts val="1800"/>
              <a:buFont typeface="Arial"/>
              <a:buNone/>
            </a:pPr>
            <a:r>
              <a:t/>
            </a:r>
            <a:endParaRPr b="1" i="0" sz="1600" u="none" cap="none" strike="noStrike">
              <a:solidFill>
                <a:srgbClr val="002060"/>
              </a:solidFill>
              <a:latin typeface="Consolas"/>
              <a:ea typeface="Consolas"/>
              <a:cs typeface="Consolas"/>
              <a:sym typeface="Consolas"/>
            </a:endParaRPr>
          </a:p>
        </p:txBody>
      </p:sp>
      <p:sp>
        <p:nvSpPr>
          <p:cNvPr id="273" name="Google Shape;273;g32036c06824_0_156"/>
          <p:cNvSpPr txBox="1"/>
          <p:nvPr/>
        </p:nvSpPr>
        <p:spPr>
          <a:xfrm>
            <a:off x="720725" y="445600"/>
            <a:ext cx="69567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LOOP DETECTION</a:t>
            </a:r>
            <a:endParaRPr b="0" i="0" sz="1700" u="none" cap="none" strike="noStrike">
              <a:solidFill>
                <a:srgbClr val="6D9EEB"/>
              </a:solidFill>
              <a:latin typeface="Roboto Black"/>
              <a:ea typeface="Roboto Black"/>
              <a:cs typeface="Roboto Black"/>
              <a:sym typeface="Roboto Black"/>
            </a:endParaRPr>
          </a:p>
        </p:txBody>
      </p:sp>
      <p:sp>
        <p:nvSpPr>
          <p:cNvPr id="274" name="Google Shape;274;g32036c06824_0_156"/>
          <p:cNvSpPr txBox="1"/>
          <p:nvPr/>
        </p:nvSpPr>
        <p:spPr>
          <a:xfrm>
            <a:off x="852250" y="1728075"/>
            <a:ext cx="7138800" cy="19086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600"/>
              <a:buFont typeface="Arial"/>
              <a:buNone/>
            </a:pPr>
            <a:r>
              <a:rPr b="0" i="0" lang="en-GB" sz="1600" u="none" cap="none" strike="noStrike">
                <a:solidFill>
                  <a:schemeClr val="dk1"/>
                </a:solidFill>
                <a:latin typeface="Consolas"/>
                <a:ea typeface="Consolas"/>
                <a:cs typeface="Consolas"/>
                <a:sym typeface="Consolas"/>
              </a:rPr>
              <a:t>Time Complexity: O(n) - Linear time complexity, where n is the number of nodes in the linked list.</a:t>
            </a:r>
            <a:endParaRPr b="0" i="0" sz="16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rPr b="0" i="0" lang="en-GB" sz="1600" u="none" cap="none" strike="noStrike">
                <a:solidFill>
                  <a:schemeClr val="dk1"/>
                </a:solidFill>
                <a:latin typeface="Consolas"/>
                <a:ea typeface="Consolas"/>
                <a:cs typeface="Consolas"/>
                <a:sym typeface="Consolas"/>
              </a:rPr>
              <a:t>Space Complexity: O(1) - Constant space complexity, as it uses a fixed amount of additional memory regardless of the size of the linked list.</a:t>
            </a:r>
            <a:endParaRPr b="0" i="0" sz="1600" u="none" cap="none" strike="noStrike">
              <a:solidFill>
                <a:schemeClr val="dk1"/>
              </a:solidFill>
              <a:latin typeface="Consolas"/>
              <a:ea typeface="Consolas"/>
              <a:cs typeface="Consolas"/>
              <a:sym typeface="Consolas"/>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g32036c06824_0_164"/>
          <p:cNvSpPr txBox="1"/>
          <p:nvPr/>
        </p:nvSpPr>
        <p:spPr>
          <a:xfrm>
            <a:off x="172450" y="1053975"/>
            <a:ext cx="71166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2060"/>
                </a:solidFill>
                <a:latin typeface="Consolas"/>
                <a:ea typeface="Consolas"/>
                <a:cs typeface="Consolas"/>
                <a:sym typeface="Consolas"/>
              </a:rPr>
              <a:t>Hashmap vs Floyd’s Detection</a:t>
            </a:r>
            <a:endParaRPr b="0" i="0" sz="1400" u="none" cap="none" strike="noStrike">
              <a:solidFill>
                <a:srgbClr val="000000"/>
              </a:solidFill>
              <a:latin typeface="Arial"/>
              <a:ea typeface="Arial"/>
              <a:cs typeface="Arial"/>
              <a:sym typeface="Arial"/>
            </a:endParaRPr>
          </a:p>
        </p:txBody>
      </p:sp>
      <p:sp>
        <p:nvSpPr>
          <p:cNvPr id="280" name="Google Shape;280;g32036c06824_0_164"/>
          <p:cNvSpPr txBox="1"/>
          <p:nvPr/>
        </p:nvSpPr>
        <p:spPr>
          <a:xfrm>
            <a:off x="720725" y="445600"/>
            <a:ext cx="69567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LOOP DETECTION</a:t>
            </a:r>
            <a:endParaRPr b="0" i="0" sz="1700" u="none" cap="none" strike="noStrike">
              <a:solidFill>
                <a:srgbClr val="6D9EEB"/>
              </a:solidFill>
              <a:latin typeface="Roboto Black"/>
              <a:ea typeface="Roboto Black"/>
              <a:cs typeface="Roboto Black"/>
              <a:sym typeface="Roboto Black"/>
            </a:endParaRPr>
          </a:p>
        </p:txBody>
      </p:sp>
      <p:sp>
        <p:nvSpPr>
          <p:cNvPr id="281" name="Google Shape;281;g32036c06824_0_164"/>
          <p:cNvSpPr txBox="1"/>
          <p:nvPr/>
        </p:nvSpPr>
        <p:spPr>
          <a:xfrm>
            <a:off x="852250" y="1728075"/>
            <a:ext cx="7138800" cy="26475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Detecting a loop in a linked list using a HashSet has a time and space complexity of O(n) due to the need to store all visited nodes, while Floyd's Cycle Detection has a time complexity of O(n) and a space complexity of O(1) as it uses two pointers, making it more memory-efficient for large lists. Floyd's algorithm is generally preferred for loop detection in linked lists.</a:t>
            </a:r>
            <a:endParaRPr b="0" i="0" sz="1600" u="none" cap="none" strike="noStrike">
              <a:solidFill>
                <a:schemeClr val="dk1"/>
              </a:solidFill>
              <a:latin typeface="Consolas"/>
              <a:ea typeface="Consolas"/>
              <a:cs typeface="Consolas"/>
              <a:sym typeface="Consolas"/>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g31fdec52c72_0_308"/>
          <p:cNvSpPr txBox="1"/>
          <p:nvPr/>
        </p:nvSpPr>
        <p:spPr>
          <a:xfrm>
            <a:off x="3315000" y="445600"/>
            <a:ext cx="325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INTERVIEW QUESTIONS</a:t>
            </a:r>
            <a:endParaRPr b="0" i="0" sz="1800" u="none" cap="none" strike="noStrike">
              <a:solidFill>
                <a:srgbClr val="6D9EEB"/>
              </a:solidFill>
              <a:latin typeface="Roboto Black"/>
              <a:ea typeface="Roboto Black"/>
              <a:cs typeface="Roboto Black"/>
              <a:sym typeface="Roboto Black"/>
            </a:endParaRPr>
          </a:p>
        </p:txBody>
      </p:sp>
      <p:sp>
        <p:nvSpPr>
          <p:cNvPr id="287" name="Google Shape;287;g31fdec52c72_0_308"/>
          <p:cNvSpPr txBox="1"/>
          <p:nvPr/>
        </p:nvSpPr>
        <p:spPr>
          <a:xfrm>
            <a:off x="1" y="1170007"/>
            <a:ext cx="10515600" cy="6099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FF0000"/>
              </a:buClr>
              <a:buSzPts val="2400"/>
              <a:buFont typeface="Arial"/>
              <a:buNone/>
            </a:pPr>
            <a:r>
              <a:rPr b="0" i="1" lang="en-GB" sz="1600" u="none" cap="none" strike="noStrike">
                <a:solidFill>
                  <a:srgbClr val="FF0000"/>
                </a:solidFill>
                <a:latin typeface="Consolas"/>
                <a:ea typeface="Consolas"/>
                <a:cs typeface="Consolas"/>
                <a:sym typeface="Consolas"/>
              </a:rPr>
              <a:t>1. How do you detect a loop in a linked list?</a:t>
            </a:r>
            <a:endParaRPr b="0" i="0" sz="1600" u="none" cap="none" strike="noStrike">
              <a:solidFill>
                <a:schemeClr val="dk1"/>
              </a:solidFill>
              <a:latin typeface="Calibri"/>
              <a:ea typeface="Calibri"/>
              <a:cs typeface="Calibri"/>
              <a:sym typeface="Calibri"/>
            </a:endParaRPr>
          </a:p>
          <a:p>
            <a:pPr indent="0" lvl="0" marL="0" marR="0" rtl="0" algn="l">
              <a:lnSpc>
                <a:spcPct val="150000"/>
              </a:lnSpc>
              <a:spcBef>
                <a:spcPts val="0"/>
              </a:spcBef>
              <a:spcAft>
                <a:spcPts val="0"/>
              </a:spcAft>
              <a:buClr>
                <a:srgbClr val="FF0000"/>
              </a:buClr>
              <a:buSzPts val="2000"/>
              <a:buFont typeface="Arial"/>
              <a:buNone/>
            </a:pPr>
            <a:r>
              <a:t/>
            </a:r>
            <a:endParaRPr b="0" i="1" sz="1600" u="none" cap="none" strike="noStrike">
              <a:solidFill>
                <a:srgbClr val="FF0000"/>
              </a:solidFill>
              <a:latin typeface="Consolas"/>
              <a:ea typeface="Consolas"/>
              <a:cs typeface="Consolas"/>
              <a:sym typeface="Consolas"/>
            </a:endParaRPr>
          </a:p>
          <a:p>
            <a:pPr indent="0" lvl="0" marL="0" marR="0" rtl="0" algn="l">
              <a:lnSpc>
                <a:spcPct val="150000"/>
              </a:lnSpc>
              <a:spcBef>
                <a:spcPts val="1000"/>
              </a:spcBef>
              <a:spcAft>
                <a:spcPts val="0"/>
              </a:spcAft>
              <a:buClr>
                <a:srgbClr val="000000"/>
              </a:buClr>
              <a:buSzPts val="1600"/>
              <a:buFont typeface="Arial"/>
              <a:buNone/>
            </a:pPr>
            <a:r>
              <a:rPr b="0" i="1" lang="en-GB" sz="1600" u="none" cap="none" strike="noStrike">
                <a:solidFill>
                  <a:srgbClr val="FF0000"/>
                </a:solidFill>
                <a:latin typeface="Consolas"/>
                <a:ea typeface="Consolas"/>
                <a:cs typeface="Consolas"/>
                <a:sym typeface="Consolas"/>
              </a:rPr>
              <a:t> </a:t>
            </a:r>
            <a:endParaRPr b="0" i="0" sz="1600" u="none" cap="none" strike="noStrike">
              <a:solidFill>
                <a:srgbClr val="000000"/>
              </a:solidFill>
              <a:latin typeface="Calibri"/>
              <a:ea typeface="Calibri"/>
              <a:cs typeface="Calibri"/>
              <a:sym typeface="Calibri"/>
            </a:endParaRPr>
          </a:p>
        </p:txBody>
      </p:sp>
      <p:sp>
        <p:nvSpPr>
          <p:cNvPr id="288" name="Google Shape;288;g31fdec52c72_0_308"/>
          <p:cNvSpPr txBox="1"/>
          <p:nvPr/>
        </p:nvSpPr>
        <p:spPr>
          <a:xfrm>
            <a:off x="436323" y="1779900"/>
            <a:ext cx="7492200" cy="21858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2000"/>
              <a:buFont typeface="Arial"/>
              <a:buNone/>
            </a:pPr>
            <a:r>
              <a:rPr b="0" i="0" lang="en-GB" sz="1600" u="none" cap="none" strike="noStrike">
                <a:solidFill>
                  <a:schemeClr val="dk1"/>
                </a:solidFill>
                <a:latin typeface="Consolas"/>
                <a:ea typeface="Consolas"/>
                <a:cs typeface="Consolas"/>
                <a:sym typeface="Consolas"/>
              </a:rPr>
              <a:t>You can detect a loop in a linked list using techniques like Floyd's Cycle Detection (Tortoise and Hare) algorithm or using a HashSet to track visited nodes. The former has a time complexity of O(n) and space complexity of O(1), while the latter has a time complexity of O(n) and a space complexity of O(n).</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2000"/>
              <a:buFont typeface="Arial"/>
              <a:buNone/>
            </a:pPr>
            <a:r>
              <a:t/>
            </a:r>
            <a:endParaRPr b="0" i="0" sz="1600" u="none" cap="none" strike="noStrike">
              <a:solidFill>
                <a:srgbClr val="000000"/>
              </a:solidFill>
              <a:latin typeface="Consolas"/>
              <a:ea typeface="Consolas"/>
              <a:cs typeface="Consolas"/>
              <a:sym typeface="Consolas"/>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g3243a3cdda7_0_819"/>
          <p:cNvSpPr txBox="1"/>
          <p:nvPr/>
        </p:nvSpPr>
        <p:spPr>
          <a:xfrm>
            <a:off x="3315000" y="445600"/>
            <a:ext cx="325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INTERVIEW QUESTIONS</a:t>
            </a:r>
            <a:endParaRPr b="0" i="0" sz="1800" u="none" cap="none" strike="noStrike">
              <a:solidFill>
                <a:srgbClr val="6D9EEB"/>
              </a:solidFill>
              <a:latin typeface="Roboto Black"/>
              <a:ea typeface="Roboto Black"/>
              <a:cs typeface="Roboto Black"/>
              <a:sym typeface="Roboto Black"/>
            </a:endParaRPr>
          </a:p>
        </p:txBody>
      </p:sp>
      <p:sp>
        <p:nvSpPr>
          <p:cNvPr id="294" name="Google Shape;294;g3243a3cdda7_0_819"/>
          <p:cNvSpPr txBox="1"/>
          <p:nvPr/>
        </p:nvSpPr>
        <p:spPr>
          <a:xfrm>
            <a:off x="0" y="1170000"/>
            <a:ext cx="8086800" cy="6099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FF0000"/>
              </a:buClr>
              <a:buSzPts val="2000"/>
              <a:buFont typeface="Arial"/>
              <a:buNone/>
            </a:pPr>
            <a:r>
              <a:rPr b="0" i="1" lang="en-GB" sz="1600" u="none" cap="none" strike="noStrike">
                <a:solidFill>
                  <a:srgbClr val="FF0000"/>
                </a:solidFill>
                <a:latin typeface="Consolas"/>
                <a:ea typeface="Consolas"/>
                <a:cs typeface="Consolas"/>
                <a:sym typeface="Consolas"/>
              </a:rPr>
              <a:t>2. Explain the Floyd's Cycle Detection algorithm.</a:t>
            </a:r>
            <a:endParaRPr b="0" i="0" sz="1600" u="none" cap="none" strike="noStrike">
              <a:solidFill>
                <a:schemeClr val="dk1"/>
              </a:solidFill>
              <a:latin typeface="Calibri"/>
              <a:ea typeface="Calibri"/>
              <a:cs typeface="Calibri"/>
              <a:sym typeface="Calibri"/>
            </a:endParaRPr>
          </a:p>
          <a:p>
            <a:pPr indent="0" lvl="0" marL="0" marR="0" rtl="0" algn="l">
              <a:lnSpc>
                <a:spcPct val="150000"/>
              </a:lnSpc>
              <a:spcBef>
                <a:spcPts val="1000"/>
              </a:spcBef>
              <a:spcAft>
                <a:spcPts val="0"/>
              </a:spcAft>
              <a:buClr>
                <a:schemeClr val="dk1"/>
              </a:buClr>
              <a:buSzPts val="2000"/>
              <a:buFont typeface="Arial"/>
              <a:buNone/>
            </a:pPr>
            <a:r>
              <a:t/>
            </a:r>
            <a:endParaRPr b="0" i="1" sz="1600" u="none" cap="none" strike="noStrike">
              <a:solidFill>
                <a:srgbClr val="FF0000"/>
              </a:solidFill>
              <a:latin typeface="Consolas"/>
              <a:ea typeface="Consolas"/>
              <a:cs typeface="Consolas"/>
              <a:sym typeface="Consolas"/>
            </a:endParaRPr>
          </a:p>
          <a:p>
            <a:pPr indent="0" lvl="0" marL="0" marR="0" rtl="0" algn="l">
              <a:lnSpc>
                <a:spcPct val="150000"/>
              </a:lnSpc>
              <a:spcBef>
                <a:spcPts val="1000"/>
              </a:spcBef>
              <a:spcAft>
                <a:spcPts val="0"/>
              </a:spcAft>
              <a:buClr>
                <a:srgbClr val="000000"/>
              </a:buClr>
              <a:buSzPts val="1600"/>
              <a:buFont typeface="Arial"/>
              <a:buNone/>
            </a:pPr>
            <a:r>
              <a:rPr b="0" i="1" lang="en-GB" sz="1600" u="none" cap="none" strike="noStrike">
                <a:solidFill>
                  <a:srgbClr val="FF0000"/>
                </a:solidFill>
                <a:latin typeface="Consolas"/>
                <a:ea typeface="Consolas"/>
                <a:cs typeface="Consolas"/>
                <a:sym typeface="Consolas"/>
              </a:rPr>
              <a:t> </a:t>
            </a:r>
            <a:endParaRPr b="0" i="0" sz="1600" u="none" cap="none" strike="noStrike">
              <a:solidFill>
                <a:srgbClr val="000000"/>
              </a:solidFill>
              <a:latin typeface="Calibri"/>
              <a:ea typeface="Calibri"/>
              <a:cs typeface="Calibri"/>
              <a:sym typeface="Calibri"/>
            </a:endParaRPr>
          </a:p>
        </p:txBody>
      </p:sp>
      <p:sp>
        <p:nvSpPr>
          <p:cNvPr id="295" name="Google Shape;295;g3243a3cdda7_0_819"/>
          <p:cNvSpPr txBox="1"/>
          <p:nvPr/>
        </p:nvSpPr>
        <p:spPr>
          <a:xfrm>
            <a:off x="418725" y="1779900"/>
            <a:ext cx="8086800" cy="25551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2000"/>
              <a:buFont typeface="Arial"/>
              <a:buNone/>
            </a:pPr>
            <a:r>
              <a:rPr b="0" i="0" lang="en-GB" sz="1600" u="none" cap="none" strike="noStrike">
                <a:solidFill>
                  <a:schemeClr val="dk1"/>
                </a:solidFill>
                <a:latin typeface="Consolas"/>
                <a:ea typeface="Consolas"/>
                <a:cs typeface="Consolas"/>
                <a:sym typeface="Consolas"/>
              </a:rPr>
              <a:t>Floyd's Cycle Detection, also known as the Tortoise and Hare algorithm, uses two pointers - one slow and one fast. The slow pointer moves one step at a time, while the fast pointer moves two steps at a time. If there's a loop, the fast pointer will eventually catch up to the slow pointer. If there's no loop, the fast pointer will reach the end of the list.</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2000"/>
              <a:buFont typeface="Arial"/>
              <a:buNone/>
            </a:pPr>
            <a:r>
              <a:t/>
            </a:r>
            <a:endParaRPr b="0" i="0" sz="1600" u="none" cap="none" strike="noStrike">
              <a:solidFill>
                <a:schemeClr val="dk1"/>
              </a:solidFill>
              <a:latin typeface="Consolas"/>
              <a:ea typeface="Consolas"/>
              <a:cs typeface="Consolas"/>
              <a:sym typeface="Consolas"/>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g3243a3cdda7_0_825"/>
          <p:cNvSpPr txBox="1"/>
          <p:nvPr/>
        </p:nvSpPr>
        <p:spPr>
          <a:xfrm>
            <a:off x="3315000" y="445600"/>
            <a:ext cx="325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INTERVIEW QUESTIONS</a:t>
            </a:r>
            <a:endParaRPr b="0" i="0" sz="1800" u="none" cap="none" strike="noStrike">
              <a:solidFill>
                <a:srgbClr val="6D9EEB"/>
              </a:solidFill>
              <a:latin typeface="Roboto Black"/>
              <a:ea typeface="Roboto Black"/>
              <a:cs typeface="Roboto Black"/>
              <a:sym typeface="Roboto Black"/>
            </a:endParaRPr>
          </a:p>
        </p:txBody>
      </p:sp>
      <p:sp>
        <p:nvSpPr>
          <p:cNvPr id="301" name="Google Shape;301;g3243a3cdda7_0_825"/>
          <p:cNvSpPr txBox="1"/>
          <p:nvPr/>
        </p:nvSpPr>
        <p:spPr>
          <a:xfrm>
            <a:off x="0" y="1170000"/>
            <a:ext cx="8263200" cy="6099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FF0000"/>
              </a:buClr>
              <a:buSzPts val="2000"/>
              <a:buFont typeface="Arial"/>
              <a:buNone/>
            </a:pPr>
            <a:r>
              <a:rPr b="0" i="1" lang="en-GB" sz="1600" u="none" cap="none" strike="noStrike">
                <a:solidFill>
                  <a:srgbClr val="FF0000"/>
                </a:solidFill>
                <a:latin typeface="Consolas"/>
                <a:ea typeface="Consolas"/>
                <a:cs typeface="Consolas"/>
                <a:sym typeface="Consolas"/>
              </a:rPr>
              <a:t>3. Can you implement loop detection using a HashSet?</a:t>
            </a:r>
            <a:endParaRPr b="0" i="0" sz="1600" u="none" cap="none" strike="noStrike">
              <a:solidFill>
                <a:schemeClr val="dk1"/>
              </a:solidFill>
              <a:latin typeface="Calibri"/>
              <a:ea typeface="Calibri"/>
              <a:cs typeface="Calibri"/>
              <a:sym typeface="Calibri"/>
            </a:endParaRPr>
          </a:p>
          <a:p>
            <a:pPr indent="0" lvl="0" marL="0" marR="0" rtl="0" algn="l">
              <a:lnSpc>
                <a:spcPct val="150000"/>
              </a:lnSpc>
              <a:spcBef>
                <a:spcPts val="0"/>
              </a:spcBef>
              <a:spcAft>
                <a:spcPts val="0"/>
              </a:spcAft>
              <a:buClr>
                <a:srgbClr val="000000"/>
              </a:buClr>
              <a:buSzPts val="1600"/>
              <a:buFont typeface="Arial"/>
              <a:buNone/>
            </a:pPr>
            <a:r>
              <a:t/>
            </a:r>
            <a:endParaRPr b="0" i="1" sz="1600" u="none" cap="none" strike="noStrike">
              <a:solidFill>
                <a:srgbClr val="FF0000"/>
              </a:solidFill>
              <a:latin typeface="Consolas"/>
              <a:ea typeface="Consolas"/>
              <a:cs typeface="Consolas"/>
              <a:sym typeface="Consolas"/>
            </a:endParaRPr>
          </a:p>
          <a:p>
            <a:pPr indent="0" lvl="0" marL="0" marR="0" rtl="0" algn="l">
              <a:lnSpc>
                <a:spcPct val="150000"/>
              </a:lnSpc>
              <a:spcBef>
                <a:spcPts val="1000"/>
              </a:spcBef>
              <a:spcAft>
                <a:spcPts val="0"/>
              </a:spcAft>
              <a:buClr>
                <a:srgbClr val="000000"/>
              </a:buClr>
              <a:buSzPts val="1600"/>
              <a:buFont typeface="Arial"/>
              <a:buNone/>
            </a:pPr>
            <a:r>
              <a:rPr b="0" i="1" lang="en-GB" sz="1600" u="none" cap="none" strike="noStrike">
                <a:solidFill>
                  <a:srgbClr val="FF0000"/>
                </a:solidFill>
                <a:latin typeface="Consolas"/>
                <a:ea typeface="Consolas"/>
                <a:cs typeface="Consolas"/>
                <a:sym typeface="Consolas"/>
              </a:rPr>
              <a:t> </a:t>
            </a:r>
            <a:endParaRPr b="0" i="0" sz="1600" u="none" cap="none" strike="noStrike">
              <a:solidFill>
                <a:srgbClr val="000000"/>
              </a:solidFill>
              <a:latin typeface="Calibri"/>
              <a:ea typeface="Calibri"/>
              <a:cs typeface="Calibri"/>
              <a:sym typeface="Calibri"/>
            </a:endParaRPr>
          </a:p>
        </p:txBody>
      </p:sp>
      <p:sp>
        <p:nvSpPr>
          <p:cNvPr id="302" name="Google Shape;302;g3243a3cdda7_0_825"/>
          <p:cNvSpPr txBox="1"/>
          <p:nvPr/>
        </p:nvSpPr>
        <p:spPr>
          <a:xfrm>
            <a:off x="436323" y="2008500"/>
            <a:ext cx="7492200" cy="21858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2000"/>
              <a:buFont typeface="Arial"/>
              <a:buNone/>
            </a:pPr>
            <a:r>
              <a:rPr b="0" i="0" lang="en-GB" sz="1600" u="none" cap="none" strike="noStrike">
                <a:solidFill>
                  <a:schemeClr val="dk1"/>
                </a:solidFill>
                <a:latin typeface="Consolas"/>
                <a:ea typeface="Consolas"/>
                <a:cs typeface="Consolas"/>
                <a:sym typeface="Consolas"/>
              </a:rPr>
              <a:t>Yes, you can implement loop detection using a HashSet. While traversing the linked list, you store references to visited nodes in a HashSet. If you encounter a node that's already in the HashSet, you've detected a loop. Otherwise, you continue traversing. This approach has a space complexity of O(n).</a:t>
            </a:r>
            <a:endParaRPr b="0" i="0" sz="16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2000"/>
              <a:buFont typeface="Arial"/>
              <a:buNone/>
            </a:pPr>
            <a:r>
              <a:t/>
            </a:r>
            <a:endParaRPr b="0" i="0" sz="1600" u="none" cap="none" strike="noStrike">
              <a:solidFill>
                <a:schemeClr val="dk1"/>
              </a:solidFill>
              <a:latin typeface="Consolas"/>
              <a:ea typeface="Consolas"/>
              <a:cs typeface="Consolas"/>
              <a:sym typeface="Consolas"/>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g3243a3cdda7_0_831"/>
          <p:cNvSpPr txBox="1"/>
          <p:nvPr/>
        </p:nvSpPr>
        <p:spPr>
          <a:xfrm>
            <a:off x="3315000" y="445600"/>
            <a:ext cx="325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INTERVIEW QUESTIONS</a:t>
            </a:r>
            <a:endParaRPr b="0" i="0" sz="1800" u="none" cap="none" strike="noStrike">
              <a:solidFill>
                <a:srgbClr val="6D9EEB"/>
              </a:solidFill>
              <a:latin typeface="Roboto Black"/>
              <a:ea typeface="Roboto Black"/>
              <a:cs typeface="Roboto Black"/>
              <a:sym typeface="Roboto Black"/>
            </a:endParaRPr>
          </a:p>
        </p:txBody>
      </p:sp>
      <p:sp>
        <p:nvSpPr>
          <p:cNvPr id="308" name="Google Shape;308;g3243a3cdda7_0_831"/>
          <p:cNvSpPr txBox="1"/>
          <p:nvPr/>
        </p:nvSpPr>
        <p:spPr>
          <a:xfrm>
            <a:off x="234925" y="1151875"/>
            <a:ext cx="8197800" cy="6099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FF0000"/>
              </a:buClr>
              <a:buSzPts val="2000"/>
              <a:buFont typeface="Arial"/>
              <a:buNone/>
            </a:pPr>
            <a:r>
              <a:rPr b="0" i="1" lang="en-GB" sz="1600" u="none" cap="none" strike="noStrike">
                <a:solidFill>
                  <a:srgbClr val="FF0000"/>
                </a:solidFill>
                <a:latin typeface="Consolas"/>
                <a:ea typeface="Consolas"/>
                <a:cs typeface="Consolas"/>
                <a:sym typeface="Consolas"/>
              </a:rPr>
              <a:t>4. What is the time and space complexity of loop detection using Floyd's Cycle Detection?</a:t>
            </a:r>
            <a:endParaRPr b="0" i="0" sz="1600" u="none" cap="none" strike="noStrike">
              <a:solidFill>
                <a:schemeClr val="dk1"/>
              </a:solidFill>
              <a:latin typeface="Calibri"/>
              <a:ea typeface="Calibri"/>
              <a:cs typeface="Calibri"/>
              <a:sym typeface="Calibri"/>
            </a:endParaRPr>
          </a:p>
          <a:p>
            <a:pPr indent="0" lvl="0" marL="0" marR="0" rtl="0" algn="l">
              <a:lnSpc>
                <a:spcPct val="150000"/>
              </a:lnSpc>
              <a:spcBef>
                <a:spcPts val="1000"/>
              </a:spcBef>
              <a:spcAft>
                <a:spcPts val="0"/>
              </a:spcAft>
              <a:buClr>
                <a:schemeClr val="dk1"/>
              </a:buClr>
              <a:buSzPts val="2000"/>
              <a:buFont typeface="Arial"/>
              <a:buNone/>
            </a:pPr>
            <a:r>
              <a:t/>
            </a:r>
            <a:endParaRPr b="0" i="1" sz="1600" u="none" cap="none" strike="noStrike">
              <a:solidFill>
                <a:srgbClr val="FF0000"/>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1600"/>
              <a:buFont typeface="Arial"/>
              <a:buNone/>
            </a:pPr>
            <a:r>
              <a:t/>
            </a:r>
            <a:endParaRPr b="0" i="1" sz="1600" u="none" cap="none" strike="noStrike">
              <a:solidFill>
                <a:srgbClr val="FF0000"/>
              </a:solidFill>
              <a:latin typeface="Consolas"/>
              <a:ea typeface="Consolas"/>
              <a:cs typeface="Consolas"/>
              <a:sym typeface="Consolas"/>
            </a:endParaRPr>
          </a:p>
          <a:p>
            <a:pPr indent="0" lvl="0" marL="0" marR="0" rtl="0" algn="l">
              <a:lnSpc>
                <a:spcPct val="150000"/>
              </a:lnSpc>
              <a:spcBef>
                <a:spcPts val="1000"/>
              </a:spcBef>
              <a:spcAft>
                <a:spcPts val="0"/>
              </a:spcAft>
              <a:buClr>
                <a:srgbClr val="000000"/>
              </a:buClr>
              <a:buSzPts val="1600"/>
              <a:buFont typeface="Arial"/>
              <a:buNone/>
            </a:pPr>
            <a:r>
              <a:rPr b="0" i="1" lang="en-GB" sz="1600" u="none" cap="none" strike="noStrike">
                <a:solidFill>
                  <a:srgbClr val="FF0000"/>
                </a:solidFill>
                <a:latin typeface="Consolas"/>
                <a:ea typeface="Consolas"/>
                <a:cs typeface="Consolas"/>
                <a:sym typeface="Consolas"/>
              </a:rPr>
              <a:t> </a:t>
            </a:r>
            <a:endParaRPr b="0" i="0" sz="1600" u="none" cap="none" strike="noStrike">
              <a:solidFill>
                <a:srgbClr val="000000"/>
              </a:solidFill>
              <a:latin typeface="Calibri"/>
              <a:ea typeface="Calibri"/>
              <a:cs typeface="Calibri"/>
              <a:sym typeface="Calibri"/>
            </a:endParaRPr>
          </a:p>
        </p:txBody>
      </p:sp>
      <p:sp>
        <p:nvSpPr>
          <p:cNvPr id="309" name="Google Shape;309;g3243a3cdda7_0_831"/>
          <p:cNvSpPr txBox="1"/>
          <p:nvPr/>
        </p:nvSpPr>
        <p:spPr>
          <a:xfrm>
            <a:off x="461498" y="2098750"/>
            <a:ext cx="7492200" cy="18162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2000"/>
              <a:buFont typeface="Arial"/>
              <a:buNone/>
            </a:pPr>
            <a:r>
              <a:rPr b="0" i="0" lang="en-GB" sz="1600" u="none" cap="none" strike="noStrike">
                <a:solidFill>
                  <a:schemeClr val="dk1"/>
                </a:solidFill>
                <a:latin typeface="Consolas"/>
                <a:ea typeface="Consolas"/>
                <a:cs typeface="Consolas"/>
                <a:sym typeface="Consolas"/>
              </a:rPr>
              <a:t>	Floyd's Cycle Detection has a time complexity of O(n) because it makes at most two full passes over the list. Its space complexity is O(1) because it only uses two pointers, regardless of the list's size.</a:t>
            </a:r>
            <a:endParaRPr b="0" i="0" sz="16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2000"/>
              <a:buFont typeface="Arial"/>
              <a:buNone/>
            </a:pPr>
            <a:r>
              <a:t/>
            </a:r>
            <a:endParaRPr b="0" i="0" sz="1600" u="none" cap="none" strike="noStrike">
              <a:solidFill>
                <a:schemeClr val="dk1"/>
              </a:solidFill>
              <a:latin typeface="Consolas"/>
              <a:ea typeface="Consolas"/>
              <a:cs typeface="Consolas"/>
              <a:sym typeface="Consolas"/>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g3243a3cdda7_0_837"/>
          <p:cNvSpPr txBox="1"/>
          <p:nvPr/>
        </p:nvSpPr>
        <p:spPr>
          <a:xfrm>
            <a:off x="3315000" y="445600"/>
            <a:ext cx="325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INTERVIEW QUESTIONS</a:t>
            </a:r>
            <a:endParaRPr b="0" i="0" sz="1800" u="none" cap="none" strike="noStrike">
              <a:solidFill>
                <a:srgbClr val="6D9EEB"/>
              </a:solidFill>
              <a:latin typeface="Roboto Black"/>
              <a:ea typeface="Roboto Black"/>
              <a:cs typeface="Roboto Black"/>
              <a:sym typeface="Roboto Black"/>
            </a:endParaRPr>
          </a:p>
        </p:txBody>
      </p:sp>
      <p:sp>
        <p:nvSpPr>
          <p:cNvPr id="315" name="Google Shape;315;g3243a3cdda7_0_837"/>
          <p:cNvSpPr txBox="1"/>
          <p:nvPr/>
        </p:nvSpPr>
        <p:spPr>
          <a:xfrm>
            <a:off x="0" y="1170000"/>
            <a:ext cx="8470200" cy="6099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FF0000"/>
              </a:buClr>
              <a:buSzPts val="2000"/>
              <a:buFont typeface="Arial"/>
              <a:buNone/>
            </a:pPr>
            <a:r>
              <a:rPr b="0" i="1" lang="en-GB" sz="1600" u="none" cap="none" strike="noStrike">
                <a:solidFill>
                  <a:srgbClr val="FF0000"/>
                </a:solidFill>
                <a:latin typeface="Consolas"/>
                <a:ea typeface="Consolas"/>
                <a:cs typeface="Consolas"/>
                <a:sym typeface="Consolas"/>
              </a:rPr>
              <a:t>5. Explain how you would remove a loop in a linked list.</a:t>
            </a:r>
            <a:endParaRPr b="0" i="0" sz="1600" u="none" cap="none" strike="noStrike">
              <a:solidFill>
                <a:schemeClr val="dk1"/>
              </a:solidFill>
              <a:latin typeface="Calibri"/>
              <a:ea typeface="Calibri"/>
              <a:cs typeface="Calibri"/>
              <a:sym typeface="Calibri"/>
            </a:endParaRPr>
          </a:p>
          <a:p>
            <a:pPr indent="0" lvl="0" marL="0" marR="0" rtl="0" algn="l">
              <a:lnSpc>
                <a:spcPct val="150000"/>
              </a:lnSpc>
              <a:spcBef>
                <a:spcPts val="0"/>
              </a:spcBef>
              <a:spcAft>
                <a:spcPts val="0"/>
              </a:spcAft>
              <a:buClr>
                <a:srgbClr val="FF0000"/>
              </a:buClr>
              <a:buSzPts val="2000"/>
              <a:buFont typeface="Arial"/>
              <a:buNone/>
            </a:pPr>
            <a:r>
              <a:t/>
            </a:r>
            <a:endParaRPr b="0" i="1" sz="1600" u="none" cap="none" strike="noStrike">
              <a:solidFill>
                <a:srgbClr val="FF0000"/>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1500"/>
              <a:buFont typeface="Arial"/>
              <a:buNone/>
            </a:pPr>
            <a:r>
              <a:t/>
            </a:r>
            <a:endParaRPr b="0" i="1" sz="1600" u="none" cap="none" strike="noStrike">
              <a:solidFill>
                <a:srgbClr val="FF0000"/>
              </a:solidFill>
              <a:latin typeface="Consolas"/>
              <a:ea typeface="Consolas"/>
              <a:cs typeface="Consolas"/>
              <a:sym typeface="Consolas"/>
            </a:endParaRPr>
          </a:p>
          <a:p>
            <a:pPr indent="0" lvl="0" marL="0" marR="0" rtl="0" algn="l">
              <a:lnSpc>
                <a:spcPct val="150000"/>
              </a:lnSpc>
              <a:spcBef>
                <a:spcPts val="1000"/>
              </a:spcBef>
              <a:spcAft>
                <a:spcPts val="0"/>
              </a:spcAft>
              <a:buClr>
                <a:srgbClr val="000000"/>
              </a:buClr>
              <a:buSzPts val="1500"/>
              <a:buFont typeface="Arial"/>
              <a:buNone/>
            </a:pPr>
            <a:r>
              <a:rPr b="0" i="1" lang="en-GB" sz="1600" u="none" cap="none" strike="noStrike">
                <a:solidFill>
                  <a:srgbClr val="FF0000"/>
                </a:solidFill>
                <a:latin typeface="Consolas"/>
                <a:ea typeface="Consolas"/>
                <a:cs typeface="Consolas"/>
                <a:sym typeface="Consolas"/>
              </a:rPr>
              <a:t> </a:t>
            </a:r>
            <a:endParaRPr b="0" i="0" sz="1600" u="none" cap="none" strike="noStrike">
              <a:solidFill>
                <a:srgbClr val="000000"/>
              </a:solidFill>
              <a:latin typeface="Calibri"/>
              <a:ea typeface="Calibri"/>
              <a:cs typeface="Calibri"/>
              <a:sym typeface="Calibri"/>
            </a:endParaRPr>
          </a:p>
        </p:txBody>
      </p:sp>
      <p:sp>
        <p:nvSpPr>
          <p:cNvPr id="316" name="Google Shape;316;g3243a3cdda7_0_837"/>
          <p:cNvSpPr txBox="1"/>
          <p:nvPr/>
        </p:nvSpPr>
        <p:spPr>
          <a:xfrm>
            <a:off x="436323" y="1779900"/>
            <a:ext cx="7492200" cy="21858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2000"/>
              <a:buFont typeface="Arial"/>
              <a:buNone/>
            </a:pPr>
            <a:r>
              <a:rPr b="0" i="0" lang="en-GB" sz="1600" u="none" cap="none" strike="noStrike">
                <a:solidFill>
                  <a:schemeClr val="dk1"/>
                </a:solidFill>
                <a:latin typeface="Consolas"/>
                <a:ea typeface="Consolas"/>
                <a:cs typeface="Consolas"/>
                <a:sym typeface="Consolas"/>
              </a:rPr>
              <a:t>To remove a loop in a linked list, you can use Floyd's Cycle Detection to find the meeting point of the two pointers. Then, reset one pointer to the head and move both pointers one step at a time until they meet again. The point where they meet is the starting node of the loop. Set the `next` of the previous node to null to break the loop.</a:t>
            </a:r>
            <a:endParaRPr b="0" i="0" sz="1600" u="none" cap="none" strike="noStrike">
              <a:solidFill>
                <a:schemeClr val="dk1"/>
              </a:solidFill>
              <a:latin typeface="Consolas"/>
              <a:ea typeface="Consolas"/>
              <a:cs typeface="Consolas"/>
              <a:sym typeface="Consolas"/>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4"/>
          <p:cNvSpPr/>
          <p:nvPr/>
        </p:nvSpPr>
        <p:spPr>
          <a:xfrm>
            <a:off x="532420" y="1439990"/>
            <a:ext cx="7545000" cy="831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pic>
        <p:nvPicPr>
          <p:cNvPr id="322" name="Google Shape;322;p4"/>
          <p:cNvPicPr preferRelativeResize="0"/>
          <p:nvPr/>
        </p:nvPicPr>
        <p:blipFill rotWithShape="1">
          <a:blip r:embed="rId3">
            <a:alphaModFix/>
          </a:blip>
          <a:srcRect b="0" l="0" r="0" t="0"/>
          <a:stretch/>
        </p:blipFill>
        <p:spPr>
          <a:xfrm>
            <a:off x="2739687" y="1038566"/>
            <a:ext cx="2855119" cy="2888456"/>
          </a:xfrm>
          <a:prstGeom prst="rect">
            <a:avLst/>
          </a:prstGeom>
          <a:noFill/>
          <a:ln>
            <a:noFill/>
          </a:ln>
        </p:spPr>
      </p:pic>
      <p:sp>
        <p:nvSpPr>
          <p:cNvPr id="323" name="Google Shape;323;p4"/>
          <p:cNvSpPr/>
          <p:nvPr/>
        </p:nvSpPr>
        <p:spPr>
          <a:xfrm>
            <a:off x="1634729" y="4055269"/>
            <a:ext cx="5184000" cy="284700"/>
          </a:xfrm>
          <a:prstGeom prst="rect">
            <a:avLst/>
          </a:prstGeom>
          <a:noFill/>
          <a:ln>
            <a:noFill/>
          </a:ln>
        </p:spPr>
        <p:txBody>
          <a:bodyPr anchorCtr="0" anchor="ctr" bIns="82925" lIns="81625" spcFirstLastPara="1" rIns="81625" wrap="square" tIns="82925">
            <a:noAutofit/>
          </a:bodyPr>
          <a:lstStyle/>
          <a:p>
            <a:pPr indent="0" lvl="0" marL="0" marR="0" rtl="0" algn="ctr">
              <a:lnSpc>
                <a:spcPct val="100000"/>
              </a:lnSpc>
              <a:spcBef>
                <a:spcPts val="0"/>
              </a:spcBef>
              <a:spcAft>
                <a:spcPts val="0"/>
              </a:spcAft>
              <a:buClr>
                <a:srgbClr val="000000"/>
              </a:buClr>
              <a:buSzPts val="1200"/>
              <a:buFont typeface="Arial"/>
              <a:buNone/>
            </a:pPr>
            <a:r>
              <a:rPr b="0" i="0" lang="en-GB" sz="1200" u="sng" cap="none" strike="noStrike">
                <a:solidFill>
                  <a:srgbClr val="666666"/>
                </a:solidFill>
                <a:latin typeface="Roboto"/>
                <a:ea typeface="Roboto"/>
                <a:cs typeface="Roboto"/>
                <a:sym typeface="Roboto"/>
                <a:hlinkClick r:id="rId4">
                  <a:extLst>
                    <a:ext uri="{A12FA001-AC4F-418D-AE19-62706E023703}">
                      <ahyp:hlinkClr val="tx"/>
                    </a:ext>
                  </a:extLst>
                </a:hlinkClick>
              </a:rPr>
              <a:t>https://learn.codemithra.com</a:t>
            </a:r>
            <a:endParaRPr b="0" i="0" sz="1200" u="none" cap="none" strike="noStrike">
              <a:solidFill>
                <a:srgbClr val="666666"/>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5"/>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329" name="Google Shape;329;p5"/>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342900" lvl="0" marL="457200" rtl="0" algn="ctr">
              <a:lnSpc>
                <a:spcPct val="100000"/>
              </a:lnSpc>
              <a:spcBef>
                <a:spcPts val="0"/>
              </a:spcBef>
              <a:spcAft>
                <a:spcPts val="0"/>
              </a:spcAft>
              <a:buSzPts val="2800"/>
              <a:buNone/>
            </a:pPr>
            <a:r>
              <a:t/>
            </a:r>
            <a:endParaRPr/>
          </a:p>
        </p:txBody>
      </p:sp>
      <p:pic>
        <p:nvPicPr>
          <p:cNvPr id="330" name="Google Shape;330;p5"/>
          <p:cNvPicPr preferRelativeResize="0"/>
          <p:nvPr/>
        </p:nvPicPr>
        <p:blipFill rotWithShape="1">
          <a:blip r:embed="rId3">
            <a:alphaModFix/>
          </a:blip>
          <a:srcRect b="0" l="0" r="0" t="0"/>
          <a:stretch/>
        </p:blipFill>
        <p:spPr>
          <a:xfrm>
            <a:off x="1" y="1"/>
            <a:ext cx="9144003" cy="5143501"/>
          </a:xfrm>
          <a:prstGeom prst="rect">
            <a:avLst/>
          </a:prstGeom>
          <a:noFill/>
          <a:ln>
            <a:noFill/>
          </a:ln>
        </p:spPr>
      </p:pic>
      <p:sp>
        <p:nvSpPr>
          <p:cNvPr id="331" name="Google Shape;331;p5"/>
          <p:cNvSpPr txBox="1"/>
          <p:nvPr/>
        </p:nvSpPr>
        <p:spPr>
          <a:xfrm>
            <a:off x="3141000" y="2194650"/>
            <a:ext cx="2862000" cy="753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700"/>
              <a:buFont typeface="Arial"/>
              <a:buNone/>
            </a:pPr>
            <a:r>
              <a:rPr b="0" i="0" lang="en-GB" sz="3700" u="none" cap="none" strike="noStrike">
                <a:solidFill>
                  <a:schemeClr val="lt1"/>
                </a:solidFill>
                <a:latin typeface="Roboto"/>
                <a:ea typeface="Roboto"/>
                <a:cs typeface="Roboto"/>
                <a:sym typeface="Roboto"/>
              </a:rPr>
              <a:t>THANK YOU</a:t>
            </a:r>
            <a:endParaRPr b="0" i="0" sz="3700" u="none" cap="none" strike="noStrike">
              <a:solidFill>
                <a:schemeClr val="lt1"/>
              </a:solidFill>
              <a:latin typeface="Roboto"/>
              <a:ea typeface="Roboto"/>
              <a:cs typeface="Roboto"/>
              <a:sym typeface="Roboto"/>
            </a:endParaRPr>
          </a:p>
        </p:txBody>
      </p:sp>
      <p:pic>
        <p:nvPicPr>
          <p:cNvPr id="332" name="Google Shape;332;p5"/>
          <p:cNvPicPr preferRelativeResize="0"/>
          <p:nvPr/>
        </p:nvPicPr>
        <p:blipFill rotWithShape="1">
          <a:blip r:embed="rId4">
            <a:alphaModFix/>
          </a:blip>
          <a:srcRect b="0" l="0" r="0" t="0"/>
          <a:stretch/>
        </p:blipFill>
        <p:spPr>
          <a:xfrm>
            <a:off x="1752016" y="4591075"/>
            <a:ext cx="338156" cy="338150"/>
          </a:xfrm>
          <a:prstGeom prst="rect">
            <a:avLst/>
          </a:prstGeom>
          <a:noFill/>
          <a:ln>
            <a:noFill/>
          </a:ln>
        </p:spPr>
      </p:pic>
      <p:pic>
        <p:nvPicPr>
          <p:cNvPr id="333" name="Google Shape;333;p5"/>
          <p:cNvPicPr preferRelativeResize="0"/>
          <p:nvPr/>
        </p:nvPicPr>
        <p:blipFill rotWithShape="1">
          <a:blip r:embed="rId5">
            <a:alphaModFix/>
          </a:blip>
          <a:srcRect b="0" l="0" r="0" t="0"/>
          <a:stretch/>
        </p:blipFill>
        <p:spPr>
          <a:xfrm>
            <a:off x="3272650" y="4591075"/>
            <a:ext cx="338156" cy="338150"/>
          </a:xfrm>
          <a:prstGeom prst="rect">
            <a:avLst/>
          </a:prstGeom>
          <a:noFill/>
          <a:ln>
            <a:noFill/>
          </a:ln>
        </p:spPr>
      </p:pic>
      <p:sp>
        <p:nvSpPr>
          <p:cNvPr id="334" name="Google Shape;334;p5"/>
          <p:cNvSpPr txBox="1"/>
          <p:nvPr/>
        </p:nvSpPr>
        <p:spPr>
          <a:xfrm>
            <a:off x="1980750" y="4590801"/>
            <a:ext cx="1187100" cy="338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chemeClr val="lt1"/>
                </a:solidFill>
                <a:latin typeface="Roboto"/>
                <a:ea typeface="Roboto"/>
                <a:cs typeface="Roboto"/>
                <a:sym typeface="Roboto"/>
              </a:rPr>
              <a:t>+91 78150 95095</a:t>
            </a:r>
            <a:endParaRPr b="0" i="0" sz="1000" u="none" cap="none" strike="noStrike">
              <a:solidFill>
                <a:schemeClr val="lt1"/>
              </a:solidFill>
              <a:latin typeface="Roboto"/>
              <a:ea typeface="Roboto"/>
              <a:cs typeface="Roboto"/>
              <a:sym typeface="Roboto"/>
            </a:endParaRPr>
          </a:p>
        </p:txBody>
      </p:sp>
      <p:cxnSp>
        <p:nvCxnSpPr>
          <p:cNvPr id="335" name="Google Shape;335;p5"/>
          <p:cNvCxnSpPr/>
          <p:nvPr/>
        </p:nvCxnSpPr>
        <p:spPr>
          <a:xfrm rot="10800000">
            <a:off x="3220250" y="4619675"/>
            <a:ext cx="0" cy="300000"/>
          </a:xfrm>
          <a:prstGeom prst="straightConnector1">
            <a:avLst/>
          </a:prstGeom>
          <a:noFill/>
          <a:ln cap="flat" cmpd="sng" w="9525">
            <a:solidFill>
              <a:schemeClr val="lt1"/>
            </a:solidFill>
            <a:prstDash val="solid"/>
            <a:round/>
            <a:headEnd len="sm" w="sm" type="none"/>
            <a:tailEnd len="sm" w="sm" type="none"/>
          </a:ln>
        </p:spPr>
      </p:cxnSp>
      <p:sp>
        <p:nvSpPr>
          <p:cNvPr id="336" name="Google Shape;336;p5"/>
          <p:cNvSpPr txBox="1"/>
          <p:nvPr/>
        </p:nvSpPr>
        <p:spPr>
          <a:xfrm>
            <a:off x="3519050" y="4590801"/>
            <a:ext cx="1934700" cy="338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chemeClr val="lt1"/>
                </a:solidFill>
                <a:latin typeface="Roboto"/>
                <a:ea typeface="Roboto"/>
                <a:cs typeface="Roboto"/>
                <a:sym typeface="Roboto"/>
              </a:rPr>
              <a:t>codemithra@ethnus.com</a:t>
            </a:r>
            <a:endParaRPr b="0" i="0" sz="1000" u="none" cap="none" strike="noStrike">
              <a:solidFill>
                <a:schemeClr val="lt1"/>
              </a:solidFill>
              <a:latin typeface="Roboto"/>
              <a:ea typeface="Roboto"/>
              <a:cs typeface="Roboto"/>
              <a:sym typeface="Roboto"/>
            </a:endParaRPr>
          </a:p>
        </p:txBody>
      </p:sp>
      <p:pic>
        <p:nvPicPr>
          <p:cNvPr id="337" name="Google Shape;337;p5"/>
          <p:cNvPicPr preferRelativeResize="0"/>
          <p:nvPr/>
        </p:nvPicPr>
        <p:blipFill rotWithShape="1">
          <a:blip r:embed="rId6">
            <a:alphaModFix/>
          </a:blip>
          <a:srcRect b="0" l="0" r="0" t="0"/>
          <a:stretch/>
        </p:blipFill>
        <p:spPr>
          <a:xfrm>
            <a:off x="5223771" y="4591063"/>
            <a:ext cx="338156" cy="338150"/>
          </a:xfrm>
          <a:prstGeom prst="rect">
            <a:avLst/>
          </a:prstGeom>
          <a:noFill/>
          <a:ln>
            <a:noFill/>
          </a:ln>
        </p:spPr>
      </p:pic>
      <p:sp>
        <p:nvSpPr>
          <p:cNvPr id="338" name="Google Shape;338;p5"/>
          <p:cNvSpPr txBox="1"/>
          <p:nvPr/>
        </p:nvSpPr>
        <p:spPr>
          <a:xfrm>
            <a:off x="5457275" y="4590801"/>
            <a:ext cx="1934700" cy="338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chemeClr val="lt1"/>
                </a:solidFill>
                <a:latin typeface="Roboto"/>
                <a:ea typeface="Roboto"/>
                <a:cs typeface="Roboto"/>
                <a:sym typeface="Roboto"/>
              </a:rPr>
              <a:t>www.codemithra.com</a:t>
            </a:r>
            <a:endParaRPr b="0" i="0" sz="1000" u="none" cap="none" strike="noStrike">
              <a:solidFill>
                <a:schemeClr val="lt1"/>
              </a:solidFill>
              <a:latin typeface="Roboto"/>
              <a:ea typeface="Roboto"/>
              <a:cs typeface="Roboto"/>
              <a:sym typeface="Roboto"/>
            </a:endParaRPr>
          </a:p>
        </p:txBody>
      </p:sp>
      <p:cxnSp>
        <p:nvCxnSpPr>
          <p:cNvPr id="339" name="Google Shape;339;p5"/>
          <p:cNvCxnSpPr/>
          <p:nvPr/>
        </p:nvCxnSpPr>
        <p:spPr>
          <a:xfrm rot="10800000">
            <a:off x="5166625" y="4610150"/>
            <a:ext cx="0" cy="30000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