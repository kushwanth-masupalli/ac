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Black"/>
      <p:bold r:id="rId25"/>
      <p:boldItalic r:id="rId26"/>
    </p:embeddedFon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31" roundtripDataSignature="AMtx7mhTVJ/m/pSLgVG8DAtcMLm6yz65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01C565-608B-41F9-8DF9-D6B43B7AF5B6}">
  <a:tblStyle styleId="{9C01C565-608B-41F9-8DF9-D6B43B7AF5B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lack-boldItalic.fntdata"/><Relationship Id="rId25" Type="http://schemas.openxmlformats.org/officeDocument/2006/relationships/font" Target="fonts/RobotoBlack-bold.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customschemas.google.com/relationships/presentationmetadata" Target="metadata"/><Relationship Id="rId30"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08e16e3f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208e16e3f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8e16e3f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8e16e3f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08e16e3f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4" name="Google Shape;134;g3208e16e3f1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1fef00ada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3" name="Google Shape;143;g31fef00ada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08ef83a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0" name="Google Shape;150;g3208ef83a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091a6128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7" name="Google Shape;157;g32091a6128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08ef83a8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4" name="Google Shape;164;g3208ef83a8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3" name="Google Shape;173;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9" name="Google Shape;179;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6" name="Google Shape;186;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0" name="Google Shape;200;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1.xml"/><Relationship Id="rId12" Type="http://schemas.openxmlformats.org/officeDocument/2006/relationships/slideLayout" Target="../slideLayouts/slideLayout21.xml"/><Relationship Id="rId1" Type="http://schemas.openxmlformats.org/officeDocument/2006/relationships/image" Target="../media/image10.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hyperlink" Target="https://learn.codemithra.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8.jp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200"/>
              <a:buFont typeface="Arial"/>
              <a:buNone/>
            </a:pPr>
            <a:r>
              <a:rPr b="1" i="0" lang="en-GB" sz="2200" u="none" cap="none" strike="noStrike">
                <a:solidFill>
                  <a:schemeClr val="lt1"/>
                </a:solidFill>
                <a:latin typeface="Consolas"/>
                <a:ea typeface="Consolas"/>
                <a:cs typeface="Consolas"/>
                <a:sym typeface="Consolas"/>
              </a:rPr>
              <a:t>SORT WITHOUT EXTRA SPACE</a:t>
            </a:r>
            <a:endParaRPr b="1" i="0" sz="22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215900" lvl="0" marL="22860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"Sort without extra space" refers to the process of rearranging elements in an array or data structure to achieve a sorted order without using additional memory or storage space to store the sorted values separately. In other words, the sorting algorithm modifies the original array in-place to obtain the sorted result, without allocating memory for a new sorted array.</a:t>
            </a:r>
            <a:endParaRPr b="0" i="0" sz="16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16" name="Google Shape;116;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208e16e3f1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22" name="Google Shape;122;g3208e16e3f1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This approach is particularly useful in scenarios where memory usage is a concern, and you want to minimize the use of extra memory while sorting large datasets. It challenges programmers to design sorting algorithms that can efficiently rearrange elements within the existing data structure, typically an array or a queue, without creating additional copies of the data.</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23" name="Google Shape;123;g3208e16e3f1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8e16e3f1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8e16e3f1_0_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where you have a large dataset stored in memory, and you need to sort it without allocating extra memory for a new sorted array. This can save memory and improve efficiency, especially in environments with limited resources.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30" name="Google Shape;130;g3208e16e3f1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pic>
        <p:nvPicPr>
          <p:cNvPr id="131" name="Google Shape;131;g3208e16e3f1_0_6"/>
          <p:cNvPicPr preferRelativeResize="0"/>
          <p:nvPr/>
        </p:nvPicPr>
        <p:blipFill rotWithShape="1">
          <a:blip r:embed="rId3">
            <a:alphaModFix/>
          </a:blip>
          <a:srcRect b="0" l="0" r="0" t="0"/>
          <a:stretch/>
        </p:blipFill>
        <p:spPr>
          <a:xfrm>
            <a:off x="2149325" y="2655450"/>
            <a:ext cx="4699476" cy="2409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208e16e3f1_0_1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37" name="Google Shape;137;g3208e16e3f1_0_13"/>
          <p:cNvSpPr txBox="1"/>
          <p:nvPr/>
        </p:nvSpPr>
        <p:spPr>
          <a:xfrm>
            <a:off x="392701" y="110232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GB" sz="1800" u="none" cap="none" strike="noStrike">
                <a:solidFill>
                  <a:schemeClr val="dk1"/>
                </a:solidFill>
                <a:latin typeface="Consolas"/>
                <a:ea typeface="Consolas"/>
                <a:cs typeface="Consolas"/>
                <a:sym typeface="Consolas"/>
              </a:rPr>
              <a:t>w</a:t>
            </a:r>
            <a:r>
              <a:rPr b="0" i="0" lang="en-GB" sz="1600" u="none" cap="none" strike="noStrike">
                <a:solidFill>
                  <a:schemeClr val="dk1"/>
                </a:solidFill>
                <a:latin typeface="Consolas"/>
                <a:ea typeface="Consolas"/>
                <a:cs typeface="Consolas"/>
                <a:sym typeface="Consolas"/>
              </a:rPr>
              <a:t>here you have a large dataset stored in memory, and you need to sort it without allocating extra memory for a new sorted array. This can save memory and improve efficiency, especially in environments with limited resources.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38" name="Google Shape;138;g3208e16e3f1_0_13"/>
          <p:cNvSpPr txBox="1"/>
          <p:nvPr/>
        </p:nvSpPr>
        <p:spPr>
          <a:xfrm>
            <a:off x="172451" y="7995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pic>
        <p:nvPicPr>
          <p:cNvPr id="139" name="Google Shape;139;g3208e16e3f1_0_13"/>
          <p:cNvPicPr preferRelativeResize="0"/>
          <p:nvPr/>
        </p:nvPicPr>
        <p:blipFill rotWithShape="1">
          <a:blip r:embed="rId3">
            <a:alphaModFix/>
          </a:blip>
          <a:srcRect b="0" l="0" r="0" t="0"/>
          <a:stretch/>
        </p:blipFill>
        <p:spPr>
          <a:xfrm>
            <a:off x="542800" y="2642825"/>
            <a:ext cx="3412776" cy="2429575"/>
          </a:xfrm>
          <a:prstGeom prst="rect">
            <a:avLst/>
          </a:prstGeom>
          <a:noFill/>
          <a:ln>
            <a:noFill/>
          </a:ln>
        </p:spPr>
      </p:pic>
      <p:pic>
        <p:nvPicPr>
          <p:cNvPr id="140" name="Google Shape;140;g3208e16e3f1_0_13"/>
          <p:cNvPicPr preferRelativeResize="0"/>
          <p:nvPr/>
        </p:nvPicPr>
        <p:blipFill rotWithShape="1">
          <a:blip r:embed="rId4">
            <a:alphaModFix/>
          </a:blip>
          <a:srcRect b="0" l="454" r="740" t="0"/>
          <a:stretch/>
        </p:blipFill>
        <p:spPr>
          <a:xfrm>
            <a:off x="4327175" y="2761736"/>
            <a:ext cx="4177200" cy="2191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1fef00ada2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46" name="Google Shape;146;g31fef00ada2_0_6"/>
          <p:cNvSpPr txBox="1"/>
          <p:nvPr/>
        </p:nvSpPr>
        <p:spPr>
          <a:xfrm>
            <a:off x="392700" y="1439875"/>
            <a:ext cx="8358600" cy="13305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If we are allowed extra space, then we can simply move all items of queue to an array, then sort the array and finally move array elements back to queue.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133"/>
              <a:buFont typeface="Arial"/>
              <a:buNone/>
            </a:pPr>
            <a:r>
              <a:rPr b="0" i="0" lang="en-GB" sz="1600" u="none" cap="none" strike="noStrike">
                <a:solidFill>
                  <a:schemeClr val="dk1"/>
                </a:solidFill>
                <a:latin typeface="Consolas"/>
                <a:ea typeface="Consolas"/>
                <a:cs typeface="Consolas"/>
                <a:sym typeface="Consolas"/>
              </a:rPr>
              <a:t>Examples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Input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10 -&gt; 7 -&gt; 2 -&gt; 8 -&gt; 6</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Output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2 -&gt; 6 -&gt; 7 -&gt; 8 -&gt; 10</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67"/>
              <a:buFont typeface="Arial"/>
              <a:buNone/>
            </a:pPr>
            <a:r>
              <a:t/>
            </a:r>
            <a:endParaRPr b="0" i="0" sz="1867"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50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47" name="Google Shape;147;g31fef00ada2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08ef83a81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53" name="Google Shape;153;g3208ef83a81_0_0"/>
          <p:cNvSpPr txBox="1"/>
          <p:nvPr/>
        </p:nvSpPr>
        <p:spPr>
          <a:xfrm>
            <a:off x="392700" y="1278775"/>
            <a:ext cx="8358600" cy="1330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Consider the queue made up of two parts, one is sorted and the other is not sorted.</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Initially, all the elements are present in not sorted part.</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At every step, find the index of the minimum element from the unsorted queue and move it to the end of the queue, that is, to the sorted part.</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Repeat this step till all the elements are not present in the sorted queue.</a:t>
            </a:r>
            <a:endParaRPr b="0" i="0" sz="16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54" name="Google Shape;154;g3208ef83a81_0_0"/>
          <p:cNvSpPr txBox="1"/>
          <p:nvPr/>
        </p:nvSpPr>
        <p:spPr>
          <a:xfrm>
            <a:off x="108151" y="7995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2091a6128f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60" name="Google Shape;160;g32091a6128f_0_0"/>
          <p:cNvSpPr txBox="1"/>
          <p:nvPr/>
        </p:nvSpPr>
        <p:spPr>
          <a:xfrm>
            <a:off x="392700" y="999550"/>
            <a:ext cx="8358600" cy="1330500"/>
          </a:xfrm>
          <a:prstGeom prst="rect">
            <a:avLst/>
          </a:prstGeom>
          <a:noFill/>
          <a:ln>
            <a:noFill/>
          </a:ln>
        </p:spPr>
        <p:txBody>
          <a:bodyPr anchorCtr="0" anchor="t" bIns="45700" lIns="91425" spcFirstLastPara="1" rIns="91425" wrap="square" tIns="45700">
            <a:noAutofit/>
          </a:bodyPr>
          <a:lstStyle/>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Run a loop for i = 0 to n(not included), where n is the size of the queue.</a:t>
            </a:r>
            <a:endParaRPr b="0" i="0" sz="1600" u="none" cap="none" strike="noStrike">
              <a:solidFill>
                <a:schemeClr val="dk1"/>
              </a:solidFill>
              <a:latin typeface="Consolas"/>
              <a:ea typeface="Consolas"/>
              <a:cs typeface="Consolas"/>
              <a:sym typeface="Consolas"/>
            </a:endParaRPr>
          </a:p>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At every iteration initialize minIndex as -1 and minValue as -infinity.</a:t>
            </a:r>
            <a:endParaRPr b="0" i="0" sz="1600" u="none" cap="none" strike="noStrike">
              <a:solidFill>
                <a:schemeClr val="dk1"/>
              </a:solidFill>
              <a:latin typeface="Consolas"/>
              <a:ea typeface="Consolas"/>
              <a:cs typeface="Consolas"/>
              <a:sym typeface="Consolas"/>
            </a:endParaRPr>
          </a:p>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Run another loop with variable j that finds the minimum element’s index from the unsorted queue. </a:t>
            </a:r>
            <a:endParaRPr b="0" i="0" sz="1600" u="none" cap="none" strike="noStrike">
              <a:solidFill>
                <a:schemeClr val="dk1"/>
              </a:solidFill>
              <a:latin typeface="Consolas"/>
              <a:ea typeface="Consolas"/>
              <a:cs typeface="Consolas"/>
              <a:sym typeface="Consolas"/>
            </a:endParaRPr>
          </a:p>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The unsorted queue is present from index 0 to index (n – i) for a particular value of i. </a:t>
            </a:r>
            <a:endParaRPr b="0" i="0" sz="1600" u="none" cap="none" strike="noStrike">
              <a:solidFill>
                <a:schemeClr val="dk1"/>
              </a:solidFill>
              <a:latin typeface="Consolas"/>
              <a:ea typeface="Consolas"/>
              <a:cs typeface="Consolas"/>
              <a:sym typeface="Consolas"/>
            </a:endParaRPr>
          </a:p>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At every iteration, if the current element is less than minValue, update minValue as current element and minIndex as j.</a:t>
            </a:r>
            <a:endParaRPr b="0" i="0" sz="1600" u="none" cap="none" strike="noStrike">
              <a:solidFill>
                <a:schemeClr val="dk1"/>
              </a:solidFill>
              <a:latin typeface="Consolas"/>
              <a:ea typeface="Consolas"/>
              <a:cs typeface="Consolas"/>
              <a:sym typeface="Consolas"/>
            </a:endParaRPr>
          </a:p>
          <a:p>
            <a:pPr indent="-330200" lvl="0" marL="457200" marR="0" rtl="0" algn="just">
              <a:lnSpc>
                <a:spcPct val="115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Traverse in the queue and remove the element at position minIndex and push it at the end of the queue.The queue is sorted, print its elements.</a:t>
            </a:r>
            <a:endParaRPr b="0" i="0" sz="1600" u="none" cap="none" strike="noStrike">
              <a:solidFill>
                <a:schemeClr val="dk1"/>
              </a:solidFill>
              <a:latin typeface="Consolas"/>
              <a:ea typeface="Consolas"/>
              <a:cs typeface="Consolas"/>
              <a:sym typeface="Consolas"/>
            </a:endParaRPr>
          </a:p>
          <a:p>
            <a:pPr indent="-342888" lvl="0" marL="457188"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61" name="Google Shape;161;g32091a6128f_0_0"/>
          <p:cNvSpPr txBox="1"/>
          <p:nvPr/>
        </p:nvSpPr>
        <p:spPr>
          <a:xfrm>
            <a:off x="124226" y="63024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208ef83a81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
        <p:nvSpPr>
          <p:cNvPr id="167" name="Google Shape;167;g3208ef83a81_0_6"/>
          <p:cNvSpPr txBox="1"/>
          <p:nvPr/>
        </p:nvSpPr>
        <p:spPr>
          <a:xfrm>
            <a:off x="392700" y="1324050"/>
            <a:ext cx="3579000" cy="1330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67"/>
              <a:buFont typeface="Arial"/>
              <a:buNone/>
            </a:pPr>
            <a:r>
              <a:rPr b="0" i="0" lang="en-GB" sz="1600" u="none" cap="none" strike="noStrike">
                <a:solidFill>
                  <a:schemeClr val="dk1"/>
                </a:solidFill>
                <a:latin typeface="Consolas"/>
                <a:ea typeface="Consolas"/>
                <a:cs typeface="Consolas"/>
                <a:sym typeface="Consolas"/>
              </a:rPr>
              <a:t>At every step, find the index of minimum element in the unsorted part and move it to the end of the queue, that is, sorted part.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50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68" name="Google Shape;168;g3208ef83a81_0_6"/>
          <p:cNvSpPr txBox="1"/>
          <p:nvPr/>
        </p:nvSpPr>
        <p:spPr>
          <a:xfrm>
            <a:off x="172451" y="8771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pic>
        <p:nvPicPr>
          <p:cNvPr id="169" name="Google Shape;169;g3208ef83a81_0_6"/>
          <p:cNvPicPr preferRelativeResize="0"/>
          <p:nvPr/>
        </p:nvPicPr>
        <p:blipFill rotWithShape="1">
          <a:blip r:embed="rId3">
            <a:alphaModFix/>
          </a:blip>
          <a:srcRect b="0" l="0" r="0" t="0"/>
          <a:stretch/>
        </p:blipFill>
        <p:spPr>
          <a:xfrm>
            <a:off x="227376" y="3586175"/>
            <a:ext cx="3909625" cy="787400"/>
          </a:xfrm>
          <a:prstGeom prst="rect">
            <a:avLst/>
          </a:prstGeom>
          <a:noFill/>
          <a:ln>
            <a:noFill/>
          </a:ln>
        </p:spPr>
      </p:pic>
      <p:pic>
        <p:nvPicPr>
          <p:cNvPr id="170" name="Google Shape;170;g3208ef83a81_0_6"/>
          <p:cNvPicPr preferRelativeResize="0"/>
          <p:nvPr/>
        </p:nvPicPr>
        <p:blipFill rotWithShape="1">
          <a:blip r:embed="rId4">
            <a:alphaModFix/>
          </a:blip>
          <a:srcRect b="0" l="0" r="0" t="0"/>
          <a:stretch/>
        </p:blipFill>
        <p:spPr>
          <a:xfrm>
            <a:off x="4653698" y="1170001"/>
            <a:ext cx="3715600" cy="3536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aphicFrame>
        <p:nvGraphicFramePr>
          <p:cNvPr id="175" name="Google Shape;175;g31fe56d80bc_0_106"/>
          <p:cNvGraphicFramePr/>
          <p:nvPr/>
        </p:nvGraphicFramePr>
        <p:xfrm>
          <a:off x="202600" y="723400"/>
          <a:ext cx="3000000" cy="3000000"/>
        </p:xfrm>
        <a:graphic>
          <a:graphicData uri="http://schemas.openxmlformats.org/drawingml/2006/table">
            <a:tbl>
              <a:tblPr>
                <a:noFill/>
                <a:tableStyleId>{9C01C565-608B-41F9-8DF9-D6B43B7AF5B6}</a:tableStyleId>
              </a:tblPr>
              <a:tblGrid>
                <a:gridCol w="4481650"/>
                <a:gridCol w="4257150"/>
              </a:tblGrid>
              <a:tr h="381000">
                <a:tc>
                  <a:txBody>
                    <a:bodyPr/>
                    <a:lstStyle/>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import java.util.LinkedList;</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import java.util.Queue;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public class SortingAQueueWithoutExtraSpace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private static void sortQueue(Queue &lt;Integer&gt; queue)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int n = queue.size();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for (int i = 0; i &lt; n; i++)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int minIndex = -1;</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int minValue = Integer.MAX_VALUE;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for (int j = 0; j &lt; n; j++)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int currValue = queue.poll();</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if (currValue &lt; minValue &amp;&amp; j &lt; (n - i))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minValue = currValue;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minIndex = j;</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queue.add(currValue);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 Remove min value from queue</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300" u="none" cap="none" strike="noStrike">
                          <a:solidFill>
                            <a:schemeClr val="dk1"/>
                          </a:solidFill>
                          <a:latin typeface="Consolas"/>
                          <a:ea typeface="Consolas"/>
                          <a:cs typeface="Consolas"/>
                          <a:sym typeface="Consolas"/>
                        </a:rPr>
                        <a:t>      for (int j = 0; j &lt; n; j++)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sz="12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int currValue = queue.poll();</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if (j != minIndex)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queue.add(currValue);</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 Add min value to the end of the queue</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queue.add(minValue);</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 Print the sorted queue</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for (Integer i: queue)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System.out.print(i + "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System.out.println();</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public static void main(String[] args) {</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Queue &lt;Integer&gt; q1 = new LinkedList&lt;&gt;();</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q1.add(10);</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q1.add(7);</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q1.add(2);</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q1.add(8);</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q1.add(6);</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sortQueue(q1);</a:t>
                      </a:r>
                      <a:endParaRPr b="1" sz="1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rPr lang="en-GB" sz="1200" u="none" cap="none" strike="noStrike">
                          <a:solidFill>
                            <a:schemeClr val="dk1"/>
                          </a:solidFill>
                          <a:latin typeface="Consolas"/>
                          <a:ea typeface="Consolas"/>
                          <a:cs typeface="Consolas"/>
                          <a:sym typeface="Consolas"/>
                        </a:rPr>
                        <a:t>   }}</a:t>
                      </a:r>
                      <a:endParaRPr b="1" sz="1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1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76" name="Google Shape;176;g31fe56d80bc_0_106"/>
          <p:cNvSpPr txBox="1"/>
          <p:nvPr/>
        </p:nvSpPr>
        <p:spPr>
          <a:xfrm>
            <a:off x="720725" y="276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1fdec52c72_0_308"/>
          <p:cNvSpPr txBox="1"/>
          <p:nvPr/>
        </p:nvSpPr>
        <p:spPr>
          <a:xfrm>
            <a:off x="3315000" y="445600"/>
            <a:ext cx="32523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WITHOUT EXTRA SPACE</a:t>
            </a:r>
            <a:endParaRPr b="0" i="0" sz="1800" u="none" cap="none" strike="noStrike">
              <a:solidFill>
                <a:srgbClr val="6D9EEB"/>
              </a:solidFill>
              <a:latin typeface="Roboto Black"/>
              <a:ea typeface="Roboto Black"/>
              <a:cs typeface="Roboto Black"/>
              <a:sym typeface="Roboto Black"/>
            </a:endParaRPr>
          </a:p>
        </p:txBody>
      </p:sp>
      <p:sp>
        <p:nvSpPr>
          <p:cNvPr id="182" name="Google Shape;182;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TIME AND SPACE COMPLEXITY :</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83" name="Google Shape;183;g31fdec52c72_0_308"/>
          <p:cNvSpPr txBox="1"/>
          <p:nvPr/>
        </p:nvSpPr>
        <p:spPr>
          <a:xfrm>
            <a:off x="436323" y="1779900"/>
            <a:ext cx="7492200" cy="3591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Time Complexity: O(n^2) - Quadratic time complexity due to nested loops.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Space Complexity: O(1) - Constant space complexity, as no additional data structures are used proportional to the input size.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89" name="Google Shape;189;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What is the "Sort Without Extra Space"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0" name="Google Shape;190;g3243a3cdda7_0_819"/>
          <p:cNvSpPr txBox="1"/>
          <p:nvPr/>
        </p:nvSpPr>
        <p:spPr>
          <a:xfrm>
            <a:off x="450875" y="1909975"/>
            <a:ext cx="8086800" cy="1077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"Sort Without Extra Space" problem involves sorting an array of integers in ascending order without using additional memory space (constant space complexity).</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96" name="Google Shape;196;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 What is the main advantage of sorting without extra space in memory-constrained environments?</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7" name="Google Shape;197;g3243a3cdda7_0_825"/>
          <p:cNvSpPr txBox="1"/>
          <p:nvPr/>
        </p:nvSpPr>
        <p:spPr>
          <a:xfrm>
            <a:off x="385498" y="2135000"/>
            <a:ext cx="7492200" cy="2739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Sorting without extra space is advantageous in memory-constrained environments because it avoids the need for additional memory allocation, making it suitable for systems with limited memory resources.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03" name="Google Shape;203;g3243a3cdda7_0_831"/>
          <p:cNvSpPr txBox="1"/>
          <p:nvPr/>
        </p:nvSpPr>
        <p:spPr>
          <a:xfrm>
            <a:off x="0" y="1170000"/>
            <a:ext cx="82473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Are there any trade-offs when using in-place sorting algorithms for the "Sort Without Extra Space" problem?</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  </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04" name="Google Shape;204;g3243a3cdda7_0_831"/>
          <p:cNvSpPr txBox="1"/>
          <p:nvPr/>
        </p:nvSpPr>
        <p:spPr>
          <a:xfrm>
            <a:off x="656423" y="2037075"/>
            <a:ext cx="7492200" cy="3601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Yes, there are trade-offs. While in-place sorting algorithms conserve memory, they may have slightly higher time complexity compared to algorithms that use extra space. However, this trade-off is often acceptable when memory is a critical concern.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10" name="Google Shape;21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11" name="Google Shape;211;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7" name="Google Shape;21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18" name="Google Shape;21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9" name="Google Shape;219;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20" name="Google Shape;22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21" name="Google Shape;22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22" name="Google Shape;222;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23" name="Google Shape;22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24" name="Google Shape;224;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25" name="Google Shape;22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6" name="Google Shape;226;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27" name="Google Shape;22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