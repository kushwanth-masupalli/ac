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Black"/>
      <p:bold r:id="rId26"/>
      <p:boldItalic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32" roundtripDataSignature="AMtx7miNaGGVkgy7VWrYQC+g00xveO7C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027121-79BF-4ECA-BF00-728C0909D14D}">
  <a:tblStyle styleId="{50027121-79BF-4ECA-BF00-728C0909D14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lack-bold.fntdata"/><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font" Target="fonts/RobotoBlack-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10" Type="http://schemas.openxmlformats.org/officeDocument/2006/relationships/slide" Target="slides/slide3.xml"/><Relationship Id="rId32"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55df35a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55df35a0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8e16e3f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8e16e3f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08e16e3f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3" name="Google Shape;133;g3208e16e3f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208e16e3f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0" name="Google Shape;140;g3208e16e3f1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5f49603e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7" name="Google Shape;147;g325f49603e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5f49603ed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4" name="Google Shape;154;g325f49603ed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5f49603ed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325f49603ed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25f49603ed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6" name="Google Shape;166;g325f49603ed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5f49603ed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2" name="Google Shape;172;g325f49603ed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9" name="Google Shape;179;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6" name="Google Shape;186;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5f49603ed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0" name="Google Shape;200;g325f49603ed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2.xml"/><Relationship Id="rId12" Type="http://schemas.openxmlformats.org/officeDocument/2006/relationships/slideLayout" Target="../slideLayouts/slideLayout21.xml"/><Relationship Id="rId1" Type="http://schemas.openxmlformats.org/officeDocument/2006/relationships/image" Target="../media/image8.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forms.gle/M8ByA5m8W4zY47cy5"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200"/>
              <a:buFont typeface="Arial"/>
              <a:buNone/>
            </a:pPr>
            <a:r>
              <a:rPr b="1" i="0" lang="en-GB" sz="2200" u="none" cap="none" strike="noStrike">
                <a:solidFill>
                  <a:schemeClr val="lt1"/>
                </a:solidFill>
                <a:latin typeface="Times New Roman"/>
                <a:ea typeface="Times New Roman"/>
                <a:cs typeface="Times New Roman"/>
                <a:sym typeface="Times New Roman"/>
              </a:rPr>
              <a:t>        SORT BITONIC DLL</a:t>
            </a:r>
            <a:endParaRPr b="1" i="0" sz="2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a55df35a0c_1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TEST TIME ON LOOP DETECTION</a:t>
            </a:r>
            <a:endParaRPr/>
          </a:p>
        </p:txBody>
      </p:sp>
      <p:sp>
        <p:nvSpPr>
          <p:cNvPr id="115" name="Google Shape;115;g3a55df35a0c_1_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Url:</a:t>
            </a:r>
            <a:r>
              <a:rPr lang="en-GB" u="sng">
                <a:solidFill>
                  <a:schemeClr val="hlink"/>
                </a:solidFill>
                <a:hlinkClick r:id="rId3"/>
              </a:rPr>
              <a:t>https://forms.gle/M8ByA5m8W4zY47cy5</a:t>
            </a:r>
            <a:endParaRPr/>
          </a:p>
          <a:p>
            <a:pPr indent="0" lvl="0" marL="0" rtl="0" algn="l">
              <a:spcBef>
                <a:spcPts val="0"/>
              </a:spcBef>
              <a:spcAft>
                <a:spcPts val="0"/>
              </a:spcAft>
              <a:buNone/>
            </a:pPr>
            <a:r>
              <a:t/>
            </a:r>
            <a:endParaRPr/>
          </a:p>
        </p:txBody>
      </p:sp>
      <p:pic>
        <p:nvPicPr>
          <p:cNvPr id="116" name="Google Shape;116;g3a55df35a0c_1_0" title="LoopDetection.png"/>
          <p:cNvPicPr preferRelativeResize="0"/>
          <p:nvPr/>
        </p:nvPicPr>
        <p:blipFill>
          <a:blip r:embed="rId4">
            <a:alphaModFix/>
          </a:blip>
          <a:stretch>
            <a:fillRect/>
          </a:stretch>
        </p:blipFill>
        <p:spPr>
          <a:xfrm>
            <a:off x="3234400" y="1862775"/>
            <a:ext cx="2706100" cy="2706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
        <p:nvSpPr>
          <p:cNvPr id="122" name="Google Shape;122;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Sorting a biotonic doubly linked list involves arranging the elements in such a way that they first increase in value, then decrease, and so on.</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23" name="Google Shape;123;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8e16e3f1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
        <p:nvSpPr>
          <p:cNvPr id="129" name="Google Shape;129;g3208e16e3f1_0_0"/>
          <p:cNvSpPr txBox="1"/>
          <p:nvPr/>
        </p:nvSpPr>
        <p:spPr>
          <a:xfrm>
            <a:off x="392701" y="1009275"/>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1. Identify the Peak Node:</a:t>
            </a:r>
            <a:endParaRPr b="0" i="0" u="none" cap="none" strike="noStrike">
              <a:solidFill>
                <a:schemeClr val="dk1"/>
              </a:solidFill>
              <a:latin typeface="Arial"/>
              <a:ea typeface="Arial"/>
              <a:cs typeface="Arial"/>
              <a:sym typeface="Arial"/>
            </a:endParaRPr>
          </a:p>
          <a:p>
            <a:pPr indent="0" lvl="0" marL="0" marR="0" rtl="0" algn="just">
              <a:lnSpc>
                <a:spcPct val="115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   Traverse the doubly linked list from the beginning to find the node where the ascending order ends and the descending order begins. This node is referred to as the "peak node.“</a:t>
            </a:r>
            <a:endParaRPr b="0" i="0" u="none" cap="none" strike="noStrike">
              <a:solidFill>
                <a:schemeClr val="dk1"/>
              </a:solidFill>
              <a:latin typeface="Arial"/>
              <a:ea typeface="Arial"/>
              <a:cs typeface="Arial"/>
              <a:sym typeface="Arial"/>
            </a:endParaRPr>
          </a:p>
          <a:p>
            <a:pPr indent="0" lvl="0" marL="0" marR="0" rtl="0" algn="just">
              <a:lnSpc>
                <a:spcPct val="115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2. Split the List at the Peak Node:</a:t>
            </a:r>
            <a:endParaRPr b="0" i="0" u="none" cap="none" strike="noStrike">
              <a:solidFill>
                <a:schemeClr val="dk1"/>
              </a:solidFill>
              <a:latin typeface="Arial"/>
              <a:ea typeface="Arial"/>
              <a:cs typeface="Arial"/>
              <a:sym typeface="Arial"/>
            </a:endParaRPr>
          </a:p>
          <a:p>
            <a:pPr indent="0" lvl="0" marL="0" marR="0" rtl="0" algn="just">
              <a:lnSpc>
                <a:spcPct val="115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   - Once you've located the peak node, split the doubly linked list into two separate lists:</a:t>
            </a:r>
            <a:endParaRPr b="0" i="0" u="none" cap="none" strike="noStrike">
              <a:solidFill>
                <a:schemeClr val="dk1"/>
              </a:solidFill>
              <a:latin typeface="Arial"/>
              <a:ea typeface="Arial"/>
              <a:cs typeface="Arial"/>
              <a:sym typeface="Arial"/>
            </a:endParaRPr>
          </a:p>
          <a:p>
            <a:pPr indent="0" lvl="0" marL="0" marR="0" rtl="0" algn="just">
              <a:lnSpc>
                <a:spcPct val="115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     - The first list includes nodes from the start of the original list up to and including the peak node. This part is in ascending order.</a:t>
            </a:r>
            <a:endParaRPr b="0" i="0" u="none" cap="none" strike="noStrike">
              <a:solidFill>
                <a:schemeClr val="dk1"/>
              </a:solidFill>
              <a:latin typeface="Arial"/>
              <a:ea typeface="Arial"/>
              <a:cs typeface="Arial"/>
              <a:sym typeface="Arial"/>
            </a:endParaRPr>
          </a:p>
          <a:p>
            <a:pPr indent="0" lvl="0" marL="0" marR="0" rtl="0" algn="just">
              <a:lnSpc>
                <a:spcPct val="115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     - The second list consists of nodes starting from the node immediately after the peak node and continuing to the end of the original list. This part is in descending order.</a:t>
            </a:r>
            <a:endParaRPr b="0" i="0" u="none" cap="none" strike="noStrike">
              <a:solidFill>
                <a:schemeClr val="dk1"/>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u="none" cap="none" strike="noStrike">
              <a:solidFill>
                <a:schemeClr val="dk1"/>
              </a:solidFill>
              <a:latin typeface="Consolas"/>
              <a:ea typeface="Consolas"/>
              <a:cs typeface="Consolas"/>
              <a:sym typeface="Consolas"/>
            </a:endParaRPr>
          </a:p>
        </p:txBody>
      </p:sp>
      <p:sp>
        <p:nvSpPr>
          <p:cNvPr id="130" name="Google Shape;130;g3208e16e3f1_0_0"/>
          <p:cNvSpPr txBox="1"/>
          <p:nvPr/>
        </p:nvSpPr>
        <p:spPr>
          <a:xfrm>
            <a:off x="220676" y="73249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208e16e3f1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
        <p:nvSpPr>
          <p:cNvPr id="136" name="Google Shape;136;g3208e16e3f1_0_6"/>
          <p:cNvSpPr txBox="1"/>
          <p:nvPr/>
        </p:nvSpPr>
        <p:spPr>
          <a:xfrm>
            <a:off x="296276" y="1170000"/>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3. Reverse the Second List:</a:t>
            </a:r>
            <a:endParaRPr b="0" i="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   Reverse the second list (the one in descending order). This will convert it into ascending order.</a:t>
            </a:r>
            <a:endParaRPr b="0" i="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4. Merge the Two Sorted Lists:</a:t>
            </a:r>
            <a:endParaRPr b="0" i="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   Finally, merge the two sorted lists (the ascending part and the reversed ascending part) to create a fully sorted biotonic doubly linked list.</a:t>
            </a:r>
            <a:endParaRPr b="0" i="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Clr>
                <a:schemeClr val="dk1"/>
              </a:buClr>
              <a:buSzPts val="1800"/>
              <a:buFont typeface="Arial"/>
              <a:buNone/>
            </a:pPr>
            <a:r>
              <a:rPr b="0" i="0" lang="en-GB" u="none" cap="none" strike="noStrike">
                <a:solidFill>
                  <a:schemeClr val="dk1"/>
                </a:solidFill>
                <a:latin typeface="Consolas"/>
                <a:ea typeface="Consolas"/>
                <a:cs typeface="Consolas"/>
                <a:sym typeface="Consolas"/>
              </a:rPr>
              <a:t>The resulting doubly linked list will be sorted in a biotonic manner, with elements first increasing and then decreasing.</a:t>
            </a:r>
            <a:endParaRPr b="0" i="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u="none" cap="none" strike="noStrike">
              <a:solidFill>
                <a:schemeClr val="dk1"/>
              </a:solidFill>
              <a:latin typeface="Consolas"/>
              <a:ea typeface="Consolas"/>
              <a:cs typeface="Consolas"/>
              <a:sym typeface="Consolas"/>
            </a:endParaRPr>
          </a:p>
        </p:txBody>
      </p:sp>
      <p:sp>
        <p:nvSpPr>
          <p:cNvPr id="137" name="Google Shape;137;g3208e16e3f1_0_6"/>
          <p:cNvSpPr txBox="1"/>
          <p:nvPr/>
        </p:nvSpPr>
        <p:spPr>
          <a:xfrm>
            <a:off x="188526" y="935079"/>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208e16e3f1_0_1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
        <p:nvSpPr>
          <p:cNvPr id="143" name="Google Shape;143;g3208e16e3f1_0_13"/>
          <p:cNvSpPr txBox="1"/>
          <p:nvPr/>
        </p:nvSpPr>
        <p:spPr>
          <a:xfrm>
            <a:off x="392701" y="1102325"/>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1000"/>
              </a:spcBef>
              <a:spcAft>
                <a:spcPts val="0"/>
              </a:spcAft>
              <a:buClr>
                <a:schemeClr val="dk1"/>
              </a:buClr>
              <a:buSzPts val="1600"/>
              <a:buFont typeface="Arial"/>
              <a:buNone/>
            </a:pPr>
            <a:r>
              <a:rPr b="0" i="0" lang="en-GB" u="none" cap="none" strike="noStrike">
                <a:solidFill>
                  <a:schemeClr val="dk1"/>
                </a:solidFill>
                <a:latin typeface="Consolas"/>
                <a:ea typeface="Consolas"/>
                <a:cs typeface="Consolas"/>
                <a:sym typeface="Consolas"/>
              </a:rPr>
              <a:t>Consider the random sequence: 1 &lt;-&gt; 5 &lt;-&gt; 8 &lt;-&gt; 12 &lt;-&gt; 11 &lt;-&gt; 7 &lt;-&gt; 6 &lt;-&gt; 2</a:t>
            </a:r>
            <a:endParaRPr b="0" i="0" u="none" cap="none" strike="noStrike">
              <a:solidFill>
                <a:schemeClr val="dk1"/>
              </a:solidFill>
              <a:latin typeface="Arial"/>
              <a:ea typeface="Arial"/>
              <a:cs typeface="Arial"/>
              <a:sym typeface="Arial"/>
            </a:endParaRPr>
          </a:p>
          <a:p>
            <a:pPr indent="-317500" lvl="0" marL="457200" marR="0" rtl="0" algn="just">
              <a:lnSpc>
                <a:spcPct val="150000"/>
              </a:lnSpc>
              <a:spcBef>
                <a:spcPts val="0"/>
              </a:spcBef>
              <a:spcAft>
                <a:spcPts val="0"/>
              </a:spcAft>
              <a:buClr>
                <a:schemeClr val="dk1"/>
              </a:buClr>
              <a:buSzPts val="1400"/>
              <a:buFont typeface="Consolas"/>
              <a:buChar char="●"/>
            </a:pPr>
            <a:r>
              <a:rPr b="0" i="0" lang="en-GB" u="none" cap="none" strike="noStrike">
                <a:solidFill>
                  <a:schemeClr val="dk1"/>
                </a:solidFill>
                <a:latin typeface="Consolas"/>
                <a:ea typeface="Consolas"/>
                <a:cs typeface="Consolas"/>
                <a:sym typeface="Consolas"/>
              </a:rPr>
              <a:t>Step 1: In the given bitonic doubly linked list (DLL) the peak element is the point where the increasing sequence ends and the decreasing sequence begins. In this case, the peak element is "12."</a:t>
            </a:r>
            <a:endParaRPr b="0" i="0" u="none" cap="none" strike="noStrike">
              <a:solidFill>
                <a:schemeClr val="dk1"/>
              </a:solidFill>
              <a:latin typeface="Consolas"/>
              <a:ea typeface="Consolas"/>
              <a:cs typeface="Consolas"/>
              <a:sym typeface="Consolas"/>
            </a:endParaRPr>
          </a:p>
          <a:p>
            <a:pPr indent="-317500" lvl="0" marL="457200" marR="0" rtl="0" algn="just">
              <a:lnSpc>
                <a:spcPct val="150000"/>
              </a:lnSpc>
              <a:spcBef>
                <a:spcPts val="0"/>
              </a:spcBef>
              <a:spcAft>
                <a:spcPts val="0"/>
              </a:spcAft>
              <a:buClr>
                <a:schemeClr val="dk1"/>
              </a:buClr>
              <a:buSzPts val="1400"/>
              <a:buFont typeface="Consolas"/>
              <a:buChar char="●"/>
            </a:pPr>
            <a:r>
              <a:rPr b="0" i="0" lang="en-GB" u="none" cap="none" strike="noStrike">
                <a:solidFill>
                  <a:schemeClr val="dk1"/>
                </a:solidFill>
                <a:latin typeface="Consolas"/>
                <a:ea typeface="Consolas"/>
                <a:cs typeface="Consolas"/>
                <a:sym typeface="Consolas"/>
              </a:rPr>
              <a:t>step 2:split into two parts first increases (1, 5, 8, 12), then decreases (11, 7, 6, 2).</a:t>
            </a:r>
            <a:endParaRPr b="0" i="0" u="none" cap="none" strike="noStrike">
              <a:solidFill>
                <a:schemeClr val="dk1"/>
              </a:solidFill>
              <a:latin typeface="Consolas"/>
              <a:ea typeface="Consolas"/>
              <a:cs typeface="Consolas"/>
              <a:sym typeface="Consolas"/>
            </a:endParaRPr>
          </a:p>
          <a:p>
            <a:pPr indent="-317500" lvl="0" marL="457200" marR="0" rtl="0" algn="just">
              <a:lnSpc>
                <a:spcPct val="150000"/>
              </a:lnSpc>
              <a:spcBef>
                <a:spcPts val="0"/>
              </a:spcBef>
              <a:spcAft>
                <a:spcPts val="0"/>
              </a:spcAft>
              <a:buClr>
                <a:schemeClr val="dk1"/>
              </a:buClr>
              <a:buSzPts val="1400"/>
              <a:buFont typeface="Consolas"/>
              <a:buChar char="●"/>
            </a:pPr>
            <a:r>
              <a:rPr b="0" i="0" lang="en-GB" u="none" cap="none" strike="noStrike">
                <a:solidFill>
                  <a:schemeClr val="dk1"/>
                </a:solidFill>
                <a:latin typeface="Consolas"/>
                <a:ea typeface="Consolas"/>
                <a:cs typeface="Consolas"/>
                <a:sym typeface="Consolas"/>
              </a:rPr>
              <a:t>Step 3:Separate the list into two parts: the increasing sequence and the decreasing sequence.Increasing Sequence: 1 ,5, 8 , 12 Decreasing Sequence: 11 ,7 , 6, 2</a:t>
            </a:r>
            <a:endParaRPr b="0" i="0" u="none" cap="none" strike="noStrike">
              <a:solidFill>
                <a:schemeClr val="dk1"/>
              </a:solidFill>
              <a:latin typeface="Consolas"/>
              <a:ea typeface="Consolas"/>
              <a:cs typeface="Consolas"/>
              <a:sym typeface="Consolas"/>
            </a:endParaRPr>
          </a:p>
          <a:p>
            <a:pPr indent="0" lvl="0" marL="457200" marR="0" rtl="0" algn="l">
              <a:lnSpc>
                <a:spcPct val="150000"/>
              </a:lnSpc>
              <a:spcBef>
                <a:spcPts val="0"/>
              </a:spcBef>
              <a:spcAft>
                <a:spcPts val="0"/>
              </a:spcAft>
              <a:buClr>
                <a:srgbClr val="000000"/>
              </a:buClr>
              <a:buSzPts val="1600"/>
              <a:buFont typeface="Arial"/>
              <a:buNone/>
            </a:pPr>
            <a:r>
              <a:t/>
            </a:r>
            <a:endParaRPr b="0" i="0" u="none" cap="none" strike="noStrike">
              <a:solidFill>
                <a:schemeClr val="dk1"/>
              </a:solidFill>
              <a:latin typeface="Consolas"/>
              <a:ea typeface="Consolas"/>
              <a:cs typeface="Consolas"/>
              <a:sym typeface="Consolas"/>
            </a:endParaRPr>
          </a:p>
          <a:p>
            <a:pPr indent="0" lvl="0" marL="457200" marR="0" rtl="0" algn="just">
              <a:lnSpc>
                <a:spcPct val="150000"/>
              </a:lnSpc>
              <a:spcBef>
                <a:spcPts val="0"/>
              </a:spcBef>
              <a:spcAft>
                <a:spcPts val="0"/>
              </a:spcAft>
              <a:buClr>
                <a:srgbClr val="000000"/>
              </a:buClr>
              <a:buSzPts val="1600"/>
              <a:buFont typeface="Arial"/>
              <a:buNone/>
            </a:pPr>
            <a:r>
              <a:t/>
            </a:r>
            <a:endParaRPr b="0" i="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u="none" cap="none" strike="noStrike">
              <a:solidFill>
                <a:schemeClr val="dk1"/>
              </a:solidFill>
              <a:latin typeface="Consolas"/>
              <a:ea typeface="Consolas"/>
              <a:cs typeface="Consolas"/>
              <a:sym typeface="Consolas"/>
            </a:endParaRPr>
          </a:p>
        </p:txBody>
      </p:sp>
      <p:sp>
        <p:nvSpPr>
          <p:cNvPr id="144" name="Google Shape;144;g3208e16e3f1_0_13"/>
          <p:cNvSpPr txBox="1"/>
          <p:nvPr/>
        </p:nvSpPr>
        <p:spPr>
          <a:xfrm>
            <a:off x="172451" y="79959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25f49603ed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
        <p:nvSpPr>
          <p:cNvPr id="150" name="Google Shape;150;g325f49603ed_0_0"/>
          <p:cNvSpPr txBox="1"/>
          <p:nvPr/>
        </p:nvSpPr>
        <p:spPr>
          <a:xfrm>
            <a:off x="392701" y="1327350"/>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Example:</a:t>
            </a:r>
            <a:endParaRPr b="0" i="0" sz="1600" u="none" cap="none" strike="noStrike">
              <a:solidFill>
                <a:schemeClr val="dk1"/>
              </a:solidFill>
              <a:latin typeface="Arial"/>
              <a:ea typeface="Arial"/>
              <a:cs typeface="Arial"/>
              <a:sym typeface="Arial"/>
            </a:endParaRPr>
          </a:p>
          <a:p>
            <a:pPr indent="-330200" lvl="0" marL="457200" marR="0" rtl="0" algn="just">
              <a:lnSpc>
                <a:spcPct val="150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Step 4:Sort the increasing sequence in second part</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                 2 &lt;-&gt; 6 &lt;-&gt; 11 &lt;-&gt; 12</a:t>
            </a:r>
            <a:endParaRPr b="0" i="0" sz="1600" u="none" cap="none" strike="noStrike">
              <a:solidFill>
                <a:schemeClr val="dk1"/>
              </a:solidFill>
              <a:latin typeface="Consolas"/>
              <a:ea typeface="Consolas"/>
              <a:cs typeface="Consolas"/>
              <a:sym typeface="Consolas"/>
            </a:endParaRPr>
          </a:p>
          <a:p>
            <a:pPr indent="-330200" lvl="0" marL="457200" marR="0" rtl="0" algn="just">
              <a:lnSpc>
                <a:spcPct val="150000"/>
              </a:lnSpc>
              <a:spcBef>
                <a:spcPts val="0"/>
              </a:spcBef>
              <a:spcAft>
                <a:spcPts val="0"/>
              </a:spcAft>
              <a:buClr>
                <a:schemeClr val="dk1"/>
              </a:buClr>
              <a:buSzPts val="1600"/>
              <a:buFont typeface="Consolas"/>
              <a:buChar char="●"/>
            </a:pPr>
            <a:r>
              <a:rPr b="0" i="0" lang="en-GB" sz="1600" u="none" cap="none" strike="noStrike">
                <a:solidFill>
                  <a:schemeClr val="dk1"/>
                </a:solidFill>
                <a:latin typeface="Consolas"/>
                <a:ea typeface="Consolas"/>
                <a:cs typeface="Consolas"/>
                <a:sym typeface="Consolas"/>
              </a:rPr>
              <a:t>Step 5:Merge the two sorted sequences into a single sorted sequence.</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1100"/>
              <a:buFont typeface="Arial"/>
              <a:buNone/>
            </a:pPr>
            <a:r>
              <a:rPr b="0" i="0" lang="en-GB" sz="1600" u="none" cap="none" strike="noStrike">
                <a:solidFill>
                  <a:schemeClr val="dk1"/>
                </a:solidFill>
                <a:latin typeface="Consolas"/>
                <a:ea typeface="Consolas"/>
                <a:cs typeface="Consolas"/>
                <a:sym typeface="Consolas"/>
              </a:rPr>
              <a:t>Resultant Sorted Sequence: 1 &lt;-&gt; 2 &lt;-&gt; 5 &lt;-&gt; 6 &lt;-&gt; 7 &lt;-&gt; 8 &lt;-&gt; 11 &lt;-&gt; 12</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p:txBody>
      </p:sp>
      <p:sp>
        <p:nvSpPr>
          <p:cNvPr id="151" name="Google Shape;151;g325f49603ed_0_0"/>
          <p:cNvSpPr txBox="1"/>
          <p:nvPr/>
        </p:nvSpPr>
        <p:spPr>
          <a:xfrm>
            <a:off x="172451" y="79959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aphicFrame>
        <p:nvGraphicFramePr>
          <p:cNvPr id="156" name="Google Shape;156;g325f49603ed_0_6"/>
          <p:cNvGraphicFramePr/>
          <p:nvPr/>
        </p:nvGraphicFramePr>
        <p:xfrm>
          <a:off x="202600" y="723400"/>
          <a:ext cx="3000000" cy="3000000"/>
        </p:xfrm>
        <a:graphic>
          <a:graphicData uri="http://schemas.openxmlformats.org/drawingml/2006/table">
            <a:tbl>
              <a:tblPr>
                <a:noFill/>
                <a:tableStyleId>{50027121-79BF-4ECA-BF00-728C0909D14D}</a:tableStyleId>
              </a:tblPr>
              <a:tblGrid>
                <a:gridCol w="4481650"/>
                <a:gridCol w="4257150"/>
              </a:tblGrid>
              <a:tr h="381000">
                <a:tc>
                  <a:txBody>
                    <a:bodyPr/>
                    <a:lstStyle/>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class Main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//1.node explanation</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static class Node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int data;</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Node next;</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Node prev;</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//2.reverse function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//input 1,2,3---3,2,1</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static Node reverse(Node head_ref)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Node temp = null;</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Node current = head_ref;</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while (current != null)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temp = current.prev;</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current.prev = current.next;</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current.next = temp;</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current = current.prev;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if (temp != null)</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head_ref = temp.prev;</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return head_ref;</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sz="13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//3.Merge operation</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//list 1---2,5,8</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//list 2---1,3,6</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static Node merge(Node first, Node second)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if (first == null)</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return second;</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if (second == null)</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return first;</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if (first.data &lt; second.data)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first.next = merge(first.next, second);</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if (first.next != null)</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first.next.prev = first;</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first.prev = null;</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return first;</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300" u="none" cap="none" strike="noStrike">
                          <a:solidFill>
                            <a:schemeClr val="dk1"/>
                          </a:solidFill>
                          <a:latin typeface="Consolas"/>
                          <a:ea typeface="Consolas"/>
                          <a:cs typeface="Consolas"/>
                          <a:sym typeface="Consolas"/>
                        </a:rPr>
                        <a:t>    } else {</a:t>
                      </a:r>
                      <a:endParaRPr sz="13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sz="13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57" name="Google Shape;157;g325f49603ed_0_6"/>
          <p:cNvSpPr txBox="1"/>
          <p:nvPr/>
        </p:nvSpPr>
        <p:spPr>
          <a:xfrm>
            <a:off x="720725" y="2762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aphicFrame>
        <p:nvGraphicFramePr>
          <p:cNvPr id="162" name="Google Shape;162;g325f49603ed_0_56"/>
          <p:cNvGraphicFramePr/>
          <p:nvPr/>
        </p:nvGraphicFramePr>
        <p:xfrm>
          <a:off x="202600" y="723400"/>
          <a:ext cx="3000000" cy="3000000"/>
        </p:xfrm>
        <a:graphic>
          <a:graphicData uri="http://schemas.openxmlformats.org/drawingml/2006/table">
            <a:tbl>
              <a:tblPr>
                <a:noFill/>
                <a:tableStyleId>{50027121-79BF-4ECA-BF00-728C0909D14D}</a:tableStyleId>
              </a:tblPr>
              <a:tblGrid>
                <a:gridCol w="4481650"/>
                <a:gridCol w="4257150"/>
              </a:tblGrid>
              <a:tr h="381000">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second.next = merge(first, second.next);</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if (second.next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second.next.prev = second;</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second.prev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return second;</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//4.sorted list----call reverse and merge function</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static Node sort(Node head)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if (head == null || head.next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return head;</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Node current = head.next;</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while (current != null)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if (current.data &lt; current.prev.data)</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break;</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current = current.next;</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sz="14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if (current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return head;</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current.prev.next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current.prev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current = reverse(current);</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return merge(head, current);</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//5.push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static Node push(Node head_ref, int new_data)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Node new_node = new Node();</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new_node.data = new_data;</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new_node.prev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new_node.next = (head_ref);</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if ((head_ref) != null)</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(head_ref).prev = new_node;</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(head_ref) = new_node;</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return head_ref;</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latin typeface="Consolas"/>
                          <a:ea typeface="Consolas"/>
                          <a:cs typeface="Consolas"/>
                          <a:sym typeface="Consolas"/>
                        </a:rPr>
                        <a:t>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sz="14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63" name="Google Shape;163;g325f49603ed_0_56"/>
          <p:cNvSpPr txBox="1"/>
          <p:nvPr/>
        </p:nvSpPr>
        <p:spPr>
          <a:xfrm>
            <a:off x="720725" y="2762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graphicFrame>
        <p:nvGraphicFramePr>
          <p:cNvPr id="168" name="Google Shape;168;g325f49603ed_0_61"/>
          <p:cNvGraphicFramePr/>
          <p:nvPr/>
        </p:nvGraphicFramePr>
        <p:xfrm>
          <a:off x="202600" y="630250"/>
          <a:ext cx="3000000" cy="3000000"/>
        </p:xfrm>
        <a:graphic>
          <a:graphicData uri="http://schemas.openxmlformats.org/drawingml/2006/table">
            <a:tbl>
              <a:tblPr>
                <a:noFill/>
                <a:tableStyleId>{50027121-79BF-4ECA-BF00-728C0909D14D}</a:tableStyleId>
              </a:tblPr>
              <a:tblGrid>
                <a:gridCol w="4373100"/>
                <a:gridCol w="4154050"/>
              </a:tblGrid>
              <a:tr h="3743325">
                <a:tc>
                  <a:txBody>
                    <a:bodyPr/>
                    <a:lstStyle/>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//6.print the list</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static void printList(Node head)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if (head == null)</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System.out.println("Doubly Linked list empty");</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while (head != null)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System.out.print(head.data + "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head.next;</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//7.Main function</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public static void main(String args[])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Node head = null;</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 Create the doubly linked list:</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1);</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4);</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400"/>
                        <a:buFont typeface="Arial"/>
                        <a:buNone/>
                      </a:pPr>
                      <a:r>
                        <a:t/>
                      </a:r>
                      <a:endParaRPr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head = push(head, 6);</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10);</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12);</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7);</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5);</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push(head, 2);</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System.out.println("Original List:");</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printList(head);</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head = sort(head);</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System.out.println("\nSorted List:");</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printList(head);</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en-GB" u="none" cap="none" strike="noStrike">
                          <a:solidFill>
                            <a:schemeClr val="dk1"/>
                          </a:solidFill>
                          <a:latin typeface="Consolas"/>
                          <a:ea typeface="Consolas"/>
                          <a:cs typeface="Consolas"/>
                          <a:sym typeface="Consolas"/>
                        </a:rPr>
                        <a:t>}</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69" name="Google Shape;169;g325f49603ed_0_61"/>
          <p:cNvSpPr txBox="1"/>
          <p:nvPr/>
        </p:nvSpPr>
        <p:spPr>
          <a:xfrm>
            <a:off x="640350" y="2762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25f49603ed_0_66"/>
          <p:cNvSpPr txBox="1"/>
          <p:nvPr/>
        </p:nvSpPr>
        <p:spPr>
          <a:xfrm>
            <a:off x="2945850" y="453250"/>
            <a:ext cx="32523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SORT BITONIC DLL</a:t>
            </a:r>
            <a:endParaRPr b="0" i="0" sz="1800" u="none" cap="none" strike="noStrike">
              <a:solidFill>
                <a:srgbClr val="6D9EEB"/>
              </a:solidFill>
              <a:latin typeface="Roboto Black"/>
              <a:ea typeface="Roboto Black"/>
              <a:cs typeface="Roboto Black"/>
              <a:sym typeface="Roboto Black"/>
            </a:endParaRPr>
          </a:p>
        </p:txBody>
      </p:sp>
      <p:sp>
        <p:nvSpPr>
          <p:cNvPr id="175" name="Google Shape;175;g325f49603ed_0_66"/>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TIME AND SPACE COMPLEXITY :</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76" name="Google Shape;176;g325f49603ed_0_66"/>
          <p:cNvSpPr txBox="1"/>
          <p:nvPr/>
        </p:nvSpPr>
        <p:spPr>
          <a:xfrm>
            <a:off x="436323" y="1779900"/>
            <a:ext cx="7492200" cy="4376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Time complexity O(n^2), where 'n' is the number of elements in the linked list. This is because the code uses a nested loop to traverse and sort the list, resulting in quadratic time complexity.</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Space complexity O(1) because it uses a constant amount of extra space regardless of the input size.</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1000"/>
              </a:spcBef>
              <a:spcAft>
                <a:spcPts val="0"/>
              </a:spcAft>
              <a:buClr>
                <a:schemeClr val="dk1"/>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82" name="Google Shape;182;g3243a3cdda7_0_819"/>
          <p:cNvSpPr txBox="1"/>
          <p:nvPr/>
        </p:nvSpPr>
        <p:spPr>
          <a:xfrm>
            <a:off x="53900" y="1134125"/>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200"/>
              <a:buFont typeface="Arial"/>
              <a:buNone/>
            </a:pPr>
            <a:r>
              <a:rPr b="0" i="1" lang="en-GB" sz="1600" u="none" cap="none" strike="noStrike">
                <a:solidFill>
                  <a:srgbClr val="FF0000"/>
                </a:solidFill>
                <a:latin typeface="Consolas"/>
                <a:ea typeface="Consolas"/>
                <a:cs typeface="Consolas"/>
                <a:sym typeface="Consolas"/>
              </a:rPr>
              <a:t>1.What is a bitonic doubly linked list, and why is it called "bitonic"?</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83" name="Google Shape;183;g3243a3cdda7_0_819"/>
          <p:cNvSpPr txBox="1"/>
          <p:nvPr/>
        </p:nvSpPr>
        <p:spPr>
          <a:xfrm>
            <a:off x="300000" y="1856100"/>
            <a:ext cx="8086800" cy="2616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 bitonic doubly linked list is a linked list that exhibits a pattern of monotonically increasing elements followed by monotonically decreasing elements or vice versa. It is called "bitonic" because its behavior resembles a "bitonic sequence" in computer science, which starts with an increasing sequence and then becomes decreasing or vice versa.</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89" name="Google Shape;189;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200"/>
              <a:buFont typeface="Arial"/>
              <a:buNone/>
            </a:pPr>
            <a:r>
              <a:rPr b="0" i="1" lang="en-GB" sz="1600" u="none" cap="none" strike="noStrike">
                <a:solidFill>
                  <a:srgbClr val="FF0000"/>
                </a:solidFill>
                <a:latin typeface="Consolas"/>
                <a:ea typeface="Consolas"/>
                <a:cs typeface="Consolas"/>
                <a:sym typeface="Consolas"/>
              </a:rPr>
              <a:t>2. Explain the process of sorting a bitonic doubly linked list. </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90" name="Google Shape;190;g3243a3cdda7_0_825"/>
          <p:cNvSpPr txBox="1"/>
          <p:nvPr/>
        </p:nvSpPr>
        <p:spPr>
          <a:xfrm>
            <a:off x="385498" y="1620650"/>
            <a:ext cx="7492200" cy="40329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To sort a bitonic doubly linked list, you can follow these steps: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1. Find the point where the list transitions from increasing to decreasing (the "bitonic point").</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2. Split the list into two sublists: one from the head to the bitonic point and the other from the bitonic point to the end.</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3. Reverse the second sublist.</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4. Merge the two sublists together.</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just">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96" name="Google Shape;196;g3243a3cdda7_0_831"/>
          <p:cNvSpPr txBox="1"/>
          <p:nvPr/>
        </p:nvSpPr>
        <p:spPr>
          <a:xfrm>
            <a:off x="0" y="960325"/>
            <a:ext cx="84399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3.What is the time complexity of sorting a bitonic doubly linked list using the above method?</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  </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97" name="Google Shape;197;g3243a3cdda7_0_831"/>
          <p:cNvSpPr txBox="1"/>
          <p:nvPr/>
        </p:nvSpPr>
        <p:spPr>
          <a:xfrm>
            <a:off x="559973" y="1649125"/>
            <a:ext cx="7492200" cy="3694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T</a:t>
            </a:r>
            <a:r>
              <a:rPr b="0" i="0" lang="en-GB" sz="1600" u="none" cap="none" strike="noStrike">
                <a:solidFill>
                  <a:schemeClr val="dk1"/>
                </a:solidFill>
                <a:latin typeface="Consolas"/>
                <a:ea typeface="Consolas"/>
                <a:cs typeface="Consolas"/>
                <a:sym typeface="Consolas"/>
              </a:rPr>
              <a:t>he time complexity of sorting a bitonic doubly linked list using the above method is O(n log n), where 'n' is the number of elements in the list. The split, reverse, and merge operations each take O(n) time, and there are log(n) levels of recursion in the merge step.</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25f49603ed_0_117"/>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03" name="Google Shape;203;g325f49603ed_0_117"/>
          <p:cNvSpPr txBox="1"/>
          <p:nvPr/>
        </p:nvSpPr>
        <p:spPr>
          <a:xfrm>
            <a:off x="0" y="960325"/>
            <a:ext cx="84399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4.How can you optimize the space complexity when sorting a bitonic doubly linked list?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  </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04" name="Google Shape;204;g325f49603ed_0_117"/>
          <p:cNvSpPr txBox="1"/>
          <p:nvPr/>
        </p:nvSpPr>
        <p:spPr>
          <a:xfrm>
            <a:off x="576048" y="2050950"/>
            <a:ext cx="7492200" cy="4433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To optimize space complexity, you can use an iterative approach for reversing the second half of the list instead of a recursive one. This way, you can reduce the auxiliary space complexity from O(n) to O(1). Additionally, you can avoid creating new nodes during the merge step by rearranging the pointers of the existing nodes.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10" name="Google Shape;210;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11" name="Google Shape;211;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17" name="Google Shape;217;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18" name="Google Shape;218;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19" name="Google Shape;219;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20" name="Google Shape;220;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21" name="Google Shape;221;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22" name="Google Shape;222;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23" name="Google Shape;223;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24" name="Google Shape;224;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25" name="Google Shape;225;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26" name="Google Shape;226;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27" name="Google Shape;227;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